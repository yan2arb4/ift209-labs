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1.xml" ContentType="application/vnd.openxmlformats-officedocument.presentationml.tags+xml"/>
  <Override PartName="/docProps/core.xml" ContentType="application/vnd.openxmlformats-package.core-properties+xml"/>
  <Override PartName="/ppt/tags/tag42.xml" ContentType="application/vnd.openxmlformats-officedocument.presentationml.tags+xml"/>
  <Override PartName="/ppt/tags/tag41.xml" ContentType="application/vnd.openxmlformats-officedocument.presentationml.tags+xml"/>
  <Override PartName="/ppt/tags/tag44.xml" ContentType="application/vnd.openxmlformats-officedocument.presentationml.tags+xml"/>
  <Override PartName="/ppt/tags/tag2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43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77" r:id="rId4"/>
    <p:sldId id="258" r:id="rId5"/>
    <p:sldId id="259" r:id="rId6"/>
    <p:sldId id="262" r:id="rId7"/>
    <p:sldId id="263" r:id="rId8"/>
    <p:sldId id="274" r:id="rId9"/>
    <p:sldId id="260" r:id="rId10"/>
    <p:sldId id="261" r:id="rId11"/>
    <p:sldId id="275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6" r:id="rId2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2B91AF"/>
    <a:srgbClr val="D2533C"/>
    <a:srgbClr val="0000FF"/>
    <a:srgbClr val="6B76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10B140-BBC5-422C-AFE5-355C39888250}" type="datetimeFigureOut">
              <a:rPr lang="fr-CA" smtClean="0"/>
              <a:t>2025-10-31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05B6D-8D1A-416F-AC92-F32F45CA463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62729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FEE14-099A-4F19-8953-36ADF35FA81B}" type="datetime1">
              <a:rPr lang="fr-CA" smtClean="0"/>
              <a:t>2025-10-31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904D3-99A9-44B6-AB3B-876B7115C31B}" type="datetime1">
              <a:rPr lang="fr-CA" smtClean="0"/>
              <a:t>2025-10-31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ED36-949B-4A0A-BF83-782C3E6FD030}" type="datetime1">
              <a:rPr lang="fr-CA" smtClean="0"/>
              <a:t>2025-10-31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6A9C8-381F-48EE-8409-B2268005FB78}" type="datetime1">
              <a:rPr lang="fr-CA" smtClean="0"/>
              <a:t>2025-10-31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97DBC-555E-49FC-88C5-719FCAB7E211}" type="datetime1">
              <a:rPr lang="fr-CA" smtClean="0"/>
              <a:t>2025-10-31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F23CC-B10C-4B77-A161-29C9F2C5A3A5}" type="datetime1">
              <a:rPr lang="fr-CA" smtClean="0"/>
              <a:t>2025-10-31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7EE4C-2CBB-44FF-B28F-7B248C35000A}" type="datetime1">
              <a:rPr lang="fr-CA" smtClean="0"/>
              <a:t>2025-10-31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4D95B-ADE5-461C-B988-605B84962E36}" type="datetime1">
              <a:rPr lang="fr-CA" smtClean="0"/>
              <a:t>2025-10-31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5DFCB-4044-4074-8A0D-E250F29B22EA}" type="datetime1">
              <a:rPr lang="fr-CA" smtClean="0"/>
              <a:t>2025-10-31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D9A2-58E3-4336-A2F8-1979AB3BA19D}" type="datetime1">
              <a:rPr lang="fr-CA" smtClean="0"/>
              <a:t>2025-10-31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DA332-13E8-4B42-ABB9-932EDA9A5246}" type="datetime1">
              <a:rPr lang="fr-CA" smtClean="0"/>
              <a:t>2025-10-31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7E0B27A0-AF05-419C-BAA0-B1937A059E37}" type="datetime1">
              <a:rPr lang="fr-CA" smtClean="0"/>
              <a:t>2025-10-31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22.xml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5.xml"/><Relationship Id="rId4" Type="http://schemas.openxmlformats.org/officeDocument/2006/relationships/tags" Target="../tags/tag4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13" Type="http://schemas.openxmlformats.org/officeDocument/2006/relationships/image" Target="../media/image3.png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12" Type="http://schemas.openxmlformats.org/officeDocument/2006/relationships/tags" Target="../tags/tag58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53.xml"/><Relationship Id="rId10" Type="http://schemas.openxmlformats.org/officeDocument/2006/relationships/tags" Target="../tags/tag58.xml"/><Relationship Id="rId4" Type="http://schemas.openxmlformats.org/officeDocument/2006/relationships/tags" Target="../tags/tag52.xml"/><Relationship Id="rId9" Type="http://schemas.openxmlformats.org/officeDocument/2006/relationships/tags" Target="../tags/tag5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12" Type="http://schemas.openxmlformats.org/officeDocument/2006/relationships/image" Target="../media/image4.png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tags" Target="../tags/tag60.xml"/><Relationship Id="rId5" Type="http://schemas.openxmlformats.org/officeDocument/2006/relationships/tags" Target="../tags/tag63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62.xml"/><Relationship Id="rId9" Type="http://schemas.openxmlformats.org/officeDocument/2006/relationships/tags" Target="../tags/tag6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7" Type="http://schemas.openxmlformats.org/officeDocument/2006/relationships/image" Target="../media/image5.png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tags" Target="../tags/tag7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Chapitre 9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685800" y="3505200"/>
            <a:ext cx="6838528" cy="1752600"/>
          </a:xfrm>
        </p:spPr>
        <p:txBody>
          <a:bodyPr/>
          <a:lstStyle/>
          <a:p>
            <a:r>
              <a:rPr lang="fr-CA" dirty="0"/>
              <a:t>Les caractères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06323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Les caractères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  <p:custDataLst>
                  <p:tags r:id="rId2"/>
                </p:custDataLst>
              </p:nvPr>
            </p:nvSpPr>
            <p:spPr>
              <a:xfrm>
                <a:off x="457200" y="1600200"/>
                <a:ext cx="8579296" cy="5069160"/>
              </a:xfrm>
            </p:spPr>
            <p:txBody>
              <a:bodyPr>
                <a:normAutofit/>
              </a:bodyPr>
              <a:lstStyle/>
              <a:p>
                <a:r>
                  <a:rPr lang="fr-CA" dirty="0"/>
                  <a:t>Indispensable</a:t>
                </a:r>
              </a:p>
              <a:p>
                <a:pPr lvl="1"/>
                <a:r>
                  <a:rPr lang="fr-CA" dirty="0"/>
                  <a:t>Permet la saisie</a:t>
                </a:r>
              </a:p>
              <a:p>
                <a:pPr lvl="1"/>
                <a:r>
                  <a:rPr lang="fr-CA" dirty="0"/>
                  <a:t>Permet l’affichage dans une forme compréhensible par les humains</a:t>
                </a:r>
              </a:p>
              <a:p>
                <a:endParaRPr lang="fr-CA" dirty="0"/>
              </a:p>
              <a:p>
                <a:r>
                  <a:rPr lang="fr-CA" dirty="0"/>
                  <a:t>Chaque caractère doit être encodé dans une suite de « n » bits</a:t>
                </a:r>
              </a:p>
              <a:p>
                <a:pPr lvl="1"/>
                <a:r>
                  <a:rPr lang="fr-CA" dirty="0"/>
                  <a:t>Il y a donc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CA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fr-CA" dirty="0"/>
                  <a:t> caractères pouvant être encodés sur « n » bits</a:t>
                </a:r>
              </a:p>
              <a:p>
                <a:endParaRPr lang="fr-CA" dirty="0"/>
              </a:p>
              <a:p>
                <a:r>
                  <a:rPr lang="fr-CA" dirty="0"/>
                  <a:t>Le nombre représentant le caractère est l’indice dans une </a:t>
                </a:r>
                <a:r>
                  <a:rPr lang="fr-CA" b="1" dirty="0"/>
                  <a:t>table d’encodage</a:t>
                </a:r>
              </a:p>
              <a:p>
                <a:endParaRPr lang="fr-CA" dirty="0"/>
              </a:p>
              <a:p>
                <a:endParaRPr lang="fr-CA" dirty="0"/>
              </a:p>
            </p:txBody>
          </p:sp>
        </mc:Choice>
        <mc:Fallback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2"/>
                </p:custDataLst>
              </p:nvPr>
            </p:nvSpPr>
            <p:spPr>
              <a:xfrm>
                <a:off x="457200" y="1600200"/>
                <a:ext cx="8579296" cy="5069160"/>
              </a:xfrm>
              <a:blipFill>
                <a:blip r:embed="rId5"/>
                <a:stretch>
                  <a:fillRect l="-640" t="-842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2807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A580097-74DC-BFE3-4F72-BFFCEF743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ENcodage</a:t>
            </a:r>
            <a:endParaRPr lang="fr-CA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E92028-022F-0DB9-2156-200121D2D8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66E27-EBFE-AD74-FD6C-503D0FDE4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64101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Encodage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 dirty="0"/>
              <a:t>Il existe différentes tables d’encodage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pPr lvl="1"/>
            <a:r>
              <a:rPr lang="fr-CA" dirty="0"/>
              <a:t>Unicode permet de représenter les ensembles de caractères de plusieurs langages naturels</a:t>
            </a:r>
          </a:p>
          <a:p>
            <a:endParaRPr lang="fr-CA" dirty="0"/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4</a:t>
            </a:fld>
            <a:endParaRPr lang="fr-CA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697884003"/>
              </p:ext>
            </p:extLst>
          </p:nvPr>
        </p:nvGraphicFramePr>
        <p:xfrm>
          <a:off x="1619672" y="2348880"/>
          <a:ext cx="6096000" cy="1676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200">
                <a:tc>
                  <a:txBody>
                    <a:bodyPr/>
                    <a:lstStyle/>
                    <a:p>
                      <a:r>
                        <a:rPr lang="fr-CA" sz="1600" dirty="0"/>
                        <a:t>BCD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600" dirty="0"/>
                        <a:t>6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600" dirty="0"/>
                        <a:t>64 caractères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r>
                        <a:rPr lang="fr-CA" sz="1600" dirty="0"/>
                        <a:t>EBCDIC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600" dirty="0"/>
                        <a:t>8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600" dirty="0"/>
                        <a:t>105 caractères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r>
                        <a:rPr lang="fr-CA" sz="1600" dirty="0"/>
                        <a:t>ASCII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600" dirty="0"/>
                        <a:t>7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600" dirty="0"/>
                        <a:t>128 caractères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r>
                        <a:rPr lang="fr-CA" sz="1600" dirty="0"/>
                        <a:t>ASCII étendu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600" dirty="0"/>
                        <a:t>8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600" dirty="0"/>
                        <a:t>256 caractères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r>
                        <a:rPr lang="fr-CA" sz="1600" dirty="0"/>
                        <a:t>UNICODE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600"/>
                        <a:t>8</a:t>
                      </a:r>
                      <a:r>
                        <a:rPr lang="fr-CA" sz="1600" baseline="0"/>
                        <a:t> à 32</a:t>
                      </a:r>
                      <a:r>
                        <a:rPr lang="fr-CA" sz="1600"/>
                        <a:t> </a:t>
                      </a:r>
                      <a:r>
                        <a:rPr lang="fr-CA" sz="1600" dirty="0"/>
                        <a:t>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600"/>
                        <a:t>4G </a:t>
                      </a:r>
                      <a:r>
                        <a:rPr lang="fr-CA" sz="1600" dirty="0"/>
                        <a:t>caractères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5102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ASCII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endParaRPr lang="fr-CA" dirty="0"/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5</a:t>
            </a:fld>
            <a:endParaRPr lang="fr-CA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762471714"/>
              </p:ext>
            </p:extLst>
          </p:nvPr>
        </p:nvGraphicFramePr>
        <p:xfrm>
          <a:off x="1115616" y="1340768"/>
          <a:ext cx="6731822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2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26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56500">
                <a:tc>
                  <a:txBody>
                    <a:bodyPr/>
                    <a:lstStyle/>
                    <a:p>
                      <a:r>
                        <a:rPr lang="fr-CA" sz="1100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Symbole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Hexa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Symbole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Hexa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Symbole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Hexa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500">
                <a:tc>
                  <a:txBody>
                    <a:bodyPr/>
                    <a:lstStyle/>
                    <a:p>
                      <a:r>
                        <a:rPr lang="fr-CA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NUL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2E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500">
                <a:tc>
                  <a:txBody>
                    <a:bodyPr/>
                    <a:lstStyle/>
                    <a:p>
                      <a:r>
                        <a:rPr lang="fr-CA" sz="11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b="1" dirty="0"/>
                        <a:t>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2F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500">
                <a:tc>
                  <a:txBody>
                    <a:bodyPr/>
                    <a:lstStyle/>
                    <a:p>
                      <a:r>
                        <a:rPr lang="fr-CA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b="1" dirty="0"/>
                        <a:t>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0A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500">
                <a:tc>
                  <a:txBody>
                    <a:bodyPr/>
                    <a:lstStyle/>
                    <a:p>
                      <a:r>
                        <a:rPr lang="fr-CA" sz="11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b="1" dirty="0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0D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b="1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500">
                <a:tc>
                  <a:txBody>
                    <a:bodyPr/>
                    <a:lstStyle/>
                    <a:p>
                      <a:r>
                        <a:rPr lang="fr-CA" sz="1100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ESC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b="1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500">
                <a:tc>
                  <a:txBody>
                    <a:bodyPr/>
                    <a:lstStyle/>
                    <a:p>
                      <a:r>
                        <a:rPr lang="fr-CA" sz="11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b="1" dirty="0"/>
                        <a:t>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b="1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5A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500">
                <a:tc>
                  <a:txBody>
                    <a:bodyPr/>
                    <a:lstStyle/>
                    <a:p>
                      <a:r>
                        <a:rPr lang="fr-CA" sz="1100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500">
                <a:tc>
                  <a:txBody>
                    <a:bodyPr/>
                    <a:lstStyle/>
                    <a:p>
                      <a:r>
                        <a:rPr lang="fr-CA" sz="1100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\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5C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500">
                <a:tc>
                  <a:txBody>
                    <a:bodyPr/>
                    <a:lstStyle/>
                    <a:p>
                      <a:r>
                        <a:rPr lang="fr-CA" sz="11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5D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500">
                <a:tc>
                  <a:txBody>
                    <a:bodyPr/>
                    <a:lstStyle/>
                    <a:p>
                      <a:r>
                        <a:rPr lang="fr-CA" sz="110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5E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500">
                <a:tc>
                  <a:txBody>
                    <a:bodyPr/>
                    <a:lstStyle/>
                    <a:p>
                      <a:r>
                        <a:rPr lang="fr-CA" sz="1100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5F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500">
                <a:tc>
                  <a:txBody>
                    <a:bodyPr/>
                    <a:lstStyle/>
                    <a:p>
                      <a:r>
                        <a:rPr lang="fr-CA" sz="1100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6500">
                <a:tc>
                  <a:txBody>
                    <a:bodyPr/>
                    <a:lstStyle/>
                    <a:p>
                      <a:r>
                        <a:rPr lang="fr-CA" sz="1100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3A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6500">
                <a:tc>
                  <a:txBody>
                    <a:bodyPr/>
                    <a:lstStyle/>
                    <a:p>
                      <a:r>
                        <a:rPr lang="fr-CA" sz="110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b="1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6500">
                <a:tc>
                  <a:txBody>
                    <a:bodyPr/>
                    <a:lstStyle/>
                    <a:p>
                      <a:r>
                        <a:rPr lang="fr-CA" sz="1100" dirty="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3C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b="1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6500">
                <a:tc>
                  <a:txBody>
                    <a:bodyPr/>
                    <a:lstStyle/>
                    <a:p>
                      <a:r>
                        <a:rPr lang="fr-CA" sz="1100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3D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b="1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7A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6500">
                <a:tc>
                  <a:txBody>
                    <a:bodyPr/>
                    <a:lstStyle/>
                    <a:p>
                      <a:r>
                        <a:rPr lang="fr-CA" sz="1100" dirty="0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3E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{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7B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6500">
                <a:tc>
                  <a:txBody>
                    <a:bodyPr/>
                    <a:lstStyle/>
                    <a:p>
                      <a:r>
                        <a:rPr lang="fr-CA" sz="1100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3F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7C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6500">
                <a:tc>
                  <a:txBody>
                    <a:bodyPr/>
                    <a:lstStyle/>
                    <a:p>
                      <a:r>
                        <a:rPr lang="fr-CA" sz="11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2D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@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100" dirty="0"/>
                        <a:t>7D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8712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Encodage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 dirty="0"/>
              <a:t>Sauf pour UNICODE, tous les encodages utilisent un octet pour emmagasiner la valeur du code de caractère</a:t>
            </a:r>
          </a:p>
          <a:p>
            <a:endParaRPr lang="fr-CA" dirty="0"/>
          </a:p>
          <a:p>
            <a:r>
              <a:rPr lang="fr-CA" dirty="0"/>
              <a:t>Tous les codes ne sont pas imprimables</a:t>
            </a:r>
          </a:p>
          <a:p>
            <a:pPr lvl="1"/>
            <a:r>
              <a:rPr lang="fr-CA" dirty="0"/>
              <a:t>BS </a:t>
            </a:r>
            <a:r>
              <a:rPr lang="fr-CA" dirty="0">
                <a:sym typeface="Wingdings" panose="05000000000000000000" pitchFamily="2" charset="2"/>
              </a:rPr>
              <a:t> Représente la touche Retour arrière (</a:t>
            </a:r>
            <a:r>
              <a:rPr lang="fr-CA" i="1" dirty="0" err="1">
                <a:sym typeface="Wingdings" panose="05000000000000000000" pitchFamily="2" charset="2"/>
              </a:rPr>
              <a:t>backspace</a:t>
            </a:r>
            <a:r>
              <a:rPr lang="fr-CA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fr-CA" dirty="0">
                <a:sym typeface="Wingdings" panose="05000000000000000000" pitchFamily="2" charset="2"/>
              </a:rPr>
              <a:t>ESC  Le code de caractère ESCAPE, qui initie souvent une séquence de codes</a:t>
            </a:r>
          </a:p>
          <a:p>
            <a:endParaRPr lang="fr-CA" dirty="0">
              <a:sym typeface="Wingdings" panose="05000000000000000000" pitchFamily="2" charset="2"/>
            </a:endParaRPr>
          </a:p>
          <a:p>
            <a:r>
              <a:rPr lang="fr-CA" dirty="0">
                <a:sym typeface="Wingdings" panose="05000000000000000000" pitchFamily="2" charset="2"/>
              </a:rPr>
              <a:t>L’encodage le plus répandu est ASCII</a:t>
            </a:r>
            <a:endParaRPr lang="fr-CA" dirty="0"/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277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Encodage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 dirty="0"/>
              <a:t>Dans le code ASCII, la différence entre les majuscules et les minuscules repose sur la valeur du bit 5</a:t>
            </a:r>
          </a:p>
          <a:p>
            <a:endParaRPr lang="fr-CA" dirty="0"/>
          </a:p>
          <a:p>
            <a:pPr lvl="2"/>
            <a:r>
              <a:rPr lang="fr-CA" dirty="0"/>
              <a:t>A = 0x41 = 65</a:t>
            </a:r>
          </a:p>
          <a:p>
            <a:pPr lvl="2"/>
            <a:r>
              <a:rPr lang="fr-CA" dirty="0"/>
              <a:t>a = 0x61 = 97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7</a:t>
            </a:fld>
            <a:endParaRPr lang="fr-CA"/>
          </a:p>
        </p:txBody>
      </p:sp>
      <p:cxnSp>
        <p:nvCxnSpPr>
          <p:cNvPr id="6" name="Connecteur droit 5"/>
          <p:cNvCxnSpPr/>
          <p:nvPr>
            <p:custDataLst>
              <p:tags r:id="rId4"/>
            </p:custDataLst>
          </p:nvPr>
        </p:nvCxnSpPr>
        <p:spPr>
          <a:xfrm>
            <a:off x="2771800" y="3076389"/>
            <a:ext cx="360040" cy="10801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>
            <p:custDataLst>
              <p:tags r:id="rId5"/>
            </p:custDataLst>
          </p:nvPr>
        </p:nvCxnSpPr>
        <p:spPr>
          <a:xfrm flipV="1">
            <a:off x="2771800" y="3184401"/>
            <a:ext cx="360040" cy="10801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ZoneTexte 13"/>
          <p:cNvSpPr txBox="1"/>
          <p:nvPr>
            <p:custDataLst>
              <p:tags r:id="rId6"/>
            </p:custDataLst>
          </p:nvPr>
        </p:nvSpPr>
        <p:spPr>
          <a:xfrm>
            <a:off x="3122315" y="2982094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Différence de 32 </a:t>
            </a:r>
            <a:r>
              <a:rPr lang="fr-CA" dirty="0">
                <a:sym typeface="Wingdings" panose="05000000000000000000" pitchFamily="2" charset="2"/>
              </a:rPr>
              <a:t>= 0x20 = 100000 </a:t>
            </a:r>
            <a:endParaRPr lang="fr-CA" dirty="0"/>
          </a:p>
        </p:txBody>
      </p:sp>
      <p:grpSp>
        <p:nvGrpSpPr>
          <p:cNvPr id="15" name="Groupe 14"/>
          <p:cNvGrpSpPr/>
          <p:nvPr>
            <p:custDataLst>
              <p:tags r:id="rId7"/>
            </p:custDataLst>
          </p:nvPr>
        </p:nvGrpSpPr>
        <p:grpSpPr>
          <a:xfrm>
            <a:off x="2375756" y="3861048"/>
            <a:ext cx="4017429" cy="504056"/>
            <a:chOff x="2123728" y="2492896"/>
            <a:chExt cx="4017429" cy="504056"/>
          </a:xfrm>
        </p:grpSpPr>
        <p:sp>
          <p:nvSpPr>
            <p:cNvPr id="16" name="Rectangle 15"/>
            <p:cNvSpPr/>
            <p:nvPr/>
          </p:nvSpPr>
          <p:spPr>
            <a:xfrm>
              <a:off x="2123728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627784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131840" y="2492896"/>
              <a:ext cx="504056" cy="504056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620877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124933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628989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133045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637101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</p:grpSp>
      <p:grpSp>
        <p:nvGrpSpPr>
          <p:cNvPr id="25" name="Groupe 24"/>
          <p:cNvGrpSpPr/>
          <p:nvPr>
            <p:custDataLst>
              <p:tags r:id="rId8"/>
            </p:custDataLst>
          </p:nvPr>
        </p:nvGrpSpPr>
        <p:grpSpPr>
          <a:xfrm>
            <a:off x="2375756" y="4725144"/>
            <a:ext cx="4017429" cy="504056"/>
            <a:chOff x="2123728" y="2492896"/>
            <a:chExt cx="4017429" cy="504056"/>
          </a:xfrm>
        </p:grpSpPr>
        <p:sp>
          <p:nvSpPr>
            <p:cNvPr id="26" name="Rectangle 25"/>
            <p:cNvSpPr/>
            <p:nvPr/>
          </p:nvSpPr>
          <p:spPr>
            <a:xfrm>
              <a:off x="2123728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627784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131840" y="2492896"/>
              <a:ext cx="504056" cy="504056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620877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124933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628989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133045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5637101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</p:grpSp>
      <p:sp>
        <p:nvSpPr>
          <p:cNvPr id="34" name="ZoneTexte 33"/>
          <p:cNvSpPr txBox="1"/>
          <p:nvPr>
            <p:custDataLst>
              <p:tags r:id="rId9"/>
            </p:custDataLst>
          </p:nvPr>
        </p:nvSpPr>
        <p:spPr>
          <a:xfrm>
            <a:off x="1871700" y="3928410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A :</a:t>
            </a:r>
          </a:p>
        </p:txBody>
      </p:sp>
      <p:sp>
        <p:nvSpPr>
          <p:cNvPr id="35" name="ZoneTexte 34"/>
          <p:cNvSpPr txBox="1"/>
          <p:nvPr>
            <p:custDataLst>
              <p:tags r:id="rId10"/>
            </p:custDataLst>
          </p:nvPr>
        </p:nvSpPr>
        <p:spPr>
          <a:xfrm>
            <a:off x="1871700" y="479250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a :</a:t>
            </a:r>
          </a:p>
        </p:txBody>
      </p:sp>
    </p:spTree>
    <p:extLst>
      <p:ext uri="{BB962C8B-B14F-4D97-AF65-F5344CB8AC3E}">
        <p14:creationId xmlns:p14="http://schemas.microsoft.com/office/powerpoint/2010/main" val="491656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5BA4592-BD89-DA07-51A6-3BD95A485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Bit de </a:t>
            </a:r>
            <a:r>
              <a:rPr lang="fr-CA" dirty="0" err="1"/>
              <a:t>paritÉ</a:t>
            </a:r>
            <a:endParaRPr lang="fr-CA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0B1F736-1C8D-D8EA-E186-9EA8CE3BC8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C3916-AB4C-B94A-1224-722E26AB5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01797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Parité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 dirty="0"/>
              <a:t>Peut y avoir un bit additionnel</a:t>
            </a:r>
          </a:p>
          <a:p>
            <a:pPr lvl="1"/>
            <a:r>
              <a:rPr lang="fr-CA" dirty="0"/>
              <a:t>Le bit de parité</a:t>
            </a:r>
          </a:p>
          <a:p>
            <a:endParaRPr lang="fr-CA" dirty="0"/>
          </a:p>
          <a:p>
            <a:r>
              <a:rPr lang="fr-CA" dirty="0"/>
              <a:t>Souvent utilisé lors de la communication</a:t>
            </a:r>
          </a:p>
          <a:p>
            <a:pPr lvl="1"/>
            <a:r>
              <a:rPr lang="fr-CA" dirty="0"/>
              <a:t>Des erreurs peuvent s’introduire dans les bits</a:t>
            </a:r>
          </a:p>
          <a:p>
            <a:endParaRPr lang="fr-CA" dirty="0"/>
          </a:p>
          <a:p>
            <a:r>
              <a:rPr lang="fr-CA" dirty="0"/>
              <a:t>Le bit de parité permet de détecter une erreur simple dans le code du caractère</a:t>
            </a:r>
          </a:p>
          <a:p>
            <a:endParaRPr lang="fr-CA" dirty="0"/>
          </a:p>
          <a:p>
            <a:r>
              <a:rPr lang="fr-CA" dirty="0"/>
              <a:t>Le bit de parité est calculé en fonction du nombre de bits à 1 dans le code du caractère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28257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Parité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 dirty="0"/>
              <a:t>Parité paire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r>
              <a:rPr lang="fr-CA" dirty="0"/>
              <a:t>Parité impaire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10</a:t>
            </a:fld>
            <a:endParaRPr lang="fr-CA"/>
          </a:p>
        </p:txBody>
      </p:sp>
      <p:grpSp>
        <p:nvGrpSpPr>
          <p:cNvPr id="14" name="Groupe 13"/>
          <p:cNvGrpSpPr/>
          <p:nvPr>
            <p:custDataLst>
              <p:tags r:id="rId4"/>
            </p:custDataLst>
          </p:nvPr>
        </p:nvGrpSpPr>
        <p:grpSpPr>
          <a:xfrm>
            <a:off x="2123728" y="2276872"/>
            <a:ext cx="4680520" cy="504056"/>
            <a:chOff x="2123728" y="2492896"/>
            <a:chExt cx="4680520" cy="504056"/>
          </a:xfrm>
        </p:grpSpPr>
        <p:sp>
          <p:nvSpPr>
            <p:cNvPr id="5" name="Rectangle 4"/>
            <p:cNvSpPr/>
            <p:nvPr/>
          </p:nvSpPr>
          <p:spPr>
            <a:xfrm>
              <a:off x="2123728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627784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131840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620877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124933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8989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133045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637101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300192" y="2492896"/>
              <a:ext cx="504056" cy="50405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15" name="Groupe 14"/>
          <p:cNvGrpSpPr/>
          <p:nvPr>
            <p:custDataLst>
              <p:tags r:id="rId5"/>
            </p:custDataLst>
          </p:nvPr>
        </p:nvGrpSpPr>
        <p:grpSpPr>
          <a:xfrm>
            <a:off x="2123728" y="3212976"/>
            <a:ext cx="4680520" cy="504056"/>
            <a:chOff x="2123728" y="2492896"/>
            <a:chExt cx="4680520" cy="504056"/>
          </a:xfrm>
        </p:grpSpPr>
        <p:sp>
          <p:nvSpPr>
            <p:cNvPr id="16" name="Rectangle 15"/>
            <p:cNvSpPr/>
            <p:nvPr/>
          </p:nvSpPr>
          <p:spPr>
            <a:xfrm>
              <a:off x="2123728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627784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131840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620877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124933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628989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133045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637101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300192" y="2492896"/>
              <a:ext cx="504056" cy="50405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45" name="Groupe 44"/>
          <p:cNvGrpSpPr/>
          <p:nvPr>
            <p:custDataLst>
              <p:tags r:id="rId6"/>
            </p:custDataLst>
          </p:nvPr>
        </p:nvGrpSpPr>
        <p:grpSpPr>
          <a:xfrm>
            <a:off x="2123728" y="4509120"/>
            <a:ext cx="4680520" cy="504056"/>
            <a:chOff x="2123728" y="2492896"/>
            <a:chExt cx="4680520" cy="504056"/>
          </a:xfrm>
        </p:grpSpPr>
        <p:sp>
          <p:nvSpPr>
            <p:cNvPr id="46" name="Rectangle 45"/>
            <p:cNvSpPr/>
            <p:nvPr/>
          </p:nvSpPr>
          <p:spPr>
            <a:xfrm>
              <a:off x="2123728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2627784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3131840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620877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4124933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4628989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133045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5637101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300192" y="2492896"/>
              <a:ext cx="504056" cy="50405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55" name="Groupe 54"/>
          <p:cNvGrpSpPr/>
          <p:nvPr>
            <p:custDataLst>
              <p:tags r:id="rId7"/>
            </p:custDataLst>
          </p:nvPr>
        </p:nvGrpSpPr>
        <p:grpSpPr>
          <a:xfrm>
            <a:off x="2123728" y="5445224"/>
            <a:ext cx="4680520" cy="504056"/>
            <a:chOff x="2123728" y="2492896"/>
            <a:chExt cx="4680520" cy="504056"/>
          </a:xfrm>
        </p:grpSpPr>
        <p:sp>
          <p:nvSpPr>
            <p:cNvPr id="56" name="Rectangle 55"/>
            <p:cNvSpPr/>
            <p:nvPr/>
          </p:nvSpPr>
          <p:spPr>
            <a:xfrm>
              <a:off x="2123728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2627784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3131840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620877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124933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4628989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5133045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5637101" y="2492896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6300192" y="2492896"/>
              <a:ext cx="504056" cy="50405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251D2EA0-1823-4A29-EB16-89CC099DE9B5}"/>
              </a:ext>
            </a:extLst>
          </p:cNvPr>
          <p:cNvSpPr txBox="1"/>
          <p:nvPr/>
        </p:nvSpPr>
        <p:spPr>
          <a:xfrm>
            <a:off x="3059832" y="1771382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0070C0"/>
                </a:solidFill>
              </a:rPr>
              <a:t>Nombre de 1 pair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5DA0DD-FDBB-2019-3BC8-94D78F9BBF12}"/>
              </a:ext>
            </a:extLst>
          </p:cNvPr>
          <p:cNvSpPr txBox="1"/>
          <p:nvPr/>
        </p:nvSpPr>
        <p:spPr>
          <a:xfrm>
            <a:off x="3131840" y="4077072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0070C0"/>
                </a:solidFill>
              </a:rPr>
              <a:t>Nombre de 1 impair</a:t>
            </a:r>
          </a:p>
        </p:txBody>
      </p:sp>
    </p:spTree>
    <p:extLst>
      <p:ext uri="{BB962C8B-B14F-4D97-AF65-F5344CB8AC3E}">
        <p14:creationId xmlns:p14="http://schemas.microsoft.com/office/powerpoint/2010/main" val="298337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D731168-A038-543F-4C88-12CCA115E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aRM</a:t>
            </a:r>
            <a:endParaRPr lang="fr-CA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F9BFAE-54C1-03C7-AD37-C505962C7C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40891-3D8D-4621-3E03-1317923F5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11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76132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Instructions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 dirty="0"/>
              <a:t>Certaines architectures proposent des instructions qui acceptent des chaines de caractères comme opérandes</a:t>
            </a:r>
          </a:p>
          <a:p>
            <a:endParaRPr lang="fr-CA" dirty="0"/>
          </a:p>
          <a:p>
            <a:r>
              <a:rPr lang="fr-CA" dirty="0"/>
              <a:t>Ce n’est pas le cas sur </a:t>
            </a:r>
            <a:r>
              <a:rPr lang="fr-CA"/>
              <a:t>le ARM</a:t>
            </a:r>
            <a:endParaRPr lang="fr-CA" dirty="0"/>
          </a:p>
          <a:p>
            <a:endParaRPr lang="fr-CA" dirty="0"/>
          </a:p>
          <a:p>
            <a:r>
              <a:rPr lang="fr-CA" dirty="0"/>
              <a:t>Il faut donc considérer les caractères comme des suites de bits</a:t>
            </a:r>
          </a:p>
          <a:p>
            <a:pPr lvl="1"/>
            <a:r>
              <a:rPr lang="fr-CA" dirty="0"/>
              <a:t>Il faut leur appliquer les opérations arithmétiques et logiques pour les manipuler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12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85190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Instructions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 dirty="0"/>
              <a:t>Transformer une lettre majuscule en minuscule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r>
              <a:rPr lang="fr-CA" dirty="0"/>
              <a:t>Transformer une lettre minuscule en majuscule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13</a:t>
            </a:fld>
            <a:endParaRPr lang="fr-CA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668610983"/>
              </p:ext>
            </p:extLst>
          </p:nvPr>
        </p:nvGraphicFramePr>
        <p:xfrm>
          <a:off x="2987824" y="2132856"/>
          <a:ext cx="331236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adr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x20,lettre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ldrub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x21,[x20]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orr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x21,x21,0x20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strb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x21, [x20</a:t>
                      </a:r>
                      <a:r>
                        <a:rPr lang="fr-CA" sz="16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au 5"/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522676192"/>
              </p:ext>
            </p:extLst>
          </p:nvPr>
        </p:nvGraphicFramePr>
        <p:xfrm>
          <a:off x="2987824" y="4725144"/>
          <a:ext cx="331236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adr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x20,lettre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ldrub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x21,[x20]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bic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x21,x21,0x20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strb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x21, [x20</a:t>
                      </a:r>
                      <a:r>
                        <a:rPr lang="fr-CA" sz="16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7588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Lecture/Écriture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 dirty="0"/>
              <a:t>Depuis le début du cours, on utilise</a:t>
            </a:r>
          </a:p>
          <a:p>
            <a:pPr lvl="1"/>
            <a:r>
              <a:rPr lang="fr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fr-CA" dirty="0"/>
              <a:t> pour l’écriture à la console</a:t>
            </a:r>
          </a:p>
          <a:p>
            <a:pPr lvl="1"/>
            <a:r>
              <a:rPr lang="fr-CA" dirty="0" err="1">
                <a:latin typeface="Consolas" panose="020B0609020204030204" pitchFamily="49" charset="0"/>
                <a:cs typeface="Consolas" panose="020B0609020204030204" pitchFamily="49" charset="0"/>
              </a:rPr>
              <a:t>scanf</a:t>
            </a:r>
            <a:r>
              <a:rPr lang="fr-CA" dirty="0"/>
              <a:t> pour la lecture</a:t>
            </a:r>
          </a:p>
          <a:p>
            <a:endParaRPr lang="fr-CA" dirty="0"/>
          </a:p>
          <a:p>
            <a:r>
              <a:rPr lang="fr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fr-CA" dirty="0"/>
              <a:t> permet d’écrire des nombres directement</a:t>
            </a:r>
          </a:p>
          <a:p>
            <a:pPr lvl="1"/>
            <a:r>
              <a:rPr lang="fr-CA" dirty="0"/>
              <a:t>Sans avoir besoin de les transformer en chaine de caractères</a:t>
            </a:r>
          </a:p>
          <a:p>
            <a:endParaRPr lang="fr-CA" dirty="0"/>
          </a:p>
          <a:p>
            <a:r>
              <a:rPr lang="fr-CA" dirty="0" err="1">
                <a:latin typeface="Consolas" panose="020B0609020204030204" pitchFamily="49" charset="0"/>
                <a:cs typeface="Consolas" panose="020B0609020204030204" pitchFamily="49" charset="0"/>
              </a:rPr>
              <a:t>scanf</a:t>
            </a:r>
            <a:r>
              <a:rPr lang="fr-CA" dirty="0"/>
              <a:t> permet de lire directement une suite de chiffres et de mettre la valeur décimale en mémoire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87288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Lecture/Écriture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 dirty="0"/>
              <a:t>Lecture du nombre 465</a:t>
            </a:r>
          </a:p>
          <a:p>
            <a:pPr lvl="1"/>
            <a:r>
              <a:rPr lang="fr-CA" dirty="0"/>
              <a:t>Le résultat est une chaine de caractères contenant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15</a:t>
            </a:fld>
            <a:endParaRPr lang="fr-CA"/>
          </a:p>
        </p:txBody>
      </p:sp>
      <p:grpSp>
        <p:nvGrpSpPr>
          <p:cNvPr id="32" name="Groupe 31"/>
          <p:cNvGrpSpPr/>
          <p:nvPr>
            <p:custDataLst>
              <p:tags r:id="rId4"/>
            </p:custDataLst>
          </p:nvPr>
        </p:nvGrpSpPr>
        <p:grpSpPr>
          <a:xfrm>
            <a:off x="251520" y="3064981"/>
            <a:ext cx="2901305" cy="364019"/>
            <a:chOff x="251520" y="3484825"/>
            <a:chExt cx="2901305" cy="364019"/>
          </a:xfrm>
          <a:solidFill>
            <a:schemeClr val="tx2"/>
          </a:solidFill>
        </p:grpSpPr>
        <p:sp>
          <p:nvSpPr>
            <p:cNvPr id="6" name="Rectangle 5"/>
            <p:cNvSpPr/>
            <p:nvPr/>
          </p:nvSpPr>
          <p:spPr>
            <a:xfrm>
              <a:off x="251520" y="3484825"/>
              <a:ext cx="364019" cy="36401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15539" y="3484825"/>
              <a:ext cx="364019" cy="36401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979558" y="3484825"/>
              <a:ext cx="364019" cy="36401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332730" y="3484825"/>
              <a:ext cx="364019" cy="36401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696749" y="3484825"/>
              <a:ext cx="364019" cy="36401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060768" y="3484825"/>
              <a:ext cx="364019" cy="36401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424787" y="3484825"/>
              <a:ext cx="364019" cy="36401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788806" y="3484825"/>
              <a:ext cx="364019" cy="36401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</p:grpSp>
      <p:grpSp>
        <p:nvGrpSpPr>
          <p:cNvPr id="33" name="Groupe 32"/>
          <p:cNvGrpSpPr/>
          <p:nvPr>
            <p:custDataLst>
              <p:tags r:id="rId5"/>
            </p:custDataLst>
          </p:nvPr>
        </p:nvGrpSpPr>
        <p:grpSpPr>
          <a:xfrm>
            <a:off x="3152825" y="3064981"/>
            <a:ext cx="2901305" cy="364019"/>
            <a:chOff x="3152825" y="3484825"/>
            <a:chExt cx="2901305" cy="364019"/>
          </a:xfrm>
        </p:grpSpPr>
        <p:sp>
          <p:nvSpPr>
            <p:cNvPr id="15" name="Rectangle 14"/>
            <p:cNvSpPr/>
            <p:nvPr/>
          </p:nvSpPr>
          <p:spPr>
            <a:xfrm>
              <a:off x="3152825" y="3484825"/>
              <a:ext cx="364019" cy="3640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516844" y="3484825"/>
              <a:ext cx="364019" cy="3640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880863" y="3484825"/>
              <a:ext cx="364019" cy="36401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234035" y="3484825"/>
              <a:ext cx="364019" cy="3640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598054" y="3484825"/>
              <a:ext cx="364019" cy="3640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962073" y="3484825"/>
              <a:ext cx="364019" cy="3640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326092" y="3484825"/>
              <a:ext cx="364019" cy="3640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690111" y="3484825"/>
              <a:ext cx="364019" cy="3640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</p:grpSp>
      <p:grpSp>
        <p:nvGrpSpPr>
          <p:cNvPr id="34" name="Groupe 33"/>
          <p:cNvGrpSpPr/>
          <p:nvPr>
            <p:custDataLst>
              <p:tags r:id="rId6"/>
            </p:custDataLst>
          </p:nvPr>
        </p:nvGrpSpPr>
        <p:grpSpPr>
          <a:xfrm>
            <a:off x="6054130" y="3064981"/>
            <a:ext cx="2901305" cy="364019"/>
            <a:chOff x="6054130" y="3484825"/>
            <a:chExt cx="2901305" cy="364019"/>
          </a:xfrm>
          <a:solidFill>
            <a:srgbClr val="92D050"/>
          </a:solidFill>
        </p:grpSpPr>
        <p:sp>
          <p:nvSpPr>
            <p:cNvPr id="24" name="Rectangle 23"/>
            <p:cNvSpPr/>
            <p:nvPr/>
          </p:nvSpPr>
          <p:spPr>
            <a:xfrm>
              <a:off x="6054130" y="3484825"/>
              <a:ext cx="364019" cy="36401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418149" y="3484825"/>
              <a:ext cx="364019" cy="36401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782168" y="3484825"/>
              <a:ext cx="364019" cy="36401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135340" y="3484825"/>
              <a:ext cx="364019" cy="36401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499359" y="3484825"/>
              <a:ext cx="364019" cy="36401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7863378" y="3484825"/>
              <a:ext cx="364019" cy="36401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8227397" y="3484825"/>
              <a:ext cx="364019" cy="36401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591416" y="3484825"/>
              <a:ext cx="364019" cy="36401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35" name="ZoneTexte 34"/>
          <p:cNvSpPr txBox="1"/>
          <p:nvPr>
            <p:custDataLst>
              <p:tags r:id="rId7"/>
            </p:custDataLst>
          </p:nvPr>
        </p:nvSpPr>
        <p:spPr>
          <a:xfrm>
            <a:off x="251520" y="2695649"/>
            <a:ext cx="290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dirty="0"/>
              <a:t>4 = 0x34</a:t>
            </a:r>
          </a:p>
        </p:txBody>
      </p:sp>
      <p:sp>
        <p:nvSpPr>
          <p:cNvPr id="36" name="ZoneTexte 35"/>
          <p:cNvSpPr txBox="1"/>
          <p:nvPr>
            <p:custDataLst>
              <p:tags r:id="rId8"/>
            </p:custDataLst>
          </p:nvPr>
        </p:nvSpPr>
        <p:spPr>
          <a:xfrm>
            <a:off x="3147401" y="2695649"/>
            <a:ext cx="290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dirty="0"/>
              <a:t>6 = 0x36</a:t>
            </a:r>
          </a:p>
        </p:txBody>
      </p:sp>
      <p:sp>
        <p:nvSpPr>
          <p:cNvPr id="37" name="ZoneTexte 36"/>
          <p:cNvSpPr txBox="1"/>
          <p:nvPr>
            <p:custDataLst>
              <p:tags r:id="rId9"/>
            </p:custDataLst>
          </p:nvPr>
        </p:nvSpPr>
        <p:spPr>
          <a:xfrm>
            <a:off x="6065272" y="2695649"/>
            <a:ext cx="290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dirty="0"/>
              <a:t>5 = 0x35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ZoneTexte 3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161567" y="3933056"/>
                <a:ext cx="6519801" cy="25968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On a besoin de la longueur de la chaine</a:t>
                </a:r>
              </a:p>
              <a:p>
                <a:endParaRPr lang="fr-CA" dirty="0"/>
              </a:p>
              <a:p>
                <a:r>
                  <a:rPr lang="fr-CA" dirty="0"/>
                  <a:t>Chaque octet représente la valeur à une puissance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CA" b="0" i="1" smtClean="0">
                            <a:latin typeface="Cambria Math"/>
                          </a:rPr>
                          <m:t>(</m:t>
                        </m:r>
                        <m:r>
                          <a:rPr lang="en-CA" b="0" i="1" smtClean="0">
                            <a:latin typeface="Cambria Math"/>
                          </a:rPr>
                          <m:t>𝑛𝑏𝐶𝑎𝑟</m:t>
                        </m:r>
                        <m:r>
                          <a:rPr lang="en-CA" b="0" i="1" smtClean="0">
                            <a:latin typeface="Cambria Math"/>
                          </a:rPr>
                          <m:t>−</m:t>
                        </m:r>
                        <m:r>
                          <a:rPr lang="en-CA" b="0" i="1" smtClean="0">
                            <a:latin typeface="Cambria Math"/>
                          </a:rPr>
                          <m:t>𝑝𝑜𝑠</m:t>
                        </m:r>
                        <m:r>
                          <a:rPr lang="en-CA" b="0" i="1" smtClean="0">
                            <a:latin typeface="Cambria Math"/>
                          </a:rPr>
                          <m:t>)</m:t>
                        </m:r>
                      </m:sup>
                    </m:sSup>
                  </m:oMath>
                </a14:m>
                <a:r>
                  <a:rPr lang="fr-CA" dirty="0"/>
                  <a:t> où </a:t>
                </a:r>
                <a:r>
                  <a:rPr lang="fr-CA" i="1" dirty="0"/>
                  <a:t>pos</a:t>
                </a:r>
                <a:r>
                  <a:rPr lang="fr-CA" dirty="0"/>
                  <a:t> commence à 1</a:t>
                </a:r>
              </a:p>
              <a:p>
                <a:endParaRPr lang="fr-CA" dirty="0"/>
              </a:p>
              <a:p>
                <a:r>
                  <a:rPr lang="fr-CA" dirty="0"/>
                  <a:t>Pour avoir la valeur décimale du chiffre, on soustrait la valeur du code de 0 (0x30)</a:t>
                </a:r>
              </a:p>
              <a:p>
                <a:endParaRPr lang="fr-CA" dirty="0"/>
              </a:p>
              <a:p>
                <a:r>
                  <a:rPr lang="fr-CA" dirty="0"/>
                  <a:t>On additionne ensuite chaque valeur pour obtenir le résultat</a:t>
                </a:r>
              </a:p>
            </p:txBody>
          </p:sp>
        </mc:Choice>
        <mc:Fallback xmlns="">
          <p:sp>
            <p:nvSpPr>
              <p:cNvPr id="38" name="ZoneTexte 3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1161567" y="3933056"/>
                <a:ext cx="6519801" cy="2596801"/>
              </a:xfrm>
              <a:prstGeom prst="rect">
                <a:avLst/>
              </a:prstGeom>
              <a:blipFill rotWithShape="1">
                <a:blip r:embed="rId13"/>
                <a:stretch>
                  <a:fillRect l="-842" t="-1174" b="-2817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2163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Lecture/Écriture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  <p:custDataLst>
                  <p:tags r:id="rId2"/>
                </p:custDataLst>
              </p:nvPr>
            </p:nvSpPr>
            <p:spPr>
              <a:xfrm>
                <a:off x="457200" y="1600200"/>
                <a:ext cx="8579296" cy="5069160"/>
              </a:xfrm>
            </p:spPr>
            <p:txBody>
              <a:bodyPr>
                <a:normAutofit/>
              </a:bodyPr>
              <a:lstStyle/>
              <a:p>
                <a:endParaRPr lang="fr-CA" dirty="0"/>
              </a:p>
              <a:p>
                <a:endParaRPr lang="fr-CA" dirty="0"/>
              </a:p>
              <a:p>
                <a:pPr lvl="1"/>
                <a:r>
                  <a:rPr lang="fr-CA" sz="1800" dirty="0"/>
                  <a:t>La chaine contient 3 caractères</a:t>
                </a:r>
              </a:p>
              <a:p>
                <a:pPr lvl="1"/>
                <a:endParaRPr lang="fr-CA" sz="1800" dirty="0"/>
              </a:p>
              <a:p>
                <a:pPr lvl="1"/>
                <a:r>
                  <a:rPr lang="fr-CA" sz="1800" dirty="0"/>
                  <a:t>0x34 – 0x30 = 0x4 = 4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CA" sz="1800" b="0" i="1" smtClean="0">
                        <a:latin typeface="Cambria Math"/>
                      </a:rPr>
                      <m:t>4×</m:t>
                    </m:r>
                    <m:sSup>
                      <m:sSupPr>
                        <m:ctrlPr>
                          <a:rPr lang="en-CA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800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CA" sz="1800" b="0" i="1" smtClean="0">
                            <a:latin typeface="Cambria Math"/>
                          </a:rPr>
                          <m:t>3−1</m:t>
                        </m:r>
                      </m:sup>
                    </m:sSup>
                    <m:r>
                      <a:rPr lang="en-CA" sz="1800" b="0" i="1" smtClean="0">
                        <a:latin typeface="Cambria Math"/>
                      </a:rPr>
                      <m:t>=400</m:t>
                    </m:r>
                  </m:oMath>
                </a14:m>
                <a:endParaRPr lang="en-CA" sz="1800" b="0" dirty="0"/>
              </a:p>
              <a:p>
                <a:pPr lvl="1"/>
                <a:endParaRPr lang="en-CA" sz="1800" b="0" dirty="0"/>
              </a:p>
              <a:p>
                <a:pPr lvl="1"/>
                <a:r>
                  <a:rPr lang="fr-CA" sz="1800" dirty="0"/>
                  <a:t>0x36 – 0x30 = 0x6 = 6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CA" sz="1800" b="0" i="1" smtClean="0">
                        <a:latin typeface="Cambria Math"/>
                      </a:rPr>
                      <m:t>6×</m:t>
                    </m:r>
                    <m:sSup>
                      <m:sSupPr>
                        <m:ctrlPr>
                          <a:rPr lang="en-CA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800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CA" sz="1800" b="0" i="1" smtClean="0">
                            <a:latin typeface="Cambria Math"/>
                          </a:rPr>
                          <m:t>3−2</m:t>
                        </m:r>
                      </m:sup>
                    </m:sSup>
                    <m:r>
                      <a:rPr lang="en-CA" sz="1800" b="0" i="1" smtClean="0">
                        <a:latin typeface="Cambria Math"/>
                      </a:rPr>
                      <m:t>=60</m:t>
                    </m:r>
                  </m:oMath>
                </a14:m>
                <a:endParaRPr lang="fr-CA" sz="1800" dirty="0"/>
              </a:p>
              <a:p>
                <a:pPr lvl="1"/>
                <a:endParaRPr lang="fr-CA" sz="1800" dirty="0"/>
              </a:p>
              <a:p>
                <a:pPr lvl="1"/>
                <a:r>
                  <a:rPr lang="fr-CA" sz="1800" dirty="0"/>
                  <a:t>0x35 – 0x30 = 0x5 = 5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CA" sz="1800" b="0" i="1" smtClean="0">
                        <a:latin typeface="Cambria Math"/>
                      </a:rPr>
                      <m:t>5×</m:t>
                    </m:r>
                    <m:sSup>
                      <m:sSupPr>
                        <m:ctrlPr>
                          <a:rPr lang="en-CA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800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CA" sz="1800" b="0" i="1" smtClean="0">
                            <a:latin typeface="Cambria Math"/>
                          </a:rPr>
                          <m:t>3−3</m:t>
                        </m:r>
                      </m:sup>
                    </m:sSup>
                    <m:r>
                      <a:rPr lang="en-CA" sz="1800" b="0" i="1" smtClean="0">
                        <a:latin typeface="Cambria Math"/>
                      </a:rPr>
                      <m:t>=5</m:t>
                    </m:r>
                  </m:oMath>
                </a14:m>
                <a:endParaRPr lang="fr-CA" sz="1800" dirty="0"/>
              </a:p>
              <a:p>
                <a:pPr lvl="1"/>
                <a:endParaRPr lang="fr-CA" sz="1800" dirty="0"/>
              </a:p>
              <a:p>
                <a:pPr lvl="1"/>
                <a14:m>
                  <m:oMath xmlns:m="http://schemas.openxmlformats.org/officeDocument/2006/math">
                    <m:r>
                      <a:rPr lang="en-CA" sz="1800" b="0" i="1" smtClean="0">
                        <a:latin typeface="Cambria Math"/>
                      </a:rPr>
                      <m:t>400+60+5=465</m:t>
                    </m:r>
                  </m:oMath>
                </a14:m>
                <a:r>
                  <a:rPr lang="fr-CA" sz="1800" dirty="0"/>
                  <a:t>!</a:t>
                </a:r>
              </a:p>
              <a:p>
                <a:pPr lvl="1"/>
                <a:endParaRPr lang="fr-CA" dirty="0"/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11"/>
                </p:custDataLst>
              </p:nvPr>
            </p:nvSpPr>
            <p:spPr>
              <a:xfrm>
                <a:off x="457200" y="1600200"/>
                <a:ext cx="8579296" cy="5069160"/>
              </a:xfr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16</a:t>
            </a:fld>
            <a:endParaRPr lang="fr-CA"/>
          </a:p>
        </p:txBody>
      </p:sp>
      <p:grpSp>
        <p:nvGrpSpPr>
          <p:cNvPr id="32" name="Groupe 31"/>
          <p:cNvGrpSpPr/>
          <p:nvPr>
            <p:custDataLst>
              <p:tags r:id="rId4"/>
            </p:custDataLst>
          </p:nvPr>
        </p:nvGrpSpPr>
        <p:grpSpPr>
          <a:xfrm>
            <a:off x="251520" y="1926124"/>
            <a:ext cx="2901305" cy="364019"/>
            <a:chOff x="251520" y="3484825"/>
            <a:chExt cx="2901305" cy="364019"/>
          </a:xfrm>
          <a:solidFill>
            <a:schemeClr val="tx2"/>
          </a:solidFill>
        </p:grpSpPr>
        <p:sp>
          <p:nvSpPr>
            <p:cNvPr id="6" name="Rectangle 5"/>
            <p:cNvSpPr/>
            <p:nvPr/>
          </p:nvSpPr>
          <p:spPr>
            <a:xfrm>
              <a:off x="251520" y="3484825"/>
              <a:ext cx="364019" cy="36401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15539" y="3484825"/>
              <a:ext cx="364019" cy="36401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979558" y="3484825"/>
              <a:ext cx="364019" cy="36401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332730" y="3484825"/>
              <a:ext cx="364019" cy="36401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696749" y="3484825"/>
              <a:ext cx="364019" cy="36401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060768" y="3484825"/>
              <a:ext cx="364019" cy="36401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424787" y="3484825"/>
              <a:ext cx="364019" cy="36401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788806" y="3484825"/>
              <a:ext cx="364019" cy="36401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</p:grpSp>
      <p:grpSp>
        <p:nvGrpSpPr>
          <p:cNvPr id="33" name="Groupe 32"/>
          <p:cNvGrpSpPr/>
          <p:nvPr>
            <p:custDataLst>
              <p:tags r:id="rId5"/>
            </p:custDataLst>
          </p:nvPr>
        </p:nvGrpSpPr>
        <p:grpSpPr>
          <a:xfrm>
            <a:off x="3152825" y="1926124"/>
            <a:ext cx="2901305" cy="364019"/>
            <a:chOff x="3152825" y="3484825"/>
            <a:chExt cx="2901305" cy="364019"/>
          </a:xfrm>
        </p:grpSpPr>
        <p:sp>
          <p:nvSpPr>
            <p:cNvPr id="15" name="Rectangle 14"/>
            <p:cNvSpPr/>
            <p:nvPr/>
          </p:nvSpPr>
          <p:spPr>
            <a:xfrm>
              <a:off x="3152825" y="3484825"/>
              <a:ext cx="364019" cy="3640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516844" y="3484825"/>
              <a:ext cx="364019" cy="3640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880863" y="3484825"/>
              <a:ext cx="364019" cy="36401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234035" y="3484825"/>
              <a:ext cx="364019" cy="3640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598054" y="3484825"/>
              <a:ext cx="364019" cy="3640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962073" y="3484825"/>
              <a:ext cx="364019" cy="3640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326092" y="3484825"/>
              <a:ext cx="364019" cy="3640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690111" y="3484825"/>
              <a:ext cx="364019" cy="3640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</p:grpSp>
      <p:grpSp>
        <p:nvGrpSpPr>
          <p:cNvPr id="34" name="Groupe 33"/>
          <p:cNvGrpSpPr/>
          <p:nvPr>
            <p:custDataLst>
              <p:tags r:id="rId6"/>
            </p:custDataLst>
          </p:nvPr>
        </p:nvGrpSpPr>
        <p:grpSpPr>
          <a:xfrm>
            <a:off x="6054130" y="1926124"/>
            <a:ext cx="2901305" cy="364019"/>
            <a:chOff x="6054130" y="3484825"/>
            <a:chExt cx="2901305" cy="364019"/>
          </a:xfrm>
          <a:solidFill>
            <a:srgbClr val="92D050"/>
          </a:solidFill>
        </p:grpSpPr>
        <p:sp>
          <p:nvSpPr>
            <p:cNvPr id="24" name="Rectangle 23"/>
            <p:cNvSpPr/>
            <p:nvPr/>
          </p:nvSpPr>
          <p:spPr>
            <a:xfrm>
              <a:off x="6054130" y="3484825"/>
              <a:ext cx="364019" cy="36401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418149" y="3484825"/>
              <a:ext cx="364019" cy="36401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782168" y="3484825"/>
              <a:ext cx="364019" cy="36401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135340" y="3484825"/>
              <a:ext cx="364019" cy="36401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499359" y="3484825"/>
              <a:ext cx="364019" cy="36401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7863378" y="3484825"/>
              <a:ext cx="364019" cy="36401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8227397" y="3484825"/>
              <a:ext cx="364019" cy="36401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591416" y="3484825"/>
              <a:ext cx="364019" cy="36401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35" name="ZoneTexte 34"/>
          <p:cNvSpPr txBox="1"/>
          <p:nvPr>
            <p:custDataLst>
              <p:tags r:id="rId7"/>
            </p:custDataLst>
          </p:nvPr>
        </p:nvSpPr>
        <p:spPr>
          <a:xfrm>
            <a:off x="251520" y="1556792"/>
            <a:ext cx="290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dirty="0"/>
              <a:t>4 = 0x34</a:t>
            </a:r>
          </a:p>
        </p:txBody>
      </p:sp>
      <p:sp>
        <p:nvSpPr>
          <p:cNvPr id="36" name="ZoneTexte 35"/>
          <p:cNvSpPr txBox="1"/>
          <p:nvPr>
            <p:custDataLst>
              <p:tags r:id="rId8"/>
            </p:custDataLst>
          </p:nvPr>
        </p:nvSpPr>
        <p:spPr>
          <a:xfrm>
            <a:off x="3147401" y="1556792"/>
            <a:ext cx="290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dirty="0"/>
              <a:t>6 = 0x36</a:t>
            </a:r>
          </a:p>
        </p:txBody>
      </p:sp>
      <p:sp>
        <p:nvSpPr>
          <p:cNvPr id="37" name="ZoneTexte 36"/>
          <p:cNvSpPr txBox="1"/>
          <p:nvPr>
            <p:custDataLst>
              <p:tags r:id="rId9"/>
            </p:custDataLst>
          </p:nvPr>
        </p:nvSpPr>
        <p:spPr>
          <a:xfrm>
            <a:off x="6065272" y="1556792"/>
            <a:ext cx="290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dirty="0"/>
              <a:t>5 = 0x35</a:t>
            </a:r>
          </a:p>
        </p:txBody>
      </p:sp>
    </p:spTree>
    <p:extLst>
      <p:ext uri="{BB962C8B-B14F-4D97-AF65-F5344CB8AC3E}">
        <p14:creationId xmlns:p14="http://schemas.microsoft.com/office/powerpoint/2010/main" val="1867709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Lecture/Écriture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 dirty="0"/>
              <a:t>Une chaine de caractères doit toujours se terminer par le caractère NUL (valeur 0)</a:t>
            </a:r>
          </a:p>
          <a:p>
            <a:endParaRPr lang="fr-CA" dirty="0"/>
          </a:p>
          <a:p>
            <a:r>
              <a:rPr lang="fr-CA" dirty="0"/>
              <a:t>Pour calculer la longueur d’une chaine, on parcourt chaque caractère jusqu’à ce qu’on rencontre le caractère NUL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17</a:t>
            </a:fld>
            <a:endParaRPr lang="fr-CA"/>
          </a:p>
        </p:txBody>
      </p:sp>
      <p:sp>
        <p:nvSpPr>
          <p:cNvPr id="6" name="TextBox 5"/>
          <p:cNvSpPr txBox="1"/>
          <p:nvPr/>
        </p:nvSpPr>
        <p:spPr>
          <a:xfrm>
            <a:off x="601424" y="3686732"/>
            <a:ext cx="8577989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1400">
                <a:latin typeface="Consolas" panose="020B0609020204030204" pitchFamily="49" charset="0"/>
              </a:rPr>
              <a:t>Longueur:</a:t>
            </a:r>
          </a:p>
          <a:p>
            <a:r>
              <a:rPr lang="fr-CA" sz="1400">
                <a:latin typeface="Consolas" panose="020B0609020204030204" pitchFamily="49" charset="0"/>
              </a:rPr>
              <a:t>	SAVE			//Sauvegarde l'environnement de l'appelant</a:t>
            </a:r>
          </a:p>
          <a:p>
            <a:r>
              <a:rPr lang="fr-CA" sz="1400">
                <a:latin typeface="Consolas" panose="020B0609020204030204" pitchFamily="49" charset="0"/>
              </a:rPr>
              <a:t>	mov	x20,-1		//Longueur commence à -1</a:t>
            </a:r>
          </a:p>
          <a:p>
            <a:r>
              <a:rPr lang="fr-CA" sz="1400">
                <a:latin typeface="Consolas" panose="020B0609020204030204" pitchFamily="49" charset="0"/>
              </a:rPr>
              <a:t>long10:</a:t>
            </a:r>
          </a:p>
          <a:p>
            <a:r>
              <a:rPr lang="fr-CA" sz="1400">
                <a:latin typeface="Consolas" panose="020B0609020204030204" pitchFamily="49" charset="0"/>
              </a:rPr>
              <a:t>	add	x20,x20,1		//Incrémente la longueur</a:t>
            </a:r>
          </a:p>
          <a:p>
            <a:r>
              <a:rPr lang="fr-CA" sz="1400">
                <a:latin typeface="Consolas" panose="020B0609020204030204" pitchFamily="49" charset="0"/>
              </a:rPr>
              <a:t>	ldrb	w21,[x0]		//Lit le prochain caractère</a:t>
            </a:r>
          </a:p>
          <a:p>
            <a:r>
              <a:rPr lang="fr-CA" sz="1400">
                <a:latin typeface="Consolas" panose="020B0609020204030204" pitchFamily="49" charset="0"/>
              </a:rPr>
              <a:t>	add	x0,x0,1		//Avance l'adresse</a:t>
            </a:r>
          </a:p>
          <a:p>
            <a:r>
              <a:rPr lang="fr-CA" sz="1400">
                <a:latin typeface="Consolas" panose="020B0609020204030204" pitchFamily="49" charset="0"/>
              </a:rPr>
              <a:t>	cmp	x21,0		//Si le caractère n'est pas la fin de chaîne...</a:t>
            </a:r>
          </a:p>
          <a:p>
            <a:r>
              <a:rPr lang="fr-CA" sz="1400">
                <a:latin typeface="Consolas" panose="020B0609020204030204" pitchFamily="49" charset="0"/>
              </a:rPr>
              <a:t>	b.ne	long10		//Alors passe au caractère suivant</a:t>
            </a:r>
          </a:p>
          <a:p>
            <a:endParaRPr lang="fr-CA" sz="1400">
              <a:latin typeface="Consolas" panose="020B0609020204030204" pitchFamily="49" charset="0"/>
            </a:endParaRPr>
          </a:p>
          <a:p>
            <a:r>
              <a:rPr lang="fr-CA" sz="1400">
                <a:latin typeface="Consolas" panose="020B0609020204030204" pitchFamily="49" charset="0"/>
              </a:rPr>
              <a:t>	mov	x0,x20		//Retourne la longueur</a:t>
            </a:r>
          </a:p>
          <a:p>
            <a:r>
              <a:rPr lang="fr-CA" sz="1400">
                <a:latin typeface="Consolas" panose="020B0609020204030204" pitchFamily="49" charset="0"/>
              </a:rPr>
              <a:t>	RESTORE			//Ramène l'environnement de l'appelant</a:t>
            </a:r>
          </a:p>
          <a:p>
            <a:r>
              <a:rPr lang="fr-CA" sz="1400">
                <a:latin typeface="Consolas" panose="020B0609020204030204" pitchFamily="49" charset="0"/>
              </a:rPr>
              <a:t>	ret			//Retour à l'appelant</a:t>
            </a:r>
          </a:p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49345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Lecture/Écriture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 dirty="0"/>
              <a:t>La conversion d’un nombre binaire en une chaine de caractère pour l’affichage fonctionne d’une façon semblable</a:t>
            </a:r>
          </a:p>
          <a:p>
            <a:endParaRPr lang="fr-CA" dirty="0"/>
          </a:p>
          <a:p>
            <a:r>
              <a:rPr lang="fr-CA" dirty="0"/>
              <a:t>Pour convertir</a:t>
            </a:r>
          </a:p>
          <a:p>
            <a:pPr lvl="1"/>
            <a:r>
              <a:rPr lang="fr-CA" dirty="0"/>
              <a:t>Divisions successives par 10</a:t>
            </a:r>
          </a:p>
          <a:p>
            <a:pPr lvl="1"/>
            <a:r>
              <a:rPr lang="fr-CA" dirty="0"/>
              <a:t>Les restes sont les valeurs des chiffres de la chaine de caractères</a:t>
            </a:r>
          </a:p>
          <a:p>
            <a:pPr lvl="1"/>
            <a:r>
              <a:rPr lang="fr-CA" dirty="0"/>
              <a:t>Il faut leur ajouter la valeur du caractère 0 pour obtenir le bon code</a:t>
            </a:r>
          </a:p>
          <a:p>
            <a:pPr lvl="1"/>
            <a:endParaRPr lang="fr-CA" dirty="0"/>
          </a:p>
          <a:p>
            <a:pPr lvl="1"/>
            <a:r>
              <a:rPr lang="fr-CA" dirty="0"/>
              <a:t>Les caractères sont dans l’ordre inverse</a:t>
            </a:r>
          </a:p>
          <a:p>
            <a:pPr lvl="2"/>
            <a:r>
              <a:rPr lang="fr-CA" dirty="0"/>
              <a:t>Il </a:t>
            </a:r>
            <a:r>
              <a:rPr lang="fr-CA"/>
              <a:t>faut inverser </a:t>
            </a:r>
            <a:r>
              <a:rPr lang="fr-CA" dirty="0"/>
              <a:t>la chaine</a:t>
            </a:r>
          </a:p>
          <a:p>
            <a:pPr lvl="1"/>
            <a:endParaRPr lang="fr-CA" dirty="0"/>
          </a:p>
          <a:p>
            <a:pPr lvl="1"/>
            <a:r>
              <a:rPr lang="fr-CA" dirty="0"/>
              <a:t>Il ne faut pas oublier le caractère NUL à la fin!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18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43792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Lecture/Écriture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 dirty="0"/>
              <a:t>Conversion du nombre 465 vers une chaine de caractères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pPr lvl="1"/>
            <a:r>
              <a:rPr lang="fr-CA" dirty="0"/>
              <a:t>5 + 0x30 = 0x35</a:t>
            </a:r>
          </a:p>
          <a:p>
            <a:pPr lvl="1"/>
            <a:r>
              <a:rPr lang="fr-CA" dirty="0"/>
              <a:t>6 + 0x30 = 0x36</a:t>
            </a:r>
          </a:p>
          <a:p>
            <a:pPr lvl="1"/>
            <a:r>
              <a:rPr lang="fr-CA" dirty="0"/>
              <a:t>4 + 0x30 = 0x34</a:t>
            </a:r>
          </a:p>
          <a:p>
            <a:pPr lvl="1"/>
            <a:endParaRPr lang="fr-CA" dirty="0"/>
          </a:p>
          <a:p>
            <a:pPr lvl="2"/>
            <a:r>
              <a:rPr lang="fr-CA" dirty="0"/>
              <a:t>0x34363500 </a:t>
            </a:r>
            <a:r>
              <a:rPr lang="fr-CA" dirty="0">
                <a:sym typeface="Wingdings" panose="05000000000000000000" pitchFamily="2" charset="2"/>
              </a:rPr>
              <a:t> « 465NUL »</a:t>
            </a:r>
            <a:endParaRPr lang="fr-CA" dirty="0"/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19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4"/>
              <p:cNvGraphicFramePr>
                <a:graphicFrameLocks noGrp="1"/>
              </p:cNvGraphicFramePr>
              <p:nvPr>
                <p:custDataLst>
                  <p:tags r:id="rId4"/>
                </p:custDataLst>
                <p:extLst>
                  <p:ext uri="{D42A27DB-BD31-4B8C-83A1-F6EECF244321}">
                    <p14:modId xmlns:p14="http://schemas.microsoft.com/office/powerpoint/2010/main" val="1227631409"/>
                  </p:ext>
                </p:extLst>
              </p:nvPr>
            </p:nvGraphicFramePr>
            <p:xfrm>
              <a:off x="1763688" y="2420888"/>
              <a:ext cx="5796112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5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764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465÷10</m:t>
                                </m:r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CA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fr-CA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46</m:t>
                                </m:r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A" b="0" dirty="0">
                              <a:solidFill>
                                <a:schemeClr val="tx1"/>
                              </a:solidFill>
                            </a:rPr>
                            <a:t>et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465 </m:t>
                                </m:r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𝑚𝑜𝑑𝑢𝑙𝑜</m:t>
                                </m:r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 10</m:t>
                                </m:r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46÷10</m:t>
                                </m:r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A" b="0" dirty="0">
                              <a:solidFill>
                                <a:schemeClr val="tx1"/>
                              </a:solidFill>
                            </a:rPr>
                            <a:t>et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46 </m:t>
                                </m:r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𝑚𝑜𝑑𝑢𝑙𝑜</m:t>
                                </m:r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 10</m:t>
                                </m:r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4÷10</m:t>
                                </m:r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A" b="0" dirty="0">
                              <a:solidFill>
                                <a:schemeClr val="tx1"/>
                              </a:solidFill>
                            </a:rPr>
                            <a:t>et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4 </m:t>
                                </m:r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𝑚𝑜𝑑𝑢𝑙𝑜</m:t>
                                </m:r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 10</m:t>
                                </m:r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4"/>
              <p:cNvGraphicFramePr>
                <a:graphicFrameLocks noGrp="1"/>
              </p:cNvGraphicFramePr>
              <p:nvPr>
                <p:custDataLst>
                  <p:tags r:id="rId6"/>
                </p:custDataLst>
                <p:extLst>
                  <p:ext uri="{D42A27DB-BD31-4B8C-83A1-F6EECF244321}">
                    <p14:modId xmlns:p14="http://schemas.microsoft.com/office/powerpoint/2010/main" val="1227631409"/>
                  </p:ext>
                </p:extLst>
              </p:nvPr>
            </p:nvGraphicFramePr>
            <p:xfrm>
              <a:off x="1763688" y="2420888"/>
              <a:ext cx="5796112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52000"/>
                    <a:gridCol w="504056"/>
                    <a:gridCol w="612000"/>
                    <a:gridCol w="792000"/>
                    <a:gridCol w="1764000"/>
                    <a:gridCol w="504056"/>
                    <a:gridCol w="46800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t="-8197" r="-40370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l="-227711" t="-8197" r="-819277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l="-272000" t="-8197" r="-580000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A" b="0" dirty="0" smtClean="0">
                              <a:solidFill>
                                <a:schemeClr val="tx1"/>
                              </a:solidFill>
                            </a:rPr>
                            <a:t>et</a:t>
                          </a:r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l="-173103" t="-8197" r="-55172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l="-965854" t="-8197" r="-95122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l="-1135065" t="-8197" r="-1299" b="-2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t="-108197" r="-40370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l="-227711" t="-108197" r="-819277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l="-272000" t="-108197" r="-58000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A" b="0" dirty="0" smtClean="0">
                              <a:solidFill>
                                <a:schemeClr val="tx1"/>
                              </a:solidFill>
                            </a:rPr>
                            <a:t>et</a:t>
                          </a:r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l="-173103" t="-108197" r="-5517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l="-965854" t="-108197" r="-9512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l="-1135065" t="-108197" r="-1299" b="-1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t="-208197" r="-40370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l="-227711" t="-208197" r="-819277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l="-272000" t="-208197" r="-580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A" b="0" dirty="0" smtClean="0">
                              <a:solidFill>
                                <a:schemeClr val="tx1"/>
                              </a:solidFill>
                            </a:rPr>
                            <a:t>et</a:t>
                          </a:r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l="-173103" t="-208197" r="-55172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l="-965854" t="-208197" r="-95122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l="-1135065" t="-208197" r="-1299" b="-2459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81426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Lecture/Écriture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 dirty="0"/>
              <a:t>Maintenant qu’on peut convertir</a:t>
            </a:r>
          </a:p>
          <a:p>
            <a:pPr lvl="1"/>
            <a:r>
              <a:rPr lang="fr-CA" dirty="0"/>
              <a:t>Un nombre binaire vers une chaine de caractères</a:t>
            </a:r>
          </a:p>
          <a:p>
            <a:pPr lvl="1"/>
            <a:r>
              <a:rPr lang="fr-CA" dirty="0"/>
              <a:t>Une chaine de caractère vers un nombre binaire</a:t>
            </a:r>
          </a:p>
          <a:p>
            <a:endParaRPr lang="fr-CA" dirty="0"/>
          </a:p>
          <a:p>
            <a:r>
              <a:rPr lang="fr-CA" dirty="0"/>
              <a:t>Il faut pouvoir afficher et lire, sans utiliser</a:t>
            </a:r>
          </a:p>
          <a:p>
            <a:pPr lvl="1"/>
            <a:r>
              <a:rPr lang="fr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endParaRPr lang="fr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fr-CA" dirty="0" err="1">
                <a:latin typeface="Consolas" panose="020B0609020204030204" pitchFamily="49" charset="0"/>
                <a:cs typeface="Consolas" panose="020B0609020204030204" pitchFamily="49" charset="0"/>
              </a:rPr>
              <a:t>scanf</a:t>
            </a:r>
            <a:endParaRPr lang="fr-CA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20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383739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Lecture/Écriture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/>
              <a:t>L'exemple complet se trouve sur la VM ift209, dans</a:t>
            </a:r>
          </a:p>
          <a:p>
            <a:pPr lvl="1"/>
            <a:r>
              <a:rPr lang="fr-CA">
                <a:latin typeface="Consolas" panose="020B0609020204030204" pitchFamily="49" charset="0"/>
                <a:cs typeface="Consolas" panose="020B0609020204030204" pitchFamily="49" charset="0"/>
              </a:rPr>
              <a:t>/exemples/caracteres/conversion</a:t>
            </a:r>
            <a:endParaRPr lang="fr-CA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21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917736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C45C30D-F9DA-206C-17B1-438E44817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Questions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BF1C0E-125D-1444-2653-D3E1E52E52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BAA14-5410-2A9D-37AF-23561103B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22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030770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té">
  <a:themeElements>
    <a:clrScheme name="Clarté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té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33AC1A0865774DB299E791FDB92DBE" ma:contentTypeVersion="3" ma:contentTypeDescription="Crée un document." ma:contentTypeScope="" ma:versionID="b7d52d8d42f92fff3113c97f3d1b1e06">
  <xsd:schema xmlns:xsd="http://www.w3.org/2001/XMLSchema" xmlns:xs="http://www.w3.org/2001/XMLSchema" xmlns:p="http://schemas.microsoft.com/office/2006/metadata/properties" xmlns:ns2="6b49ab6e-91ce-47c4-92bd-0f7a9d500766" targetNamespace="http://schemas.microsoft.com/office/2006/metadata/properties" ma:root="true" ma:fieldsID="7a8775d0a7673be27e914b86357f5b62" ns2:_="">
    <xsd:import namespace="6b49ab6e-91ce-47c4-92bd-0f7a9d5007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49ab6e-91ce-47c4-92bd-0f7a9d5007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04FE7A5-869D-49AD-B549-1793D99D2DBC}"/>
</file>

<file path=customXml/itemProps2.xml><?xml version="1.0" encoding="utf-8"?>
<ds:datastoreItem xmlns:ds="http://schemas.openxmlformats.org/officeDocument/2006/customXml" ds:itemID="{7C07648F-288F-4DB7-8C2D-FDC36207D4F8}"/>
</file>

<file path=customXml/itemProps3.xml><?xml version="1.0" encoding="utf-8"?>
<ds:datastoreItem xmlns:ds="http://schemas.openxmlformats.org/officeDocument/2006/customXml" ds:itemID="{B0E51560-C592-4DA2-A2A7-B3F15E0C1028}"/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4038</TotalTime>
  <Words>1209</Words>
  <Application>Microsoft Office PowerPoint</Application>
  <PresentationFormat>On-screen Show (4:3)</PresentationFormat>
  <Paragraphs>516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Arial Black</vt:lpstr>
      <vt:lpstr>Calibri</vt:lpstr>
      <vt:lpstr>Cambria Math</vt:lpstr>
      <vt:lpstr>Consolas</vt:lpstr>
      <vt:lpstr>Wingdings</vt:lpstr>
      <vt:lpstr>Clarté</vt:lpstr>
      <vt:lpstr>Chapitre 9</vt:lpstr>
      <vt:lpstr>Les caractères</vt:lpstr>
      <vt:lpstr>ENcodage</vt:lpstr>
      <vt:lpstr>Encodage</vt:lpstr>
      <vt:lpstr>ASCII</vt:lpstr>
      <vt:lpstr>Encodage</vt:lpstr>
      <vt:lpstr>Encodage</vt:lpstr>
      <vt:lpstr>Bit de paritÉ</vt:lpstr>
      <vt:lpstr>Parité</vt:lpstr>
      <vt:lpstr>Parité</vt:lpstr>
      <vt:lpstr>aRM</vt:lpstr>
      <vt:lpstr>Instructions</vt:lpstr>
      <vt:lpstr>Instructions</vt:lpstr>
      <vt:lpstr>Lecture/Écriture</vt:lpstr>
      <vt:lpstr>Lecture/Écriture</vt:lpstr>
      <vt:lpstr>Lecture/Écriture</vt:lpstr>
      <vt:lpstr>Lecture/Écriture</vt:lpstr>
      <vt:lpstr>Lecture/Écriture</vt:lpstr>
      <vt:lpstr>Lecture/Écriture</vt:lpstr>
      <vt:lpstr>Lecture/Écriture</vt:lpstr>
      <vt:lpstr>Lecture/Écriture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Chapitre 9</dc:title>
  <dc:creator>Vincent</dc:creator>
  <cp:lastModifiedBy>Rosa Lourdes Garcia Diaz</cp:lastModifiedBy>
  <cp:revision>477</cp:revision>
  <dcterms:created xsi:type="dcterms:W3CDTF">2015-08-04T01:44:20Z</dcterms:created>
  <dcterms:modified xsi:type="dcterms:W3CDTF">2025-10-31T20:53:43Z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0x0101007633AC1A0865774DB299E791FDB92DBE</vt:lpwstr>
  </property>
</Properties>
</file>
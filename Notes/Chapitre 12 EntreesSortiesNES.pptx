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1" r:id="rId3"/>
  </p:sldMasterIdLst>
  <p:handoutMasterIdLst>
    <p:handoutMasterId r:id="rId28"/>
  </p:handoutMasterIdLst>
  <p:sldIdLst>
    <p:sldId id="256" r:id="rId4"/>
    <p:sldId id="257" r:id="rId5"/>
    <p:sldId id="259" r:id="rId6"/>
    <p:sldId id="258" r:id="rId7"/>
    <p:sldId id="260" r:id="rId8"/>
    <p:sldId id="261" r:id="rId9"/>
    <p:sldId id="263" r:id="rId10"/>
    <p:sldId id="262" r:id="rId11"/>
    <p:sldId id="264" r:id="rId12"/>
    <p:sldId id="265" r:id="rId13"/>
    <p:sldId id="266" r:id="rId14"/>
    <p:sldId id="267" r:id="rId15"/>
    <p:sldId id="268"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6858000" type="screen4x3"/>
  <p:notesSz cx="6858000" cy="9144000"/>
  <p:defaultTextStyle>
    <a:defPPr>
      <a:defRPr lang="en-US"/>
    </a:defPPr>
    <a:lvl1pPr algn="l" rtl="0" eaLnBrk="0" fontAlgn="base" hangingPunct="0">
      <a:spcBef>
        <a:spcPct val="0"/>
      </a:spcBef>
      <a:spcAft>
        <a:spcPct val="0"/>
      </a:spcAft>
      <a:defRPr sz="4400" kern="1200">
        <a:solidFill>
          <a:srgbClr val="FFFF99"/>
        </a:solidFill>
        <a:latin typeface="Arial" panose="020B0604020202020204" pitchFamily="34" charset="0"/>
        <a:ea typeface="+mn-ea"/>
        <a:cs typeface="+mn-cs"/>
      </a:defRPr>
    </a:lvl1pPr>
    <a:lvl2pPr marL="457200" algn="l" rtl="0" eaLnBrk="0" fontAlgn="base" hangingPunct="0">
      <a:spcBef>
        <a:spcPct val="0"/>
      </a:spcBef>
      <a:spcAft>
        <a:spcPct val="0"/>
      </a:spcAft>
      <a:defRPr sz="4400" kern="1200">
        <a:solidFill>
          <a:srgbClr val="FFFF99"/>
        </a:solidFill>
        <a:latin typeface="Arial" panose="020B0604020202020204" pitchFamily="34" charset="0"/>
        <a:ea typeface="+mn-ea"/>
        <a:cs typeface="+mn-cs"/>
      </a:defRPr>
    </a:lvl2pPr>
    <a:lvl3pPr marL="914400" algn="l" rtl="0" eaLnBrk="0" fontAlgn="base" hangingPunct="0">
      <a:spcBef>
        <a:spcPct val="0"/>
      </a:spcBef>
      <a:spcAft>
        <a:spcPct val="0"/>
      </a:spcAft>
      <a:defRPr sz="4400" kern="1200">
        <a:solidFill>
          <a:srgbClr val="FFFF99"/>
        </a:solidFill>
        <a:latin typeface="Arial" panose="020B0604020202020204" pitchFamily="34" charset="0"/>
        <a:ea typeface="+mn-ea"/>
        <a:cs typeface="+mn-cs"/>
      </a:defRPr>
    </a:lvl3pPr>
    <a:lvl4pPr marL="1371600" algn="l" rtl="0" eaLnBrk="0" fontAlgn="base" hangingPunct="0">
      <a:spcBef>
        <a:spcPct val="0"/>
      </a:spcBef>
      <a:spcAft>
        <a:spcPct val="0"/>
      </a:spcAft>
      <a:defRPr sz="4400" kern="1200">
        <a:solidFill>
          <a:srgbClr val="FFFF99"/>
        </a:solidFill>
        <a:latin typeface="Arial" panose="020B0604020202020204" pitchFamily="34" charset="0"/>
        <a:ea typeface="+mn-ea"/>
        <a:cs typeface="+mn-cs"/>
      </a:defRPr>
    </a:lvl4pPr>
    <a:lvl5pPr marL="1828800" algn="l" rtl="0" eaLnBrk="0" fontAlgn="base" hangingPunct="0">
      <a:spcBef>
        <a:spcPct val="0"/>
      </a:spcBef>
      <a:spcAft>
        <a:spcPct val="0"/>
      </a:spcAft>
      <a:defRPr sz="4400" kern="1200">
        <a:solidFill>
          <a:srgbClr val="FFFF99"/>
        </a:solidFill>
        <a:latin typeface="Arial" panose="020B0604020202020204" pitchFamily="34" charset="0"/>
        <a:ea typeface="+mn-ea"/>
        <a:cs typeface="+mn-cs"/>
      </a:defRPr>
    </a:lvl5pPr>
    <a:lvl6pPr marL="2286000" algn="l" defTabSz="914400" rtl="0" eaLnBrk="1" latinLnBrk="0" hangingPunct="1">
      <a:defRPr sz="4400" kern="1200">
        <a:solidFill>
          <a:srgbClr val="FFFF99"/>
        </a:solidFill>
        <a:latin typeface="Arial" panose="020B0604020202020204" pitchFamily="34" charset="0"/>
        <a:ea typeface="+mn-ea"/>
        <a:cs typeface="+mn-cs"/>
      </a:defRPr>
    </a:lvl6pPr>
    <a:lvl7pPr marL="2743200" algn="l" defTabSz="914400" rtl="0" eaLnBrk="1" latinLnBrk="0" hangingPunct="1">
      <a:defRPr sz="4400" kern="1200">
        <a:solidFill>
          <a:srgbClr val="FFFF99"/>
        </a:solidFill>
        <a:latin typeface="Arial" panose="020B0604020202020204" pitchFamily="34" charset="0"/>
        <a:ea typeface="+mn-ea"/>
        <a:cs typeface="+mn-cs"/>
      </a:defRPr>
    </a:lvl7pPr>
    <a:lvl8pPr marL="3200400" algn="l" defTabSz="914400" rtl="0" eaLnBrk="1" latinLnBrk="0" hangingPunct="1">
      <a:defRPr sz="4400" kern="1200">
        <a:solidFill>
          <a:srgbClr val="FFFF99"/>
        </a:solidFill>
        <a:latin typeface="Arial" panose="020B0604020202020204" pitchFamily="34" charset="0"/>
        <a:ea typeface="+mn-ea"/>
        <a:cs typeface="+mn-cs"/>
      </a:defRPr>
    </a:lvl8pPr>
    <a:lvl9pPr marL="3657600" algn="l" defTabSz="914400" rtl="0" eaLnBrk="1" latinLnBrk="0" hangingPunct="1">
      <a:defRPr sz="4400" kern="1200">
        <a:solidFill>
          <a:srgbClr val="FFFF99"/>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CC00CC"/>
    <a:srgbClr val="FF3300"/>
    <a:srgbClr val="FF9900"/>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257" autoAdjust="0"/>
    <p:restoredTop sz="94682" autoAdjust="0"/>
  </p:normalViewPr>
  <p:slideViewPr>
    <p:cSldViewPr>
      <p:cViewPr varScale="1">
        <p:scale>
          <a:sx n="88" d="100"/>
          <a:sy n="88" d="100"/>
        </p:scale>
        <p:origin x="67"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66" d="100"/>
          <a:sy n="66" d="100"/>
        </p:scale>
        <p:origin x="-204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6697232-A807-EB5A-A7EE-0D3D8BB0C6F7}"/>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solidFill>
                  <a:schemeClr val="tx1"/>
                </a:solidFill>
                <a:latin typeface="Arial" charset="0"/>
              </a:defRPr>
            </a:lvl1pPr>
          </a:lstStyle>
          <a:p>
            <a:pPr>
              <a:defRPr/>
            </a:pPr>
            <a:endParaRPr lang="en-US"/>
          </a:p>
        </p:txBody>
      </p:sp>
      <p:sp>
        <p:nvSpPr>
          <p:cNvPr id="64515" name="Rectangle 3">
            <a:extLst>
              <a:ext uri="{FF2B5EF4-FFF2-40B4-BE49-F238E27FC236}">
                <a16:creationId xmlns:a16="http://schemas.microsoft.com/office/drawing/2014/main" id="{7C7A3124-BD42-8BF6-1ABE-D89E52CA8362}"/>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defRPr>
            </a:lvl1pPr>
          </a:lstStyle>
          <a:p>
            <a:pPr>
              <a:defRPr/>
            </a:pPr>
            <a:endParaRPr lang="en-US"/>
          </a:p>
        </p:txBody>
      </p:sp>
      <p:sp>
        <p:nvSpPr>
          <p:cNvPr id="64516" name="Rectangle 4">
            <a:extLst>
              <a:ext uri="{FF2B5EF4-FFF2-40B4-BE49-F238E27FC236}">
                <a16:creationId xmlns:a16="http://schemas.microsoft.com/office/drawing/2014/main" id="{F01900BF-071B-EED5-4D4A-D26D3E288C71}"/>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solidFill>
                  <a:schemeClr val="tx1"/>
                </a:solidFill>
                <a:latin typeface="Arial" charset="0"/>
              </a:defRPr>
            </a:lvl1pPr>
          </a:lstStyle>
          <a:p>
            <a:pPr>
              <a:defRPr/>
            </a:pPr>
            <a:endParaRPr lang="en-US"/>
          </a:p>
        </p:txBody>
      </p:sp>
      <p:sp>
        <p:nvSpPr>
          <p:cNvPr id="64517" name="Rectangle 5">
            <a:extLst>
              <a:ext uri="{FF2B5EF4-FFF2-40B4-BE49-F238E27FC236}">
                <a16:creationId xmlns:a16="http://schemas.microsoft.com/office/drawing/2014/main" id="{0DD10EA9-BA07-616F-0364-C86EBE31DCBB}"/>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defRPr>
            </a:lvl1pPr>
          </a:lstStyle>
          <a:p>
            <a:fld id="{8E334E1F-B4C1-4728-92CA-9401AF448F7B}" type="slidenum">
              <a:rPr lang="en-US" altLang="fr-FR"/>
              <a:pPr/>
              <a:t>‹n°›</a:t>
            </a:fld>
            <a:endParaRPr lang="en-US" altLang="fr-FR"/>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CA"/>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CA"/>
          </a:p>
        </p:txBody>
      </p:sp>
      <p:sp>
        <p:nvSpPr>
          <p:cNvPr id="4" name="Rectangle 4">
            <a:extLst>
              <a:ext uri="{FF2B5EF4-FFF2-40B4-BE49-F238E27FC236}">
                <a16:creationId xmlns:a16="http://schemas.microsoft.com/office/drawing/2014/main" id="{D49DB619-A920-9287-AD20-00DFF91B80C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D3631ED3-A27C-C76F-0816-B60B17B08BB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D32373C9-2EDD-9697-53CB-84A661F47601}"/>
              </a:ext>
            </a:extLst>
          </p:cNvPr>
          <p:cNvSpPr>
            <a:spLocks noGrp="1" noChangeArrowheads="1"/>
          </p:cNvSpPr>
          <p:nvPr>
            <p:ph type="sldNum" sz="quarter" idx="12"/>
          </p:nvPr>
        </p:nvSpPr>
        <p:spPr>
          <a:ln/>
        </p:spPr>
        <p:txBody>
          <a:bodyPr/>
          <a:lstStyle>
            <a:lvl1pPr>
              <a:defRPr/>
            </a:lvl1pPr>
          </a:lstStyle>
          <a:p>
            <a:fld id="{D37A14AE-2926-4765-9662-A1643A9E791B}" type="slidenum">
              <a:rPr lang="en-US" altLang="fr-FR"/>
              <a:pPr/>
              <a:t>‹n°›</a:t>
            </a:fld>
            <a:endParaRPr lang="en-US" altLang="fr-FR"/>
          </a:p>
        </p:txBody>
      </p:sp>
    </p:spTree>
    <p:extLst>
      <p:ext uri="{BB962C8B-B14F-4D97-AF65-F5344CB8AC3E}">
        <p14:creationId xmlns:p14="http://schemas.microsoft.com/office/powerpoint/2010/main" val="2429240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46CC23D1-BA29-55F0-AA68-6F9481130CF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451140F4-F452-4406-9358-41557C51970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54331B0-5999-9430-CDFB-15ED511C62D7}"/>
              </a:ext>
            </a:extLst>
          </p:cNvPr>
          <p:cNvSpPr>
            <a:spLocks noGrp="1" noChangeArrowheads="1"/>
          </p:cNvSpPr>
          <p:nvPr>
            <p:ph type="sldNum" sz="quarter" idx="12"/>
          </p:nvPr>
        </p:nvSpPr>
        <p:spPr>
          <a:ln/>
        </p:spPr>
        <p:txBody>
          <a:bodyPr/>
          <a:lstStyle>
            <a:lvl1pPr>
              <a:defRPr/>
            </a:lvl1pPr>
          </a:lstStyle>
          <a:p>
            <a:fld id="{0B259430-C520-4759-9C17-1DA11AE92E8A}" type="slidenum">
              <a:rPr lang="en-US" altLang="fr-FR"/>
              <a:pPr/>
              <a:t>‹n°›</a:t>
            </a:fld>
            <a:endParaRPr lang="en-US" altLang="fr-FR"/>
          </a:p>
        </p:txBody>
      </p:sp>
    </p:spTree>
    <p:extLst>
      <p:ext uri="{BB962C8B-B14F-4D97-AF65-F5344CB8AC3E}">
        <p14:creationId xmlns:p14="http://schemas.microsoft.com/office/powerpoint/2010/main" val="3009806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CA"/>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168B6FAD-DC79-4042-E81A-81E0B3FEEC1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C083166-D116-2066-2CA7-E3F2155804C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7D8525CF-736B-45C9-B4CA-3057DBE54274}"/>
              </a:ext>
            </a:extLst>
          </p:cNvPr>
          <p:cNvSpPr>
            <a:spLocks noGrp="1" noChangeArrowheads="1"/>
          </p:cNvSpPr>
          <p:nvPr>
            <p:ph type="sldNum" sz="quarter" idx="12"/>
          </p:nvPr>
        </p:nvSpPr>
        <p:spPr>
          <a:ln/>
        </p:spPr>
        <p:txBody>
          <a:bodyPr/>
          <a:lstStyle>
            <a:lvl1pPr>
              <a:defRPr/>
            </a:lvl1pPr>
          </a:lstStyle>
          <a:p>
            <a:fld id="{293C3E0D-8C2A-47A9-B155-61C16E118947}" type="slidenum">
              <a:rPr lang="en-US" altLang="fr-FR"/>
              <a:pPr/>
              <a:t>‹n°›</a:t>
            </a:fld>
            <a:endParaRPr lang="en-US" altLang="fr-FR"/>
          </a:p>
        </p:txBody>
      </p:sp>
    </p:spTree>
    <p:extLst>
      <p:ext uri="{BB962C8B-B14F-4D97-AF65-F5344CB8AC3E}">
        <p14:creationId xmlns:p14="http://schemas.microsoft.com/office/powerpoint/2010/main" val="20082885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Rectangle 4">
            <a:extLst>
              <a:ext uri="{FF2B5EF4-FFF2-40B4-BE49-F238E27FC236}">
                <a16:creationId xmlns:a16="http://schemas.microsoft.com/office/drawing/2014/main" id="{F027AD67-4292-187D-51C8-85A5D0BE1E2C}"/>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F77FA58F-F833-972F-BDE0-7CFE8563335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5E38FFDF-78E4-CCC5-B580-49159F7EB9CC}"/>
              </a:ext>
            </a:extLst>
          </p:cNvPr>
          <p:cNvSpPr>
            <a:spLocks noGrp="1" noChangeArrowheads="1"/>
          </p:cNvSpPr>
          <p:nvPr>
            <p:ph type="sldNum" sz="quarter" idx="12"/>
          </p:nvPr>
        </p:nvSpPr>
        <p:spPr>
          <a:ln/>
        </p:spPr>
        <p:txBody>
          <a:bodyPr/>
          <a:lstStyle>
            <a:lvl1pPr>
              <a:defRPr/>
            </a:lvl1pPr>
          </a:lstStyle>
          <a:p>
            <a:fld id="{0DB14120-804F-40C1-BBB7-0A43CA01803C}" type="slidenum">
              <a:rPr lang="en-US" altLang="fr-FR"/>
              <a:pPr/>
              <a:t>‹n°›</a:t>
            </a:fld>
            <a:endParaRPr lang="en-US" altLang="fr-FR"/>
          </a:p>
        </p:txBody>
      </p:sp>
    </p:spTree>
    <p:extLst>
      <p:ext uri="{BB962C8B-B14F-4D97-AF65-F5344CB8AC3E}">
        <p14:creationId xmlns:p14="http://schemas.microsoft.com/office/powerpoint/2010/main" val="383075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CA"/>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Rectangle 4">
            <a:extLst>
              <a:ext uri="{FF2B5EF4-FFF2-40B4-BE49-F238E27FC236}">
                <a16:creationId xmlns:a16="http://schemas.microsoft.com/office/drawing/2014/main" id="{430D8484-5404-C5DA-EC1C-66F39DA795D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B4F6F63-0219-09C1-E6B0-DD83F10FDF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88775716-8B89-89BB-43B1-82A4E7865128}"/>
              </a:ext>
            </a:extLst>
          </p:cNvPr>
          <p:cNvSpPr>
            <a:spLocks noGrp="1" noChangeArrowheads="1"/>
          </p:cNvSpPr>
          <p:nvPr>
            <p:ph type="sldNum" sz="quarter" idx="12"/>
          </p:nvPr>
        </p:nvSpPr>
        <p:spPr>
          <a:ln/>
        </p:spPr>
        <p:txBody>
          <a:bodyPr/>
          <a:lstStyle>
            <a:lvl1pPr>
              <a:defRPr/>
            </a:lvl1pPr>
          </a:lstStyle>
          <a:p>
            <a:fld id="{A32A56D0-814D-4B31-BF2A-72711ACE32DF}" type="slidenum">
              <a:rPr lang="en-US" altLang="fr-FR"/>
              <a:pPr/>
              <a:t>‹n°›</a:t>
            </a:fld>
            <a:endParaRPr lang="en-US" altLang="fr-FR"/>
          </a:p>
        </p:txBody>
      </p:sp>
    </p:spTree>
    <p:extLst>
      <p:ext uri="{BB962C8B-B14F-4D97-AF65-F5344CB8AC3E}">
        <p14:creationId xmlns:p14="http://schemas.microsoft.com/office/powerpoint/2010/main" val="780146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Rectangle 4">
            <a:extLst>
              <a:ext uri="{FF2B5EF4-FFF2-40B4-BE49-F238E27FC236}">
                <a16:creationId xmlns:a16="http://schemas.microsoft.com/office/drawing/2014/main" id="{9380E200-0293-5087-C720-D10331F3CD86}"/>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D4E88FAF-485C-8E16-868A-D980B7FCE2D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2C324DE-79AE-AB89-9805-57C2FFF5D4D7}"/>
              </a:ext>
            </a:extLst>
          </p:cNvPr>
          <p:cNvSpPr>
            <a:spLocks noGrp="1" noChangeArrowheads="1"/>
          </p:cNvSpPr>
          <p:nvPr>
            <p:ph type="sldNum" sz="quarter" idx="12"/>
          </p:nvPr>
        </p:nvSpPr>
        <p:spPr>
          <a:ln/>
        </p:spPr>
        <p:txBody>
          <a:bodyPr/>
          <a:lstStyle>
            <a:lvl1pPr>
              <a:defRPr/>
            </a:lvl1pPr>
          </a:lstStyle>
          <a:p>
            <a:fld id="{CB1F735D-7CD8-4741-ACB6-1FB005E26921}" type="slidenum">
              <a:rPr lang="en-US" altLang="fr-FR"/>
              <a:pPr/>
              <a:t>‹n°›</a:t>
            </a:fld>
            <a:endParaRPr lang="en-US" altLang="fr-FR"/>
          </a:p>
        </p:txBody>
      </p:sp>
    </p:spTree>
    <p:extLst>
      <p:ext uri="{BB962C8B-B14F-4D97-AF65-F5344CB8AC3E}">
        <p14:creationId xmlns:p14="http://schemas.microsoft.com/office/powerpoint/2010/main" val="2660604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398D6D9-00A1-DFEC-40E1-6BAEBC6EB1C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0F744CB6-A6C9-33EB-61EC-9D2D96BDCA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BB65EB64-F5B8-A76D-0C3E-1A6DCB929390}"/>
              </a:ext>
            </a:extLst>
          </p:cNvPr>
          <p:cNvSpPr>
            <a:spLocks noGrp="1" noChangeArrowheads="1"/>
          </p:cNvSpPr>
          <p:nvPr>
            <p:ph type="sldNum" sz="quarter" idx="12"/>
          </p:nvPr>
        </p:nvSpPr>
        <p:spPr>
          <a:ln/>
        </p:spPr>
        <p:txBody>
          <a:bodyPr/>
          <a:lstStyle>
            <a:lvl1pPr>
              <a:defRPr/>
            </a:lvl1pPr>
          </a:lstStyle>
          <a:p>
            <a:fld id="{750671BA-0272-4F2A-BB93-309EEAED513E}" type="slidenum">
              <a:rPr lang="en-US" altLang="fr-FR"/>
              <a:pPr/>
              <a:t>‹n°›</a:t>
            </a:fld>
            <a:endParaRPr lang="en-US" altLang="fr-FR"/>
          </a:p>
        </p:txBody>
      </p:sp>
    </p:spTree>
    <p:extLst>
      <p:ext uri="{BB962C8B-B14F-4D97-AF65-F5344CB8AC3E}">
        <p14:creationId xmlns:p14="http://schemas.microsoft.com/office/powerpoint/2010/main" val="989654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CA"/>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CCD57C4-C990-4BDF-408E-1A8CEABDE6B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5E6605AC-241B-5FB9-7475-F64E639FE6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66A633E4-D146-A7B3-361D-68B0BFED7BCE}"/>
              </a:ext>
            </a:extLst>
          </p:cNvPr>
          <p:cNvSpPr>
            <a:spLocks noGrp="1" noChangeArrowheads="1"/>
          </p:cNvSpPr>
          <p:nvPr>
            <p:ph type="sldNum" sz="quarter" idx="12"/>
          </p:nvPr>
        </p:nvSpPr>
        <p:spPr>
          <a:ln/>
        </p:spPr>
        <p:txBody>
          <a:bodyPr/>
          <a:lstStyle>
            <a:lvl1pPr>
              <a:defRPr/>
            </a:lvl1pPr>
          </a:lstStyle>
          <a:p>
            <a:fld id="{C0D83856-6CAE-4F7D-A3F1-89C199549AA9}" type="slidenum">
              <a:rPr lang="en-US" altLang="fr-FR"/>
              <a:pPr/>
              <a:t>‹n°›</a:t>
            </a:fld>
            <a:endParaRPr lang="en-US" altLang="fr-FR"/>
          </a:p>
        </p:txBody>
      </p:sp>
    </p:spTree>
    <p:extLst>
      <p:ext uri="{BB962C8B-B14F-4D97-AF65-F5344CB8AC3E}">
        <p14:creationId xmlns:p14="http://schemas.microsoft.com/office/powerpoint/2010/main" val="1810179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CA"/>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CA"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0B4BC19-6696-9FD9-097F-31D127759CC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A79B9D18-CD88-C07C-348E-DC1BD944146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A9DF7DC8-341B-948E-6779-B4AB30AAEEAE}"/>
              </a:ext>
            </a:extLst>
          </p:cNvPr>
          <p:cNvSpPr>
            <a:spLocks noGrp="1" noChangeArrowheads="1"/>
          </p:cNvSpPr>
          <p:nvPr>
            <p:ph type="sldNum" sz="quarter" idx="12"/>
          </p:nvPr>
        </p:nvSpPr>
        <p:spPr>
          <a:ln/>
        </p:spPr>
        <p:txBody>
          <a:bodyPr/>
          <a:lstStyle>
            <a:lvl1pPr>
              <a:defRPr/>
            </a:lvl1pPr>
          </a:lstStyle>
          <a:p>
            <a:fld id="{2AB249E0-8EE6-418F-B371-F512843322D4}" type="slidenum">
              <a:rPr lang="en-US" altLang="fr-FR"/>
              <a:pPr/>
              <a:t>‹n°›</a:t>
            </a:fld>
            <a:endParaRPr lang="en-US" altLang="fr-FR"/>
          </a:p>
        </p:txBody>
      </p:sp>
    </p:spTree>
    <p:extLst>
      <p:ext uri="{BB962C8B-B14F-4D97-AF65-F5344CB8AC3E}">
        <p14:creationId xmlns:p14="http://schemas.microsoft.com/office/powerpoint/2010/main" val="2732795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C1832FA3-E59F-BB31-727C-2C6DBA51E544}"/>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EBFF084-F6A4-95B0-8812-FA2169EFFA9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3CF37B6-0723-32DB-4686-EF319F21EBA0}"/>
              </a:ext>
            </a:extLst>
          </p:cNvPr>
          <p:cNvSpPr>
            <a:spLocks noGrp="1" noChangeArrowheads="1"/>
          </p:cNvSpPr>
          <p:nvPr>
            <p:ph type="sldNum" sz="quarter" idx="12"/>
          </p:nvPr>
        </p:nvSpPr>
        <p:spPr>
          <a:ln/>
        </p:spPr>
        <p:txBody>
          <a:bodyPr/>
          <a:lstStyle>
            <a:lvl1pPr>
              <a:defRPr/>
            </a:lvl1pPr>
          </a:lstStyle>
          <a:p>
            <a:fld id="{25250428-71D5-4C21-ACEE-D87426744837}" type="slidenum">
              <a:rPr lang="en-US" altLang="fr-FR"/>
              <a:pPr/>
              <a:t>‹n°›</a:t>
            </a:fld>
            <a:endParaRPr lang="en-US" altLang="fr-FR"/>
          </a:p>
        </p:txBody>
      </p:sp>
    </p:spTree>
    <p:extLst>
      <p:ext uri="{BB962C8B-B14F-4D97-AF65-F5344CB8AC3E}">
        <p14:creationId xmlns:p14="http://schemas.microsoft.com/office/powerpoint/2010/main" val="42736857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CA"/>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Rectangle 4">
            <a:extLst>
              <a:ext uri="{FF2B5EF4-FFF2-40B4-BE49-F238E27FC236}">
                <a16:creationId xmlns:a16="http://schemas.microsoft.com/office/drawing/2014/main" id="{4D108702-349D-A3AB-1C9F-0497DF31C6E5}"/>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1A38E8F-430C-7290-6E9A-D12706221E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1617B73-06AC-A77B-9E9C-D6142902A92E}"/>
              </a:ext>
            </a:extLst>
          </p:cNvPr>
          <p:cNvSpPr>
            <a:spLocks noGrp="1" noChangeArrowheads="1"/>
          </p:cNvSpPr>
          <p:nvPr>
            <p:ph type="sldNum" sz="quarter" idx="12"/>
          </p:nvPr>
        </p:nvSpPr>
        <p:spPr>
          <a:ln/>
        </p:spPr>
        <p:txBody>
          <a:bodyPr/>
          <a:lstStyle>
            <a:lvl1pPr>
              <a:defRPr/>
            </a:lvl1pPr>
          </a:lstStyle>
          <a:p>
            <a:fld id="{3C28F498-5E9C-4B2C-BC37-989E6F9CDFF9}" type="slidenum">
              <a:rPr lang="en-US" altLang="fr-FR"/>
              <a:pPr/>
              <a:t>‹n°›</a:t>
            </a:fld>
            <a:endParaRPr lang="en-US" altLang="fr-FR"/>
          </a:p>
        </p:txBody>
      </p:sp>
    </p:spTree>
    <p:extLst>
      <p:ext uri="{BB962C8B-B14F-4D97-AF65-F5344CB8AC3E}">
        <p14:creationId xmlns:p14="http://schemas.microsoft.com/office/powerpoint/2010/main" val="16734469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CA"/>
          </a:p>
        </p:txBody>
      </p:sp>
      <p:sp>
        <p:nvSpPr>
          <p:cNvPr id="3" name="Table Placeholder 2"/>
          <p:cNvSpPr>
            <a:spLocks noGrp="1"/>
          </p:cNvSpPr>
          <p:nvPr>
            <p:ph type="tbl" idx="1"/>
          </p:nvPr>
        </p:nvSpPr>
        <p:spPr>
          <a:xfrm>
            <a:off x="457200" y="1600200"/>
            <a:ext cx="8229600" cy="4525963"/>
          </a:xfrm>
        </p:spPr>
        <p:txBody>
          <a:bodyPr/>
          <a:lstStyle/>
          <a:p>
            <a:pPr lvl="0"/>
            <a:endParaRPr lang="en-CA" noProof="0"/>
          </a:p>
        </p:txBody>
      </p:sp>
      <p:sp>
        <p:nvSpPr>
          <p:cNvPr id="4" name="Rectangle 4">
            <a:extLst>
              <a:ext uri="{FF2B5EF4-FFF2-40B4-BE49-F238E27FC236}">
                <a16:creationId xmlns:a16="http://schemas.microsoft.com/office/drawing/2014/main" id="{353E4038-A516-9D39-8E5C-14CB9AC9735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CE0C7CF-992A-6818-8402-B764B5D1C41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4E4C8FE-9F52-EDD5-7C09-06629DE28DB8}"/>
              </a:ext>
            </a:extLst>
          </p:cNvPr>
          <p:cNvSpPr>
            <a:spLocks noGrp="1" noChangeArrowheads="1"/>
          </p:cNvSpPr>
          <p:nvPr>
            <p:ph type="sldNum" sz="quarter" idx="12"/>
          </p:nvPr>
        </p:nvSpPr>
        <p:spPr>
          <a:ln/>
        </p:spPr>
        <p:txBody>
          <a:bodyPr/>
          <a:lstStyle>
            <a:lvl1pPr>
              <a:defRPr/>
            </a:lvl1pPr>
          </a:lstStyle>
          <a:p>
            <a:fld id="{802BB180-B495-4DBD-8568-1F6E94A9AE32}" type="slidenum">
              <a:rPr lang="en-US" altLang="fr-FR"/>
              <a:pPr/>
              <a:t>‹n°›</a:t>
            </a:fld>
            <a:endParaRPr lang="en-US" altLang="fr-FR"/>
          </a:p>
        </p:txBody>
      </p:sp>
    </p:spTree>
    <p:extLst>
      <p:ext uri="{BB962C8B-B14F-4D97-AF65-F5344CB8AC3E}">
        <p14:creationId xmlns:p14="http://schemas.microsoft.com/office/powerpoint/2010/main" val="2890213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2DDEB37-B3BC-5F9A-B3AC-07971F65540A}"/>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fr-FR"/>
              <a:t>Cliquez pour modifier le style du titre</a:t>
            </a:r>
          </a:p>
        </p:txBody>
      </p:sp>
      <p:sp>
        <p:nvSpPr>
          <p:cNvPr id="1027" name="Rectangle 3">
            <a:extLst>
              <a:ext uri="{FF2B5EF4-FFF2-40B4-BE49-F238E27FC236}">
                <a16:creationId xmlns:a16="http://schemas.microsoft.com/office/drawing/2014/main" id="{97C5D6DB-7D74-6AAB-8CFF-96639F8E751C}"/>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fr-FR"/>
              <a:t>Cliquez pour modifier les styles du texte du masque</a:t>
            </a:r>
          </a:p>
          <a:p>
            <a:pPr lvl="1"/>
            <a:r>
              <a:rPr lang="en-US" altLang="fr-FR"/>
              <a:t>Deuxième niveau</a:t>
            </a:r>
          </a:p>
          <a:p>
            <a:pPr lvl="2"/>
            <a:r>
              <a:rPr lang="en-US" altLang="fr-FR"/>
              <a:t>Troisième niveau</a:t>
            </a:r>
          </a:p>
          <a:p>
            <a:pPr lvl="3"/>
            <a:r>
              <a:rPr lang="en-US" altLang="fr-FR"/>
              <a:t>Quatrième niveau</a:t>
            </a:r>
          </a:p>
          <a:p>
            <a:pPr lvl="4"/>
            <a:r>
              <a:rPr lang="en-US" altLang="fr-FR"/>
              <a:t>Cinquième niveau</a:t>
            </a:r>
          </a:p>
        </p:txBody>
      </p:sp>
      <p:sp>
        <p:nvSpPr>
          <p:cNvPr id="49156" name="Rectangle 4">
            <a:extLst>
              <a:ext uri="{FF2B5EF4-FFF2-40B4-BE49-F238E27FC236}">
                <a16:creationId xmlns:a16="http://schemas.microsoft.com/office/drawing/2014/main" id="{59F36753-D4D0-CC8A-A8F2-0EE9E9945B31}"/>
              </a:ext>
            </a:extLst>
          </p:cNvPr>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400">
                <a:solidFill>
                  <a:schemeClr val="tx1"/>
                </a:solidFill>
                <a:latin typeface="Arial" charset="0"/>
              </a:defRPr>
            </a:lvl1pPr>
          </a:lstStyle>
          <a:p>
            <a:pPr>
              <a:defRPr/>
            </a:pPr>
            <a:endParaRPr lang="en-US"/>
          </a:p>
        </p:txBody>
      </p:sp>
      <p:sp>
        <p:nvSpPr>
          <p:cNvPr id="49157" name="Rectangle 5">
            <a:extLst>
              <a:ext uri="{FF2B5EF4-FFF2-40B4-BE49-F238E27FC236}">
                <a16:creationId xmlns:a16="http://schemas.microsoft.com/office/drawing/2014/main" id="{CD450A56-8C94-2F28-CDCC-63DF3F7FD4E4}"/>
              </a:ext>
            </a:extLst>
          </p:cNvPr>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solidFill>
                  <a:schemeClr val="tx1"/>
                </a:solidFill>
                <a:latin typeface="Arial" charset="0"/>
              </a:defRPr>
            </a:lvl1pPr>
          </a:lstStyle>
          <a:p>
            <a:pPr>
              <a:defRPr/>
            </a:pPr>
            <a:endParaRPr lang="en-US"/>
          </a:p>
        </p:txBody>
      </p:sp>
      <p:sp>
        <p:nvSpPr>
          <p:cNvPr id="49158" name="Rectangle 6">
            <a:extLst>
              <a:ext uri="{FF2B5EF4-FFF2-40B4-BE49-F238E27FC236}">
                <a16:creationId xmlns:a16="http://schemas.microsoft.com/office/drawing/2014/main" id="{EF7FEAF3-5944-3F54-28C0-089BF94DBC8B}"/>
              </a:ext>
            </a:extLst>
          </p:cNvPr>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tx1"/>
                </a:solidFill>
              </a:defRPr>
            </a:lvl1pPr>
          </a:lstStyle>
          <a:p>
            <a:fld id="{B321D806-AD4C-4910-9BC2-C6186AAC6FA3}" type="slidenum">
              <a:rPr lang="en-US" altLang="fr-FR"/>
              <a:pPr/>
              <a:t>‹n°›</a:t>
            </a:fld>
            <a:endParaRPr lang="en-US" altLang="fr-FR"/>
          </a:p>
        </p:txBody>
      </p:sp>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 id="2147483699" r:id="rId8"/>
    <p:sldLayoutId id="2147483700" r:id="rId9"/>
    <p:sldLayoutId id="2147483701" r:id="rId10"/>
    <p:sldLayoutId id="2147483702" r:id="rId11"/>
    <p:sldLayoutId id="2147483703"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074" name="Rectangle 7">
            <a:extLst>
              <a:ext uri="{FF2B5EF4-FFF2-40B4-BE49-F238E27FC236}">
                <a16:creationId xmlns:a16="http://schemas.microsoft.com/office/drawing/2014/main" id="{627BB18B-AC5F-6F09-C6E3-5CC04E4A0B59}"/>
              </a:ext>
            </a:extLst>
          </p:cNvPr>
          <p:cNvSpPr>
            <a:spLocks noChangeArrowheads="1"/>
          </p:cNvSpPr>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FR" altLang="fr-FR" sz="4400" b="1">
                <a:solidFill>
                  <a:srgbClr val="FFFFFF"/>
                </a:solidFill>
              </a:rPr>
              <a:t>Les Entr</a:t>
            </a:r>
            <a:r>
              <a:rPr lang="en-CA" altLang="fr-FR" sz="4400" b="1">
                <a:solidFill>
                  <a:srgbClr val="FFFFFF"/>
                </a:solidFill>
              </a:rPr>
              <a:t>é</a:t>
            </a:r>
            <a:r>
              <a:rPr lang="fr-FR" altLang="fr-FR" sz="4400" b="1">
                <a:solidFill>
                  <a:srgbClr val="FFFFFF"/>
                </a:solidFill>
              </a:rPr>
              <a:t>es / Sorties</a:t>
            </a:r>
          </a:p>
        </p:txBody>
      </p:sp>
      <p:grpSp>
        <p:nvGrpSpPr>
          <p:cNvPr id="2" name="Group 8">
            <a:extLst>
              <a:ext uri="{FF2B5EF4-FFF2-40B4-BE49-F238E27FC236}">
                <a16:creationId xmlns:a16="http://schemas.microsoft.com/office/drawing/2014/main" id="{8784B73F-F326-A5B2-1FDF-B10CA1213E32}"/>
              </a:ext>
            </a:extLst>
          </p:cNvPr>
          <p:cNvGrpSpPr>
            <a:grpSpLocks/>
          </p:cNvGrpSpPr>
          <p:nvPr/>
        </p:nvGrpSpPr>
        <p:grpSpPr bwMode="auto">
          <a:xfrm>
            <a:off x="1692275" y="2565400"/>
            <a:ext cx="4032250" cy="504825"/>
            <a:chOff x="1247" y="1480"/>
            <a:chExt cx="2177" cy="318"/>
          </a:xfrm>
        </p:grpSpPr>
        <p:sp>
          <p:nvSpPr>
            <p:cNvPr id="3102" name="Rectangle 9">
              <a:extLst>
                <a:ext uri="{FF2B5EF4-FFF2-40B4-BE49-F238E27FC236}">
                  <a16:creationId xmlns:a16="http://schemas.microsoft.com/office/drawing/2014/main" id="{3E785F41-A1C3-9ABB-A9F2-90E7DADC5ED4}"/>
                </a:ext>
              </a:extLst>
            </p:cNvPr>
            <p:cNvSpPr>
              <a:spLocks noChangeArrowheads="1"/>
            </p:cNvSpPr>
            <p:nvPr/>
          </p:nvSpPr>
          <p:spPr bwMode="auto">
            <a:xfrm>
              <a:off x="1247" y="1480"/>
              <a:ext cx="2177" cy="31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3103" name="Text Box 10">
              <a:extLst>
                <a:ext uri="{FF2B5EF4-FFF2-40B4-BE49-F238E27FC236}">
                  <a16:creationId xmlns:a16="http://schemas.microsoft.com/office/drawing/2014/main" id="{670CBE45-1D44-654D-B044-8525426872AD}"/>
                </a:ext>
              </a:extLst>
            </p:cNvPr>
            <p:cNvSpPr txBox="1">
              <a:spLocks noChangeArrowheads="1"/>
            </p:cNvSpPr>
            <p:nvPr/>
          </p:nvSpPr>
          <p:spPr bwMode="auto">
            <a:xfrm>
              <a:off x="1292" y="1526"/>
              <a:ext cx="193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800">
                  <a:latin typeface="Verdana" panose="020B0604030504040204" pitchFamily="34" charset="0"/>
                </a:rPr>
                <a:t>Fonctions d’une bibliothèque</a:t>
              </a:r>
            </a:p>
          </p:txBody>
        </p:sp>
      </p:grpSp>
      <p:grpSp>
        <p:nvGrpSpPr>
          <p:cNvPr id="3" name="Group 11">
            <a:extLst>
              <a:ext uri="{FF2B5EF4-FFF2-40B4-BE49-F238E27FC236}">
                <a16:creationId xmlns:a16="http://schemas.microsoft.com/office/drawing/2014/main" id="{564B0BFB-5702-9625-4E18-698053DE1864}"/>
              </a:ext>
            </a:extLst>
          </p:cNvPr>
          <p:cNvGrpSpPr>
            <a:grpSpLocks/>
          </p:cNvGrpSpPr>
          <p:nvPr/>
        </p:nvGrpSpPr>
        <p:grpSpPr bwMode="auto">
          <a:xfrm>
            <a:off x="1692275" y="3502025"/>
            <a:ext cx="4464050" cy="503238"/>
            <a:chOff x="1247" y="2070"/>
            <a:chExt cx="2540" cy="317"/>
          </a:xfrm>
        </p:grpSpPr>
        <p:sp>
          <p:nvSpPr>
            <p:cNvPr id="3100" name="Rectangle 12">
              <a:extLst>
                <a:ext uri="{FF2B5EF4-FFF2-40B4-BE49-F238E27FC236}">
                  <a16:creationId xmlns:a16="http://schemas.microsoft.com/office/drawing/2014/main" id="{27E8D2CC-B703-5321-8370-4948326EBDF9}"/>
                </a:ext>
              </a:extLst>
            </p:cNvPr>
            <p:cNvSpPr>
              <a:spLocks noChangeArrowheads="1"/>
            </p:cNvSpPr>
            <p:nvPr/>
          </p:nvSpPr>
          <p:spPr bwMode="auto">
            <a:xfrm>
              <a:off x="1247" y="2070"/>
              <a:ext cx="2540" cy="317"/>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3101" name="Text Box 13">
              <a:extLst>
                <a:ext uri="{FF2B5EF4-FFF2-40B4-BE49-F238E27FC236}">
                  <a16:creationId xmlns:a16="http://schemas.microsoft.com/office/drawing/2014/main" id="{1911FF62-294D-EE8D-A43E-6BDB0344E246}"/>
                </a:ext>
              </a:extLst>
            </p:cNvPr>
            <p:cNvSpPr txBox="1">
              <a:spLocks noChangeArrowheads="1"/>
            </p:cNvSpPr>
            <p:nvPr/>
          </p:nvSpPr>
          <p:spPr bwMode="auto">
            <a:xfrm>
              <a:off x="1564" y="2103"/>
              <a:ext cx="186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800">
                  <a:latin typeface="Verdana" panose="020B0604030504040204" pitchFamily="34" charset="0"/>
                </a:rPr>
                <a:t>Appel système</a:t>
              </a:r>
            </a:p>
          </p:txBody>
        </p:sp>
      </p:grpSp>
      <p:sp>
        <p:nvSpPr>
          <p:cNvPr id="2062" name="Rectangle 14">
            <a:extLst>
              <a:ext uri="{FF2B5EF4-FFF2-40B4-BE49-F238E27FC236}">
                <a16:creationId xmlns:a16="http://schemas.microsoft.com/office/drawing/2014/main" id="{4A719ACF-FD18-27A2-7C25-808246AD7B1D}"/>
              </a:ext>
            </a:extLst>
          </p:cNvPr>
          <p:cNvSpPr>
            <a:spLocks noChangeArrowheads="1"/>
          </p:cNvSpPr>
          <p:nvPr/>
        </p:nvSpPr>
        <p:spPr bwMode="auto">
          <a:xfrm>
            <a:off x="1692275" y="4438650"/>
            <a:ext cx="5327650" cy="503238"/>
          </a:xfrm>
          <a:prstGeom prst="rect">
            <a:avLst/>
          </a:prstGeom>
          <a:solidFill>
            <a:schemeClr val="accent1"/>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2063" name="Text Box 15">
            <a:extLst>
              <a:ext uri="{FF2B5EF4-FFF2-40B4-BE49-F238E27FC236}">
                <a16:creationId xmlns:a16="http://schemas.microsoft.com/office/drawing/2014/main" id="{683B139F-F1D2-E00D-1A8B-ED0367AB6B33}"/>
              </a:ext>
            </a:extLst>
          </p:cNvPr>
          <p:cNvSpPr txBox="1">
            <a:spLocks noChangeArrowheads="1"/>
          </p:cNvSpPr>
          <p:nvPr/>
        </p:nvSpPr>
        <p:spPr bwMode="auto">
          <a:xfrm>
            <a:off x="1979613" y="4503738"/>
            <a:ext cx="352742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800">
                <a:latin typeface="Verdana" panose="020B0604030504040204" pitchFamily="34" charset="0"/>
              </a:rPr>
              <a:t>Pilote (« driver ») du noyau</a:t>
            </a:r>
          </a:p>
        </p:txBody>
      </p:sp>
      <p:grpSp>
        <p:nvGrpSpPr>
          <p:cNvPr id="4" name="Group 16">
            <a:extLst>
              <a:ext uri="{FF2B5EF4-FFF2-40B4-BE49-F238E27FC236}">
                <a16:creationId xmlns:a16="http://schemas.microsoft.com/office/drawing/2014/main" id="{06DD720A-3139-8B3B-6888-459991481CBF}"/>
              </a:ext>
            </a:extLst>
          </p:cNvPr>
          <p:cNvGrpSpPr>
            <a:grpSpLocks/>
          </p:cNvGrpSpPr>
          <p:nvPr/>
        </p:nvGrpSpPr>
        <p:grpSpPr bwMode="auto">
          <a:xfrm>
            <a:off x="1692275" y="1700213"/>
            <a:ext cx="6046788" cy="504825"/>
            <a:chOff x="1247" y="935"/>
            <a:chExt cx="3809" cy="318"/>
          </a:xfrm>
        </p:grpSpPr>
        <p:sp>
          <p:nvSpPr>
            <p:cNvPr id="3098" name="Rectangle 17">
              <a:extLst>
                <a:ext uri="{FF2B5EF4-FFF2-40B4-BE49-F238E27FC236}">
                  <a16:creationId xmlns:a16="http://schemas.microsoft.com/office/drawing/2014/main" id="{9273A5C7-A2FC-C96F-7509-E833ED463882}"/>
                </a:ext>
              </a:extLst>
            </p:cNvPr>
            <p:cNvSpPr>
              <a:spLocks noChangeArrowheads="1"/>
            </p:cNvSpPr>
            <p:nvPr/>
          </p:nvSpPr>
          <p:spPr bwMode="auto">
            <a:xfrm>
              <a:off x="1247" y="935"/>
              <a:ext cx="3809" cy="318"/>
            </a:xfrm>
            <a:prstGeom prst="rect">
              <a:avLst/>
            </a:prstGeom>
            <a:solidFill>
              <a:schemeClr val="folHlink"/>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3099" name="Text Box 18">
              <a:extLst>
                <a:ext uri="{FF2B5EF4-FFF2-40B4-BE49-F238E27FC236}">
                  <a16:creationId xmlns:a16="http://schemas.microsoft.com/office/drawing/2014/main" id="{EAEDF34B-2519-2EB9-8FD0-E592B5FFDF24}"/>
                </a:ext>
              </a:extLst>
            </p:cNvPr>
            <p:cNvSpPr txBox="1">
              <a:spLocks noChangeArrowheads="1"/>
            </p:cNvSpPr>
            <p:nvPr/>
          </p:nvSpPr>
          <p:spPr bwMode="auto">
            <a:xfrm>
              <a:off x="2562" y="980"/>
              <a:ext cx="99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800">
                  <a:latin typeface="Verdana" panose="020B0604030504040204" pitchFamily="34" charset="0"/>
                </a:rPr>
                <a:t>Application</a:t>
              </a:r>
            </a:p>
          </p:txBody>
        </p:sp>
      </p:grpSp>
      <p:sp>
        <p:nvSpPr>
          <p:cNvPr id="2067" name="Line 19">
            <a:extLst>
              <a:ext uri="{FF2B5EF4-FFF2-40B4-BE49-F238E27FC236}">
                <a16:creationId xmlns:a16="http://schemas.microsoft.com/office/drawing/2014/main" id="{5DF625DC-53BC-3FE2-F6DE-A99209EB403E}"/>
              </a:ext>
            </a:extLst>
          </p:cNvPr>
          <p:cNvSpPr>
            <a:spLocks noChangeShapeType="1"/>
          </p:cNvSpPr>
          <p:nvPr/>
        </p:nvSpPr>
        <p:spPr bwMode="auto">
          <a:xfrm>
            <a:off x="3348038" y="2205038"/>
            <a:ext cx="0" cy="360362"/>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68" name="Line 20">
            <a:extLst>
              <a:ext uri="{FF2B5EF4-FFF2-40B4-BE49-F238E27FC236}">
                <a16:creationId xmlns:a16="http://schemas.microsoft.com/office/drawing/2014/main" id="{EB3DEE81-97D4-5E06-A3B7-E74B094DF5FD}"/>
              </a:ext>
            </a:extLst>
          </p:cNvPr>
          <p:cNvSpPr>
            <a:spLocks noChangeShapeType="1"/>
          </p:cNvSpPr>
          <p:nvPr/>
        </p:nvSpPr>
        <p:spPr bwMode="auto">
          <a:xfrm>
            <a:off x="3348038" y="3068638"/>
            <a:ext cx="0" cy="449262"/>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69" name="Line 21">
            <a:extLst>
              <a:ext uri="{FF2B5EF4-FFF2-40B4-BE49-F238E27FC236}">
                <a16:creationId xmlns:a16="http://schemas.microsoft.com/office/drawing/2014/main" id="{AE936A3E-4EF7-4030-FAF6-8F7235843F4F}"/>
              </a:ext>
            </a:extLst>
          </p:cNvPr>
          <p:cNvSpPr>
            <a:spLocks noChangeShapeType="1"/>
          </p:cNvSpPr>
          <p:nvPr/>
        </p:nvSpPr>
        <p:spPr bwMode="auto">
          <a:xfrm>
            <a:off x="3348038" y="3987800"/>
            <a:ext cx="0" cy="449263"/>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70" name="Line 22">
            <a:extLst>
              <a:ext uri="{FF2B5EF4-FFF2-40B4-BE49-F238E27FC236}">
                <a16:creationId xmlns:a16="http://schemas.microsoft.com/office/drawing/2014/main" id="{23BC565E-911A-1E2E-2130-62E93373FECA}"/>
              </a:ext>
            </a:extLst>
          </p:cNvPr>
          <p:cNvSpPr>
            <a:spLocks noChangeShapeType="1"/>
          </p:cNvSpPr>
          <p:nvPr/>
        </p:nvSpPr>
        <p:spPr bwMode="auto">
          <a:xfrm>
            <a:off x="5867400" y="2205038"/>
            <a:ext cx="0" cy="1295400"/>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71" name="Line 23">
            <a:extLst>
              <a:ext uri="{FF2B5EF4-FFF2-40B4-BE49-F238E27FC236}">
                <a16:creationId xmlns:a16="http://schemas.microsoft.com/office/drawing/2014/main" id="{D369B920-C48F-0FB7-3E2C-B36C44DDDC81}"/>
              </a:ext>
            </a:extLst>
          </p:cNvPr>
          <p:cNvSpPr>
            <a:spLocks noChangeShapeType="1"/>
          </p:cNvSpPr>
          <p:nvPr/>
        </p:nvSpPr>
        <p:spPr bwMode="auto">
          <a:xfrm>
            <a:off x="6588125" y="2205038"/>
            <a:ext cx="0" cy="2232025"/>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72" name="Text Box 24">
            <a:extLst>
              <a:ext uri="{FF2B5EF4-FFF2-40B4-BE49-F238E27FC236}">
                <a16:creationId xmlns:a16="http://schemas.microsoft.com/office/drawing/2014/main" id="{65A2FF3D-6520-9118-A5C9-A4087B506596}"/>
              </a:ext>
            </a:extLst>
          </p:cNvPr>
          <p:cNvSpPr txBox="1">
            <a:spLocks noChangeArrowheads="1"/>
          </p:cNvSpPr>
          <p:nvPr/>
        </p:nvSpPr>
        <p:spPr bwMode="auto">
          <a:xfrm>
            <a:off x="3419475" y="2205038"/>
            <a:ext cx="13684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00B050"/>
                </a:solidFill>
                <a:latin typeface="Verdana" panose="020B0604030504040204" pitchFamily="34" charset="0"/>
              </a:rPr>
              <a:t>printf, scanf</a:t>
            </a:r>
          </a:p>
        </p:txBody>
      </p:sp>
      <p:sp>
        <p:nvSpPr>
          <p:cNvPr id="2073" name="Text Box 25">
            <a:extLst>
              <a:ext uri="{FF2B5EF4-FFF2-40B4-BE49-F238E27FC236}">
                <a16:creationId xmlns:a16="http://schemas.microsoft.com/office/drawing/2014/main" id="{B792755B-78B1-B905-73B7-0210D4B28DA0}"/>
              </a:ext>
            </a:extLst>
          </p:cNvPr>
          <p:cNvSpPr txBox="1">
            <a:spLocks noChangeArrowheads="1"/>
          </p:cNvSpPr>
          <p:nvPr/>
        </p:nvSpPr>
        <p:spPr bwMode="auto">
          <a:xfrm>
            <a:off x="5867400" y="2781300"/>
            <a:ext cx="790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00B050"/>
                </a:solidFill>
                <a:latin typeface="Verdana" panose="020B0604030504040204" pitchFamily="34" charset="0"/>
              </a:rPr>
              <a:t>ta 0x8</a:t>
            </a:r>
          </a:p>
        </p:txBody>
      </p:sp>
      <p:sp>
        <p:nvSpPr>
          <p:cNvPr id="2076" name="Line 28">
            <a:extLst>
              <a:ext uri="{FF2B5EF4-FFF2-40B4-BE49-F238E27FC236}">
                <a16:creationId xmlns:a16="http://schemas.microsoft.com/office/drawing/2014/main" id="{12091DAC-B28A-FEA5-1BCB-3F9CBD9EE5C1}"/>
              </a:ext>
            </a:extLst>
          </p:cNvPr>
          <p:cNvSpPr>
            <a:spLocks noChangeShapeType="1"/>
          </p:cNvSpPr>
          <p:nvPr/>
        </p:nvSpPr>
        <p:spPr bwMode="auto">
          <a:xfrm>
            <a:off x="7667625" y="2205038"/>
            <a:ext cx="0" cy="3240087"/>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77" name="Line 29">
            <a:extLst>
              <a:ext uri="{FF2B5EF4-FFF2-40B4-BE49-F238E27FC236}">
                <a16:creationId xmlns:a16="http://schemas.microsoft.com/office/drawing/2014/main" id="{575ED242-9E48-00A0-0771-E7F7796BCE5B}"/>
              </a:ext>
            </a:extLst>
          </p:cNvPr>
          <p:cNvSpPr>
            <a:spLocks noChangeShapeType="1"/>
          </p:cNvSpPr>
          <p:nvPr/>
        </p:nvSpPr>
        <p:spPr bwMode="auto">
          <a:xfrm>
            <a:off x="3348038" y="4962525"/>
            <a:ext cx="0" cy="449263"/>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sp>
        <p:nvSpPr>
          <p:cNvPr id="2078" name="Line 30">
            <a:extLst>
              <a:ext uri="{FF2B5EF4-FFF2-40B4-BE49-F238E27FC236}">
                <a16:creationId xmlns:a16="http://schemas.microsoft.com/office/drawing/2014/main" id="{AC427578-53E1-91B7-E8DC-4E57B08A2902}"/>
              </a:ext>
            </a:extLst>
          </p:cNvPr>
          <p:cNvSpPr>
            <a:spLocks noChangeShapeType="1"/>
          </p:cNvSpPr>
          <p:nvPr/>
        </p:nvSpPr>
        <p:spPr bwMode="auto">
          <a:xfrm>
            <a:off x="6588125" y="4965700"/>
            <a:ext cx="0" cy="449263"/>
          </a:xfrm>
          <a:prstGeom prst="line">
            <a:avLst/>
          </a:prstGeom>
          <a:noFill/>
          <a:ln w="38100">
            <a:solidFill>
              <a:srgbClr val="FF9900"/>
            </a:solidFill>
            <a:round/>
            <a:headEnd/>
            <a:tailEnd type="stealth" w="med" len="med"/>
          </a:ln>
          <a:extLst>
            <a:ext uri="{909E8E84-426E-40DD-AFC4-6F175D3DCCD1}">
              <a14:hiddenFill xmlns:a14="http://schemas.microsoft.com/office/drawing/2010/main">
                <a:noFill/>
              </a14:hiddenFill>
            </a:ext>
          </a:extLst>
        </p:spPr>
        <p:txBody>
          <a:bodyPr/>
          <a:lstStyle/>
          <a:p>
            <a:endParaRPr lang="fr-CA"/>
          </a:p>
        </p:txBody>
      </p:sp>
      <p:grpSp>
        <p:nvGrpSpPr>
          <p:cNvPr id="5" name="Group 31">
            <a:extLst>
              <a:ext uri="{FF2B5EF4-FFF2-40B4-BE49-F238E27FC236}">
                <a16:creationId xmlns:a16="http://schemas.microsoft.com/office/drawing/2014/main" id="{09631436-6383-B4B9-FF8C-1F4926FE480D}"/>
              </a:ext>
            </a:extLst>
          </p:cNvPr>
          <p:cNvGrpSpPr>
            <a:grpSpLocks/>
          </p:cNvGrpSpPr>
          <p:nvPr/>
        </p:nvGrpSpPr>
        <p:grpSpPr bwMode="auto">
          <a:xfrm>
            <a:off x="1692275" y="5446713"/>
            <a:ext cx="6046788" cy="503237"/>
            <a:chOff x="1247" y="3295"/>
            <a:chExt cx="3809" cy="317"/>
          </a:xfrm>
        </p:grpSpPr>
        <p:sp>
          <p:nvSpPr>
            <p:cNvPr id="3096" name="Rectangle 32">
              <a:extLst>
                <a:ext uri="{FF2B5EF4-FFF2-40B4-BE49-F238E27FC236}">
                  <a16:creationId xmlns:a16="http://schemas.microsoft.com/office/drawing/2014/main" id="{F190B55D-EBAD-4F03-6041-CD7C17E088F9}"/>
                </a:ext>
              </a:extLst>
            </p:cNvPr>
            <p:cNvSpPr>
              <a:spLocks noChangeArrowheads="1"/>
            </p:cNvSpPr>
            <p:nvPr/>
          </p:nvSpPr>
          <p:spPr bwMode="auto">
            <a:xfrm>
              <a:off x="1247" y="3295"/>
              <a:ext cx="3809" cy="317"/>
            </a:xfrm>
            <a:prstGeom prst="rect">
              <a:avLst/>
            </a:prstGeom>
            <a:solidFill>
              <a:srgbClr val="33CCCC"/>
            </a:solidFill>
            <a:ln w="9525">
              <a:solidFill>
                <a:schemeClr val="tx1"/>
              </a:solidFill>
              <a:miter lim="800000"/>
              <a:headEnd/>
              <a:tailEnd/>
            </a:ln>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3097" name="Text Box 33">
              <a:extLst>
                <a:ext uri="{FF2B5EF4-FFF2-40B4-BE49-F238E27FC236}">
                  <a16:creationId xmlns:a16="http://schemas.microsoft.com/office/drawing/2014/main" id="{757F2DBF-3EBD-1401-CBED-0CF99C08C9AE}"/>
                </a:ext>
              </a:extLst>
            </p:cNvPr>
            <p:cNvSpPr txBox="1">
              <a:spLocks noChangeArrowheads="1"/>
            </p:cNvSpPr>
            <p:nvPr/>
          </p:nvSpPr>
          <p:spPr bwMode="auto">
            <a:xfrm>
              <a:off x="2517" y="3335"/>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800">
                  <a:latin typeface="Verdana" panose="020B0604030504040204" pitchFamily="34" charset="0"/>
                </a:rPr>
                <a:t>Matériel</a:t>
              </a:r>
            </a:p>
          </p:txBody>
        </p:sp>
      </p:grpSp>
      <p:sp>
        <p:nvSpPr>
          <p:cNvPr id="31" name="Text Box 25">
            <a:extLst>
              <a:ext uri="{FF2B5EF4-FFF2-40B4-BE49-F238E27FC236}">
                <a16:creationId xmlns:a16="http://schemas.microsoft.com/office/drawing/2014/main" id="{6F6BA0C4-8C44-C635-C9BE-3C4BB478ACA7}"/>
              </a:ext>
            </a:extLst>
          </p:cNvPr>
          <p:cNvSpPr txBox="1">
            <a:spLocks noChangeArrowheads="1"/>
          </p:cNvSpPr>
          <p:nvPr/>
        </p:nvSpPr>
        <p:spPr bwMode="auto">
          <a:xfrm>
            <a:off x="6588125" y="3933825"/>
            <a:ext cx="11525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FF0000"/>
                </a:solidFill>
                <a:latin typeface="Verdana" panose="020B0604030504040204" pitchFamily="34" charset="0"/>
              </a:rPr>
              <a:t>appel code du pilote</a:t>
            </a:r>
          </a:p>
        </p:txBody>
      </p:sp>
      <p:sp>
        <p:nvSpPr>
          <p:cNvPr id="32" name="Text Box 25">
            <a:extLst>
              <a:ext uri="{FF2B5EF4-FFF2-40B4-BE49-F238E27FC236}">
                <a16:creationId xmlns:a16="http://schemas.microsoft.com/office/drawing/2014/main" id="{2F713352-DABD-DE79-10A2-2DEDA2686375}"/>
              </a:ext>
            </a:extLst>
          </p:cNvPr>
          <p:cNvSpPr txBox="1">
            <a:spLocks noChangeArrowheads="1"/>
          </p:cNvSpPr>
          <p:nvPr/>
        </p:nvSpPr>
        <p:spPr bwMode="auto">
          <a:xfrm>
            <a:off x="7667625" y="4797425"/>
            <a:ext cx="792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FF0000"/>
                </a:solidFill>
                <a:latin typeface="Verdana" panose="020B0604030504040204" pitchFamily="34" charset="0"/>
              </a:rPr>
              <a:t>in, out</a:t>
            </a:r>
          </a:p>
        </p:txBody>
      </p:sp>
      <p:cxnSp>
        <p:nvCxnSpPr>
          <p:cNvPr id="3093" name="Straight Connector 33">
            <a:extLst>
              <a:ext uri="{FF2B5EF4-FFF2-40B4-BE49-F238E27FC236}">
                <a16:creationId xmlns:a16="http://schemas.microsoft.com/office/drawing/2014/main" id="{FED010BF-5D77-1EF3-8330-950CBE434021}"/>
              </a:ext>
            </a:extLst>
          </p:cNvPr>
          <p:cNvCxnSpPr>
            <a:cxnSpLocks noChangeShapeType="1"/>
          </p:cNvCxnSpPr>
          <p:nvPr/>
        </p:nvCxnSpPr>
        <p:spPr bwMode="auto">
          <a:xfrm>
            <a:off x="395288" y="3933825"/>
            <a:ext cx="7993062" cy="0"/>
          </a:xfrm>
          <a:prstGeom prst="line">
            <a:avLst/>
          </a:prstGeom>
          <a:noFill/>
          <a:ln w="38100" algn="ctr">
            <a:solidFill>
              <a:srgbClr val="FF0000"/>
            </a:solidFill>
            <a:prstDash val="lgDash"/>
            <a:round/>
            <a:headEnd/>
            <a:tailEnd/>
          </a:ln>
          <a:extLst>
            <a:ext uri="{909E8E84-426E-40DD-AFC4-6F175D3DCCD1}">
              <a14:hiddenFill xmlns:a14="http://schemas.microsoft.com/office/drawing/2010/main">
                <a:noFill/>
              </a14:hiddenFill>
            </a:ext>
          </a:extLst>
        </p:spPr>
      </p:cxnSp>
      <p:sp>
        <p:nvSpPr>
          <p:cNvPr id="36" name="Text Box 25">
            <a:extLst>
              <a:ext uri="{FF2B5EF4-FFF2-40B4-BE49-F238E27FC236}">
                <a16:creationId xmlns:a16="http://schemas.microsoft.com/office/drawing/2014/main" id="{2476C2DD-527E-2ABB-C1BC-D372674C457F}"/>
              </a:ext>
            </a:extLst>
          </p:cNvPr>
          <p:cNvSpPr txBox="1">
            <a:spLocks noChangeArrowheads="1"/>
          </p:cNvSpPr>
          <p:nvPr/>
        </p:nvSpPr>
        <p:spPr bwMode="auto">
          <a:xfrm>
            <a:off x="179388" y="4437063"/>
            <a:ext cx="1439862"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FF0000"/>
                </a:solidFill>
                <a:latin typeface="Verdana" panose="020B0604030504040204" pitchFamily="34" charset="0"/>
              </a:rPr>
              <a:t>Protégé par le sytème d’exploitation</a:t>
            </a:r>
          </a:p>
        </p:txBody>
      </p:sp>
      <p:sp>
        <p:nvSpPr>
          <p:cNvPr id="37" name="Text Box 25">
            <a:extLst>
              <a:ext uri="{FF2B5EF4-FFF2-40B4-BE49-F238E27FC236}">
                <a16:creationId xmlns:a16="http://schemas.microsoft.com/office/drawing/2014/main" id="{8E421A70-D198-8CA1-EAB1-E4C826746AB7}"/>
              </a:ext>
            </a:extLst>
          </p:cNvPr>
          <p:cNvSpPr txBox="1">
            <a:spLocks noChangeArrowheads="1"/>
          </p:cNvSpPr>
          <p:nvPr/>
        </p:nvSpPr>
        <p:spPr bwMode="auto">
          <a:xfrm>
            <a:off x="179388" y="2690813"/>
            <a:ext cx="1439862"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50000"/>
              </a:spcBef>
              <a:buFontTx/>
              <a:buNone/>
            </a:pPr>
            <a:r>
              <a:rPr lang="fr-CA" altLang="fr-FR" sz="1400">
                <a:solidFill>
                  <a:srgbClr val="00B050"/>
                </a:solidFill>
                <a:latin typeface="Verdana" panose="020B0604030504040204" pitchFamily="34" charset="0"/>
              </a:rPr>
              <a:t>Fait partie de </a:t>
            </a:r>
          </a:p>
          <a:p>
            <a:pPr eaLnBrk="1" hangingPunct="1">
              <a:spcBef>
                <a:spcPct val="50000"/>
              </a:spcBef>
              <a:buFontTx/>
              <a:buNone/>
            </a:pPr>
            <a:r>
              <a:rPr lang="fr-CA" altLang="fr-FR" sz="1400">
                <a:solidFill>
                  <a:srgbClr val="00B050"/>
                </a:solidFill>
                <a:latin typeface="Verdana" panose="020B0604030504040204" pitchFamily="34" charset="0"/>
              </a:rPr>
              <a:t>l’application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animEffect transition="in" filter="fade">
                                      <p:cBhvr>
                                        <p:cTn id="9" dur="1000"/>
                                        <p:tgtEl>
                                          <p:spTgt spid="4"/>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p:cTn id="14" dur="1000" fill="hold"/>
                                        <p:tgtEl>
                                          <p:spTgt spid="2"/>
                                        </p:tgtEl>
                                        <p:attrNameLst>
                                          <p:attrName>ppt_w</p:attrName>
                                        </p:attrNameLst>
                                      </p:cBhvr>
                                      <p:tavLst>
                                        <p:tav tm="0">
                                          <p:val>
                                            <p:fltVal val="0"/>
                                          </p:val>
                                        </p:tav>
                                        <p:tav tm="100000">
                                          <p:val>
                                            <p:strVal val="#ppt_w"/>
                                          </p:val>
                                        </p:tav>
                                      </p:tavLst>
                                    </p:anim>
                                    <p:anim calcmode="lin" valueType="num">
                                      <p:cBhvr>
                                        <p:cTn id="15" dur="1000" fill="hold"/>
                                        <p:tgtEl>
                                          <p:spTgt spid="2"/>
                                        </p:tgtEl>
                                        <p:attrNameLst>
                                          <p:attrName>ppt_h</p:attrName>
                                        </p:attrNameLst>
                                      </p:cBhvr>
                                      <p:tavLst>
                                        <p:tav tm="0">
                                          <p:val>
                                            <p:fltVal val="0"/>
                                          </p:val>
                                        </p:tav>
                                        <p:tav tm="100000">
                                          <p:val>
                                            <p:strVal val="#ppt_h"/>
                                          </p:val>
                                        </p:tav>
                                      </p:tavLst>
                                    </p:anim>
                                    <p:animEffect transition="in" filter="fade">
                                      <p:cBhvr>
                                        <p:cTn id="16" dur="1000"/>
                                        <p:tgtEl>
                                          <p:spTgt spid="2"/>
                                        </p:tgtEl>
                                      </p:cBhvr>
                                    </p:animEffect>
                                  </p:childTnLst>
                                </p:cTn>
                              </p:par>
                            </p:childTnLst>
                          </p:cTn>
                        </p:par>
                        <p:par>
                          <p:cTn id="17" fill="hold" nodeType="afterGroup">
                            <p:stCondLst>
                              <p:cond delay="1000"/>
                            </p:stCondLst>
                            <p:childTnLst>
                              <p:par>
                                <p:cTn id="18" presetID="1" presetClass="entr" presetSubtype="0" fill="hold" nodeType="afterEffect">
                                  <p:stCondLst>
                                    <p:cond delay="1000"/>
                                  </p:stCondLst>
                                  <p:childTnLst>
                                    <p:set>
                                      <p:cBhvr>
                                        <p:cTn id="19" dur="1" fill="hold">
                                          <p:stCondLst>
                                            <p:cond delay="0"/>
                                          </p:stCondLst>
                                        </p:cTn>
                                        <p:tgtEl>
                                          <p:spTgt spid="2067"/>
                                        </p:tgtEl>
                                        <p:attrNameLst>
                                          <p:attrName>style.visibility</p:attrName>
                                        </p:attrNameLst>
                                      </p:cBhvr>
                                      <p:to>
                                        <p:strVal val="visible"/>
                                      </p:to>
                                    </p:set>
                                  </p:childTnLst>
                                </p:cTn>
                              </p:par>
                            </p:childTnLst>
                          </p:cTn>
                        </p:par>
                        <p:par>
                          <p:cTn id="20" fill="hold" nodeType="afterGroup">
                            <p:stCondLst>
                              <p:cond delay="2000"/>
                            </p:stCondLst>
                            <p:childTnLst>
                              <p:par>
                                <p:cTn id="21" presetID="4" presetClass="entr" presetSubtype="16" fill="hold" grpId="0" nodeType="afterEffect">
                                  <p:stCondLst>
                                    <p:cond delay="1500"/>
                                  </p:stCondLst>
                                  <p:childTnLst>
                                    <p:set>
                                      <p:cBhvr>
                                        <p:cTn id="22" dur="1" fill="hold">
                                          <p:stCondLst>
                                            <p:cond delay="0"/>
                                          </p:stCondLst>
                                        </p:cTn>
                                        <p:tgtEl>
                                          <p:spTgt spid="2072"/>
                                        </p:tgtEl>
                                        <p:attrNameLst>
                                          <p:attrName>style.visibility</p:attrName>
                                        </p:attrNameLst>
                                      </p:cBhvr>
                                      <p:to>
                                        <p:strVal val="visible"/>
                                      </p:to>
                                    </p:set>
                                    <p:animEffect transition="in" filter="box(in)">
                                      <p:cBhvr>
                                        <p:cTn id="23" dur="1000"/>
                                        <p:tgtEl>
                                          <p:spTgt spid="2072"/>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3"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1000" fill="hold"/>
                                        <p:tgtEl>
                                          <p:spTgt spid="3"/>
                                        </p:tgtEl>
                                        <p:attrNameLst>
                                          <p:attrName>ppt_w</p:attrName>
                                        </p:attrNameLst>
                                      </p:cBhvr>
                                      <p:tavLst>
                                        <p:tav tm="0">
                                          <p:val>
                                            <p:fltVal val="0"/>
                                          </p:val>
                                        </p:tav>
                                        <p:tav tm="100000">
                                          <p:val>
                                            <p:strVal val="#ppt_w"/>
                                          </p:val>
                                        </p:tav>
                                      </p:tavLst>
                                    </p:anim>
                                    <p:anim calcmode="lin" valueType="num">
                                      <p:cBhvr>
                                        <p:cTn id="29" dur="1000" fill="hold"/>
                                        <p:tgtEl>
                                          <p:spTgt spid="3"/>
                                        </p:tgtEl>
                                        <p:attrNameLst>
                                          <p:attrName>ppt_h</p:attrName>
                                        </p:attrNameLst>
                                      </p:cBhvr>
                                      <p:tavLst>
                                        <p:tav tm="0">
                                          <p:val>
                                            <p:fltVal val="0"/>
                                          </p:val>
                                        </p:tav>
                                        <p:tav tm="100000">
                                          <p:val>
                                            <p:strVal val="#ppt_h"/>
                                          </p:val>
                                        </p:tav>
                                      </p:tavLst>
                                    </p:anim>
                                    <p:animEffect transition="in" filter="fade">
                                      <p:cBhvr>
                                        <p:cTn id="30" dur="1000"/>
                                        <p:tgtEl>
                                          <p:spTgt spid="3"/>
                                        </p:tgtEl>
                                      </p:cBhvr>
                                    </p:animEffect>
                                  </p:childTnLst>
                                </p:cTn>
                              </p:par>
                            </p:childTnLst>
                          </p:cTn>
                        </p:par>
                        <p:par>
                          <p:cTn id="31" fill="hold" nodeType="afterGroup">
                            <p:stCondLst>
                              <p:cond delay="1000"/>
                            </p:stCondLst>
                            <p:childTnLst>
                              <p:par>
                                <p:cTn id="32" presetID="1" presetClass="entr" presetSubtype="0" fill="hold" nodeType="afterEffect">
                                  <p:stCondLst>
                                    <p:cond delay="1000"/>
                                  </p:stCondLst>
                                  <p:childTnLst>
                                    <p:set>
                                      <p:cBhvr>
                                        <p:cTn id="33" dur="1" fill="hold">
                                          <p:stCondLst>
                                            <p:cond delay="0"/>
                                          </p:stCondLst>
                                        </p:cTn>
                                        <p:tgtEl>
                                          <p:spTgt spid="2068"/>
                                        </p:tgtEl>
                                        <p:attrNameLst>
                                          <p:attrName>style.visibility</p:attrName>
                                        </p:attrNameLst>
                                      </p:cBhvr>
                                      <p:to>
                                        <p:strVal val="visible"/>
                                      </p:to>
                                    </p:set>
                                  </p:childTnLst>
                                </p:cTn>
                              </p:par>
                            </p:childTnLst>
                          </p:cTn>
                        </p:par>
                      </p:childTnLst>
                    </p:cTn>
                  </p:par>
                  <p:par>
                    <p:cTn id="34" fill="hold" nodeType="clickPar">
                      <p:stCondLst>
                        <p:cond delay="indefinite"/>
                      </p:stCondLst>
                      <p:childTnLst>
                        <p:par>
                          <p:cTn id="35" fill="hold" nodeType="withGroup">
                            <p:stCondLst>
                              <p:cond delay="0"/>
                            </p:stCondLst>
                            <p:childTnLst>
                              <p:par>
                                <p:cTn id="36" presetID="53" presetClass="entr" presetSubtype="0" fill="hold" nodeType="clickEffect">
                                  <p:stCondLst>
                                    <p:cond delay="0"/>
                                  </p:stCondLst>
                                  <p:childTnLst>
                                    <p:set>
                                      <p:cBhvr>
                                        <p:cTn id="37" dur="1" fill="hold">
                                          <p:stCondLst>
                                            <p:cond delay="0"/>
                                          </p:stCondLst>
                                        </p:cTn>
                                        <p:tgtEl>
                                          <p:spTgt spid="2070"/>
                                        </p:tgtEl>
                                        <p:attrNameLst>
                                          <p:attrName>style.visibility</p:attrName>
                                        </p:attrNameLst>
                                      </p:cBhvr>
                                      <p:to>
                                        <p:strVal val="visible"/>
                                      </p:to>
                                    </p:set>
                                    <p:anim calcmode="lin" valueType="num">
                                      <p:cBhvr>
                                        <p:cTn id="38" dur="1000" fill="hold"/>
                                        <p:tgtEl>
                                          <p:spTgt spid="2070"/>
                                        </p:tgtEl>
                                        <p:attrNameLst>
                                          <p:attrName>ppt_w</p:attrName>
                                        </p:attrNameLst>
                                      </p:cBhvr>
                                      <p:tavLst>
                                        <p:tav tm="0">
                                          <p:val>
                                            <p:fltVal val="0"/>
                                          </p:val>
                                        </p:tav>
                                        <p:tav tm="100000">
                                          <p:val>
                                            <p:strVal val="#ppt_w"/>
                                          </p:val>
                                        </p:tav>
                                      </p:tavLst>
                                    </p:anim>
                                    <p:anim calcmode="lin" valueType="num">
                                      <p:cBhvr>
                                        <p:cTn id="39" dur="1000" fill="hold"/>
                                        <p:tgtEl>
                                          <p:spTgt spid="2070"/>
                                        </p:tgtEl>
                                        <p:attrNameLst>
                                          <p:attrName>ppt_h</p:attrName>
                                        </p:attrNameLst>
                                      </p:cBhvr>
                                      <p:tavLst>
                                        <p:tav tm="0">
                                          <p:val>
                                            <p:fltVal val="0"/>
                                          </p:val>
                                        </p:tav>
                                        <p:tav tm="100000">
                                          <p:val>
                                            <p:strVal val="#ppt_h"/>
                                          </p:val>
                                        </p:tav>
                                      </p:tavLst>
                                    </p:anim>
                                    <p:animEffect transition="in" filter="fade">
                                      <p:cBhvr>
                                        <p:cTn id="40" dur="1000"/>
                                        <p:tgtEl>
                                          <p:spTgt spid="2070"/>
                                        </p:tgtEl>
                                      </p:cBhvr>
                                    </p:animEffect>
                                  </p:childTnLst>
                                </p:cTn>
                              </p:par>
                            </p:childTnLst>
                          </p:cTn>
                        </p:par>
                        <p:par>
                          <p:cTn id="41" fill="hold" nodeType="afterGroup">
                            <p:stCondLst>
                              <p:cond delay="1000"/>
                            </p:stCondLst>
                            <p:childTnLst>
                              <p:par>
                                <p:cTn id="42" presetID="4" presetClass="entr" presetSubtype="16" fill="hold" grpId="0" nodeType="afterEffect">
                                  <p:stCondLst>
                                    <p:cond delay="1500"/>
                                  </p:stCondLst>
                                  <p:childTnLst>
                                    <p:set>
                                      <p:cBhvr>
                                        <p:cTn id="43" dur="1" fill="hold">
                                          <p:stCondLst>
                                            <p:cond delay="0"/>
                                          </p:stCondLst>
                                        </p:cTn>
                                        <p:tgtEl>
                                          <p:spTgt spid="2073"/>
                                        </p:tgtEl>
                                        <p:attrNameLst>
                                          <p:attrName>style.visibility</p:attrName>
                                        </p:attrNameLst>
                                      </p:cBhvr>
                                      <p:to>
                                        <p:strVal val="visible"/>
                                      </p:to>
                                    </p:set>
                                    <p:animEffect transition="in" filter="box(in)">
                                      <p:cBhvr>
                                        <p:cTn id="44" dur="1000"/>
                                        <p:tgtEl>
                                          <p:spTgt spid="207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0" fill="hold" grpId="0" nodeType="clickEffect">
                                  <p:stCondLst>
                                    <p:cond delay="0"/>
                                  </p:stCondLst>
                                  <p:childTnLst>
                                    <p:set>
                                      <p:cBhvr>
                                        <p:cTn id="48" dur="1" fill="hold">
                                          <p:stCondLst>
                                            <p:cond delay="0"/>
                                          </p:stCondLst>
                                        </p:cTn>
                                        <p:tgtEl>
                                          <p:spTgt spid="2063"/>
                                        </p:tgtEl>
                                        <p:attrNameLst>
                                          <p:attrName>style.visibility</p:attrName>
                                        </p:attrNameLst>
                                      </p:cBhvr>
                                      <p:to>
                                        <p:strVal val="visible"/>
                                      </p:to>
                                    </p:set>
                                    <p:anim calcmode="lin" valueType="num">
                                      <p:cBhvr>
                                        <p:cTn id="49" dur="1000" fill="hold"/>
                                        <p:tgtEl>
                                          <p:spTgt spid="2063"/>
                                        </p:tgtEl>
                                        <p:attrNameLst>
                                          <p:attrName>ppt_w</p:attrName>
                                        </p:attrNameLst>
                                      </p:cBhvr>
                                      <p:tavLst>
                                        <p:tav tm="0">
                                          <p:val>
                                            <p:fltVal val="0"/>
                                          </p:val>
                                        </p:tav>
                                        <p:tav tm="100000">
                                          <p:val>
                                            <p:strVal val="#ppt_w"/>
                                          </p:val>
                                        </p:tav>
                                      </p:tavLst>
                                    </p:anim>
                                    <p:anim calcmode="lin" valueType="num">
                                      <p:cBhvr>
                                        <p:cTn id="50" dur="1000" fill="hold"/>
                                        <p:tgtEl>
                                          <p:spTgt spid="2063"/>
                                        </p:tgtEl>
                                        <p:attrNameLst>
                                          <p:attrName>ppt_h</p:attrName>
                                        </p:attrNameLst>
                                      </p:cBhvr>
                                      <p:tavLst>
                                        <p:tav tm="0">
                                          <p:val>
                                            <p:fltVal val="0"/>
                                          </p:val>
                                        </p:tav>
                                        <p:tav tm="100000">
                                          <p:val>
                                            <p:strVal val="#ppt_h"/>
                                          </p:val>
                                        </p:tav>
                                      </p:tavLst>
                                    </p:anim>
                                    <p:animEffect transition="in" filter="fade">
                                      <p:cBhvr>
                                        <p:cTn id="51" dur="1000"/>
                                        <p:tgtEl>
                                          <p:spTgt spid="2063"/>
                                        </p:tgtEl>
                                      </p:cBhvr>
                                    </p:animEffect>
                                  </p:childTnLst>
                                </p:cTn>
                              </p:par>
                              <p:par>
                                <p:cTn id="52" presetID="53" presetClass="entr" presetSubtype="0" fill="hold" grpId="0" nodeType="withEffect">
                                  <p:stCondLst>
                                    <p:cond delay="0"/>
                                  </p:stCondLst>
                                  <p:childTnLst>
                                    <p:set>
                                      <p:cBhvr>
                                        <p:cTn id="53" dur="1" fill="hold">
                                          <p:stCondLst>
                                            <p:cond delay="0"/>
                                          </p:stCondLst>
                                        </p:cTn>
                                        <p:tgtEl>
                                          <p:spTgt spid="2062"/>
                                        </p:tgtEl>
                                        <p:attrNameLst>
                                          <p:attrName>style.visibility</p:attrName>
                                        </p:attrNameLst>
                                      </p:cBhvr>
                                      <p:to>
                                        <p:strVal val="visible"/>
                                      </p:to>
                                    </p:set>
                                    <p:anim calcmode="lin" valueType="num">
                                      <p:cBhvr>
                                        <p:cTn id="54" dur="1000" fill="hold"/>
                                        <p:tgtEl>
                                          <p:spTgt spid="2062"/>
                                        </p:tgtEl>
                                        <p:attrNameLst>
                                          <p:attrName>ppt_w</p:attrName>
                                        </p:attrNameLst>
                                      </p:cBhvr>
                                      <p:tavLst>
                                        <p:tav tm="0">
                                          <p:val>
                                            <p:fltVal val="0"/>
                                          </p:val>
                                        </p:tav>
                                        <p:tav tm="100000">
                                          <p:val>
                                            <p:strVal val="#ppt_w"/>
                                          </p:val>
                                        </p:tav>
                                      </p:tavLst>
                                    </p:anim>
                                    <p:anim calcmode="lin" valueType="num">
                                      <p:cBhvr>
                                        <p:cTn id="55" dur="1000" fill="hold"/>
                                        <p:tgtEl>
                                          <p:spTgt spid="2062"/>
                                        </p:tgtEl>
                                        <p:attrNameLst>
                                          <p:attrName>ppt_h</p:attrName>
                                        </p:attrNameLst>
                                      </p:cBhvr>
                                      <p:tavLst>
                                        <p:tav tm="0">
                                          <p:val>
                                            <p:fltVal val="0"/>
                                          </p:val>
                                        </p:tav>
                                        <p:tav tm="100000">
                                          <p:val>
                                            <p:strVal val="#ppt_h"/>
                                          </p:val>
                                        </p:tav>
                                      </p:tavLst>
                                    </p:anim>
                                    <p:animEffect transition="in" filter="fade">
                                      <p:cBhvr>
                                        <p:cTn id="56" dur="1000"/>
                                        <p:tgtEl>
                                          <p:spTgt spid="2062"/>
                                        </p:tgtEl>
                                      </p:cBhvr>
                                    </p:animEffect>
                                  </p:childTnLst>
                                </p:cTn>
                              </p:par>
                            </p:childTnLst>
                          </p:cTn>
                        </p:par>
                        <p:par>
                          <p:cTn id="57" fill="hold" nodeType="afterGroup">
                            <p:stCondLst>
                              <p:cond delay="1000"/>
                            </p:stCondLst>
                            <p:childTnLst>
                              <p:par>
                                <p:cTn id="58" presetID="1" presetClass="entr" presetSubtype="0" fill="hold" nodeType="afterEffect">
                                  <p:stCondLst>
                                    <p:cond delay="1000"/>
                                  </p:stCondLst>
                                  <p:childTnLst>
                                    <p:set>
                                      <p:cBhvr>
                                        <p:cTn id="59" dur="1" fill="hold">
                                          <p:stCondLst>
                                            <p:cond delay="0"/>
                                          </p:stCondLst>
                                        </p:cTn>
                                        <p:tgtEl>
                                          <p:spTgt spid="2069"/>
                                        </p:tgtEl>
                                        <p:attrNameLst>
                                          <p:attrName>style.visibility</p:attrName>
                                        </p:attrNameLst>
                                      </p:cBhvr>
                                      <p:to>
                                        <p:strVal val="visible"/>
                                      </p:to>
                                    </p:set>
                                  </p:childTnLst>
                                </p:cTn>
                              </p:par>
                            </p:childTnLst>
                          </p:cTn>
                        </p:par>
                        <p:par>
                          <p:cTn id="60" fill="hold" nodeType="afterGroup">
                            <p:stCondLst>
                              <p:cond delay="2000"/>
                            </p:stCondLst>
                            <p:childTnLst>
                              <p:par>
                                <p:cTn id="61" presetID="53" presetClass="entr" presetSubtype="0" fill="hold" nodeType="afterEffect">
                                  <p:stCondLst>
                                    <p:cond delay="1500"/>
                                  </p:stCondLst>
                                  <p:childTnLst>
                                    <p:set>
                                      <p:cBhvr>
                                        <p:cTn id="62" dur="1" fill="hold">
                                          <p:stCondLst>
                                            <p:cond delay="0"/>
                                          </p:stCondLst>
                                        </p:cTn>
                                        <p:tgtEl>
                                          <p:spTgt spid="2071"/>
                                        </p:tgtEl>
                                        <p:attrNameLst>
                                          <p:attrName>style.visibility</p:attrName>
                                        </p:attrNameLst>
                                      </p:cBhvr>
                                      <p:to>
                                        <p:strVal val="visible"/>
                                      </p:to>
                                    </p:set>
                                    <p:anim calcmode="lin" valueType="num">
                                      <p:cBhvr>
                                        <p:cTn id="63" dur="1000" fill="hold"/>
                                        <p:tgtEl>
                                          <p:spTgt spid="2071"/>
                                        </p:tgtEl>
                                        <p:attrNameLst>
                                          <p:attrName>ppt_w</p:attrName>
                                        </p:attrNameLst>
                                      </p:cBhvr>
                                      <p:tavLst>
                                        <p:tav tm="0">
                                          <p:val>
                                            <p:fltVal val="0"/>
                                          </p:val>
                                        </p:tav>
                                        <p:tav tm="100000">
                                          <p:val>
                                            <p:strVal val="#ppt_w"/>
                                          </p:val>
                                        </p:tav>
                                      </p:tavLst>
                                    </p:anim>
                                    <p:anim calcmode="lin" valueType="num">
                                      <p:cBhvr>
                                        <p:cTn id="64" dur="1000" fill="hold"/>
                                        <p:tgtEl>
                                          <p:spTgt spid="2071"/>
                                        </p:tgtEl>
                                        <p:attrNameLst>
                                          <p:attrName>ppt_h</p:attrName>
                                        </p:attrNameLst>
                                      </p:cBhvr>
                                      <p:tavLst>
                                        <p:tav tm="0">
                                          <p:val>
                                            <p:fltVal val="0"/>
                                          </p:val>
                                        </p:tav>
                                        <p:tav tm="100000">
                                          <p:val>
                                            <p:strVal val="#ppt_h"/>
                                          </p:val>
                                        </p:tav>
                                      </p:tavLst>
                                    </p:anim>
                                    <p:animEffect transition="in" filter="fade">
                                      <p:cBhvr>
                                        <p:cTn id="65" dur="1000"/>
                                        <p:tgtEl>
                                          <p:spTgt spid="2071"/>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53" presetClass="entr" presetSubtype="0" fill="hold" nodeType="clickEffect">
                                  <p:stCondLst>
                                    <p:cond delay="0"/>
                                  </p:stCondLst>
                                  <p:childTnLst>
                                    <p:set>
                                      <p:cBhvr>
                                        <p:cTn id="69" dur="1" fill="hold">
                                          <p:stCondLst>
                                            <p:cond delay="0"/>
                                          </p:stCondLst>
                                        </p:cTn>
                                        <p:tgtEl>
                                          <p:spTgt spid="5"/>
                                        </p:tgtEl>
                                        <p:attrNameLst>
                                          <p:attrName>style.visibility</p:attrName>
                                        </p:attrNameLst>
                                      </p:cBhvr>
                                      <p:to>
                                        <p:strVal val="visible"/>
                                      </p:to>
                                    </p:set>
                                    <p:anim calcmode="lin" valueType="num">
                                      <p:cBhvr>
                                        <p:cTn id="70" dur="1000" fill="hold"/>
                                        <p:tgtEl>
                                          <p:spTgt spid="5"/>
                                        </p:tgtEl>
                                        <p:attrNameLst>
                                          <p:attrName>ppt_w</p:attrName>
                                        </p:attrNameLst>
                                      </p:cBhvr>
                                      <p:tavLst>
                                        <p:tav tm="0">
                                          <p:val>
                                            <p:fltVal val="0"/>
                                          </p:val>
                                        </p:tav>
                                        <p:tav tm="100000">
                                          <p:val>
                                            <p:strVal val="#ppt_w"/>
                                          </p:val>
                                        </p:tav>
                                      </p:tavLst>
                                    </p:anim>
                                    <p:anim calcmode="lin" valueType="num">
                                      <p:cBhvr>
                                        <p:cTn id="71" dur="1000" fill="hold"/>
                                        <p:tgtEl>
                                          <p:spTgt spid="5"/>
                                        </p:tgtEl>
                                        <p:attrNameLst>
                                          <p:attrName>ppt_h</p:attrName>
                                        </p:attrNameLst>
                                      </p:cBhvr>
                                      <p:tavLst>
                                        <p:tav tm="0">
                                          <p:val>
                                            <p:fltVal val="0"/>
                                          </p:val>
                                        </p:tav>
                                        <p:tav tm="100000">
                                          <p:val>
                                            <p:strVal val="#ppt_h"/>
                                          </p:val>
                                        </p:tav>
                                      </p:tavLst>
                                    </p:anim>
                                    <p:animEffect transition="in" filter="fade">
                                      <p:cBhvr>
                                        <p:cTn id="72" dur="1000"/>
                                        <p:tgtEl>
                                          <p:spTgt spid="5"/>
                                        </p:tgtEl>
                                      </p:cBhvr>
                                    </p:animEffect>
                                  </p:childTnLst>
                                </p:cTn>
                              </p:par>
                            </p:childTnLst>
                          </p:cTn>
                        </p:par>
                        <p:par>
                          <p:cTn id="73" fill="hold" nodeType="afterGroup">
                            <p:stCondLst>
                              <p:cond delay="1000"/>
                            </p:stCondLst>
                            <p:childTnLst>
                              <p:par>
                                <p:cTn id="74" presetID="1" presetClass="entr" presetSubtype="0" fill="hold" nodeType="afterEffect">
                                  <p:stCondLst>
                                    <p:cond delay="0"/>
                                  </p:stCondLst>
                                  <p:childTnLst>
                                    <p:set>
                                      <p:cBhvr>
                                        <p:cTn id="75" dur="1" fill="hold">
                                          <p:stCondLst>
                                            <p:cond delay="0"/>
                                          </p:stCondLst>
                                        </p:cTn>
                                        <p:tgtEl>
                                          <p:spTgt spid="2077"/>
                                        </p:tgtEl>
                                        <p:attrNameLst>
                                          <p:attrName>style.visibility</p:attrName>
                                        </p:attrNameLst>
                                      </p:cBhvr>
                                      <p:to>
                                        <p:strVal val="visible"/>
                                      </p:to>
                                    </p:set>
                                  </p:childTnLst>
                                </p:cTn>
                              </p:par>
                            </p:childTnLst>
                          </p:cTn>
                        </p:par>
                        <p:par>
                          <p:cTn id="76" fill="hold" nodeType="afterGroup">
                            <p:stCondLst>
                              <p:cond delay="1000"/>
                            </p:stCondLst>
                            <p:childTnLst>
                              <p:par>
                                <p:cTn id="77" presetID="1" presetClass="entr" presetSubtype="0" fill="hold" nodeType="afterEffect">
                                  <p:stCondLst>
                                    <p:cond delay="1000"/>
                                  </p:stCondLst>
                                  <p:childTnLst>
                                    <p:set>
                                      <p:cBhvr>
                                        <p:cTn id="78" dur="1" fill="hold">
                                          <p:stCondLst>
                                            <p:cond delay="0"/>
                                          </p:stCondLst>
                                        </p:cTn>
                                        <p:tgtEl>
                                          <p:spTgt spid="2078"/>
                                        </p:tgtEl>
                                        <p:attrNameLst>
                                          <p:attrName>style.visibility</p:attrName>
                                        </p:attrNameLst>
                                      </p:cBhvr>
                                      <p:to>
                                        <p:strVal val="visible"/>
                                      </p:to>
                                    </p:set>
                                  </p:childTnLst>
                                </p:cTn>
                              </p:par>
                            </p:childTnLst>
                          </p:cTn>
                        </p:par>
                        <p:par>
                          <p:cTn id="79" fill="hold" nodeType="afterGroup">
                            <p:stCondLst>
                              <p:cond delay="2000"/>
                            </p:stCondLst>
                            <p:childTnLst>
                              <p:par>
                                <p:cTn id="80" presetID="53" presetClass="entr" presetSubtype="0" fill="hold" nodeType="afterEffect">
                                  <p:stCondLst>
                                    <p:cond delay="2000"/>
                                  </p:stCondLst>
                                  <p:childTnLst>
                                    <p:set>
                                      <p:cBhvr>
                                        <p:cTn id="81" dur="1" fill="hold">
                                          <p:stCondLst>
                                            <p:cond delay="0"/>
                                          </p:stCondLst>
                                        </p:cTn>
                                        <p:tgtEl>
                                          <p:spTgt spid="2076"/>
                                        </p:tgtEl>
                                        <p:attrNameLst>
                                          <p:attrName>style.visibility</p:attrName>
                                        </p:attrNameLst>
                                      </p:cBhvr>
                                      <p:to>
                                        <p:strVal val="visible"/>
                                      </p:to>
                                    </p:set>
                                    <p:anim calcmode="lin" valueType="num">
                                      <p:cBhvr>
                                        <p:cTn id="82" dur="2000" fill="hold"/>
                                        <p:tgtEl>
                                          <p:spTgt spid="2076"/>
                                        </p:tgtEl>
                                        <p:attrNameLst>
                                          <p:attrName>ppt_w</p:attrName>
                                        </p:attrNameLst>
                                      </p:cBhvr>
                                      <p:tavLst>
                                        <p:tav tm="0">
                                          <p:val>
                                            <p:fltVal val="0"/>
                                          </p:val>
                                        </p:tav>
                                        <p:tav tm="100000">
                                          <p:val>
                                            <p:strVal val="#ppt_w"/>
                                          </p:val>
                                        </p:tav>
                                      </p:tavLst>
                                    </p:anim>
                                    <p:anim calcmode="lin" valueType="num">
                                      <p:cBhvr>
                                        <p:cTn id="83" dur="2000" fill="hold"/>
                                        <p:tgtEl>
                                          <p:spTgt spid="2076"/>
                                        </p:tgtEl>
                                        <p:attrNameLst>
                                          <p:attrName>ppt_h</p:attrName>
                                        </p:attrNameLst>
                                      </p:cBhvr>
                                      <p:tavLst>
                                        <p:tav tm="0">
                                          <p:val>
                                            <p:fltVal val="0"/>
                                          </p:val>
                                        </p:tav>
                                        <p:tav tm="100000">
                                          <p:val>
                                            <p:strVal val="#ppt_h"/>
                                          </p:val>
                                        </p:tav>
                                      </p:tavLst>
                                    </p:anim>
                                    <p:animEffect transition="in" filter="fade">
                                      <p:cBhvr>
                                        <p:cTn id="84" dur="2000"/>
                                        <p:tgtEl>
                                          <p:spTgt spid="2076"/>
                                        </p:tgtEl>
                                      </p:cBhvr>
                                    </p:animEffect>
                                  </p:childTnLst>
                                </p:cTn>
                              </p:par>
                            </p:childTnLst>
                          </p:cTn>
                        </p:par>
                      </p:childTnLst>
                    </p:cTn>
                  </p:par>
                  <p:par>
                    <p:cTn id="85" fill="hold" nodeType="clickPar">
                      <p:stCondLst>
                        <p:cond delay="indefinite"/>
                      </p:stCondLst>
                      <p:childTnLst>
                        <p:par>
                          <p:cTn id="86" fill="hold" nodeType="withGroup">
                            <p:stCondLst>
                              <p:cond delay="0"/>
                            </p:stCondLst>
                            <p:childTnLst>
                              <p:par>
                                <p:cTn id="87" presetID="10" presetClass="exit" presetSubtype="0" fill="hold" nodeType="clickEffect">
                                  <p:stCondLst>
                                    <p:cond delay="0"/>
                                  </p:stCondLst>
                                  <p:childTnLst>
                                    <p:animEffect transition="out" filter="fade">
                                      <p:cBhvr>
                                        <p:cTn id="88" dur="3000"/>
                                        <p:tgtEl>
                                          <p:spTgt spid="2078"/>
                                        </p:tgtEl>
                                      </p:cBhvr>
                                    </p:animEffect>
                                    <p:set>
                                      <p:cBhvr>
                                        <p:cTn id="89" dur="1" fill="hold">
                                          <p:stCondLst>
                                            <p:cond delay="2999"/>
                                          </p:stCondLst>
                                        </p:cTn>
                                        <p:tgtEl>
                                          <p:spTgt spid="2078"/>
                                        </p:tgtEl>
                                        <p:attrNameLst>
                                          <p:attrName>style.visibility</p:attrName>
                                        </p:attrNameLst>
                                      </p:cBhvr>
                                      <p:to>
                                        <p:strVal val="hidden"/>
                                      </p:to>
                                    </p:set>
                                  </p:childTnLst>
                                </p:cTn>
                              </p:par>
                              <p:par>
                                <p:cTn id="90" presetID="10" presetClass="exit" presetSubtype="0" fill="hold" nodeType="withEffect">
                                  <p:stCondLst>
                                    <p:cond delay="0"/>
                                  </p:stCondLst>
                                  <p:childTnLst>
                                    <p:animEffect transition="out" filter="fade">
                                      <p:cBhvr>
                                        <p:cTn id="91" dur="3000"/>
                                        <p:tgtEl>
                                          <p:spTgt spid="2077"/>
                                        </p:tgtEl>
                                      </p:cBhvr>
                                    </p:animEffect>
                                    <p:set>
                                      <p:cBhvr>
                                        <p:cTn id="92" dur="1" fill="hold">
                                          <p:stCondLst>
                                            <p:cond delay="2999"/>
                                          </p:stCondLst>
                                        </p:cTn>
                                        <p:tgtEl>
                                          <p:spTgt spid="2077"/>
                                        </p:tgtEl>
                                        <p:attrNameLst>
                                          <p:attrName>style.visibility</p:attrName>
                                        </p:attrNameLst>
                                      </p:cBhvr>
                                      <p:to>
                                        <p:strVal val="hidden"/>
                                      </p:to>
                                    </p:set>
                                  </p:childTnLst>
                                </p:cTn>
                              </p:par>
                              <p:par>
                                <p:cTn id="93" presetID="10" presetClass="exit" presetSubtype="0" fill="hold" grpId="1" nodeType="withEffect">
                                  <p:stCondLst>
                                    <p:cond delay="0"/>
                                  </p:stCondLst>
                                  <p:childTnLst>
                                    <p:animEffect transition="out" filter="fade">
                                      <p:cBhvr>
                                        <p:cTn id="94" dur="3000"/>
                                        <p:tgtEl>
                                          <p:spTgt spid="2063"/>
                                        </p:tgtEl>
                                      </p:cBhvr>
                                    </p:animEffect>
                                    <p:set>
                                      <p:cBhvr>
                                        <p:cTn id="95" dur="1" fill="hold">
                                          <p:stCondLst>
                                            <p:cond delay="2999"/>
                                          </p:stCondLst>
                                        </p:cTn>
                                        <p:tgtEl>
                                          <p:spTgt spid="2063"/>
                                        </p:tgtEl>
                                        <p:attrNameLst>
                                          <p:attrName>style.visibility</p:attrName>
                                        </p:attrNameLst>
                                      </p:cBhvr>
                                      <p:to>
                                        <p:strVal val="hidden"/>
                                      </p:to>
                                    </p:set>
                                  </p:childTnLst>
                                </p:cTn>
                              </p:par>
                              <p:par>
                                <p:cTn id="96" presetID="10" presetClass="exit" presetSubtype="0" fill="hold" grpId="1" nodeType="withEffect">
                                  <p:stCondLst>
                                    <p:cond delay="0"/>
                                  </p:stCondLst>
                                  <p:childTnLst>
                                    <p:animEffect transition="out" filter="fade">
                                      <p:cBhvr>
                                        <p:cTn id="97" dur="3000"/>
                                        <p:tgtEl>
                                          <p:spTgt spid="2062"/>
                                        </p:tgtEl>
                                      </p:cBhvr>
                                    </p:animEffect>
                                    <p:set>
                                      <p:cBhvr>
                                        <p:cTn id="98" dur="1" fill="hold">
                                          <p:stCondLst>
                                            <p:cond delay="2999"/>
                                          </p:stCondLst>
                                        </p:cTn>
                                        <p:tgtEl>
                                          <p:spTgt spid="2062"/>
                                        </p:tgtEl>
                                        <p:attrNameLst>
                                          <p:attrName>style.visibility</p:attrName>
                                        </p:attrNameLst>
                                      </p:cBhvr>
                                      <p:to>
                                        <p:strVal val="hidden"/>
                                      </p:to>
                                    </p:set>
                                  </p:childTnLst>
                                </p:cTn>
                              </p:par>
                              <p:par>
                                <p:cTn id="99" presetID="10" presetClass="exit" presetSubtype="0" fill="hold" nodeType="withEffect">
                                  <p:stCondLst>
                                    <p:cond delay="0"/>
                                  </p:stCondLst>
                                  <p:childTnLst>
                                    <p:animEffect transition="out" filter="fade">
                                      <p:cBhvr>
                                        <p:cTn id="100" dur="3000"/>
                                        <p:tgtEl>
                                          <p:spTgt spid="2071"/>
                                        </p:tgtEl>
                                      </p:cBhvr>
                                    </p:animEffect>
                                    <p:set>
                                      <p:cBhvr>
                                        <p:cTn id="101" dur="1" fill="hold">
                                          <p:stCondLst>
                                            <p:cond delay="2999"/>
                                          </p:stCondLst>
                                        </p:cTn>
                                        <p:tgtEl>
                                          <p:spTgt spid="2071"/>
                                        </p:tgtEl>
                                        <p:attrNameLst>
                                          <p:attrName>style.visibility</p:attrName>
                                        </p:attrNameLst>
                                      </p:cBhvr>
                                      <p:to>
                                        <p:strVal val="hidden"/>
                                      </p:to>
                                    </p:set>
                                  </p:childTnLst>
                                </p:cTn>
                              </p:par>
                              <p:par>
                                <p:cTn id="102" presetID="10" presetClass="exit" presetSubtype="0" fill="hold" nodeType="withEffect">
                                  <p:stCondLst>
                                    <p:cond delay="0"/>
                                  </p:stCondLst>
                                  <p:childTnLst>
                                    <p:animEffect transition="out" filter="fade">
                                      <p:cBhvr>
                                        <p:cTn id="103" dur="3000"/>
                                        <p:tgtEl>
                                          <p:spTgt spid="2069"/>
                                        </p:tgtEl>
                                      </p:cBhvr>
                                    </p:animEffect>
                                    <p:set>
                                      <p:cBhvr>
                                        <p:cTn id="104" dur="1" fill="hold">
                                          <p:stCondLst>
                                            <p:cond delay="2999"/>
                                          </p:stCondLst>
                                        </p:cTn>
                                        <p:tgtEl>
                                          <p:spTgt spid="2069"/>
                                        </p:tgtEl>
                                        <p:attrNameLst>
                                          <p:attrName>style.visibility</p:attrName>
                                        </p:attrNameLst>
                                      </p:cBhvr>
                                      <p:to>
                                        <p:strVal val="hidden"/>
                                      </p:to>
                                    </p:set>
                                  </p:childTnLst>
                                </p:cTn>
                              </p:par>
                              <p:par>
                                <p:cTn id="105" presetID="10" presetClass="exit" presetSubtype="0" fill="hold" nodeType="withEffect">
                                  <p:stCondLst>
                                    <p:cond delay="0"/>
                                  </p:stCondLst>
                                  <p:childTnLst>
                                    <p:animEffect transition="out" filter="fade">
                                      <p:cBhvr>
                                        <p:cTn id="106" dur="3000"/>
                                        <p:tgtEl>
                                          <p:spTgt spid="3"/>
                                        </p:tgtEl>
                                      </p:cBhvr>
                                    </p:animEffect>
                                    <p:set>
                                      <p:cBhvr>
                                        <p:cTn id="107" dur="1" fill="hold">
                                          <p:stCondLst>
                                            <p:cond delay="2999"/>
                                          </p:stCondLst>
                                        </p:cTn>
                                        <p:tgtEl>
                                          <p:spTgt spid="3"/>
                                        </p:tgtEl>
                                        <p:attrNameLst>
                                          <p:attrName>style.visibility</p:attrName>
                                        </p:attrNameLst>
                                      </p:cBhvr>
                                      <p:to>
                                        <p:strVal val="hidden"/>
                                      </p:to>
                                    </p:set>
                                  </p:childTnLst>
                                </p:cTn>
                              </p:par>
                              <p:par>
                                <p:cTn id="108" presetID="10" presetClass="exit" presetSubtype="0" fill="hold" grpId="1" nodeType="withEffect">
                                  <p:stCondLst>
                                    <p:cond delay="0"/>
                                  </p:stCondLst>
                                  <p:childTnLst>
                                    <p:animEffect transition="out" filter="fade">
                                      <p:cBhvr>
                                        <p:cTn id="109" dur="3000"/>
                                        <p:tgtEl>
                                          <p:spTgt spid="2073"/>
                                        </p:tgtEl>
                                      </p:cBhvr>
                                    </p:animEffect>
                                    <p:set>
                                      <p:cBhvr>
                                        <p:cTn id="110" dur="1" fill="hold">
                                          <p:stCondLst>
                                            <p:cond delay="2999"/>
                                          </p:stCondLst>
                                        </p:cTn>
                                        <p:tgtEl>
                                          <p:spTgt spid="2073"/>
                                        </p:tgtEl>
                                        <p:attrNameLst>
                                          <p:attrName>style.visibility</p:attrName>
                                        </p:attrNameLst>
                                      </p:cBhvr>
                                      <p:to>
                                        <p:strVal val="hidden"/>
                                      </p:to>
                                    </p:set>
                                  </p:childTnLst>
                                </p:cTn>
                              </p:par>
                              <p:par>
                                <p:cTn id="111" presetID="10" presetClass="exit" presetSubtype="0" fill="hold" nodeType="withEffect">
                                  <p:stCondLst>
                                    <p:cond delay="0"/>
                                  </p:stCondLst>
                                  <p:childTnLst>
                                    <p:animEffect transition="out" filter="fade">
                                      <p:cBhvr>
                                        <p:cTn id="112" dur="3000"/>
                                        <p:tgtEl>
                                          <p:spTgt spid="2070"/>
                                        </p:tgtEl>
                                      </p:cBhvr>
                                    </p:animEffect>
                                    <p:set>
                                      <p:cBhvr>
                                        <p:cTn id="113" dur="1" fill="hold">
                                          <p:stCondLst>
                                            <p:cond delay="2999"/>
                                          </p:stCondLst>
                                        </p:cTn>
                                        <p:tgtEl>
                                          <p:spTgt spid="2070"/>
                                        </p:tgtEl>
                                        <p:attrNameLst>
                                          <p:attrName>style.visibility</p:attrName>
                                        </p:attrNameLst>
                                      </p:cBhvr>
                                      <p:to>
                                        <p:strVal val="hidden"/>
                                      </p:to>
                                    </p:set>
                                  </p:childTnLst>
                                </p:cTn>
                              </p:par>
                              <p:par>
                                <p:cTn id="114" presetID="10" presetClass="exit" presetSubtype="0" fill="hold" nodeType="withEffect">
                                  <p:stCondLst>
                                    <p:cond delay="0"/>
                                  </p:stCondLst>
                                  <p:childTnLst>
                                    <p:animEffect transition="out" filter="fade">
                                      <p:cBhvr>
                                        <p:cTn id="115" dur="3000"/>
                                        <p:tgtEl>
                                          <p:spTgt spid="2068"/>
                                        </p:tgtEl>
                                      </p:cBhvr>
                                    </p:animEffect>
                                    <p:set>
                                      <p:cBhvr>
                                        <p:cTn id="116" dur="1" fill="hold">
                                          <p:stCondLst>
                                            <p:cond delay="2999"/>
                                          </p:stCondLst>
                                        </p:cTn>
                                        <p:tgtEl>
                                          <p:spTgt spid="2068"/>
                                        </p:tgtEl>
                                        <p:attrNameLst>
                                          <p:attrName>style.visibility</p:attrName>
                                        </p:attrNameLst>
                                      </p:cBhvr>
                                      <p:to>
                                        <p:strVal val="hidden"/>
                                      </p:to>
                                    </p:set>
                                  </p:childTnLst>
                                </p:cTn>
                              </p:par>
                              <p:par>
                                <p:cTn id="117" presetID="10" presetClass="exit" presetSubtype="0" fill="hold" nodeType="withEffect">
                                  <p:stCondLst>
                                    <p:cond delay="0"/>
                                  </p:stCondLst>
                                  <p:childTnLst>
                                    <p:animEffect transition="out" filter="fade">
                                      <p:cBhvr>
                                        <p:cTn id="118" dur="3000"/>
                                        <p:tgtEl>
                                          <p:spTgt spid="2"/>
                                        </p:tgtEl>
                                      </p:cBhvr>
                                    </p:animEffect>
                                    <p:set>
                                      <p:cBhvr>
                                        <p:cTn id="119" dur="1" fill="hold">
                                          <p:stCondLst>
                                            <p:cond delay="2999"/>
                                          </p:stCondLst>
                                        </p:cTn>
                                        <p:tgtEl>
                                          <p:spTgt spid="2"/>
                                        </p:tgtEl>
                                        <p:attrNameLst>
                                          <p:attrName>style.visibility</p:attrName>
                                        </p:attrNameLst>
                                      </p:cBhvr>
                                      <p:to>
                                        <p:strVal val="hidden"/>
                                      </p:to>
                                    </p:set>
                                  </p:childTnLst>
                                </p:cTn>
                              </p:par>
                              <p:par>
                                <p:cTn id="120" presetID="10" presetClass="exit" presetSubtype="0" fill="hold" nodeType="withEffect">
                                  <p:stCondLst>
                                    <p:cond delay="0"/>
                                  </p:stCondLst>
                                  <p:childTnLst>
                                    <p:animEffect transition="out" filter="fade">
                                      <p:cBhvr>
                                        <p:cTn id="121" dur="3000"/>
                                        <p:tgtEl>
                                          <p:spTgt spid="2067"/>
                                        </p:tgtEl>
                                      </p:cBhvr>
                                    </p:animEffect>
                                    <p:set>
                                      <p:cBhvr>
                                        <p:cTn id="122" dur="1" fill="hold">
                                          <p:stCondLst>
                                            <p:cond delay="2999"/>
                                          </p:stCondLst>
                                        </p:cTn>
                                        <p:tgtEl>
                                          <p:spTgt spid="2067"/>
                                        </p:tgtEl>
                                        <p:attrNameLst>
                                          <p:attrName>style.visibility</p:attrName>
                                        </p:attrNameLst>
                                      </p:cBhvr>
                                      <p:to>
                                        <p:strVal val="hidden"/>
                                      </p:to>
                                    </p:set>
                                  </p:childTnLst>
                                </p:cTn>
                              </p:par>
                              <p:par>
                                <p:cTn id="123" presetID="10" presetClass="exit" presetSubtype="0" fill="hold" grpId="1" nodeType="withEffect">
                                  <p:stCondLst>
                                    <p:cond delay="0"/>
                                  </p:stCondLst>
                                  <p:childTnLst>
                                    <p:animEffect transition="out" filter="fade">
                                      <p:cBhvr>
                                        <p:cTn id="124" dur="3000"/>
                                        <p:tgtEl>
                                          <p:spTgt spid="2072"/>
                                        </p:tgtEl>
                                      </p:cBhvr>
                                    </p:animEffect>
                                    <p:set>
                                      <p:cBhvr>
                                        <p:cTn id="125" dur="1" fill="hold">
                                          <p:stCondLst>
                                            <p:cond delay="2999"/>
                                          </p:stCondLst>
                                        </p:cTn>
                                        <p:tgtEl>
                                          <p:spTgt spid="2072"/>
                                        </p:tgtEl>
                                        <p:attrNameLst>
                                          <p:attrName>style.visibility</p:attrName>
                                        </p:attrNameLst>
                                      </p:cBhvr>
                                      <p:to>
                                        <p:strVal val="hidden"/>
                                      </p:to>
                                    </p:set>
                                  </p:childTnLst>
                                </p:cTn>
                              </p:par>
                            </p:childTnLst>
                          </p:cTn>
                        </p:par>
                        <p:par>
                          <p:cTn id="126" fill="hold" nodeType="afterGroup">
                            <p:stCondLst>
                              <p:cond delay="3000"/>
                            </p:stCondLst>
                            <p:childTnLst>
                              <p:par>
                                <p:cTn id="127" presetID="4" presetClass="entr" presetSubtype="16" fill="hold" grpId="0" nodeType="afterEffect">
                                  <p:stCondLst>
                                    <p:cond delay="1500"/>
                                  </p:stCondLst>
                                  <p:childTnLst>
                                    <p:set>
                                      <p:cBhvr>
                                        <p:cTn id="128" dur="1" fill="hold">
                                          <p:stCondLst>
                                            <p:cond delay="0"/>
                                          </p:stCondLst>
                                        </p:cTn>
                                        <p:tgtEl>
                                          <p:spTgt spid="31"/>
                                        </p:tgtEl>
                                        <p:attrNameLst>
                                          <p:attrName>style.visibility</p:attrName>
                                        </p:attrNameLst>
                                      </p:cBhvr>
                                      <p:to>
                                        <p:strVal val="visible"/>
                                      </p:to>
                                    </p:set>
                                    <p:animEffect transition="in" filter="box(in)">
                                      <p:cBhvr>
                                        <p:cTn id="129" dur="1000"/>
                                        <p:tgtEl>
                                          <p:spTgt spid="31"/>
                                        </p:tgtEl>
                                      </p:cBhvr>
                                    </p:animEffect>
                                  </p:childTnLst>
                                </p:cTn>
                              </p:par>
                              <p:par>
                                <p:cTn id="130" presetID="10" presetClass="exit" presetSubtype="0" fill="hold" grpId="1" nodeType="withEffect">
                                  <p:stCondLst>
                                    <p:cond delay="0"/>
                                  </p:stCondLst>
                                  <p:childTnLst>
                                    <p:animEffect transition="out" filter="fade">
                                      <p:cBhvr>
                                        <p:cTn id="131" dur="3000"/>
                                        <p:tgtEl>
                                          <p:spTgt spid="31"/>
                                        </p:tgtEl>
                                      </p:cBhvr>
                                    </p:animEffect>
                                    <p:set>
                                      <p:cBhvr>
                                        <p:cTn id="132" dur="1" fill="hold">
                                          <p:stCondLst>
                                            <p:cond delay="2999"/>
                                          </p:stCondLst>
                                        </p:cTn>
                                        <p:tgtEl>
                                          <p:spTgt spid="31"/>
                                        </p:tgtEl>
                                        <p:attrNameLst>
                                          <p:attrName>style.visibility</p:attrName>
                                        </p:attrNameLst>
                                      </p:cBhvr>
                                      <p:to>
                                        <p:strVal val="hidden"/>
                                      </p:to>
                                    </p:set>
                                  </p:childTnLst>
                                </p:cTn>
                              </p:par>
                            </p:childTnLst>
                          </p:cTn>
                        </p:par>
                        <p:par>
                          <p:cTn id="133" fill="hold" nodeType="afterGroup">
                            <p:stCondLst>
                              <p:cond delay="6000"/>
                            </p:stCondLst>
                            <p:childTnLst>
                              <p:par>
                                <p:cTn id="134" presetID="4" presetClass="entr" presetSubtype="16" fill="hold" grpId="0" nodeType="afterEffect">
                                  <p:stCondLst>
                                    <p:cond delay="1500"/>
                                  </p:stCondLst>
                                  <p:childTnLst>
                                    <p:set>
                                      <p:cBhvr>
                                        <p:cTn id="135" dur="1" fill="hold">
                                          <p:stCondLst>
                                            <p:cond delay="0"/>
                                          </p:stCondLst>
                                        </p:cTn>
                                        <p:tgtEl>
                                          <p:spTgt spid="32"/>
                                        </p:tgtEl>
                                        <p:attrNameLst>
                                          <p:attrName>style.visibility</p:attrName>
                                        </p:attrNameLst>
                                      </p:cBhvr>
                                      <p:to>
                                        <p:strVal val="visible"/>
                                      </p:to>
                                    </p:set>
                                    <p:animEffect transition="in" filter="box(in)">
                                      <p:cBhvr>
                                        <p:cTn id="136" dur="1000"/>
                                        <p:tgtEl>
                                          <p:spTgt spid="32"/>
                                        </p:tgtEl>
                                      </p:cBhvr>
                                    </p:animEffect>
                                  </p:childTnLst>
                                </p:cTn>
                              </p:par>
                              <p:par>
                                <p:cTn id="137" presetID="10" presetClass="exit" presetSubtype="0" fill="hold" grpId="1" nodeType="withEffect">
                                  <p:stCondLst>
                                    <p:cond delay="0"/>
                                  </p:stCondLst>
                                  <p:childTnLst>
                                    <p:animEffect transition="out" filter="fade">
                                      <p:cBhvr>
                                        <p:cTn id="138" dur="3000"/>
                                        <p:tgtEl>
                                          <p:spTgt spid="32"/>
                                        </p:tgtEl>
                                      </p:cBhvr>
                                    </p:animEffect>
                                    <p:set>
                                      <p:cBhvr>
                                        <p:cTn id="139" dur="1" fill="hold">
                                          <p:stCondLst>
                                            <p:cond delay="2999"/>
                                          </p:stCondLst>
                                        </p:cTn>
                                        <p:tgtEl>
                                          <p:spTgt spid="32"/>
                                        </p:tgtEl>
                                        <p:attrNameLst>
                                          <p:attrName>style.visibility</p:attrName>
                                        </p:attrNameLst>
                                      </p:cBhvr>
                                      <p:to>
                                        <p:strVal val="hidden"/>
                                      </p:to>
                                    </p:set>
                                  </p:childTnLst>
                                </p:cTn>
                              </p:par>
                            </p:childTnLst>
                          </p:cTn>
                        </p:par>
                        <p:par>
                          <p:cTn id="140" fill="hold" nodeType="afterGroup">
                            <p:stCondLst>
                              <p:cond delay="9000"/>
                            </p:stCondLst>
                            <p:childTnLst>
                              <p:par>
                                <p:cTn id="141" presetID="4" presetClass="entr" presetSubtype="16" fill="hold" grpId="0" nodeType="afterEffect">
                                  <p:stCondLst>
                                    <p:cond delay="1500"/>
                                  </p:stCondLst>
                                  <p:childTnLst>
                                    <p:set>
                                      <p:cBhvr>
                                        <p:cTn id="142" dur="1" fill="hold">
                                          <p:stCondLst>
                                            <p:cond delay="0"/>
                                          </p:stCondLst>
                                        </p:cTn>
                                        <p:tgtEl>
                                          <p:spTgt spid="36"/>
                                        </p:tgtEl>
                                        <p:attrNameLst>
                                          <p:attrName>style.visibility</p:attrName>
                                        </p:attrNameLst>
                                      </p:cBhvr>
                                      <p:to>
                                        <p:strVal val="visible"/>
                                      </p:to>
                                    </p:set>
                                    <p:animEffect transition="in" filter="box(in)">
                                      <p:cBhvr>
                                        <p:cTn id="143" dur="1000"/>
                                        <p:tgtEl>
                                          <p:spTgt spid="36"/>
                                        </p:tgtEl>
                                      </p:cBhvr>
                                    </p:animEffect>
                                  </p:childTnLst>
                                </p:cTn>
                              </p:par>
                              <p:par>
                                <p:cTn id="144" presetID="10" presetClass="exit" presetSubtype="0" fill="hold" grpId="1" nodeType="withEffect">
                                  <p:stCondLst>
                                    <p:cond delay="0"/>
                                  </p:stCondLst>
                                  <p:childTnLst>
                                    <p:animEffect transition="out" filter="fade">
                                      <p:cBhvr>
                                        <p:cTn id="145" dur="3000"/>
                                        <p:tgtEl>
                                          <p:spTgt spid="36"/>
                                        </p:tgtEl>
                                      </p:cBhvr>
                                    </p:animEffect>
                                    <p:set>
                                      <p:cBhvr>
                                        <p:cTn id="146" dur="1" fill="hold">
                                          <p:stCondLst>
                                            <p:cond delay="2999"/>
                                          </p:stCondLst>
                                        </p:cTn>
                                        <p:tgtEl>
                                          <p:spTgt spid="36"/>
                                        </p:tgtEl>
                                        <p:attrNameLst>
                                          <p:attrName>style.visibility</p:attrName>
                                        </p:attrNameLst>
                                      </p:cBhvr>
                                      <p:to>
                                        <p:strVal val="hidden"/>
                                      </p:to>
                                    </p:set>
                                  </p:childTnLst>
                                </p:cTn>
                              </p:par>
                            </p:childTnLst>
                          </p:cTn>
                        </p:par>
                        <p:par>
                          <p:cTn id="147" fill="hold" nodeType="afterGroup">
                            <p:stCondLst>
                              <p:cond delay="12000"/>
                            </p:stCondLst>
                            <p:childTnLst>
                              <p:par>
                                <p:cTn id="148" presetID="4" presetClass="entr" presetSubtype="16" fill="hold" grpId="0" nodeType="afterEffect">
                                  <p:stCondLst>
                                    <p:cond delay="1500"/>
                                  </p:stCondLst>
                                  <p:childTnLst>
                                    <p:set>
                                      <p:cBhvr>
                                        <p:cTn id="149" dur="1" fill="hold">
                                          <p:stCondLst>
                                            <p:cond delay="0"/>
                                          </p:stCondLst>
                                        </p:cTn>
                                        <p:tgtEl>
                                          <p:spTgt spid="37"/>
                                        </p:tgtEl>
                                        <p:attrNameLst>
                                          <p:attrName>style.visibility</p:attrName>
                                        </p:attrNameLst>
                                      </p:cBhvr>
                                      <p:to>
                                        <p:strVal val="visible"/>
                                      </p:to>
                                    </p:set>
                                    <p:animEffect transition="in" filter="box(in)">
                                      <p:cBhvr>
                                        <p:cTn id="150" dur="1000"/>
                                        <p:tgtEl>
                                          <p:spTgt spid="37"/>
                                        </p:tgtEl>
                                      </p:cBhvr>
                                    </p:animEffect>
                                  </p:childTnLst>
                                </p:cTn>
                              </p:par>
                              <p:par>
                                <p:cTn id="151" presetID="10" presetClass="exit" presetSubtype="0" fill="hold" grpId="1" nodeType="withEffect">
                                  <p:stCondLst>
                                    <p:cond delay="0"/>
                                  </p:stCondLst>
                                  <p:childTnLst>
                                    <p:animEffect transition="out" filter="fade">
                                      <p:cBhvr>
                                        <p:cTn id="152" dur="3000"/>
                                        <p:tgtEl>
                                          <p:spTgt spid="37"/>
                                        </p:tgtEl>
                                      </p:cBhvr>
                                    </p:animEffect>
                                    <p:set>
                                      <p:cBhvr>
                                        <p:cTn id="153" dur="1" fill="hold">
                                          <p:stCondLst>
                                            <p:cond delay="2999"/>
                                          </p:stCondLst>
                                        </p:cTn>
                                        <p:tgtEl>
                                          <p:spTgt spid="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2" grpId="0" animBg="1"/>
      <p:bldP spid="2062" grpId="1" animBg="1"/>
      <p:bldP spid="2063" grpId="0"/>
      <p:bldP spid="2063" grpId="1"/>
      <p:bldP spid="2072" grpId="0"/>
      <p:bldP spid="2072" grpId="1"/>
      <p:bldP spid="2073" grpId="0"/>
      <p:bldP spid="2073" grpId="1"/>
      <p:bldP spid="31" grpId="0"/>
      <p:bldP spid="31" grpId="1"/>
      <p:bldP spid="32" grpId="0"/>
      <p:bldP spid="32" grpId="1"/>
      <p:bldP spid="36" grpId="0"/>
      <p:bldP spid="36" grpId="1"/>
      <p:bldP spid="37" grpId="0"/>
      <p:bldP spid="37"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98" name="Rectangle 4">
            <a:extLst>
              <a:ext uri="{FF2B5EF4-FFF2-40B4-BE49-F238E27FC236}">
                <a16:creationId xmlns:a16="http://schemas.microsoft.com/office/drawing/2014/main" id="{26DB01C5-2B2D-6BC8-7E0C-A8B0DDE01266}"/>
              </a:ext>
            </a:extLst>
          </p:cNvPr>
          <p:cNvSpPr>
            <a:spLocks noGrp="1" noChangeArrowheads="1"/>
          </p:cNvSpPr>
          <p:nvPr>
            <p:ph type="title"/>
          </p:nvPr>
        </p:nvSpPr>
        <p:spPr>
          <a:xfrm>
            <a:off x="468313" y="188913"/>
            <a:ext cx="8229600" cy="630237"/>
          </a:xfrm>
          <a:noFill/>
        </p:spPr>
        <p:txBody>
          <a:bodyPr/>
          <a:lstStyle/>
          <a:p>
            <a:pPr eaLnBrk="1" hangingPunct="1"/>
            <a:r>
              <a:rPr lang="fr-FR" altLang="fr-FR" b="1">
                <a:solidFill>
                  <a:srgbClr val="FFFF99"/>
                </a:solidFill>
              </a:rPr>
              <a:t>Les Entr</a:t>
            </a:r>
            <a:r>
              <a:rPr lang="en-CA" altLang="fr-FR" b="1">
                <a:solidFill>
                  <a:srgbClr val="FFFF99"/>
                </a:solidFill>
              </a:rPr>
              <a:t>é</a:t>
            </a:r>
            <a:r>
              <a:rPr lang="fr-FR" altLang="fr-FR" b="1">
                <a:solidFill>
                  <a:srgbClr val="FFFF99"/>
                </a:solidFill>
              </a:rPr>
              <a:t>es / Sorties</a:t>
            </a:r>
            <a:endParaRPr lang="fr-CA" altLang="fr-FR" b="1">
              <a:solidFill>
                <a:srgbClr val="FFFF99"/>
              </a:solidFill>
            </a:endParaRPr>
          </a:p>
        </p:txBody>
      </p:sp>
      <p:sp>
        <p:nvSpPr>
          <p:cNvPr id="4099" name="Rectangle 5">
            <a:extLst>
              <a:ext uri="{FF2B5EF4-FFF2-40B4-BE49-F238E27FC236}">
                <a16:creationId xmlns:a16="http://schemas.microsoft.com/office/drawing/2014/main" id="{41F2067C-42AC-9D2E-B23D-3BB1D5274AB1}"/>
              </a:ext>
            </a:extLst>
          </p:cNvPr>
          <p:cNvSpPr>
            <a:spLocks noGrp="1" noChangeArrowheads="1"/>
          </p:cNvSpPr>
          <p:nvPr>
            <p:ph type="body" idx="1"/>
          </p:nvPr>
        </p:nvSpPr>
        <p:spPr>
          <a:xfrm>
            <a:off x="0" y="1385888"/>
            <a:ext cx="9144000" cy="5472112"/>
          </a:xfrm>
          <a:noFill/>
        </p:spPr>
        <p:txBody>
          <a:bodyPr/>
          <a:lstStyle/>
          <a:p>
            <a:pPr eaLnBrk="1" hangingPunct="1"/>
            <a:r>
              <a:rPr lang="fr-CA" altLang="fr-FR" sz="2400" b="1">
                <a:solidFill>
                  <a:srgbClr val="FFFF99"/>
                </a:solidFill>
              </a:rPr>
              <a:t>Problème : synchronisation entre processeur et périphériques</a:t>
            </a:r>
          </a:p>
          <a:p>
            <a:pPr lvl="1" eaLnBrk="1" hangingPunct="1"/>
            <a:r>
              <a:rPr lang="fr-CA" altLang="fr-FR" sz="2000" b="1">
                <a:solidFill>
                  <a:srgbClr val="FFFF99"/>
                </a:solidFill>
              </a:rPr>
              <a:t>[processeur, mémoire] </a:t>
            </a:r>
            <a:r>
              <a:rPr lang="fr-CA" altLang="fr-FR" sz="2000" b="1">
                <a:solidFill>
                  <a:srgbClr val="FFFF99"/>
                </a:solidFill>
                <a:sym typeface="Wingdings" panose="05000000000000000000" pitchFamily="2" charset="2"/>
              </a:rPr>
              <a:t> bus  interface  [contrôleur, périphérique]</a:t>
            </a:r>
          </a:p>
          <a:p>
            <a:pPr lvl="1" eaLnBrk="1" hangingPunct="1"/>
            <a:r>
              <a:rPr lang="fr-CA" altLang="fr-FR" sz="2000" b="1">
                <a:solidFill>
                  <a:srgbClr val="FFFF99"/>
                </a:solidFill>
                <a:sym typeface="Wingdings" panose="05000000000000000000" pitchFamily="2" charset="2"/>
              </a:rPr>
              <a:t>Le contrôleur possède des cellules mémoires propres (nommées là aussi registres) lui permettant de recevoir/fournir de l’information pour entreprendre ses actions.</a:t>
            </a:r>
          </a:p>
          <a:p>
            <a:pPr lvl="1" eaLnBrk="1" hangingPunct="1"/>
            <a:r>
              <a:rPr lang="fr-CA" altLang="fr-FR" sz="2000" b="1">
                <a:solidFill>
                  <a:srgbClr val="FFFF99"/>
                </a:solidFill>
                <a:sym typeface="Wingdings" panose="05000000000000000000" pitchFamily="2" charset="2"/>
              </a:rPr>
              <a:t>L’interface possède des cellules mémoires propres ayant une correspondance établie avec les registres du contrôleur. Ces cellules mémoires sont accessibles au processeur.</a:t>
            </a:r>
          </a:p>
          <a:p>
            <a:pPr lvl="2" eaLnBrk="1" hangingPunct="1"/>
            <a:r>
              <a:rPr lang="fr-CA" altLang="fr-FR" sz="1800" b="1">
                <a:solidFill>
                  <a:srgbClr val="FFFF99"/>
                </a:solidFill>
              </a:rPr>
              <a:t>Ces cellules sont en mémoire à des adresses dédiées et accessibles en mode superviseur. C’est la technique du «</a:t>
            </a:r>
            <a:r>
              <a:rPr lang="fr-CA" altLang="fr-FR" sz="1800" b="1">
                <a:solidFill>
                  <a:schemeClr val="folHlink"/>
                </a:solidFill>
              </a:rPr>
              <a:t> memory-mapping</a:t>
            </a:r>
            <a:r>
              <a:rPr lang="fr-CA" altLang="fr-FR" sz="1800" b="1">
                <a:solidFill>
                  <a:srgbClr val="FFFF99"/>
                </a:solidFill>
              </a:rPr>
              <a:t> ». Le processeur utilise ses </a:t>
            </a:r>
            <a:r>
              <a:rPr lang="fr-CA" altLang="fr-FR" sz="1800" b="1">
                <a:solidFill>
                  <a:schemeClr val="folHlink"/>
                </a:solidFill>
              </a:rPr>
              <a:t>instructions générales</a:t>
            </a:r>
            <a:r>
              <a:rPr lang="fr-CA" altLang="fr-FR" sz="1800" b="1">
                <a:solidFill>
                  <a:srgbClr val="FFFF99"/>
                </a:solidFill>
              </a:rPr>
              <a:t> pour y accéder.</a:t>
            </a:r>
          </a:p>
          <a:p>
            <a:pPr lvl="2" eaLnBrk="1" hangingPunct="1"/>
            <a:r>
              <a:rPr lang="fr-CA" altLang="fr-FR" sz="1800" b="1">
                <a:solidFill>
                  <a:srgbClr val="FFFF99"/>
                </a:solidFill>
              </a:rPr>
              <a:t>Ces cellules sont sur la carte et se nomment «</a:t>
            </a:r>
            <a:r>
              <a:rPr lang="fr-CA" altLang="fr-FR" sz="1800" b="1">
                <a:solidFill>
                  <a:schemeClr val="folHlink"/>
                </a:solidFill>
              </a:rPr>
              <a:t> ports</a:t>
            </a:r>
            <a:r>
              <a:rPr lang="fr-CA" altLang="fr-FR" sz="1800" b="1">
                <a:solidFill>
                  <a:srgbClr val="FFFF99"/>
                </a:solidFill>
              </a:rPr>
              <a:t> ». Le processeur doit utiliser des </a:t>
            </a:r>
            <a:r>
              <a:rPr lang="fr-CA" altLang="fr-FR" sz="1800" b="1">
                <a:solidFill>
                  <a:schemeClr val="folHlink"/>
                </a:solidFill>
              </a:rPr>
              <a:t>instructions particulières</a:t>
            </a:r>
            <a:r>
              <a:rPr lang="fr-CA" altLang="fr-FR" sz="1800" b="1">
                <a:solidFill>
                  <a:srgbClr val="FFFF99"/>
                </a:solidFill>
              </a:rPr>
              <a:t> (« jeu d’instructions d’entrées/sorties ») exécutables en mode superviseur.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4330" name="Rectangle 58">
            <a:extLst>
              <a:ext uri="{FF2B5EF4-FFF2-40B4-BE49-F238E27FC236}">
                <a16:creationId xmlns:a16="http://schemas.microsoft.com/office/drawing/2014/main" id="{8F310A22-55C9-C04C-ED0A-536247C629D8}"/>
              </a:ext>
            </a:extLst>
          </p:cNvPr>
          <p:cNvSpPr>
            <a:spLocks noChangeArrowheads="1"/>
          </p:cNvSpPr>
          <p:nvPr/>
        </p:nvSpPr>
        <p:spPr bwMode="auto">
          <a:xfrm>
            <a:off x="2484438" y="4292600"/>
            <a:ext cx="4572000" cy="579438"/>
          </a:xfrm>
          <a:prstGeom prst="rect">
            <a:avLst/>
          </a:prstGeom>
          <a:noFill/>
          <a:ln w="9525" algn="ctr">
            <a:noFill/>
            <a:miter lim="800000"/>
            <a:headEnd/>
            <a:tailEnd/>
          </a:ln>
          <a:effectLst/>
        </p:spPr>
        <p:txBody>
          <a:bodyPr>
            <a:spAutoFit/>
          </a:bodyPr>
          <a:lstStyle/>
          <a:p>
            <a:pPr algn="ctr" eaLnBrk="1" hangingPunct="1">
              <a:defRPr/>
            </a:pPr>
            <a:endParaRPr lang="fr-CA" sz="3200">
              <a:solidFill>
                <a:srgbClr val="FF9900"/>
              </a:solidFill>
              <a:effectLst>
                <a:outerShdw blurRad="38100" dist="38100" dir="2700000" algn="tl">
                  <a:srgbClr val="C0C0C0"/>
                </a:outerShdw>
              </a:effectLst>
              <a:latin typeface="Arial" charset="0"/>
            </a:endParaRPr>
          </a:p>
        </p:txBody>
      </p:sp>
      <p:sp>
        <p:nvSpPr>
          <p:cNvPr id="5123" name="Rectangle 59">
            <a:extLst>
              <a:ext uri="{FF2B5EF4-FFF2-40B4-BE49-F238E27FC236}">
                <a16:creationId xmlns:a16="http://schemas.microsoft.com/office/drawing/2014/main" id="{EB9F818B-B5C4-D9C8-DC16-87CDC6E1F84C}"/>
              </a:ext>
            </a:extLst>
          </p:cNvPr>
          <p:cNvSpPr>
            <a:spLocks noGrp="1" noChangeArrowheads="1"/>
          </p:cNvSpPr>
          <p:nvPr>
            <p:ph type="title"/>
          </p:nvPr>
        </p:nvSpPr>
        <p:spPr>
          <a:xfrm>
            <a:off x="468313" y="44450"/>
            <a:ext cx="8229600" cy="1143000"/>
          </a:xfrm>
          <a:noFill/>
        </p:spPr>
        <p:txBody>
          <a:bodyPr/>
          <a:lstStyle/>
          <a:p>
            <a:pPr eaLnBrk="1" hangingPunct="1"/>
            <a:r>
              <a:rPr lang="fr-CA" altLang="fr-FR" b="1">
                <a:solidFill>
                  <a:srgbClr val="FFFF99"/>
                </a:solidFill>
              </a:rPr>
              <a:t>Architecture NES</a:t>
            </a:r>
          </a:p>
        </p:txBody>
      </p:sp>
      <p:sp>
        <p:nvSpPr>
          <p:cNvPr id="5124" name="Text Box 60">
            <a:extLst>
              <a:ext uri="{FF2B5EF4-FFF2-40B4-BE49-F238E27FC236}">
                <a16:creationId xmlns:a16="http://schemas.microsoft.com/office/drawing/2014/main" id="{173CD527-57A3-F65E-DBEB-519B16FC416A}"/>
              </a:ext>
            </a:extLst>
          </p:cNvPr>
          <p:cNvSpPr txBox="1">
            <a:spLocks noChangeArrowheads="1"/>
          </p:cNvSpPr>
          <p:nvPr/>
        </p:nvSpPr>
        <p:spPr bwMode="auto">
          <a:xfrm>
            <a:off x="3225800" y="908050"/>
            <a:ext cx="254476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b="1">
                <a:solidFill>
                  <a:srgbClr val="FFFF99"/>
                </a:solidFill>
              </a:rPr>
              <a:t>Processeur  NMOS 6502</a:t>
            </a:r>
          </a:p>
          <a:p>
            <a:pPr algn="ctr" eaLnBrk="1" hangingPunct="1">
              <a:spcBef>
                <a:spcPct val="0"/>
              </a:spcBef>
              <a:buFontTx/>
              <a:buNone/>
            </a:pPr>
            <a:r>
              <a:rPr lang="fr-CA" altLang="fr-FR" sz="1600" b="1" u="sng">
                <a:solidFill>
                  <a:srgbClr val="FF9900"/>
                </a:solidFill>
              </a:rPr>
              <a:t>registres</a:t>
            </a:r>
            <a:endParaRPr lang="en-US" altLang="fr-FR" sz="1600" b="1" u="sng">
              <a:solidFill>
                <a:srgbClr val="FF9900"/>
              </a:solidFill>
            </a:endParaRPr>
          </a:p>
        </p:txBody>
      </p:sp>
      <p:sp>
        <p:nvSpPr>
          <p:cNvPr id="5125" name="Text Box 61">
            <a:extLst>
              <a:ext uri="{FF2B5EF4-FFF2-40B4-BE49-F238E27FC236}">
                <a16:creationId xmlns:a16="http://schemas.microsoft.com/office/drawing/2014/main" id="{A60C52E5-0985-678B-9361-92444247A37F}"/>
              </a:ext>
            </a:extLst>
          </p:cNvPr>
          <p:cNvSpPr txBox="1">
            <a:spLocks noChangeArrowheads="1"/>
          </p:cNvSpPr>
          <p:nvPr/>
        </p:nvSpPr>
        <p:spPr bwMode="auto">
          <a:xfrm>
            <a:off x="358775" y="1700213"/>
            <a:ext cx="8785225" cy="581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b="1">
                <a:solidFill>
                  <a:srgbClr val="FFFF99"/>
                </a:solidFill>
              </a:rPr>
              <a:t> Registre A (accumulateur), pour l’arithmétique (8 bits)</a:t>
            </a:r>
          </a:p>
          <a:p>
            <a:pPr lvl="1" eaLnBrk="1" hangingPunct="1">
              <a:spcBef>
                <a:spcPct val="0"/>
              </a:spcBef>
              <a:buFont typeface="Wingdings" panose="05000000000000000000" pitchFamily="2" charset="2"/>
              <a:buChar char="§"/>
            </a:pPr>
            <a:r>
              <a:rPr lang="fr-CA" altLang="fr-FR" sz="1800" b="1">
                <a:solidFill>
                  <a:schemeClr val="folHlink"/>
                </a:solidFill>
              </a:rPr>
              <a:t>Ce registre reçoit le résultat de toutes les opérations arithmétiques.</a:t>
            </a:r>
          </a:p>
          <a:p>
            <a:pPr lvl="1" eaLnBrk="1" hangingPunct="1">
              <a:spcBef>
                <a:spcPct val="0"/>
              </a:spcBef>
              <a:buFont typeface="Wingdings" panose="05000000000000000000" pitchFamily="2" charset="2"/>
              <a:buChar char="§"/>
            </a:pPr>
            <a:endParaRPr lang="fr-CA" altLang="fr-FR" sz="24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Registres X et Y, pour l’adressage indexé (8 bits)</a:t>
            </a:r>
          </a:p>
          <a:p>
            <a:pPr lvl="1" eaLnBrk="1" hangingPunct="1">
              <a:spcBef>
                <a:spcPct val="0"/>
              </a:spcBef>
              <a:buFont typeface="Wingdings" panose="05000000000000000000" pitchFamily="2" charset="2"/>
              <a:buChar char="§"/>
            </a:pPr>
            <a:r>
              <a:rPr lang="fr-CA" altLang="fr-FR" sz="1800" b="1">
                <a:solidFill>
                  <a:schemeClr val="folHlink"/>
                </a:solidFill>
              </a:rPr>
              <a:t>Ces deux registres contiennent un index dans certains modes d’adressage et sont aussi utilisés comme espaces temporaires dans les opérations arithmétiques.</a:t>
            </a:r>
          </a:p>
          <a:p>
            <a:pPr lvl="1" eaLnBrk="1" hangingPunct="1">
              <a:spcBef>
                <a:spcPct val="0"/>
              </a:spcBef>
              <a:buFont typeface="Wingdings" panose="05000000000000000000" pitchFamily="2" charset="2"/>
              <a:buChar char="§"/>
            </a:pPr>
            <a:endParaRPr lang="fr-CA" altLang="fr-FR" sz="24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Registre S, pointe sur le dessus de la pile (8 bits)</a:t>
            </a:r>
          </a:p>
          <a:p>
            <a:pPr lvl="1" eaLnBrk="1" hangingPunct="1">
              <a:spcBef>
                <a:spcPct val="0"/>
              </a:spcBef>
              <a:buFont typeface="Wingdings" panose="05000000000000000000" pitchFamily="2" charset="2"/>
              <a:buChar char="§"/>
            </a:pPr>
            <a:r>
              <a:rPr lang="fr-CA" altLang="fr-FR" sz="1800" b="1">
                <a:solidFill>
                  <a:schemeClr val="folHlink"/>
                </a:solidFill>
              </a:rPr>
              <a:t>Le dessus de la pile est toujours $0100 + S, donc de $0100 à $01FF.</a:t>
            </a:r>
          </a:p>
          <a:p>
            <a:pPr lvl="1" eaLnBrk="1" hangingPunct="1">
              <a:spcBef>
                <a:spcPct val="0"/>
              </a:spcBef>
              <a:buFont typeface="Wingdings" panose="05000000000000000000" pitchFamily="2" charset="2"/>
              <a:buChar char="§"/>
            </a:pPr>
            <a:endParaRPr lang="fr-CA" altLang="fr-FR" sz="18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Registre P, mot d’état et codes condition (8 bits)</a:t>
            </a:r>
          </a:p>
          <a:p>
            <a:pPr eaLnBrk="1" hangingPunct="1">
              <a:spcBef>
                <a:spcPct val="0"/>
              </a:spcBef>
              <a:buFont typeface="Wingdings" panose="05000000000000000000" pitchFamily="2" charset="2"/>
              <a:buChar char="§"/>
            </a:pPr>
            <a:endParaRPr lang="fr-CA" altLang="fr-FR" sz="2400" b="1">
              <a:solidFill>
                <a:srgbClr val="FFFF99"/>
              </a:solidFill>
            </a:endParaRPr>
          </a:p>
          <a:p>
            <a:pPr eaLnBrk="1" hangingPunct="1">
              <a:spcBef>
                <a:spcPct val="0"/>
              </a:spcBef>
              <a:buFont typeface="Wingdings" panose="05000000000000000000" pitchFamily="2" charset="2"/>
              <a:buChar char="§"/>
            </a:pPr>
            <a:r>
              <a:rPr lang="fr-CA" altLang="fr-FR" sz="2400" b="1">
                <a:solidFill>
                  <a:srgbClr val="FFFF99"/>
                </a:solidFill>
              </a:rPr>
              <a:t> Registre PC, le compteur ordinal (16 bits)</a:t>
            </a:r>
          </a:p>
          <a:p>
            <a:pPr eaLnBrk="1" hangingPunct="1">
              <a:spcBef>
                <a:spcPct val="0"/>
              </a:spcBef>
              <a:buFont typeface="Wingdings" panose="05000000000000000000" pitchFamily="2" charset="2"/>
              <a:buChar char="§"/>
            </a:pPr>
            <a:endParaRPr lang="fr-CA" altLang="fr-FR" sz="2400" b="1">
              <a:solidFill>
                <a:srgbClr val="FFFF99"/>
              </a:solidFill>
            </a:endParaRPr>
          </a:p>
          <a:p>
            <a:pPr eaLnBrk="1" hangingPunct="1">
              <a:spcBef>
                <a:spcPct val="0"/>
              </a:spcBef>
              <a:buFont typeface="Wingdings" panose="05000000000000000000" pitchFamily="2" charset="2"/>
              <a:buChar char="§"/>
            </a:pPr>
            <a:endParaRPr lang="fr-CA" altLang="fr-FR" sz="2400" b="1">
              <a:solidFill>
                <a:srgbClr val="FFFF99"/>
              </a:solidFill>
            </a:endParaRPr>
          </a:p>
          <a:p>
            <a:pPr lvl="1" eaLnBrk="1" hangingPunct="1">
              <a:spcBef>
                <a:spcPct val="0"/>
              </a:spcBef>
              <a:buFont typeface="Wingdings" panose="05000000000000000000" pitchFamily="2" charset="2"/>
              <a:buNone/>
            </a:pPr>
            <a:endParaRPr lang="en-US" altLang="fr-FR" sz="2400" b="1">
              <a:solidFill>
                <a:srgbClr val="FFFF9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146" name="Rectangle 4">
            <a:extLst>
              <a:ext uri="{FF2B5EF4-FFF2-40B4-BE49-F238E27FC236}">
                <a16:creationId xmlns:a16="http://schemas.microsoft.com/office/drawing/2014/main" id="{3618FB52-9EF5-04E7-2881-AE20C3C9B259}"/>
              </a:ext>
            </a:extLst>
          </p:cNvPr>
          <p:cNvSpPr>
            <a:spLocks noGrp="1" noChangeArrowheads="1"/>
          </p:cNvSpPr>
          <p:nvPr>
            <p:ph type="title"/>
          </p:nvPr>
        </p:nvSpPr>
        <p:spPr>
          <a:xfrm>
            <a:off x="468313" y="44450"/>
            <a:ext cx="8229600" cy="1143000"/>
          </a:xfrm>
          <a:noFill/>
        </p:spPr>
        <p:txBody>
          <a:bodyPr/>
          <a:lstStyle/>
          <a:p>
            <a:pPr eaLnBrk="1" hangingPunct="1"/>
            <a:r>
              <a:rPr lang="fr-CA" altLang="fr-FR" sz="4800">
                <a:solidFill>
                  <a:srgbClr val="FFFF99"/>
                </a:solidFill>
              </a:rPr>
              <a:t>Architecture</a:t>
            </a:r>
            <a:r>
              <a:rPr lang="fr-CA" altLang="fr-FR" sz="4800"/>
              <a:t> </a:t>
            </a:r>
            <a:r>
              <a:rPr lang="fr-CA" altLang="fr-FR" sz="4800">
                <a:solidFill>
                  <a:srgbClr val="FFFF99"/>
                </a:solidFill>
              </a:rPr>
              <a:t>NES</a:t>
            </a:r>
          </a:p>
        </p:txBody>
      </p:sp>
      <p:graphicFrame>
        <p:nvGraphicFramePr>
          <p:cNvPr id="53394" name="Group 146">
            <a:extLst>
              <a:ext uri="{FF2B5EF4-FFF2-40B4-BE49-F238E27FC236}">
                <a16:creationId xmlns:a16="http://schemas.microsoft.com/office/drawing/2014/main" id="{BF8842B1-03C9-6311-7773-FF8FA128C878}"/>
              </a:ext>
            </a:extLst>
          </p:cNvPr>
          <p:cNvGraphicFramePr>
            <a:graphicFrameLocks noGrp="1"/>
          </p:cNvGraphicFramePr>
          <p:nvPr>
            <p:ph idx="1"/>
          </p:nvPr>
        </p:nvGraphicFramePr>
        <p:xfrm>
          <a:off x="6588125" y="3068638"/>
          <a:ext cx="1450975" cy="1584325"/>
        </p:xfrm>
        <a:graphic>
          <a:graphicData uri="http://schemas.openxmlformats.org/drawingml/2006/table">
            <a:tbl>
              <a:tblPr/>
              <a:tblGrid>
                <a:gridCol w="1450975">
                  <a:extLst>
                    <a:ext uri="{9D8B030D-6E8A-4147-A177-3AD203B41FA5}">
                      <a16:colId xmlns:a16="http://schemas.microsoft.com/office/drawing/2014/main" val="20000"/>
                    </a:ext>
                  </a:extLst>
                </a:gridCol>
              </a:tblGrid>
              <a:tr h="395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95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53375" name="Text Box 127">
            <a:extLst>
              <a:ext uri="{FF2B5EF4-FFF2-40B4-BE49-F238E27FC236}">
                <a16:creationId xmlns:a16="http://schemas.microsoft.com/office/drawing/2014/main" id="{33059815-9B32-45BD-8D50-0D1DAC15797F}"/>
              </a:ext>
            </a:extLst>
          </p:cNvPr>
          <p:cNvSpPr txBox="1">
            <a:spLocks noChangeArrowheads="1"/>
          </p:cNvSpPr>
          <p:nvPr/>
        </p:nvSpPr>
        <p:spPr bwMode="auto">
          <a:xfrm>
            <a:off x="2843213" y="2349500"/>
            <a:ext cx="585787" cy="790575"/>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t>A</a:t>
            </a:r>
            <a:endParaRPr lang="en-US" altLang="fr-FR" sz="4400"/>
          </a:p>
        </p:txBody>
      </p:sp>
      <p:sp>
        <p:nvSpPr>
          <p:cNvPr id="53376" name="Text Box 128">
            <a:extLst>
              <a:ext uri="{FF2B5EF4-FFF2-40B4-BE49-F238E27FC236}">
                <a16:creationId xmlns:a16="http://schemas.microsoft.com/office/drawing/2014/main" id="{C597ED63-BC07-D730-61F5-09AC9876D24F}"/>
              </a:ext>
            </a:extLst>
          </p:cNvPr>
          <p:cNvSpPr txBox="1">
            <a:spLocks noChangeArrowheads="1"/>
          </p:cNvSpPr>
          <p:nvPr/>
        </p:nvSpPr>
        <p:spPr bwMode="auto">
          <a:xfrm>
            <a:off x="755650" y="4797425"/>
            <a:ext cx="585788" cy="790575"/>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t>X</a:t>
            </a:r>
            <a:endParaRPr lang="en-US" altLang="fr-FR" sz="4400"/>
          </a:p>
        </p:txBody>
      </p:sp>
      <p:sp>
        <p:nvSpPr>
          <p:cNvPr id="53377" name="Text Box 129">
            <a:extLst>
              <a:ext uri="{FF2B5EF4-FFF2-40B4-BE49-F238E27FC236}">
                <a16:creationId xmlns:a16="http://schemas.microsoft.com/office/drawing/2014/main" id="{E653E262-6F69-7D29-0CA8-DFFF2315ADBE}"/>
              </a:ext>
            </a:extLst>
          </p:cNvPr>
          <p:cNvSpPr txBox="1">
            <a:spLocks noChangeArrowheads="1"/>
          </p:cNvSpPr>
          <p:nvPr/>
        </p:nvSpPr>
        <p:spPr bwMode="auto">
          <a:xfrm>
            <a:off x="684213" y="1700213"/>
            <a:ext cx="585787" cy="790575"/>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t>Y</a:t>
            </a:r>
            <a:endParaRPr lang="en-US" altLang="fr-FR" sz="4400"/>
          </a:p>
        </p:txBody>
      </p:sp>
      <p:sp>
        <p:nvSpPr>
          <p:cNvPr id="53378" name="Text Box 130">
            <a:extLst>
              <a:ext uri="{FF2B5EF4-FFF2-40B4-BE49-F238E27FC236}">
                <a16:creationId xmlns:a16="http://schemas.microsoft.com/office/drawing/2014/main" id="{8E445790-BE10-2B26-C2CB-3549B01BC41E}"/>
              </a:ext>
            </a:extLst>
          </p:cNvPr>
          <p:cNvSpPr txBox="1">
            <a:spLocks noChangeArrowheads="1"/>
          </p:cNvSpPr>
          <p:nvPr/>
        </p:nvSpPr>
        <p:spPr bwMode="auto">
          <a:xfrm>
            <a:off x="2843213" y="4149725"/>
            <a:ext cx="585787" cy="790575"/>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t>S</a:t>
            </a:r>
            <a:endParaRPr lang="en-US" altLang="fr-FR" sz="4400"/>
          </a:p>
        </p:txBody>
      </p:sp>
      <p:sp>
        <p:nvSpPr>
          <p:cNvPr id="53379" name="Text Box 131">
            <a:extLst>
              <a:ext uri="{FF2B5EF4-FFF2-40B4-BE49-F238E27FC236}">
                <a16:creationId xmlns:a16="http://schemas.microsoft.com/office/drawing/2014/main" id="{B34E0D90-E0AA-5A4C-6782-A5D89550FED3}"/>
              </a:ext>
            </a:extLst>
          </p:cNvPr>
          <p:cNvSpPr txBox="1">
            <a:spLocks noChangeArrowheads="1"/>
          </p:cNvSpPr>
          <p:nvPr/>
        </p:nvSpPr>
        <p:spPr bwMode="auto">
          <a:xfrm>
            <a:off x="3059113" y="5373688"/>
            <a:ext cx="585787" cy="790575"/>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t>P</a:t>
            </a:r>
            <a:endParaRPr lang="en-US" altLang="fr-FR" sz="4400"/>
          </a:p>
        </p:txBody>
      </p:sp>
      <p:sp>
        <p:nvSpPr>
          <p:cNvPr id="53380" name="Text Box 132">
            <a:extLst>
              <a:ext uri="{FF2B5EF4-FFF2-40B4-BE49-F238E27FC236}">
                <a16:creationId xmlns:a16="http://schemas.microsoft.com/office/drawing/2014/main" id="{D0D5182D-7497-4392-A9D6-95D99FAE4725}"/>
              </a:ext>
            </a:extLst>
          </p:cNvPr>
          <p:cNvSpPr txBox="1">
            <a:spLocks noChangeArrowheads="1"/>
          </p:cNvSpPr>
          <p:nvPr/>
        </p:nvSpPr>
        <p:spPr bwMode="auto">
          <a:xfrm>
            <a:off x="2051050" y="6094413"/>
            <a:ext cx="2735263" cy="547687"/>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800"/>
              <a:t>S V 1 B D I Z C</a:t>
            </a:r>
            <a:endParaRPr lang="en-US" altLang="fr-FR" sz="2800"/>
          </a:p>
        </p:txBody>
      </p:sp>
      <p:sp>
        <p:nvSpPr>
          <p:cNvPr id="53381" name="Text Box 133">
            <a:extLst>
              <a:ext uri="{FF2B5EF4-FFF2-40B4-BE49-F238E27FC236}">
                <a16:creationId xmlns:a16="http://schemas.microsoft.com/office/drawing/2014/main" id="{B1C5816F-EFB7-A2D6-E997-D96248647A94}"/>
              </a:ext>
            </a:extLst>
          </p:cNvPr>
          <p:cNvSpPr txBox="1">
            <a:spLocks noChangeArrowheads="1"/>
          </p:cNvSpPr>
          <p:nvPr/>
        </p:nvSpPr>
        <p:spPr bwMode="auto">
          <a:xfrm>
            <a:off x="6875463" y="2565400"/>
            <a:ext cx="806450" cy="547688"/>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800"/>
              <a:t>Pile</a:t>
            </a:r>
            <a:endParaRPr lang="en-US" altLang="fr-FR" sz="2800"/>
          </a:p>
        </p:txBody>
      </p:sp>
      <p:sp>
        <p:nvSpPr>
          <p:cNvPr id="53382" name="Text Box 134">
            <a:extLst>
              <a:ext uri="{FF2B5EF4-FFF2-40B4-BE49-F238E27FC236}">
                <a16:creationId xmlns:a16="http://schemas.microsoft.com/office/drawing/2014/main" id="{844B247B-7228-3A85-C849-3B346DE35C24}"/>
              </a:ext>
            </a:extLst>
          </p:cNvPr>
          <p:cNvSpPr txBox="1">
            <a:spLocks noChangeArrowheads="1"/>
          </p:cNvSpPr>
          <p:nvPr/>
        </p:nvSpPr>
        <p:spPr bwMode="auto">
          <a:xfrm>
            <a:off x="8085138" y="3068638"/>
            <a:ext cx="76993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$01FF</a:t>
            </a:r>
            <a:endParaRPr lang="en-US" altLang="fr-FR" sz="1600">
              <a:solidFill>
                <a:srgbClr val="FFFF99"/>
              </a:solidFill>
            </a:endParaRPr>
          </a:p>
        </p:txBody>
      </p:sp>
      <p:graphicFrame>
        <p:nvGraphicFramePr>
          <p:cNvPr id="53437" name="Group 189">
            <a:extLst>
              <a:ext uri="{FF2B5EF4-FFF2-40B4-BE49-F238E27FC236}">
                <a16:creationId xmlns:a16="http://schemas.microsoft.com/office/drawing/2014/main" id="{E2CFDA60-F182-8B8C-B8BB-CE032828CF70}"/>
              </a:ext>
            </a:extLst>
          </p:cNvPr>
          <p:cNvGraphicFramePr>
            <a:graphicFrameLocks noGrp="1"/>
          </p:cNvGraphicFramePr>
          <p:nvPr/>
        </p:nvGraphicFramePr>
        <p:xfrm>
          <a:off x="6588125" y="5013325"/>
          <a:ext cx="1450975" cy="1584325"/>
        </p:xfrm>
        <a:graphic>
          <a:graphicData uri="http://schemas.openxmlformats.org/drawingml/2006/table">
            <a:tbl>
              <a:tblPr/>
              <a:tblGrid>
                <a:gridCol w="1450975">
                  <a:extLst>
                    <a:ext uri="{9D8B030D-6E8A-4147-A177-3AD203B41FA5}">
                      <a16:colId xmlns:a16="http://schemas.microsoft.com/office/drawing/2014/main" val="20000"/>
                    </a:ext>
                  </a:extLst>
                </a:gridCol>
              </a:tblGrid>
              <a:tr h="395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952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968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bl>
          </a:graphicData>
        </a:graphic>
      </p:graphicFrame>
      <p:sp>
        <p:nvSpPr>
          <p:cNvPr id="53449" name="Freeform 201">
            <a:extLst>
              <a:ext uri="{FF2B5EF4-FFF2-40B4-BE49-F238E27FC236}">
                <a16:creationId xmlns:a16="http://schemas.microsoft.com/office/drawing/2014/main" id="{571B671B-BF65-DE40-B1A4-1C51976C183D}"/>
              </a:ext>
            </a:extLst>
          </p:cNvPr>
          <p:cNvSpPr>
            <a:spLocks/>
          </p:cNvSpPr>
          <p:nvPr/>
        </p:nvSpPr>
        <p:spPr bwMode="auto">
          <a:xfrm>
            <a:off x="6011863" y="4413250"/>
            <a:ext cx="2605087" cy="1008063"/>
          </a:xfrm>
          <a:custGeom>
            <a:avLst/>
            <a:gdLst>
              <a:gd name="T0" fmla="*/ 0 w 1641"/>
              <a:gd name="T1" fmla="*/ 952619535 h 635"/>
              <a:gd name="T2" fmla="*/ 914815749 w 1641"/>
              <a:gd name="T3" fmla="*/ 151209450 h 635"/>
              <a:gd name="T4" fmla="*/ 1943039302 w 1641"/>
              <a:gd name="T5" fmla="*/ 267136695 h 635"/>
              <a:gd name="T6" fmla="*/ 2147483646 w 1641"/>
              <a:gd name="T7" fmla="*/ 37803156 h 635"/>
              <a:gd name="T8" fmla="*/ 2147483646 w 1641"/>
              <a:gd name="T9" fmla="*/ 493950870 h 635"/>
              <a:gd name="T10" fmla="*/ 2147483646 w 1641"/>
              <a:gd name="T11" fmla="*/ 151209450 h 635"/>
              <a:gd name="T12" fmla="*/ 2147483646 w 1641"/>
              <a:gd name="T13" fmla="*/ 151209450 h 635"/>
              <a:gd name="T14" fmla="*/ 2147483646 w 1641"/>
              <a:gd name="T15" fmla="*/ 723285996 h 635"/>
              <a:gd name="T16" fmla="*/ 2147483646 w 1641"/>
              <a:gd name="T17" fmla="*/ 1524696081 h 635"/>
              <a:gd name="T18" fmla="*/ 2147483646 w 1641"/>
              <a:gd name="T19" fmla="*/ 267136695 h 635"/>
              <a:gd name="T20" fmla="*/ 2147483646 w 1641"/>
              <a:gd name="T21" fmla="*/ 151209450 h 635"/>
              <a:gd name="T22" fmla="*/ 2147483646 w 1641"/>
              <a:gd name="T23" fmla="*/ 37803156 h 63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641"/>
              <a:gd name="T37" fmla="*/ 0 h 635"/>
              <a:gd name="T38" fmla="*/ 1641 w 1641"/>
              <a:gd name="T39" fmla="*/ 635 h 63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641" h="635">
                <a:moveTo>
                  <a:pt x="0" y="378"/>
                </a:moveTo>
                <a:cubicBezTo>
                  <a:pt x="117" y="241"/>
                  <a:pt x="235" y="105"/>
                  <a:pt x="363" y="60"/>
                </a:cubicBezTo>
                <a:cubicBezTo>
                  <a:pt x="491" y="15"/>
                  <a:pt x="620" y="113"/>
                  <a:pt x="771" y="106"/>
                </a:cubicBezTo>
                <a:cubicBezTo>
                  <a:pt x="922" y="99"/>
                  <a:pt x="1149" y="0"/>
                  <a:pt x="1270" y="15"/>
                </a:cubicBezTo>
                <a:cubicBezTo>
                  <a:pt x="1391" y="30"/>
                  <a:pt x="1435" y="188"/>
                  <a:pt x="1496" y="196"/>
                </a:cubicBezTo>
                <a:cubicBezTo>
                  <a:pt x="1557" y="204"/>
                  <a:pt x="1625" y="83"/>
                  <a:pt x="1633" y="60"/>
                </a:cubicBezTo>
                <a:cubicBezTo>
                  <a:pt x="1641" y="37"/>
                  <a:pt x="1565" y="22"/>
                  <a:pt x="1542" y="60"/>
                </a:cubicBezTo>
                <a:cubicBezTo>
                  <a:pt x="1519" y="98"/>
                  <a:pt x="1489" y="196"/>
                  <a:pt x="1496" y="287"/>
                </a:cubicBezTo>
                <a:cubicBezTo>
                  <a:pt x="1503" y="378"/>
                  <a:pt x="1572" y="635"/>
                  <a:pt x="1587" y="605"/>
                </a:cubicBezTo>
                <a:cubicBezTo>
                  <a:pt x="1602" y="575"/>
                  <a:pt x="1595" y="197"/>
                  <a:pt x="1587" y="106"/>
                </a:cubicBezTo>
                <a:cubicBezTo>
                  <a:pt x="1579" y="15"/>
                  <a:pt x="1557" y="75"/>
                  <a:pt x="1542" y="60"/>
                </a:cubicBezTo>
                <a:cubicBezTo>
                  <a:pt x="1527" y="45"/>
                  <a:pt x="1511" y="30"/>
                  <a:pt x="1496" y="15"/>
                </a:cubicBez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solidFill>
                  <a:srgbClr val="000000"/>
                </a:solidFill>
                <a:prstDash val="solid"/>
                <a:round/>
                <a:headEnd/>
                <a:tailEnd/>
              </a14:hiddenLine>
            </a:ext>
          </a:extLst>
        </p:spPr>
        <p:txBody>
          <a:bodyPr anchor="ctr"/>
          <a:lstStyle/>
          <a:p>
            <a:endParaRPr lang="fr-CA"/>
          </a:p>
        </p:txBody>
      </p:sp>
      <p:sp>
        <p:nvSpPr>
          <p:cNvPr id="53452" name="Text Box 204">
            <a:extLst>
              <a:ext uri="{FF2B5EF4-FFF2-40B4-BE49-F238E27FC236}">
                <a16:creationId xmlns:a16="http://schemas.microsoft.com/office/drawing/2014/main" id="{FAFE3321-EF78-D915-CA0B-D7818A1FC719}"/>
              </a:ext>
            </a:extLst>
          </p:cNvPr>
          <p:cNvSpPr txBox="1">
            <a:spLocks noChangeArrowheads="1"/>
          </p:cNvSpPr>
          <p:nvPr/>
        </p:nvSpPr>
        <p:spPr bwMode="auto">
          <a:xfrm>
            <a:off x="6946900" y="4508500"/>
            <a:ext cx="742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800">
                <a:solidFill>
                  <a:srgbClr val="FFFF99"/>
                </a:solidFill>
              </a:rPr>
              <a:t>…</a:t>
            </a:r>
            <a:endParaRPr lang="en-US" altLang="fr-FR" sz="2800">
              <a:solidFill>
                <a:srgbClr val="FFFF99"/>
              </a:solidFill>
            </a:endParaRPr>
          </a:p>
        </p:txBody>
      </p:sp>
      <p:sp>
        <p:nvSpPr>
          <p:cNvPr id="53453" name="Text Box 205">
            <a:extLst>
              <a:ext uri="{FF2B5EF4-FFF2-40B4-BE49-F238E27FC236}">
                <a16:creationId xmlns:a16="http://schemas.microsoft.com/office/drawing/2014/main" id="{E0407CC6-9D23-F0DF-4053-C0CFCC1385BC}"/>
              </a:ext>
            </a:extLst>
          </p:cNvPr>
          <p:cNvSpPr txBox="1">
            <a:spLocks noChangeArrowheads="1"/>
          </p:cNvSpPr>
          <p:nvPr/>
        </p:nvSpPr>
        <p:spPr bwMode="auto">
          <a:xfrm>
            <a:off x="8099425" y="623728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$0100</a:t>
            </a:r>
            <a:endParaRPr lang="en-US" altLang="fr-FR" sz="1600">
              <a:solidFill>
                <a:srgbClr val="FFFF99"/>
              </a:solidFill>
            </a:endParaRPr>
          </a:p>
        </p:txBody>
      </p:sp>
      <p:sp>
        <p:nvSpPr>
          <p:cNvPr id="53454" name="Text Box 206">
            <a:extLst>
              <a:ext uri="{FF2B5EF4-FFF2-40B4-BE49-F238E27FC236}">
                <a16:creationId xmlns:a16="http://schemas.microsoft.com/office/drawing/2014/main" id="{2D95A8D8-7A17-8515-189B-6D7DE01DF684}"/>
              </a:ext>
            </a:extLst>
          </p:cNvPr>
          <p:cNvSpPr txBox="1">
            <a:spLocks noChangeArrowheads="1"/>
          </p:cNvSpPr>
          <p:nvPr/>
        </p:nvSpPr>
        <p:spPr bwMode="auto">
          <a:xfrm>
            <a:off x="6877050" y="1268413"/>
            <a:ext cx="777875" cy="608012"/>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a:t>PC</a:t>
            </a:r>
            <a:endParaRPr lang="en-US" altLang="fr-FR"/>
          </a:p>
        </p:txBody>
      </p:sp>
      <p:graphicFrame>
        <p:nvGraphicFramePr>
          <p:cNvPr id="53468" name="Group 220">
            <a:extLst>
              <a:ext uri="{FF2B5EF4-FFF2-40B4-BE49-F238E27FC236}">
                <a16:creationId xmlns:a16="http://schemas.microsoft.com/office/drawing/2014/main" id="{892D8075-C01F-DBAD-DE98-A83BB94CB2C5}"/>
              </a:ext>
            </a:extLst>
          </p:cNvPr>
          <p:cNvGraphicFramePr>
            <a:graphicFrameLocks noGrp="1"/>
          </p:cNvGraphicFramePr>
          <p:nvPr/>
        </p:nvGraphicFramePr>
        <p:xfrm>
          <a:off x="5546725" y="1841500"/>
          <a:ext cx="3552825" cy="360363"/>
        </p:xfrm>
        <a:graphic>
          <a:graphicData uri="http://schemas.openxmlformats.org/drawingml/2006/table">
            <a:tbl>
              <a:tblPr/>
              <a:tblGrid>
                <a:gridCol w="1776413">
                  <a:extLst>
                    <a:ext uri="{9D8B030D-6E8A-4147-A177-3AD203B41FA5}">
                      <a16:colId xmlns:a16="http://schemas.microsoft.com/office/drawing/2014/main" val="20000"/>
                    </a:ext>
                  </a:extLst>
                </a:gridCol>
                <a:gridCol w="1776412">
                  <a:extLst>
                    <a:ext uri="{9D8B030D-6E8A-4147-A177-3AD203B41FA5}">
                      <a16:colId xmlns:a16="http://schemas.microsoft.com/office/drawing/2014/main" val="20001"/>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PC haut</a:t>
                      </a:r>
                      <a:endParaRPr kumimoji="0" lang="en-US" sz="1600" b="0" i="0" u="none" strike="noStrike" cap="none" normalizeH="0" baseline="0">
                        <a:ln>
                          <a:noFill/>
                        </a:ln>
                        <a:solidFill>
                          <a:schemeClr val="tx1"/>
                        </a:solidFill>
                        <a:effectLst/>
                        <a:latin typeface="Arial" charset="0"/>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PC bas</a:t>
                      </a:r>
                      <a:endParaRPr kumimoji="0" lang="en-US" sz="16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53469" name="Text Box 221">
            <a:extLst>
              <a:ext uri="{FF2B5EF4-FFF2-40B4-BE49-F238E27FC236}">
                <a16:creationId xmlns:a16="http://schemas.microsoft.com/office/drawing/2014/main" id="{1F80308A-E658-6A0A-F235-F96C2E6828E5}"/>
              </a:ext>
            </a:extLst>
          </p:cNvPr>
          <p:cNvSpPr txBox="1">
            <a:spLocks noChangeArrowheads="1"/>
          </p:cNvSpPr>
          <p:nvPr/>
        </p:nvSpPr>
        <p:spPr bwMode="auto">
          <a:xfrm>
            <a:off x="2411413" y="1989138"/>
            <a:ext cx="14255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Accumulateur</a:t>
            </a:r>
            <a:endParaRPr lang="en-US" altLang="fr-FR" sz="1600">
              <a:solidFill>
                <a:srgbClr val="FFFF99"/>
              </a:solidFill>
            </a:endParaRPr>
          </a:p>
        </p:txBody>
      </p:sp>
      <p:sp>
        <p:nvSpPr>
          <p:cNvPr id="53471" name="Text Box 223">
            <a:extLst>
              <a:ext uri="{FF2B5EF4-FFF2-40B4-BE49-F238E27FC236}">
                <a16:creationId xmlns:a16="http://schemas.microsoft.com/office/drawing/2014/main" id="{60B5D264-D72F-7156-26C1-B257F4D95D14}"/>
              </a:ext>
            </a:extLst>
          </p:cNvPr>
          <p:cNvSpPr txBox="1">
            <a:spLocks noChangeArrowheads="1"/>
          </p:cNvSpPr>
          <p:nvPr/>
        </p:nvSpPr>
        <p:spPr bwMode="auto">
          <a:xfrm>
            <a:off x="530225" y="1341438"/>
            <a:ext cx="873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Index Y</a:t>
            </a:r>
            <a:endParaRPr lang="en-US" altLang="fr-FR" sz="1600">
              <a:solidFill>
                <a:srgbClr val="FFFF99"/>
              </a:solidFill>
            </a:endParaRPr>
          </a:p>
        </p:txBody>
      </p:sp>
      <p:sp>
        <p:nvSpPr>
          <p:cNvPr id="53472" name="Text Box 224">
            <a:extLst>
              <a:ext uri="{FF2B5EF4-FFF2-40B4-BE49-F238E27FC236}">
                <a16:creationId xmlns:a16="http://schemas.microsoft.com/office/drawing/2014/main" id="{15594B9F-5991-BA01-5BD6-7306194A4DCB}"/>
              </a:ext>
            </a:extLst>
          </p:cNvPr>
          <p:cNvSpPr txBox="1">
            <a:spLocks noChangeArrowheads="1"/>
          </p:cNvSpPr>
          <p:nvPr/>
        </p:nvSpPr>
        <p:spPr bwMode="auto">
          <a:xfrm>
            <a:off x="603250" y="4437063"/>
            <a:ext cx="8731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Index X</a:t>
            </a:r>
            <a:endParaRPr lang="en-US" altLang="fr-FR" sz="1600">
              <a:solidFill>
                <a:srgbClr val="FFFF99"/>
              </a:solidFill>
            </a:endParaRPr>
          </a:p>
        </p:txBody>
      </p:sp>
      <p:sp>
        <p:nvSpPr>
          <p:cNvPr id="53473" name="Text Box 225">
            <a:extLst>
              <a:ext uri="{FF2B5EF4-FFF2-40B4-BE49-F238E27FC236}">
                <a16:creationId xmlns:a16="http://schemas.microsoft.com/office/drawing/2014/main" id="{D725A4FC-3FA3-782A-5B2D-4D37E4E06D74}"/>
              </a:ext>
            </a:extLst>
          </p:cNvPr>
          <p:cNvSpPr txBox="1">
            <a:spLocks noChangeArrowheads="1"/>
          </p:cNvSpPr>
          <p:nvPr/>
        </p:nvSpPr>
        <p:spPr bwMode="auto">
          <a:xfrm>
            <a:off x="2333625" y="3789363"/>
            <a:ext cx="15938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Pointeur de pile</a:t>
            </a:r>
            <a:endParaRPr lang="en-US" altLang="fr-FR" sz="1600">
              <a:solidFill>
                <a:srgbClr val="FFFF99"/>
              </a:solidFill>
            </a:endParaRPr>
          </a:p>
        </p:txBody>
      </p:sp>
      <p:sp>
        <p:nvSpPr>
          <p:cNvPr id="53474" name="Text Box 226">
            <a:extLst>
              <a:ext uri="{FF2B5EF4-FFF2-40B4-BE49-F238E27FC236}">
                <a16:creationId xmlns:a16="http://schemas.microsoft.com/office/drawing/2014/main" id="{5B07EC49-9E72-ED53-2653-7B58DF6670AF}"/>
              </a:ext>
            </a:extLst>
          </p:cNvPr>
          <p:cNvSpPr txBox="1">
            <a:spLocks noChangeArrowheads="1"/>
          </p:cNvSpPr>
          <p:nvPr/>
        </p:nvSpPr>
        <p:spPr bwMode="auto">
          <a:xfrm>
            <a:off x="3924300" y="5661025"/>
            <a:ext cx="1890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État du processeur</a:t>
            </a:r>
            <a:endParaRPr lang="en-US" altLang="fr-FR" sz="1600">
              <a:solidFill>
                <a:srgbClr val="FFFF99"/>
              </a:solidFill>
            </a:endParaRPr>
          </a:p>
        </p:txBody>
      </p:sp>
      <p:sp>
        <p:nvSpPr>
          <p:cNvPr id="53475" name="Text Box 227">
            <a:extLst>
              <a:ext uri="{FF2B5EF4-FFF2-40B4-BE49-F238E27FC236}">
                <a16:creationId xmlns:a16="http://schemas.microsoft.com/office/drawing/2014/main" id="{BA663F1B-5B83-54D6-75EE-7B93CCC020E9}"/>
              </a:ext>
            </a:extLst>
          </p:cNvPr>
          <p:cNvSpPr txBox="1">
            <a:spLocks noChangeArrowheads="1"/>
          </p:cNvSpPr>
          <p:nvPr/>
        </p:nvSpPr>
        <p:spPr bwMode="auto">
          <a:xfrm>
            <a:off x="7812088" y="981075"/>
            <a:ext cx="1133475"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Compteur </a:t>
            </a:r>
          </a:p>
          <a:p>
            <a:pPr algn="ctr" eaLnBrk="1" hangingPunct="1">
              <a:spcBef>
                <a:spcPct val="0"/>
              </a:spcBef>
              <a:buFontTx/>
              <a:buNone/>
            </a:pPr>
            <a:r>
              <a:rPr lang="fr-CA" altLang="fr-FR" sz="1600">
                <a:solidFill>
                  <a:srgbClr val="FFFF99"/>
                </a:solidFill>
              </a:rPr>
              <a:t>ordinal</a:t>
            </a:r>
          </a:p>
          <a:p>
            <a:pPr algn="ctr" eaLnBrk="1" hangingPunct="1">
              <a:spcBef>
                <a:spcPct val="0"/>
              </a:spcBef>
              <a:buFontTx/>
              <a:buNone/>
            </a:pPr>
            <a:r>
              <a:rPr lang="fr-CA" altLang="fr-FR" sz="1600">
                <a:solidFill>
                  <a:srgbClr val="FFFF99"/>
                </a:solidFill>
              </a:rPr>
              <a:t>(16 bits)</a:t>
            </a:r>
            <a:endParaRPr lang="en-US" altLang="fr-FR" sz="1600">
              <a:solidFill>
                <a:srgbClr val="FFFF99"/>
              </a:solidFill>
            </a:endParaRPr>
          </a:p>
        </p:txBody>
      </p:sp>
      <p:sp>
        <p:nvSpPr>
          <p:cNvPr id="53476" name="Line 228">
            <a:extLst>
              <a:ext uri="{FF2B5EF4-FFF2-40B4-BE49-F238E27FC236}">
                <a16:creationId xmlns:a16="http://schemas.microsoft.com/office/drawing/2014/main" id="{2BB91894-6DE9-7F02-E686-DD4141393DE2}"/>
              </a:ext>
            </a:extLst>
          </p:cNvPr>
          <p:cNvSpPr>
            <a:spLocks noChangeShapeType="1"/>
          </p:cNvSpPr>
          <p:nvPr/>
        </p:nvSpPr>
        <p:spPr bwMode="auto">
          <a:xfrm flipH="1" flipV="1">
            <a:off x="1331913" y="2420938"/>
            <a:ext cx="1439862" cy="64770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77" name="Line 229">
            <a:extLst>
              <a:ext uri="{FF2B5EF4-FFF2-40B4-BE49-F238E27FC236}">
                <a16:creationId xmlns:a16="http://schemas.microsoft.com/office/drawing/2014/main" id="{58FE4854-0F2E-49DF-2AEA-A162A78F4FC3}"/>
              </a:ext>
            </a:extLst>
          </p:cNvPr>
          <p:cNvSpPr>
            <a:spLocks noChangeShapeType="1"/>
          </p:cNvSpPr>
          <p:nvPr/>
        </p:nvSpPr>
        <p:spPr bwMode="auto">
          <a:xfrm>
            <a:off x="1331913" y="1916113"/>
            <a:ext cx="1439862" cy="649287"/>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78" name="Text Box 230">
            <a:extLst>
              <a:ext uri="{FF2B5EF4-FFF2-40B4-BE49-F238E27FC236}">
                <a16:creationId xmlns:a16="http://schemas.microsoft.com/office/drawing/2014/main" id="{2C807A77-A2D3-B289-2123-B56AFBC74502}"/>
              </a:ext>
            </a:extLst>
          </p:cNvPr>
          <p:cNvSpPr txBox="1">
            <a:spLocks noChangeArrowheads="1"/>
          </p:cNvSpPr>
          <p:nvPr/>
        </p:nvSpPr>
        <p:spPr bwMode="auto">
          <a:xfrm>
            <a:off x="1619250" y="2671763"/>
            <a:ext cx="52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tay</a:t>
            </a:r>
            <a:endParaRPr lang="en-US" altLang="fr-FR" sz="2000">
              <a:solidFill>
                <a:srgbClr val="FFFF99"/>
              </a:solidFill>
            </a:endParaRPr>
          </a:p>
        </p:txBody>
      </p:sp>
      <p:sp>
        <p:nvSpPr>
          <p:cNvPr id="53479" name="Text Box 231">
            <a:extLst>
              <a:ext uri="{FF2B5EF4-FFF2-40B4-BE49-F238E27FC236}">
                <a16:creationId xmlns:a16="http://schemas.microsoft.com/office/drawing/2014/main" id="{051F0AA1-207B-F06F-524E-AF140D69108D}"/>
              </a:ext>
            </a:extLst>
          </p:cNvPr>
          <p:cNvSpPr txBox="1">
            <a:spLocks noChangeArrowheads="1"/>
          </p:cNvSpPr>
          <p:nvPr/>
        </p:nvSpPr>
        <p:spPr bwMode="auto">
          <a:xfrm>
            <a:off x="1763713" y="1808163"/>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tya</a:t>
            </a:r>
            <a:endParaRPr lang="en-US" altLang="fr-FR" sz="2000">
              <a:solidFill>
                <a:srgbClr val="FFFF99"/>
              </a:solidFill>
            </a:endParaRPr>
          </a:p>
        </p:txBody>
      </p:sp>
      <p:sp>
        <p:nvSpPr>
          <p:cNvPr id="53480" name="Line 232">
            <a:extLst>
              <a:ext uri="{FF2B5EF4-FFF2-40B4-BE49-F238E27FC236}">
                <a16:creationId xmlns:a16="http://schemas.microsoft.com/office/drawing/2014/main" id="{2D79FB9F-9E5D-F0E0-A9E9-D3E88AF91C4A}"/>
              </a:ext>
            </a:extLst>
          </p:cNvPr>
          <p:cNvSpPr>
            <a:spLocks noChangeShapeType="1"/>
          </p:cNvSpPr>
          <p:nvPr/>
        </p:nvSpPr>
        <p:spPr bwMode="auto">
          <a:xfrm flipH="1">
            <a:off x="1187450" y="3213100"/>
            <a:ext cx="2089150" cy="151130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81" name="Line 233">
            <a:extLst>
              <a:ext uri="{FF2B5EF4-FFF2-40B4-BE49-F238E27FC236}">
                <a16:creationId xmlns:a16="http://schemas.microsoft.com/office/drawing/2014/main" id="{FEF37B86-48CA-4161-042F-B8EFF2E8F8F6}"/>
              </a:ext>
            </a:extLst>
          </p:cNvPr>
          <p:cNvSpPr>
            <a:spLocks noChangeShapeType="1"/>
          </p:cNvSpPr>
          <p:nvPr/>
        </p:nvSpPr>
        <p:spPr bwMode="auto">
          <a:xfrm flipV="1">
            <a:off x="827088" y="3213100"/>
            <a:ext cx="2016125" cy="14398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82" name="Text Box 234">
            <a:extLst>
              <a:ext uri="{FF2B5EF4-FFF2-40B4-BE49-F238E27FC236}">
                <a16:creationId xmlns:a16="http://schemas.microsoft.com/office/drawing/2014/main" id="{5FE56AAD-B639-A3D6-669D-219D7BA247BB}"/>
              </a:ext>
            </a:extLst>
          </p:cNvPr>
          <p:cNvSpPr txBox="1">
            <a:spLocks noChangeArrowheads="1"/>
          </p:cNvSpPr>
          <p:nvPr/>
        </p:nvSpPr>
        <p:spPr bwMode="auto">
          <a:xfrm>
            <a:off x="2484438" y="3644900"/>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tax</a:t>
            </a:r>
            <a:endParaRPr lang="en-US" altLang="fr-FR" sz="2000">
              <a:solidFill>
                <a:srgbClr val="FFFF99"/>
              </a:solidFill>
            </a:endParaRPr>
          </a:p>
        </p:txBody>
      </p:sp>
      <p:sp>
        <p:nvSpPr>
          <p:cNvPr id="53483" name="Text Box 235">
            <a:extLst>
              <a:ext uri="{FF2B5EF4-FFF2-40B4-BE49-F238E27FC236}">
                <a16:creationId xmlns:a16="http://schemas.microsoft.com/office/drawing/2014/main" id="{D3E5E861-2EF5-B62B-6E46-F1C71F25325F}"/>
              </a:ext>
            </a:extLst>
          </p:cNvPr>
          <p:cNvSpPr txBox="1">
            <a:spLocks noChangeArrowheads="1"/>
          </p:cNvSpPr>
          <p:nvPr/>
        </p:nvSpPr>
        <p:spPr bwMode="auto">
          <a:xfrm>
            <a:off x="1403350" y="3573463"/>
            <a:ext cx="522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txa</a:t>
            </a:r>
            <a:endParaRPr lang="en-US" altLang="fr-FR" sz="2000">
              <a:solidFill>
                <a:srgbClr val="FFFF99"/>
              </a:solidFill>
            </a:endParaRPr>
          </a:p>
        </p:txBody>
      </p:sp>
      <p:sp>
        <p:nvSpPr>
          <p:cNvPr id="53484" name="Line 236">
            <a:extLst>
              <a:ext uri="{FF2B5EF4-FFF2-40B4-BE49-F238E27FC236}">
                <a16:creationId xmlns:a16="http://schemas.microsoft.com/office/drawing/2014/main" id="{A4155AB9-751B-2AA3-96D9-2D37FB143220}"/>
              </a:ext>
            </a:extLst>
          </p:cNvPr>
          <p:cNvSpPr>
            <a:spLocks noChangeShapeType="1"/>
          </p:cNvSpPr>
          <p:nvPr/>
        </p:nvSpPr>
        <p:spPr bwMode="auto">
          <a:xfrm flipH="1">
            <a:off x="1403350" y="4797425"/>
            <a:ext cx="1368425" cy="64770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85" name="Line 237">
            <a:extLst>
              <a:ext uri="{FF2B5EF4-FFF2-40B4-BE49-F238E27FC236}">
                <a16:creationId xmlns:a16="http://schemas.microsoft.com/office/drawing/2014/main" id="{781A470B-D101-98E6-F5DF-B624D62266FC}"/>
              </a:ext>
            </a:extLst>
          </p:cNvPr>
          <p:cNvSpPr>
            <a:spLocks noChangeShapeType="1"/>
          </p:cNvSpPr>
          <p:nvPr/>
        </p:nvSpPr>
        <p:spPr bwMode="auto">
          <a:xfrm flipV="1">
            <a:off x="1403350" y="4508500"/>
            <a:ext cx="1368425" cy="64770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86" name="Text Box 238">
            <a:extLst>
              <a:ext uri="{FF2B5EF4-FFF2-40B4-BE49-F238E27FC236}">
                <a16:creationId xmlns:a16="http://schemas.microsoft.com/office/drawing/2014/main" id="{C43AB8EF-8F1C-B840-6EEF-B15F4370D40B}"/>
              </a:ext>
            </a:extLst>
          </p:cNvPr>
          <p:cNvSpPr txBox="1">
            <a:spLocks noChangeArrowheads="1"/>
          </p:cNvSpPr>
          <p:nvPr/>
        </p:nvSpPr>
        <p:spPr bwMode="auto">
          <a:xfrm>
            <a:off x="1979613" y="5084763"/>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tsx</a:t>
            </a:r>
            <a:endParaRPr lang="en-US" altLang="fr-FR" sz="2000">
              <a:solidFill>
                <a:srgbClr val="FFFF99"/>
              </a:solidFill>
            </a:endParaRPr>
          </a:p>
        </p:txBody>
      </p:sp>
      <p:sp>
        <p:nvSpPr>
          <p:cNvPr id="53487" name="Text Box 239">
            <a:extLst>
              <a:ext uri="{FF2B5EF4-FFF2-40B4-BE49-F238E27FC236}">
                <a16:creationId xmlns:a16="http://schemas.microsoft.com/office/drawing/2014/main" id="{9D29423F-437C-5B0A-257E-26BF0EBB66D9}"/>
              </a:ext>
            </a:extLst>
          </p:cNvPr>
          <p:cNvSpPr txBox="1">
            <a:spLocks noChangeArrowheads="1"/>
          </p:cNvSpPr>
          <p:nvPr/>
        </p:nvSpPr>
        <p:spPr bwMode="auto">
          <a:xfrm>
            <a:off x="1841500" y="4437063"/>
            <a:ext cx="50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txs</a:t>
            </a:r>
            <a:endParaRPr lang="en-US" altLang="fr-FR" sz="2000">
              <a:solidFill>
                <a:srgbClr val="FFFF99"/>
              </a:solidFill>
            </a:endParaRPr>
          </a:p>
        </p:txBody>
      </p:sp>
      <p:sp>
        <p:nvSpPr>
          <p:cNvPr id="53488" name="Line 240">
            <a:extLst>
              <a:ext uri="{FF2B5EF4-FFF2-40B4-BE49-F238E27FC236}">
                <a16:creationId xmlns:a16="http://schemas.microsoft.com/office/drawing/2014/main" id="{EC996039-CEEB-1EE2-BCD6-9CF18B420927}"/>
              </a:ext>
            </a:extLst>
          </p:cNvPr>
          <p:cNvSpPr>
            <a:spLocks noChangeShapeType="1"/>
          </p:cNvSpPr>
          <p:nvPr/>
        </p:nvSpPr>
        <p:spPr bwMode="auto">
          <a:xfrm flipH="1" flipV="1">
            <a:off x="3492500" y="2924175"/>
            <a:ext cx="3024188" cy="5048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89" name="Line 241">
            <a:extLst>
              <a:ext uri="{FF2B5EF4-FFF2-40B4-BE49-F238E27FC236}">
                <a16:creationId xmlns:a16="http://schemas.microsoft.com/office/drawing/2014/main" id="{65BB4B20-BB84-74E5-95DA-317EF4A7246F}"/>
              </a:ext>
            </a:extLst>
          </p:cNvPr>
          <p:cNvSpPr>
            <a:spLocks noChangeShapeType="1"/>
          </p:cNvSpPr>
          <p:nvPr/>
        </p:nvSpPr>
        <p:spPr bwMode="auto">
          <a:xfrm>
            <a:off x="3492500" y="2636838"/>
            <a:ext cx="3024188" cy="576262"/>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90" name="Text Box 242">
            <a:extLst>
              <a:ext uri="{FF2B5EF4-FFF2-40B4-BE49-F238E27FC236}">
                <a16:creationId xmlns:a16="http://schemas.microsoft.com/office/drawing/2014/main" id="{767CFA0B-DAC9-1023-E883-985C3B5A0FD2}"/>
              </a:ext>
            </a:extLst>
          </p:cNvPr>
          <p:cNvSpPr txBox="1">
            <a:spLocks noChangeArrowheads="1"/>
          </p:cNvSpPr>
          <p:nvPr/>
        </p:nvSpPr>
        <p:spPr bwMode="auto">
          <a:xfrm>
            <a:off x="4572000" y="3141663"/>
            <a:ext cx="6492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pla</a:t>
            </a:r>
            <a:endParaRPr lang="en-US" altLang="fr-FR" sz="2000">
              <a:solidFill>
                <a:srgbClr val="FFFF99"/>
              </a:solidFill>
            </a:endParaRPr>
          </a:p>
        </p:txBody>
      </p:sp>
      <p:sp>
        <p:nvSpPr>
          <p:cNvPr id="53491" name="Text Box 243">
            <a:extLst>
              <a:ext uri="{FF2B5EF4-FFF2-40B4-BE49-F238E27FC236}">
                <a16:creationId xmlns:a16="http://schemas.microsoft.com/office/drawing/2014/main" id="{5F733AB1-24C8-7AAA-5F97-B004C48ACEF2}"/>
              </a:ext>
            </a:extLst>
          </p:cNvPr>
          <p:cNvSpPr txBox="1">
            <a:spLocks noChangeArrowheads="1"/>
          </p:cNvSpPr>
          <p:nvPr/>
        </p:nvSpPr>
        <p:spPr bwMode="auto">
          <a:xfrm>
            <a:off x="4746625" y="2420938"/>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pha</a:t>
            </a:r>
            <a:endParaRPr lang="en-US" altLang="fr-FR" sz="2000">
              <a:solidFill>
                <a:srgbClr val="FFFF99"/>
              </a:solidFill>
            </a:endParaRPr>
          </a:p>
        </p:txBody>
      </p:sp>
      <p:sp>
        <p:nvSpPr>
          <p:cNvPr id="53492" name="Line 244">
            <a:extLst>
              <a:ext uri="{FF2B5EF4-FFF2-40B4-BE49-F238E27FC236}">
                <a16:creationId xmlns:a16="http://schemas.microsoft.com/office/drawing/2014/main" id="{CE83CDBA-8B79-33F1-6230-678CCC404874}"/>
              </a:ext>
            </a:extLst>
          </p:cNvPr>
          <p:cNvSpPr>
            <a:spLocks noChangeShapeType="1"/>
          </p:cNvSpPr>
          <p:nvPr/>
        </p:nvSpPr>
        <p:spPr bwMode="auto">
          <a:xfrm flipH="1">
            <a:off x="3924300" y="4149725"/>
            <a:ext cx="2592388" cy="16541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93" name="Line 245">
            <a:extLst>
              <a:ext uri="{FF2B5EF4-FFF2-40B4-BE49-F238E27FC236}">
                <a16:creationId xmlns:a16="http://schemas.microsoft.com/office/drawing/2014/main" id="{B6BB9051-A178-FEA5-179C-95F50A8425A6}"/>
              </a:ext>
            </a:extLst>
          </p:cNvPr>
          <p:cNvSpPr>
            <a:spLocks noChangeShapeType="1"/>
          </p:cNvSpPr>
          <p:nvPr/>
        </p:nvSpPr>
        <p:spPr bwMode="auto">
          <a:xfrm flipV="1">
            <a:off x="3924300" y="3933825"/>
            <a:ext cx="2592388" cy="158273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94" name="Text Box 246">
            <a:extLst>
              <a:ext uri="{FF2B5EF4-FFF2-40B4-BE49-F238E27FC236}">
                <a16:creationId xmlns:a16="http://schemas.microsoft.com/office/drawing/2014/main" id="{DDD30772-DAC3-E4D9-E39C-B7C6D6DB5761}"/>
              </a:ext>
            </a:extLst>
          </p:cNvPr>
          <p:cNvSpPr txBox="1">
            <a:spLocks noChangeArrowheads="1"/>
          </p:cNvSpPr>
          <p:nvPr/>
        </p:nvSpPr>
        <p:spPr bwMode="auto">
          <a:xfrm>
            <a:off x="4787900" y="5084763"/>
            <a:ext cx="1079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plp , rti</a:t>
            </a:r>
            <a:endParaRPr lang="en-US" altLang="fr-FR" sz="2000">
              <a:solidFill>
                <a:srgbClr val="FFFF99"/>
              </a:solidFill>
            </a:endParaRPr>
          </a:p>
        </p:txBody>
      </p:sp>
      <p:sp>
        <p:nvSpPr>
          <p:cNvPr id="53495" name="Text Box 247">
            <a:extLst>
              <a:ext uri="{FF2B5EF4-FFF2-40B4-BE49-F238E27FC236}">
                <a16:creationId xmlns:a16="http://schemas.microsoft.com/office/drawing/2014/main" id="{6F1BB8C1-4B8C-E943-A4FE-5F85D6B45879}"/>
              </a:ext>
            </a:extLst>
          </p:cNvPr>
          <p:cNvSpPr txBox="1">
            <a:spLocks noChangeArrowheads="1"/>
          </p:cNvSpPr>
          <p:nvPr/>
        </p:nvSpPr>
        <p:spPr bwMode="auto">
          <a:xfrm>
            <a:off x="4572000" y="4437063"/>
            <a:ext cx="6080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php</a:t>
            </a:r>
            <a:endParaRPr lang="en-US" altLang="fr-FR" sz="2000">
              <a:solidFill>
                <a:srgbClr val="FFFF99"/>
              </a:solidFill>
            </a:endParaRPr>
          </a:p>
        </p:txBody>
      </p:sp>
      <p:sp>
        <p:nvSpPr>
          <p:cNvPr id="53496" name="Line 248">
            <a:extLst>
              <a:ext uri="{FF2B5EF4-FFF2-40B4-BE49-F238E27FC236}">
                <a16:creationId xmlns:a16="http://schemas.microsoft.com/office/drawing/2014/main" id="{3392819A-5C6B-F24D-B58D-F98EFC971CDA}"/>
              </a:ext>
            </a:extLst>
          </p:cNvPr>
          <p:cNvSpPr>
            <a:spLocks noChangeShapeType="1"/>
          </p:cNvSpPr>
          <p:nvPr/>
        </p:nvSpPr>
        <p:spPr bwMode="auto">
          <a:xfrm flipH="1" flipV="1">
            <a:off x="7092950" y="1916113"/>
            <a:ext cx="0" cy="576262"/>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97" name="Line 249">
            <a:extLst>
              <a:ext uri="{FF2B5EF4-FFF2-40B4-BE49-F238E27FC236}">
                <a16:creationId xmlns:a16="http://schemas.microsoft.com/office/drawing/2014/main" id="{6118856C-FF9B-7345-1583-6980CB3ABB7A}"/>
              </a:ext>
            </a:extLst>
          </p:cNvPr>
          <p:cNvSpPr>
            <a:spLocks noChangeShapeType="1"/>
          </p:cNvSpPr>
          <p:nvPr/>
        </p:nvSpPr>
        <p:spPr bwMode="auto">
          <a:xfrm>
            <a:off x="7524750" y="1916113"/>
            <a:ext cx="0" cy="576262"/>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498" name="Text Box 250">
            <a:extLst>
              <a:ext uri="{FF2B5EF4-FFF2-40B4-BE49-F238E27FC236}">
                <a16:creationId xmlns:a16="http://schemas.microsoft.com/office/drawing/2014/main" id="{BFC5E3BE-4F48-55BF-81E0-A0957AA1D556}"/>
              </a:ext>
            </a:extLst>
          </p:cNvPr>
          <p:cNvSpPr txBox="1">
            <a:spLocks noChangeArrowheads="1"/>
          </p:cNvSpPr>
          <p:nvPr/>
        </p:nvSpPr>
        <p:spPr bwMode="auto">
          <a:xfrm>
            <a:off x="6011863" y="2133600"/>
            <a:ext cx="10810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rts , rti</a:t>
            </a:r>
            <a:endParaRPr lang="en-US" altLang="fr-FR" sz="2000">
              <a:solidFill>
                <a:srgbClr val="FFFF99"/>
              </a:solidFill>
            </a:endParaRPr>
          </a:p>
        </p:txBody>
      </p:sp>
      <p:sp>
        <p:nvSpPr>
          <p:cNvPr id="53499" name="Text Box 251">
            <a:extLst>
              <a:ext uri="{FF2B5EF4-FFF2-40B4-BE49-F238E27FC236}">
                <a16:creationId xmlns:a16="http://schemas.microsoft.com/office/drawing/2014/main" id="{FC840136-AB60-1FAF-37BB-FC720B1F81A3}"/>
              </a:ext>
            </a:extLst>
          </p:cNvPr>
          <p:cNvSpPr txBox="1">
            <a:spLocks noChangeArrowheads="1"/>
          </p:cNvSpPr>
          <p:nvPr/>
        </p:nvSpPr>
        <p:spPr bwMode="auto">
          <a:xfrm>
            <a:off x="7637463" y="1989138"/>
            <a:ext cx="5222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jsr </a:t>
            </a:r>
            <a:endParaRPr lang="en-US" altLang="fr-FR" sz="2000">
              <a:solidFill>
                <a:srgbClr val="FFFF99"/>
              </a:solidFill>
            </a:endParaRPr>
          </a:p>
        </p:txBody>
      </p:sp>
      <p:sp>
        <p:nvSpPr>
          <p:cNvPr id="53501" name="Line 253">
            <a:extLst>
              <a:ext uri="{FF2B5EF4-FFF2-40B4-BE49-F238E27FC236}">
                <a16:creationId xmlns:a16="http://schemas.microsoft.com/office/drawing/2014/main" id="{415569E2-63BC-692A-6BC5-D0179B80AE6C}"/>
              </a:ext>
            </a:extLst>
          </p:cNvPr>
          <p:cNvSpPr>
            <a:spLocks noChangeShapeType="1"/>
          </p:cNvSpPr>
          <p:nvPr/>
        </p:nvSpPr>
        <p:spPr bwMode="auto">
          <a:xfrm flipV="1">
            <a:off x="3492500" y="4508500"/>
            <a:ext cx="3024188" cy="730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53502" name="Text Box 254">
            <a:extLst>
              <a:ext uri="{FF2B5EF4-FFF2-40B4-BE49-F238E27FC236}">
                <a16:creationId xmlns:a16="http://schemas.microsoft.com/office/drawing/2014/main" id="{DBBB4FB1-7E13-28CB-714F-DC13F988A107}"/>
              </a:ext>
            </a:extLst>
          </p:cNvPr>
          <p:cNvSpPr txBox="1">
            <a:spLocks noChangeArrowheads="1"/>
          </p:cNvSpPr>
          <p:nvPr/>
        </p:nvSpPr>
        <p:spPr bwMode="auto">
          <a:xfrm>
            <a:off x="4002088" y="4149725"/>
            <a:ext cx="17287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Dessus de la pile</a:t>
            </a:r>
            <a:endParaRPr lang="en-US" altLang="fr-FR" sz="1600">
              <a:solidFill>
                <a:srgbClr val="FFFF99"/>
              </a:solidFill>
            </a:endParaRPr>
          </a:p>
        </p:txBody>
      </p:sp>
      <p:grpSp>
        <p:nvGrpSpPr>
          <p:cNvPr id="2" name="Group 313">
            <a:extLst>
              <a:ext uri="{FF2B5EF4-FFF2-40B4-BE49-F238E27FC236}">
                <a16:creationId xmlns:a16="http://schemas.microsoft.com/office/drawing/2014/main" id="{63E11CF4-87ED-A2AB-3111-5E1374A7592F}"/>
              </a:ext>
            </a:extLst>
          </p:cNvPr>
          <p:cNvGrpSpPr>
            <a:grpSpLocks/>
          </p:cNvGrpSpPr>
          <p:nvPr/>
        </p:nvGrpSpPr>
        <p:grpSpPr bwMode="auto">
          <a:xfrm>
            <a:off x="1903413" y="3141663"/>
            <a:ext cx="5111750" cy="2860675"/>
            <a:chOff x="1199" y="1979"/>
            <a:chExt cx="3220" cy="1802"/>
          </a:xfrm>
        </p:grpSpPr>
        <p:sp>
          <p:nvSpPr>
            <p:cNvPr id="6242" name="Text Box 314">
              <a:extLst>
                <a:ext uri="{FF2B5EF4-FFF2-40B4-BE49-F238E27FC236}">
                  <a16:creationId xmlns:a16="http://schemas.microsoft.com/office/drawing/2014/main" id="{B4A8AC84-A43B-7A17-E8F2-B8E69616303D}"/>
                </a:ext>
              </a:extLst>
            </p:cNvPr>
            <p:cNvSpPr txBox="1">
              <a:spLocks noChangeArrowheads="1"/>
            </p:cNvSpPr>
            <p:nvPr/>
          </p:nvSpPr>
          <p:spPr bwMode="auto">
            <a:xfrm>
              <a:off x="1199" y="2900"/>
              <a:ext cx="53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0 : clv</a:t>
              </a:r>
              <a:endParaRPr lang="en-US" altLang="fr-FR" sz="2000">
                <a:solidFill>
                  <a:srgbClr val="FFFF99"/>
                </a:solidFill>
              </a:endParaRPr>
            </a:p>
          </p:txBody>
        </p:sp>
        <p:sp>
          <p:nvSpPr>
            <p:cNvPr id="6243" name="Line 315">
              <a:extLst>
                <a:ext uri="{FF2B5EF4-FFF2-40B4-BE49-F238E27FC236}">
                  <a16:creationId xmlns:a16="http://schemas.microsoft.com/office/drawing/2014/main" id="{8E528A28-CC09-A956-36A4-2043B77F3BE0}"/>
                </a:ext>
              </a:extLst>
            </p:cNvPr>
            <p:cNvSpPr>
              <a:spLocks noChangeShapeType="1"/>
            </p:cNvSpPr>
            <p:nvPr/>
          </p:nvSpPr>
          <p:spPr bwMode="auto">
            <a:xfrm flipV="1">
              <a:off x="1474" y="1979"/>
              <a:ext cx="816" cy="907"/>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44" name="Text Box 316">
              <a:extLst>
                <a:ext uri="{FF2B5EF4-FFF2-40B4-BE49-F238E27FC236}">
                  <a16:creationId xmlns:a16="http://schemas.microsoft.com/office/drawing/2014/main" id="{637CD5A7-AC67-13AB-22E6-2DAE43427D95}"/>
                </a:ext>
              </a:extLst>
            </p:cNvPr>
            <p:cNvSpPr txBox="1">
              <a:spLocks noChangeArrowheads="1"/>
            </p:cNvSpPr>
            <p:nvPr/>
          </p:nvSpPr>
          <p:spPr bwMode="auto">
            <a:xfrm>
              <a:off x="2200" y="3339"/>
              <a:ext cx="595"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0 : cld</a:t>
              </a:r>
            </a:p>
            <a:p>
              <a:pPr algn="ctr" eaLnBrk="1" hangingPunct="1">
                <a:spcBef>
                  <a:spcPct val="0"/>
                </a:spcBef>
                <a:buFontTx/>
                <a:buNone/>
              </a:pPr>
              <a:r>
                <a:rPr lang="fr-CA" altLang="fr-FR" sz="2000">
                  <a:solidFill>
                    <a:srgbClr val="FFFF99"/>
                  </a:solidFill>
                </a:rPr>
                <a:t>1 : sed</a:t>
              </a:r>
              <a:endParaRPr lang="en-US" altLang="fr-FR" sz="2000">
                <a:solidFill>
                  <a:srgbClr val="FFFF99"/>
                </a:solidFill>
              </a:endParaRPr>
            </a:p>
          </p:txBody>
        </p:sp>
        <p:sp>
          <p:nvSpPr>
            <p:cNvPr id="6245" name="Line 317">
              <a:extLst>
                <a:ext uri="{FF2B5EF4-FFF2-40B4-BE49-F238E27FC236}">
                  <a16:creationId xmlns:a16="http://schemas.microsoft.com/office/drawing/2014/main" id="{92B33611-C7CD-EF37-3BFD-90B0E717D4CC}"/>
                </a:ext>
              </a:extLst>
            </p:cNvPr>
            <p:cNvSpPr>
              <a:spLocks noChangeShapeType="1"/>
            </p:cNvSpPr>
            <p:nvPr/>
          </p:nvSpPr>
          <p:spPr bwMode="auto">
            <a:xfrm flipV="1">
              <a:off x="2562" y="1979"/>
              <a:ext cx="363" cy="131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46" name="Text Box 318">
              <a:extLst>
                <a:ext uri="{FF2B5EF4-FFF2-40B4-BE49-F238E27FC236}">
                  <a16:creationId xmlns:a16="http://schemas.microsoft.com/office/drawing/2014/main" id="{D0F8503F-E479-5754-D9C4-34890D58CCA2}"/>
                </a:ext>
              </a:extLst>
            </p:cNvPr>
            <p:cNvSpPr txBox="1">
              <a:spLocks noChangeArrowheads="1"/>
            </p:cNvSpPr>
            <p:nvPr/>
          </p:nvSpPr>
          <p:spPr bwMode="auto">
            <a:xfrm>
              <a:off x="3107" y="3294"/>
              <a:ext cx="542"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0 : cli</a:t>
              </a:r>
            </a:p>
            <a:p>
              <a:pPr algn="ctr" eaLnBrk="1" hangingPunct="1">
                <a:spcBef>
                  <a:spcPct val="0"/>
                </a:spcBef>
                <a:buFontTx/>
                <a:buNone/>
              </a:pPr>
              <a:r>
                <a:rPr lang="fr-CA" altLang="fr-FR" sz="2000">
                  <a:solidFill>
                    <a:srgbClr val="FFFF99"/>
                  </a:solidFill>
                </a:rPr>
                <a:t>1 : sei</a:t>
              </a:r>
              <a:endParaRPr lang="en-US" altLang="fr-FR" sz="2000">
                <a:solidFill>
                  <a:srgbClr val="FFFF99"/>
                </a:solidFill>
              </a:endParaRPr>
            </a:p>
          </p:txBody>
        </p:sp>
        <p:sp>
          <p:nvSpPr>
            <p:cNvPr id="6247" name="Line 319">
              <a:extLst>
                <a:ext uri="{FF2B5EF4-FFF2-40B4-BE49-F238E27FC236}">
                  <a16:creationId xmlns:a16="http://schemas.microsoft.com/office/drawing/2014/main" id="{3991D4BD-F4F4-ADA5-DCAE-F259AD42C29F}"/>
                </a:ext>
              </a:extLst>
            </p:cNvPr>
            <p:cNvSpPr>
              <a:spLocks noChangeShapeType="1"/>
            </p:cNvSpPr>
            <p:nvPr/>
          </p:nvSpPr>
          <p:spPr bwMode="auto">
            <a:xfrm flipH="1" flipV="1">
              <a:off x="3107" y="1979"/>
              <a:ext cx="272" cy="1224"/>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48" name="Text Box 320">
              <a:extLst>
                <a:ext uri="{FF2B5EF4-FFF2-40B4-BE49-F238E27FC236}">
                  <a16:creationId xmlns:a16="http://schemas.microsoft.com/office/drawing/2014/main" id="{538CD9B2-D161-9922-D3CB-601F3E7B0ABD}"/>
                </a:ext>
              </a:extLst>
            </p:cNvPr>
            <p:cNvSpPr txBox="1">
              <a:spLocks noChangeArrowheads="1"/>
            </p:cNvSpPr>
            <p:nvPr/>
          </p:nvSpPr>
          <p:spPr bwMode="auto">
            <a:xfrm>
              <a:off x="3833" y="2795"/>
              <a:ext cx="586"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0 : clc</a:t>
              </a:r>
            </a:p>
            <a:p>
              <a:pPr algn="ctr" eaLnBrk="1" hangingPunct="1">
                <a:spcBef>
                  <a:spcPct val="0"/>
                </a:spcBef>
                <a:buFontTx/>
                <a:buNone/>
              </a:pPr>
              <a:r>
                <a:rPr lang="fr-CA" altLang="fr-FR" sz="2000">
                  <a:solidFill>
                    <a:srgbClr val="FFFF99"/>
                  </a:solidFill>
                </a:rPr>
                <a:t>1 : sec</a:t>
              </a:r>
              <a:endParaRPr lang="en-US" altLang="fr-FR" sz="2000">
                <a:solidFill>
                  <a:srgbClr val="FFFF99"/>
                </a:solidFill>
              </a:endParaRPr>
            </a:p>
          </p:txBody>
        </p:sp>
        <p:sp>
          <p:nvSpPr>
            <p:cNvPr id="6249" name="Line 321">
              <a:extLst>
                <a:ext uri="{FF2B5EF4-FFF2-40B4-BE49-F238E27FC236}">
                  <a16:creationId xmlns:a16="http://schemas.microsoft.com/office/drawing/2014/main" id="{A05FA052-82E7-351D-DF8D-947F64FF6193}"/>
                </a:ext>
              </a:extLst>
            </p:cNvPr>
            <p:cNvSpPr>
              <a:spLocks noChangeShapeType="1"/>
            </p:cNvSpPr>
            <p:nvPr/>
          </p:nvSpPr>
          <p:spPr bwMode="auto">
            <a:xfrm flipH="1" flipV="1">
              <a:off x="3515" y="1979"/>
              <a:ext cx="590" cy="771"/>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3" name="Group 322">
            <a:extLst>
              <a:ext uri="{FF2B5EF4-FFF2-40B4-BE49-F238E27FC236}">
                <a16:creationId xmlns:a16="http://schemas.microsoft.com/office/drawing/2014/main" id="{3372FB63-5DAD-E3E1-596B-F255E8D94DED}"/>
              </a:ext>
            </a:extLst>
          </p:cNvPr>
          <p:cNvGrpSpPr>
            <a:grpSpLocks/>
          </p:cNvGrpSpPr>
          <p:nvPr/>
        </p:nvGrpSpPr>
        <p:grpSpPr bwMode="auto">
          <a:xfrm>
            <a:off x="1042988" y="3141663"/>
            <a:ext cx="7131050" cy="3200400"/>
            <a:chOff x="657" y="1979"/>
            <a:chExt cx="4492" cy="2016"/>
          </a:xfrm>
        </p:grpSpPr>
        <p:sp>
          <p:nvSpPr>
            <p:cNvPr id="6226" name="Text Box 323">
              <a:extLst>
                <a:ext uri="{FF2B5EF4-FFF2-40B4-BE49-F238E27FC236}">
                  <a16:creationId xmlns:a16="http://schemas.microsoft.com/office/drawing/2014/main" id="{1ABB03D3-8D5B-E964-BF7C-27A082A6C05D}"/>
                </a:ext>
              </a:extLst>
            </p:cNvPr>
            <p:cNvSpPr txBox="1">
              <a:spLocks noChangeArrowheads="1"/>
            </p:cNvSpPr>
            <p:nvPr/>
          </p:nvSpPr>
          <p:spPr bwMode="auto">
            <a:xfrm>
              <a:off x="657" y="2568"/>
              <a:ext cx="4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Signe</a:t>
              </a:r>
              <a:endParaRPr lang="en-US" altLang="fr-FR" sz="1600">
                <a:solidFill>
                  <a:srgbClr val="FFFF99"/>
                </a:solidFill>
              </a:endParaRPr>
            </a:p>
          </p:txBody>
        </p:sp>
        <p:sp>
          <p:nvSpPr>
            <p:cNvPr id="6227" name="Line 324">
              <a:extLst>
                <a:ext uri="{FF2B5EF4-FFF2-40B4-BE49-F238E27FC236}">
                  <a16:creationId xmlns:a16="http://schemas.microsoft.com/office/drawing/2014/main" id="{3F8FBE64-44C0-E808-FA41-40F41A65B746}"/>
                </a:ext>
              </a:extLst>
            </p:cNvPr>
            <p:cNvSpPr>
              <a:spLocks noChangeShapeType="1"/>
            </p:cNvSpPr>
            <p:nvPr/>
          </p:nvSpPr>
          <p:spPr bwMode="auto">
            <a:xfrm flipV="1">
              <a:off x="930" y="1979"/>
              <a:ext cx="1134" cy="58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28" name="Text Box 325">
              <a:extLst>
                <a:ext uri="{FF2B5EF4-FFF2-40B4-BE49-F238E27FC236}">
                  <a16:creationId xmlns:a16="http://schemas.microsoft.com/office/drawing/2014/main" id="{9BE6D44D-5F6C-25AC-2229-767CF069F7A2}"/>
                </a:ext>
              </a:extLst>
            </p:cNvPr>
            <p:cNvSpPr txBox="1">
              <a:spLocks noChangeArrowheads="1"/>
            </p:cNvSpPr>
            <p:nvPr/>
          </p:nvSpPr>
          <p:spPr bwMode="auto">
            <a:xfrm>
              <a:off x="1020" y="2931"/>
              <a:ext cx="89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Débordement</a:t>
              </a:r>
              <a:endParaRPr lang="en-US" altLang="fr-FR" sz="1600">
                <a:solidFill>
                  <a:srgbClr val="FFFF99"/>
                </a:solidFill>
              </a:endParaRPr>
            </a:p>
          </p:txBody>
        </p:sp>
        <p:sp>
          <p:nvSpPr>
            <p:cNvPr id="6229" name="Line 326">
              <a:extLst>
                <a:ext uri="{FF2B5EF4-FFF2-40B4-BE49-F238E27FC236}">
                  <a16:creationId xmlns:a16="http://schemas.microsoft.com/office/drawing/2014/main" id="{3AB1FA08-C543-FC9D-687D-288B7259445B}"/>
                </a:ext>
              </a:extLst>
            </p:cNvPr>
            <p:cNvSpPr>
              <a:spLocks noChangeShapeType="1"/>
            </p:cNvSpPr>
            <p:nvPr/>
          </p:nvSpPr>
          <p:spPr bwMode="auto">
            <a:xfrm flipV="1">
              <a:off x="1474" y="1979"/>
              <a:ext cx="816" cy="907"/>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30" name="Text Box 327">
              <a:extLst>
                <a:ext uri="{FF2B5EF4-FFF2-40B4-BE49-F238E27FC236}">
                  <a16:creationId xmlns:a16="http://schemas.microsoft.com/office/drawing/2014/main" id="{ABAD686B-BD21-7122-07EC-53130F952578}"/>
                </a:ext>
              </a:extLst>
            </p:cNvPr>
            <p:cNvSpPr txBox="1">
              <a:spLocks noChangeArrowheads="1"/>
            </p:cNvSpPr>
            <p:nvPr/>
          </p:nvSpPr>
          <p:spPr bwMode="auto">
            <a:xfrm>
              <a:off x="1701" y="3203"/>
              <a:ext cx="585"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Inutilisé,</a:t>
              </a:r>
            </a:p>
            <a:p>
              <a:pPr algn="ctr" eaLnBrk="1" hangingPunct="1">
                <a:spcBef>
                  <a:spcPct val="0"/>
                </a:spcBef>
                <a:buFontTx/>
                <a:buNone/>
              </a:pPr>
              <a:r>
                <a:rPr lang="fr-CA" altLang="fr-FR" sz="1600">
                  <a:solidFill>
                    <a:srgbClr val="FFFF99"/>
                  </a:solidFill>
                </a:rPr>
                <a:t>fixé à 1</a:t>
              </a:r>
              <a:endParaRPr lang="en-US" altLang="fr-FR" sz="1600">
                <a:solidFill>
                  <a:srgbClr val="FFFF99"/>
                </a:solidFill>
              </a:endParaRPr>
            </a:p>
          </p:txBody>
        </p:sp>
        <p:sp>
          <p:nvSpPr>
            <p:cNvPr id="6231" name="Line 328">
              <a:extLst>
                <a:ext uri="{FF2B5EF4-FFF2-40B4-BE49-F238E27FC236}">
                  <a16:creationId xmlns:a16="http://schemas.microsoft.com/office/drawing/2014/main" id="{260EED1A-7D72-4C84-35D3-0075B60C3F1C}"/>
                </a:ext>
              </a:extLst>
            </p:cNvPr>
            <p:cNvSpPr>
              <a:spLocks noChangeShapeType="1"/>
            </p:cNvSpPr>
            <p:nvPr/>
          </p:nvSpPr>
          <p:spPr bwMode="auto">
            <a:xfrm flipV="1">
              <a:off x="1973" y="1979"/>
              <a:ext cx="499" cy="117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32" name="Text Box 329">
              <a:extLst>
                <a:ext uri="{FF2B5EF4-FFF2-40B4-BE49-F238E27FC236}">
                  <a16:creationId xmlns:a16="http://schemas.microsoft.com/office/drawing/2014/main" id="{0675D895-B69C-7C78-9CDA-63F34F7B77F6}"/>
                </a:ext>
              </a:extLst>
            </p:cNvPr>
            <p:cNvSpPr txBox="1">
              <a:spLocks noChangeArrowheads="1"/>
            </p:cNvSpPr>
            <p:nvPr/>
          </p:nvSpPr>
          <p:spPr bwMode="auto">
            <a:xfrm>
              <a:off x="2245" y="3475"/>
              <a:ext cx="764"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Interruption</a:t>
              </a:r>
            </a:p>
            <a:p>
              <a:pPr algn="ctr" eaLnBrk="1" hangingPunct="1">
                <a:spcBef>
                  <a:spcPct val="0"/>
                </a:spcBef>
                <a:buFontTx/>
                <a:buNone/>
              </a:pPr>
              <a:r>
                <a:rPr lang="fr-CA" altLang="fr-FR" sz="1600">
                  <a:solidFill>
                    <a:srgbClr val="FFFF99"/>
                  </a:solidFill>
                </a:rPr>
                <a:t>logicielle</a:t>
              </a:r>
            </a:p>
            <a:p>
              <a:pPr algn="ctr" eaLnBrk="1" hangingPunct="1">
                <a:spcBef>
                  <a:spcPct val="0"/>
                </a:spcBef>
                <a:buFontTx/>
                <a:buNone/>
              </a:pPr>
              <a:r>
                <a:rPr lang="fr-CA" altLang="fr-FR" sz="1600">
                  <a:solidFill>
                    <a:srgbClr val="FFFF99"/>
                  </a:solidFill>
                </a:rPr>
                <a:t>en cours</a:t>
              </a:r>
              <a:endParaRPr lang="en-US" altLang="fr-FR" sz="1600">
                <a:solidFill>
                  <a:srgbClr val="FFFF99"/>
                </a:solidFill>
              </a:endParaRPr>
            </a:p>
          </p:txBody>
        </p:sp>
        <p:sp>
          <p:nvSpPr>
            <p:cNvPr id="6233" name="Line 330">
              <a:extLst>
                <a:ext uri="{FF2B5EF4-FFF2-40B4-BE49-F238E27FC236}">
                  <a16:creationId xmlns:a16="http://schemas.microsoft.com/office/drawing/2014/main" id="{424D4A76-72B5-7FF6-C04C-5F03329E19AB}"/>
                </a:ext>
              </a:extLst>
            </p:cNvPr>
            <p:cNvSpPr>
              <a:spLocks noChangeShapeType="1"/>
            </p:cNvSpPr>
            <p:nvPr/>
          </p:nvSpPr>
          <p:spPr bwMode="auto">
            <a:xfrm flipV="1">
              <a:off x="2608" y="1979"/>
              <a:ext cx="91" cy="1451"/>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34" name="Text Box 331">
              <a:extLst>
                <a:ext uri="{FF2B5EF4-FFF2-40B4-BE49-F238E27FC236}">
                  <a16:creationId xmlns:a16="http://schemas.microsoft.com/office/drawing/2014/main" id="{1BFB1B9A-CFDF-EEE9-CAB0-75FEF4E06359}"/>
                </a:ext>
              </a:extLst>
            </p:cNvPr>
            <p:cNvSpPr txBox="1">
              <a:spLocks noChangeArrowheads="1"/>
            </p:cNvSpPr>
            <p:nvPr/>
          </p:nvSpPr>
          <p:spPr bwMode="auto">
            <a:xfrm>
              <a:off x="2971" y="3249"/>
              <a:ext cx="9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Mode décimal</a:t>
              </a:r>
              <a:endParaRPr lang="en-US" altLang="fr-FR" sz="1600">
                <a:solidFill>
                  <a:srgbClr val="FFFF99"/>
                </a:solidFill>
              </a:endParaRPr>
            </a:p>
          </p:txBody>
        </p:sp>
        <p:sp>
          <p:nvSpPr>
            <p:cNvPr id="6235" name="Line 332">
              <a:extLst>
                <a:ext uri="{FF2B5EF4-FFF2-40B4-BE49-F238E27FC236}">
                  <a16:creationId xmlns:a16="http://schemas.microsoft.com/office/drawing/2014/main" id="{8D71F7E6-46A3-0BC8-3780-70AB355C5E70}"/>
                </a:ext>
              </a:extLst>
            </p:cNvPr>
            <p:cNvSpPr>
              <a:spLocks noChangeShapeType="1"/>
            </p:cNvSpPr>
            <p:nvPr/>
          </p:nvSpPr>
          <p:spPr bwMode="auto">
            <a:xfrm flipH="1" flipV="1">
              <a:off x="2925" y="1979"/>
              <a:ext cx="363" cy="127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36" name="Text Box 333">
              <a:extLst>
                <a:ext uri="{FF2B5EF4-FFF2-40B4-BE49-F238E27FC236}">
                  <a16:creationId xmlns:a16="http://schemas.microsoft.com/office/drawing/2014/main" id="{F1644D90-1E05-8F73-74F4-1DA59D1B8177}"/>
                </a:ext>
              </a:extLst>
            </p:cNvPr>
            <p:cNvSpPr txBox="1">
              <a:spLocks noChangeArrowheads="1"/>
            </p:cNvSpPr>
            <p:nvPr/>
          </p:nvSpPr>
          <p:spPr bwMode="auto">
            <a:xfrm>
              <a:off x="3878" y="3158"/>
              <a:ext cx="109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Interruptions IRQ</a:t>
              </a:r>
            </a:p>
            <a:p>
              <a:pPr algn="ctr" eaLnBrk="1" hangingPunct="1">
                <a:spcBef>
                  <a:spcPct val="0"/>
                </a:spcBef>
                <a:buFontTx/>
                <a:buNone/>
              </a:pPr>
              <a:r>
                <a:rPr lang="fr-CA" altLang="fr-FR" sz="1600">
                  <a:solidFill>
                    <a:srgbClr val="FFFF99"/>
                  </a:solidFill>
                </a:rPr>
                <a:t> permises ou non</a:t>
              </a:r>
              <a:endParaRPr lang="en-US" altLang="fr-FR" sz="1600">
                <a:solidFill>
                  <a:srgbClr val="FFFF99"/>
                </a:solidFill>
              </a:endParaRPr>
            </a:p>
          </p:txBody>
        </p:sp>
        <p:sp>
          <p:nvSpPr>
            <p:cNvPr id="6237" name="Line 334">
              <a:extLst>
                <a:ext uri="{FF2B5EF4-FFF2-40B4-BE49-F238E27FC236}">
                  <a16:creationId xmlns:a16="http://schemas.microsoft.com/office/drawing/2014/main" id="{79CEC17E-6A80-EDB7-E4FA-D3D883BC0B9F}"/>
                </a:ext>
              </a:extLst>
            </p:cNvPr>
            <p:cNvSpPr>
              <a:spLocks noChangeShapeType="1"/>
            </p:cNvSpPr>
            <p:nvPr/>
          </p:nvSpPr>
          <p:spPr bwMode="auto">
            <a:xfrm flipH="1" flipV="1">
              <a:off x="3107" y="1979"/>
              <a:ext cx="998" cy="117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38" name="Text Box 335">
              <a:extLst>
                <a:ext uri="{FF2B5EF4-FFF2-40B4-BE49-F238E27FC236}">
                  <a16:creationId xmlns:a16="http://schemas.microsoft.com/office/drawing/2014/main" id="{7D3E9E08-22EE-0206-13F5-93CD0D064E05}"/>
                </a:ext>
              </a:extLst>
            </p:cNvPr>
            <p:cNvSpPr txBox="1">
              <a:spLocks noChangeArrowheads="1"/>
            </p:cNvSpPr>
            <p:nvPr/>
          </p:nvSpPr>
          <p:spPr bwMode="auto">
            <a:xfrm>
              <a:off x="4649" y="2523"/>
              <a:ext cx="5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Report</a:t>
              </a:r>
              <a:endParaRPr lang="en-US" altLang="fr-FR" sz="1600">
                <a:solidFill>
                  <a:srgbClr val="FFFF99"/>
                </a:solidFill>
              </a:endParaRPr>
            </a:p>
          </p:txBody>
        </p:sp>
        <p:sp>
          <p:nvSpPr>
            <p:cNvPr id="6239" name="Line 336">
              <a:extLst>
                <a:ext uri="{FF2B5EF4-FFF2-40B4-BE49-F238E27FC236}">
                  <a16:creationId xmlns:a16="http://schemas.microsoft.com/office/drawing/2014/main" id="{5CEA99DE-007E-84F7-12DA-3BC2911EBBC5}"/>
                </a:ext>
              </a:extLst>
            </p:cNvPr>
            <p:cNvSpPr>
              <a:spLocks noChangeShapeType="1"/>
            </p:cNvSpPr>
            <p:nvPr/>
          </p:nvSpPr>
          <p:spPr bwMode="auto">
            <a:xfrm flipH="1" flipV="1">
              <a:off x="3606" y="1979"/>
              <a:ext cx="1134" cy="49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6240" name="Text Box 337">
              <a:extLst>
                <a:ext uri="{FF2B5EF4-FFF2-40B4-BE49-F238E27FC236}">
                  <a16:creationId xmlns:a16="http://schemas.microsoft.com/office/drawing/2014/main" id="{EE521C60-4921-61BB-BA17-021DA2281C55}"/>
                </a:ext>
              </a:extLst>
            </p:cNvPr>
            <p:cNvSpPr txBox="1">
              <a:spLocks noChangeArrowheads="1"/>
            </p:cNvSpPr>
            <p:nvPr/>
          </p:nvSpPr>
          <p:spPr bwMode="auto">
            <a:xfrm>
              <a:off x="4575" y="2886"/>
              <a:ext cx="37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Zéro</a:t>
              </a:r>
              <a:endParaRPr lang="en-US" altLang="fr-FR" sz="1600">
                <a:solidFill>
                  <a:srgbClr val="FFFF99"/>
                </a:solidFill>
              </a:endParaRPr>
            </a:p>
          </p:txBody>
        </p:sp>
        <p:sp>
          <p:nvSpPr>
            <p:cNvPr id="6241" name="Line 338">
              <a:extLst>
                <a:ext uri="{FF2B5EF4-FFF2-40B4-BE49-F238E27FC236}">
                  <a16:creationId xmlns:a16="http://schemas.microsoft.com/office/drawing/2014/main" id="{F6EF2699-6C0F-F0E7-0322-A91B7EA66676}"/>
                </a:ext>
              </a:extLst>
            </p:cNvPr>
            <p:cNvSpPr>
              <a:spLocks noChangeShapeType="1"/>
            </p:cNvSpPr>
            <p:nvPr/>
          </p:nvSpPr>
          <p:spPr bwMode="auto">
            <a:xfrm flipH="1" flipV="1">
              <a:off x="3288" y="1979"/>
              <a:ext cx="1180" cy="861"/>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sp>
        <p:nvSpPr>
          <p:cNvPr id="6225" name="Text Box 339">
            <a:extLst>
              <a:ext uri="{FF2B5EF4-FFF2-40B4-BE49-F238E27FC236}">
                <a16:creationId xmlns:a16="http://schemas.microsoft.com/office/drawing/2014/main" id="{2E5441CE-A723-67AD-8127-A57D20B3EDF5}"/>
              </a:ext>
            </a:extLst>
          </p:cNvPr>
          <p:cNvSpPr txBox="1">
            <a:spLocks noChangeArrowheads="1"/>
          </p:cNvSpPr>
          <p:nvPr/>
        </p:nvSpPr>
        <p:spPr bwMode="auto">
          <a:xfrm>
            <a:off x="3276600" y="908050"/>
            <a:ext cx="24431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Processeur  NMOS 6502</a:t>
            </a:r>
          </a:p>
          <a:p>
            <a:pPr algn="ctr" eaLnBrk="1" hangingPunct="1">
              <a:spcBef>
                <a:spcPct val="0"/>
              </a:spcBef>
              <a:buFontTx/>
              <a:buNone/>
            </a:pPr>
            <a:r>
              <a:rPr lang="fr-CA" altLang="fr-FR" sz="1600" u="sng">
                <a:solidFill>
                  <a:srgbClr val="FF9900"/>
                </a:solidFill>
              </a:rPr>
              <a:t>registres</a:t>
            </a:r>
            <a:endParaRPr lang="en-US" altLang="fr-FR" sz="1600" u="sng">
              <a:solidFill>
                <a:srgbClr val="FF99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nodeType="withEffect">
                                  <p:stCondLst>
                                    <p:cond delay="0"/>
                                  </p:stCondLst>
                                  <p:childTnLst>
                                    <p:set>
                                      <p:cBhvr>
                                        <p:cTn id="6" dur="1" fill="hold">
                                          <p:stCondLst>
                                            <p:cond delay="0"/>
                                          </p:stCondLst>
                                        </p:cTn>
                                        <p:tgtEl>
                                          <p:spTgt spid="53481"/>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5348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53483"/>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53482"/>
                                        </p:tgtEl>
                                        <p:attrNameLst>
                                          <p:attrName>style.visibility</p:attrName>
                                        </p:attrNameLst>
                                      </p:cBhvr>
                                      <p:to>
                                        <p:strVal val="hidden"/>
                                      </p:to>
                                    </p:set>
                                  </p:childTnLst>
                                </p:cTn>
                              </p:par>
                              <p:par>
                                <p:cTn id="13" presetID="1" presetClass="exit" presetSubtype="0" fill="hold" grpId="0" nodeType="withEffect">
                                  <p:stCondLst>
                                    <p:cond delay="0"/>
                                  </p:stCondLst>
                                  <p:childTnLst>
                                    <p:set>
                                      <p:cBhvr>
                                        <p:cTn id="14" dur="1" fill="hold">
                                          <p:stCondLst>
                                            <p:cond delay="0"/>
                                          </p:stCondLst>
                                        </p:cTn>
                                        <p:tgtEl>
                                          <p:spTgt spid="5347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53477"/>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53476"/>
                                        </p:tgtEl>
                                        <p:attrNameLst>
                                          <p:attrName>style.visibility</p:attrName>
                                        </p:attrNameLst>
                                      </p:cBhvr>
                                      <p:to>
                                        <p:strVal val="hidden"/>
                                      </p:to>
                                    </p:set>
                                  </p:childTnLst>
                                </p:cTn>
                              </p:par>
                              <p:par>
                                <p:cTn id="21" presetID="1" presetClass="exit" presetSubtype="0" fill="hold" grpId="0" nodeType="withEffect">
                                  <p:stCondLst>
                                    <p:cond delay="0"/>
                                  </p:stCondLst>
                                  <p:childTnLst>
                                    <p:set>
                                      <p:cBhvr>
                                        <p:cTn id="22" dur="1" fill="hold">
                                          <p:stCondLst>
                                            <p:cond delay="0"/>
                                          </p:stCondLst>
                                        </p:cTn>
                                        <p:tgtEl>
                                          <p:spTgt spid="53478"/>
                                        </p:tgtEl>
                                        <p:attrNameLst>
                                          <p:attrName>style.visibility</p:attrName>
                                        </p:attrNameLst>
                                      </p:cBhvr>
                                      <p:to>
                                        <p:strVal val="hidden"/>
                                      </p:to>
                                    </p:set>
                                  </p:childTnLst>
                                </p:cTn>
                              </p:par>
                              <p:par>
                                <p:cTn id="23" presetID="1" presetClass="exit" presetSubtype="0" fill="hold" grpId="0" nodeType="withEffect">
                                  <p:stCondLst>
                                    <p:cond delay="0"/>
                                  </p:stCondLst>
                                  <p:childTnLst>
                                    <p:set>
                                      <p:cBhvr>
                                        <p:cTn id="24" dur="1" fill="hold">
                                          <p:stCondLst>
                                            <p:cond delay="0"/>
                                          </p:stCondLst>
                                        </p:cTn>
                                        <p:tgtEl>
                                          <p:spTgt spid="53487"/>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53485"/>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53484"/>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53486"/>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53498"/>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2"/>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53496"/>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53499"/>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53497"/>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53493"/>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53492"/>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53494"/>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53491"/>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53489"/>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53488"/>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53490"/>
                                        </p:tgtEl>
                                        <p:attrNameLst>
                                          <p:attrName>style.visibility</p:attrName>
                                        </p:attrNameLst>
                                      </p:cBhvr>
                                      <p:to>
                                        <p:strVal val="hidden"/>
                                      </p:to>
                                    </p:set>
                                  </p:childTnLst>
                                </p:cTn>
                              </p:par>
                              <p:par>
                                <p:cTn id="55" presetID="1" presetClass="exit" presetSubtype="0" fill="hold" grpId="0" nodeType="withEffect">
                                  <p:stCondLst>
                                    <p:cond delay="0"/>
                                  </p:stCondLst>
                                  <p:childTnLst>
                                    <p:set>
                                      <p:cBhvr>
                                        <p:cTn id="56" dur="1" fill="hold">
                                          <p:stCondLst>
                                            <p:cond delay="0"/>
                                          </p:stCondLst>
                                        </p:cTn>
                                        <p:tgtEl>
                                          <p:spTgt spid="53495"/>
                                        </p:tgtEl>
                                        <p:attrNameLst>
                                          <p:attrName>style.visibility</p:attrName>
                                        </p:attrNameLst>
                                      </p:cBhvr>
                                      <p:to>
                                        <p:strVal val="hidden"/>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xit" presetSubtype="0" fill="hold" grpId="0" nodeType="clickEffect">
                                  <p:stCondLst>
                                    <p:cond delay="0"/>
                                  </p:stCondLst>
                                  <p:childTnLst>
                                    <p:set>
                                      <p:cBhvr>
                                        <p:cTn id="60" dur="1" fill="hold">
                                          <p:stCondLst>
                                            <p:cond delay="0"/>
                                          </p:stCondLst>
                                        </p:cTn>
                                        <p:tgtEl>
                                          <p:spTgt spid="53471"/>
                                        </p:tgtEl>
                                        <p:attrNameLst>
                                          <p:attrName>style.visibility</p:attrName>
                                        </p:attrNameLst>
                                      </p:cBhvr>
                                      <p:to>
                                        <p:strVal val="hidden"/>
                                      </p:to>
                                    </p:set>
                                  </p:childTnLst>
                                </p:cTn>
                              </p:par>
                              <p:par>
                                <p:cTn id="61" presetID="1" presetClass="exit" presetSubtype="0" fill="hold" grpId="0" nodeType="withEffect">
                                  <p:stCondLst>
                                    <p:cond delay="0"/>
                                  </p:stCondLst>
                                  <p:childTnLst>
                                    <p:set>
                                      <p:cBhvr>
                                        <p:cTn id="62" dur="1" fill="hold">
                                          <p:stCondLst>
                                            <p:cond delay="0"/>
                                          </p:stCondLst>
                                        </p:cTn>
                                        <p:tgtEl>
                                          <p:spTgt spid="53469"/>
                                        </p:tgtEl>
                                        <p:attrNameLst>
                                          <p:attrName>style.visibility</p:attrName>
                                        </p:attrNameLst>
                                      </p:cBhvr>
                                      <p:to>
                                        <p:strVal val="hidden"/>
                                      </p:to>
                                    </p:set>
                                  </p:childTnLst>
                                </p:cTn>
                              </p:par>
                              <p:par>
                                <p:cTn id="63" presetID="1" presetClass="exit" presetSubtype="0" fill="hold" grpId="0" nodeType="withEffect">
                                  <p:stCondLst>
                                    <p:cond delay="0"/>
                                  </p:stCondLst>
                                  <p:childTnLst>
                                    <p:set>
                                      <p:cBhvr>
                                        <p:cTn id="64" dur="1" fill="hold">
                                          <p:stCondLst>
                                            <p:cond delay="0"/>
                                          </p:stCondLst>
                                        </p:cTn>
                                        <p:tgtEl>
                                          <p:spTgt spid="53475"/>
                                        </p:tgtEl>
                                        <p:attrNameLst>
                                          <p:attrName>style.visibility</p:attrName>
                                        </p:attrNameLst>
                                      </p:cBhvr>
                                      <p:to>
                                        <p:strVal val="hidden"/>
                                      </p:to>
                                    </p:set>
                                  </p:childTnLst>
                                </p:cTn>
                              </p:par>
                              <p:par>
                                <p:cTn id="65" presetID="1" presetClass="exit" presetSubtype="0" fill="hold" nodeType="withEffect">
                                  <p:stCondLst>
                                    <p:cond delay="0"/>
                                  </p:stCondLst>
                                  <p:childTnLst>
                                    <p:set>
                                      <p:cBhvr>
                                        <p:cTn id="66" dur="1" fill="hold">
                                          <p:stCondLst>
                                            <p:cond delay="0"/>
                                          </p:stCondLst>
                                        </p:cTn>
                                        <p:tgtEl>
                                          <p:spTgt spid="53501"/>
                                        </p:tgtEl>
                                        <p:attrNameLst>
                                          <p:attrName>style.visibility</p:attrName>
                                        </p:attrNameLst>
                                      </p:cBhvr>
                                      <p:to>
                                        <p:strVal val="hidden"/>
                                      </p:to>
                                    </p:set>
                                  </p:childTnLst>
                                </p:cTn>
                              </p:par>
                              <p:par>
                                <p:cTn id="67" presetID="1" presetClass="exit" presetSubtype="0" fill="hold" grpId="0" nodeType="withEffect">
                                  <p:stCondLst>
                                    <p:cond delay="0"/>
                                  </p:stCondLst>
                                  <p:childTnLst>
                                    <p:set>
                                      <p:cBhvr>
                                        <p:cTn id="68" dur="1" fill="hold">
                                          <p:stCondLst>
                                            <p:cond delay="0"/>
                                          </p:stCondLst>
                                        </p:cTn>
                                        <p:tgtEl>
                                          <p:spTgt spid="53502"/>
                                        </p:tgtEl>
                                        <p:attrNameLst>
                                          <p:attrName>style.visibility</p:attrName>
                                        </p:attrNameLst>
                                      </p:cBhvr>
                                      <p:to>
                                        <p:strVal val="hidden"/>
                                      </p:to>
                                    </p:set>
                                  </p:childTnLst>
                                </p:cTn>
                              </p:par>
                              <p:par>
                                <p:cTn id="69" presetID="1" presetClass="exit" presetSubtype="0" fill="hold" grpId="0" nodeType="withEffect">
                                  <p:stCondLst>
                                    <p:cond delay="0"/>
                                  </p:stCondLst>
                                  <p:childTnLst>
                                    <p:set>
                                      <p:cBhvr>
                                        <p:cTn id="70" dur="1" fill="hold">
                                          <p:stCondLst>
                                            <p:cond delay="0"/>
                                          </p:stCondLst>
                                        </p:cTn>
                                        <p:tgtEl>
                                          <p:spTgt spid="53474"/>
                                        </p:tgtEl>
                                        <p:attrNameLst>
                                          <p:attrName>style.visibility</p:attrName>
                                        </p:attrNameLst>
                                      </p:cBhvr>
                                      <p:to>
                                        <p:strVal val="hidden"/>
                                      </p:to>
                                    </p:set>
                                  </p:childTnLst>
                                </p:cTn>
                              </p:par>
                              <p:par>
                                <p:cTn id="71" presetID="1" presetClass="exit" presetSubtype="0" fill="hold" grpId="0" nodeType="withEffect">
                                  <p:stCondLst>
                                    <p:cond delay="0"/>
                                  </p:stCondLst>
                                  <p:childTnLst>
                                    <p:set>
                                      <p:cBhvr>
                                        <p:cTn id="72" dur="1" fill="hold">
                                          <p:stCondLst>
                                            <p:cond delay="0"/>
                                          </p:stCondLst>
                                        </p:cTn>
                                        <p:tgtEl>
                                          <p:spTgt spid="53473"/>
                                        </p:tgtEl>
                                        <p:attrNameLst>
                                          <p:attrName>style.visibility</p:attrName>
                                        </p:attrNameLst>
                                      </p:cBhvr>
                                      <p:to>
                                        <p:strVal val="hidden"/>
                                      </p:to>
                                    </p:set>
                                  </p:childTnLst>
                                </p:cTn>
                              </p:par>
                              <p:par>
                                <p:cTn id="73" presetID="1" presetClass="exit" presetSubtype="0" fill="hold" grpId="0" nodeType="withEffect">
                                  <p:stCondLst>
                                    <p:cond delay="0"/>
                                  </p:stCondLst>
                                  <p:childTnLst>
                                    <p:set>
                                      <p:cBhvr>
                                        <p:cTn id="74" dur="1" fill="hold">
                                          <p:stCondLst>
                                            <p:cond delay="0"/>
                                          </p:stCondLst>
                                        </p:cTn>
                                        <p:tgtEl>
                                          <p:spTgt spid="53472"/>
                                        </p:tgtEl>
                                        <p:attrNameLst>
                                          <p:attrName>style.visibility</p:attrName>
                                        </p:attrNameLst>
                                      </p:cBhvr>
                                      <p:to>
                                        <p:strVal val="hidden"/>
                                      </p:to>
                                    </p:set>
                                  </p:childTnLst>
                                </p:cTn>
                              </p:par>
                              <p:par>
                                <p:cTn id="75" presetID="1" presetClass="entr" presetSubtype="0" fill="hold" nodeType="withEffect">
                                  <p:stCondLst>
                                    <p:cond delay="0"/>
                                  </p:stCondLst>
                                  <p:childTnLst>
                                    <p:set>
                                      <p:cBhvr>
                                        <p:cTn id="76" dur="1" fill="hold">
                                          <p:stCondLst>
                                            <p:cond delay="0"/>
                                          </p:stCondLst>
                                        </p:cTn>
                                        <p:tgtEl>
                                          <p:spTgt spid="53477"/>
                                        </p:tgtEl>
                                        <p:attrNameLst>
                                          <p:attrName>style.visibility</p:attrName>
                                        </p:attrNameLst>
                                      </p:cBhvr>
                                      <p:to>
                                        <p:strVal val="visible"/>
                                      </p:to>
                                    </p:set>
                                  </p:childTnLst>
                                </p:cTn>
                              </p:par>
                              <p:par>
                                <p:cTn id="77" presetID="1" presetClass="entr" presetSubtype="0" fill="hold" grpId="1" nodeType="withEffect">
                                  <p:stCondLst>
                                    <p:cond delay="0"/>
                                  </p:stCondLst>
                                  <p:childTnLst>
                                    <p:set>
                                      <p:cBhvr>
                                        <p:cTn id="78" dur="1" fill="hold">
                                          <p:stCondLst>
                                            <p:cond delay="0"/>
                                          </p:stCondLst>
                                        </p:cTn>
                                        <p:tgtEl>
                                          <p:spTgt spid="53479"/>
                                        </p:tgtEl>
                                        <p:attrNameLst>
                                          <p:attrName>style.visibility</p:attrName>
                                        </p:attrNameLst>
                                      </p:cBhvr>
                                      <p:to>
                                        <p:strVal val="visible"/>
                                      </p:to>
                                    </p:set>
                                  </p:childTnLst>
                                </p:cTn>
                              </p:par>
                              <p:par>
                                <p:cTn id="79" presetID="1" presetClass="entr" presetSubtype="0" fill="hold" grpId="1" nodeType="withEffect">
                                  <p:stCondLst>
                                    <p:cond delay="0"/>
                                  </p:stCondLst>
                                  <p:childTnLst>
                                    <p:set>
                                      <p:cBhvr>
                                        <p:cTn id="80" dur="1" fill="hold">
                                          <p:stCondLst>
                                            <p:cond delay="0"/>
                                          </p:stCondLst>
                                        </p:cTn>
                                        <p:tgtEl>
                                          <p:spTgt spid="5347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347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53481"/>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53480"/>
                                        </p:tgtEl>
                                        <p:attrNameLst>
                                          <p:attrName>style.visibility</p:attrName>
                                        </p:attrNameLst>
                                      </p:cBhvr>
                                      <p:to>
                                        <p:strVal val="visible"/>
                                      </p:to>
                                    </p:set>
                                  </p:childTnLst>
                                </p:cTn>
                              </p:par>
                              <p:par>
                                <p:cTn id="87" presetID="1" presetClass="entr" presetSubtype="0" fill="hold" grpId="1" nodeType="withEffect">
                                  <p:stCondLst>
                                    <p:cond delay="0"/>
                                  </p:stCondLst>
                                  <p:childTnLst>
                                    <p:set>
                                      <p:cBhvr>
                                        <p:cTn id="88" dur="1" fill="hold">
                                          <p:stCondLst>
                                            <p:cond delay="0"/>
                                          </p:stCondLst>
                                        </p:cTn>
                                        <p:tgtEl>
                                          <p:spTgt spid="53482"/>
                                        </p:tgtEl>
                                        <p:attrNameLst>
                                          <p:attrName>style.visibility</p:attrName>
                                        </p:attrNameLst>
                                      </p:cBhvr>
                                      <p:to>
                                        <p:strVal val="visible"/>
                                      </p:to>
                                    </p:set>
                                  </p:childTnLst>
                                </p:cTn>
                              </p:par>
                              <p:par>
                                <p:cTn id="89" presetID="1" presetClass="entr" presetSubtype="0" fill="hold" grpId="1" nodeType="withEffect">
                                  <p:stCondLst>
                                    <p:cond delay="0"/>
                                  </p:stCondLst>
                                  <p:childTnLst>
                                    <p:set>
                                      <p:cBhvr>
                                        <p:cTn id="90" dur="1" fill="hold">
                                          <p:stCondLst>
                                            <p:cond delay="0"/>
                                          </p:stCondLst>
                                        </p:cTn>
                                        <p:tgtEl>
                                          <p:spTgt spid="53483"/>
                                        </p:tgtEl>
                                        <p:attrNameLst>
                                          <p:attrName>style.visibility</p:attrName>
                                        </p:attrNameLst>
                                      </p:cBhvr>
                                      <p:to>
                                        <p:strVal val="visible"/>
                                      </p:to>
                                    </p:set>
                                  </p:childTnLst>
                                </p:cTn>
                              </p:par>
                              <p:par>
                                <p:cTn id="91" presetID="1" presetClass="entr" presetSubtype="0" fill="hold" grpId="1" nodeType="withEffect">
                                  <p:stCondLst>
                                    <p:cond delay="0"/>
                                  </p:stCondLst>
                                  <p:childTnLst>
                                    <p:set>
                                      <p:cBhvr>
                                        <p:cTn id="92" dur="1" fill="hold">
                                          <p:stCondLst>
                                            <p:cond delay="0"/>
                                          </p:stCondLst>
                                        </p:cTn>
                                        <p:tgtEl>
                                          <p:spTgt spid="5348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53485"/>
                                        </p:tgtEl>
                                        <p:attrNameLst>
                                          <p:attrName>style.visibility</p:attrName>
                                        </p:attrNameLst>
                                      </p:cBhvr>
                                      <p:to>
                                        <p:strVal val="visible"/>
                                      </p:to>
                                    </p:set>
                                  </p:childTnLst>
                                </p:cTn>
                              </p:par>
                              <p:par>
                                <p:cTn id="95" presetID="1" presetClass="entr" presetSubtype="0" fill="hold" grpId="1" nodeType="withEffect">
                                  <p:stCondLst>
                                    <p:cond delay="0"/>
                                  </p:stCondLst>
                                  <p:childTnLst>
                                    <p:set>
                                      <p:cBhvr>
                                        <p:cTn id="96" dur="1" fill="hold">
                                          <p:stCondLst>
                                            <p:cond delay="0"/>
                                          </p:stCondLst>
                                        </p:cTn>
                                        <p:tgtEl>
                                          <p:spTgt spid="53486"/>
                                        </p:tgtEl>
                                        <p:attrNameLst>
                                          <p:attrName>style.visibility</p:attrName>
                                        </p:attrNameLst>
                                      </p:cBhvr>
                                      <p:to>
                                        <p:strVal val="visible"/>
                                      </p:to>
                                    </p:set>
                                  </p:childTnLst>
                                </p:cTn>
                              </p:par>
                              <p:par>
                                <p:cTn id="97" presetID="1" presetClass="entr" presetSubtype="0" fill="hold" nodeType="withEffect">
                                  <p:stCondLst>
                                    <p:cond delay="0"/>
                                  </p:stCondLst>
                                  <p:childTnLst>
                                    <p:set>
                                      <p:cBhvr>
                                        <p:cTn id="98" dur="1" fill="hold">
                                          <p:stCondLst>
                                            <p:cond delay="0"/>
                                          </p:stCondLst>
                                        </p:cTn>
                                        <p:tgtEl>
                                          <p:spTgt spid="53484"/>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53489"/>
                                        </p:tgtEl>
                                        <p:attrNameLst>
                                          <p:attrName>style.visibility</p:attrName>
                                        </p:attrNameLst>
                                      </p:cBhvr>
                                      <p:to>
                                        <p:strVal val="visible"/>
                                      </p:to>
                                    </p:set>
                                  </p:childTnLst>
                                </p:cTn>
                              </p:par>
                              <p:par>
                                <p:cTn id="101" presetID="1" presetClass="entr" presetSubtype="0" fill="hold" grpId="1" nodeType="withEffect">
                                  <p:stCondLst>
                                    <p:cond delay="0"/>
                                  </p:stCondLst>
                                  <p:childTnLst>
                                    <p:set>
                                      <p:cBhvr>
                                        <p:cTn id="102" dur="1" fill="hold">
                                          <p:stCondLst>
                                            <p:cond delay="0"/>
                                          </p:stCondLst>
                                        </p:cTn>
                                        <p:tgtEl>
                                          <p:spTgt spid="53491"/>
                                        </p:tgtEl>
                                        <p:attrNameLst>
                                          <p:attrName>style.visibility</p:attrName>
                                        </p:attrNameLst>
                                      </p:cBhvr>
                                      <p:to>
                                        <p:strVal val="visible"/>
                                      </p:to>
                                    </p:set>
                                  </p:childTnLst>
                                </p:cTn>
                              </p:par>
                              <p:par>
                                <p:cTn id="103" presetID="1" presetClass="entr" presetSubtype="0" fill="hold" grpId="1" nodeType="withEffect">
                                  <p:stCondLst>
                                    <p:cond delay="0"/>
                                  </p:stCondLst>
                                  <p:childTnLst>
                                    <p:set>
                                      <p:cBhvr>
                                        <p:cTn id="104" dur="1" fill="hold">
                                          <p:stCondLst>
                                            <p:cond delay="0"/>
                                          </p:stCondLst>
                                        </p:cTn>
                                        <p:tgtEl>
                                          <p:spTgt spid="53490"/>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3488"/>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5349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53492"/>
                                        </p:tgtEl>
                                        <p:attrNameLst>
                                          <p:attrName>style.visibility</p:attrName>
                                        </p:attrNameLst>
                                      </p:cBhvr>
                                      <p:to>
                                        <p:strVal val="visible"/>
                                      </p:to>
                                    </p:set>
                                  </p:childTnLst>
                                </p:cTn>
                              </p:par>
                              <p:par>
                                <p:cTn id="111" presetID="1" presetClass="entr" presetSubtype="0" fill="hold" grpId="1" nodeType="withEffect">
                                  <p:stCondLst>
                                    <p:cond delay="0"/>
                                  </p:stCondLst>
                                  <p:childTnLst>
                                    <p:set>
                                      <p:cBhvr>
                                        <p:cTn id="112" dur="1" fill="hold">
                                          <p:stCondLst>
                                            <p:cond delay="0"/>
                                          </p:stCondLst>
                                        </p:cTn>
                                        <p:tgtEl>
                                          <p:spTgt spid="53495"/>
                                        </p:tgtEl>
                                        <p:attrNameLst>
                                          <p:attrName>style.visibility</p:attrName>
                                        </p:attrNameLst>
                                      </p:cBhvr>
                                      <p:to>
                                        <p:strVal val="visible"/>
                                      </p:to>
                                    </p:set>
                                  </p:childTnLst>
                                </p:cTn>
                              </p:par>
                              <p:par>
                                <p:cTn id="113" presetID="1" presetClass="entr" presetSubtype="0" fill="hold" grpId="1" nodeType="withEffect">
                                  <p:stCondLst>
                                    <p:cond delay="0"/>
                                  </p:stCondLst>
                                  <p:childTnLst>
                                    <p:set>
                                      <p:cBhvr>
                                        <p:cTn id="114" dur="1" fill="hold">
                                          <p:stCondLst>
                                            <p:cond delay="0"/>
                                          </p:stCondLst>
                                        </p:cTn>
                                        <p:tgtEl>
                                          <p:spTgt spid="53494"/>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53497"/>
                                        </p:tgtEl>
                                        <p:attrNameLst>
                                          <p:attrName>style.visibility</p:attrName>
                                        </p:attrNameLst>
                                      </p:cBhvr>
                                      <p:to>
                                        <p:strVal val="visible"/>
                                      </p:to>
                                    </p:set>
                                  </p:childTnLst>
                                </p:cTn>
                              </p:par>
                              <p:par>
                                <p:cTn id="117" presetID="1" presetClass="entr" presetSubtype="0" fill="hold" grpId="1" nodeType="withEffect">
                                  <p:stCondLst>
                                    <p:cond delay="0"/>
                                  </p:stCondLst>
                                  <p:childTnLst>
                                    <p:set>
                                      <p:cBhvr>
                                        <p:cTn id="118" dur="1" fill="hold">
                                          <p:stCondLst>
                                            <p:cond delay="0"/>
                                          </p:stCondLst>
                                        </p:cTn>
                                        <p:tgtEl>
                                          <p:spTgt spid="53498"/>
                                        </p:tgtEl>
                                        <p:attrNameLst>
                                          <p:attrName>style.visibility</p:attrName>
                                        </p:attrNameLst>
                                      </p:cBhvr>
                                      <p:to>
                                        <p:strVal val="visible"/>
                                      </p:to>
                                    </p:set>
                                  </p:childTnLst>
                                </p:cTn>
                              </p:par>
                              <p:par>
                                <p:cTn id="119" presetID="1" presetClass="entr" presetSubtype="0" fill="hold" nodeType="withEffect">
                                  <p:stCondLst>
                                    <p:cond delay="0"/>
                                  </p:stCondLst>
                                  <p:childTnLst>
                                    <p:set>
                                      <p:cBhvr>
                                        <p:cTn id="120" dur="1" fill="hold">
                                          <p:stCondLst>
                                            <p:cond delay="0"/>
                                          </p:stCondLst>
                                        </p:cTn>
                                        <p:tgtEl>
                                          <p:spTgt spid="53496"/>
                                        </p:tgtEl>
                                        <p:attrNameLst>
                                          <p:attrName>style.visibility</p:attrName>
                                        </p:attrNameLst>
                                      </p:cBhvr>
                                      <p:to>
                                        <p:strVal val="visible"/>
                                      </p:to>
                                    </p:set>
                                  </p:childTnLst>
                                </p:cTn>
                              </p:par>
                              <p:par>
                                <p:cTn id="121" presetID="1" presetClass="entr" presetSubtype="0" fill="hold" grpId="1" nodeType="withEffect">
                                  <p:stCondLst>
                                    <p:cond delay="0"/>
                                  </p:stCondLst>
                                  <p:childTnLst>
                                    <p:set>
                                      <p:cBhvr>
                                        <p:cTn id="122" dur="1" fill="hold">
                                          <p:stCondLst>
                                            <p:cond delay="0"/>
                                          </p:stCondLst>
                                        </p:cTn>
                                        <p:tgtEl>
                                          <p:spTgt spid="53499"/>
                                        </p:tgtEl>
                                        <p:attrNameLst>
                                          <p:attrName>style.visibility</p:attrName>
                                        </p:attrNameLst>
                                      </p:cBhvr>
                                      <p:to>
                                        <p:strVal val="visible"/>
                                      </p:to>
                                    </p:set>
                                  </p:childTnLst>
                                </p:cTn>
                              </p:par>
                              <p:par>
                                <p:cTn id="123" presetID="1" presetClass="exit" presetSubtype="0" fill="hold" nodeType="withEffect">
                                  <p:stCondLst>
                                    <p:cond delay="0"/>
                                  </p:stCondLst>
                                  <p:childTnLst>
                                    <p:set>
                                      <p:cBhvr>
                                        <p:cTn id="124" dur="1" fill="hold">
                                          <p:stCondLst>
                                            <p:cond delay="0"/>
                                          </p:stCondLst>
                                        </p:cTn>
                                        <p:tgtEl>
                                          <p:spTgt spid="53468"/>
                                        </p:tgtEl>
                                        <p:attrNameLst>
                                          <p:attrName>style.visibility</p:attrName>
                                        </p:attrNameLst>
                                      </p:cBhvr>
                                      <p:to>
                                        <p:strVal val="hidden"/>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1" presetClass="exit" presetSubtype="0" fill="hold" nodeType="clickEffect">
                                  <p:stCondLst>
                                    <p:cond delay="0"/>
                                  </p:stCondLst>
                                  <p:childTnLst>
                                    <p:set>
                                      <p:cBhvr>
                                        <p:cTn id="128" dur="1" fill="hold">
                                          <p:stCondLst>
                                            <p:cond delay="0"/>
                                          </p:stCondLst>
                                        </p:cTn>
                                        <p:tgtEl>
                                          <p:spTgt spid="53394"/>
                                        </p:tgtEl>
                                        <p:attrNameLst>
                                          <p:attrName>style.visibility</p:attrName>
                                        </p:attrNameLst>
                                      </p:cBhvr>
                                      <p:to>
                                        <p:strVal val="hidden"/>
                                      </p:to>
                                    </p:set>
                                  </p:childTnLst>
                                </p:cTn>
                              </p:par>
                              <p:par>
                                <p:cTn id="129" presetID="1" presetClass="exit" presetSubtype="0" fill="hold" grpId="0" nodeType="withEffect">
                                  <p:stCondLst>
                                    <p:cond delay="0"/>
                                  </p:stCondLst>
                                  <p:childTnLst>
                                    <p:set>
                                      <p:cBhvr>
                                        <p:cTn id="130" dur="1" fill="hold">
                                          <p:stCondLst>
                                            <p:cond delay="0"/>
                                          </p:stCondLst>
                                        </p:cTn>
                                        <p:tgtEl>
                                          <p:spTgt spid="53375"/>
                                        </p:tgtEl>
                                        <p:attrNameLst>
                                          <p:attrName>style.visibility</p:attrName>
                                        </p:attrNameLst>
                                      </p:cBhvr>
                                      <p:to>
                                        <p:strVal val="hidden"/>
                                      </p:to>
                                    </p:set>
                                  </p:childTnLst>
                                </p:cTn>
                              </p:par>
                              <p:par>
                                <p:cTn id="131" presetID="1" presetClass="exit" presetSubtype="0" fill="hold" grpId="0" nodeType="withEffect">
                                  <p:stCondLst>
                                    <p:cond delay="0"/>
                                  </p:stCondLst>
                                  <p:childTnLst>
                                    <p:set>
                                      <p:cBhvr>
                                        <p:cTn id="132" dur="1" fill="hold">
                                          <p:stCondLst>
                                            <p:cond delay="0"/>
                                          </p:stCondLst>
                                        </p:cTn>
                                        <p:tgtEl>
                                          <p:spTgt spid="53376"/>
                                        </p:tgtEl>
                                        <p:attrNameLst>
                                          <p:attrName>style.visibility</p:attrName>
                                        </p:attrNameLst>
                                      </p:cBhvr>
                                      <p:to>
                                        <p:strVal val="hidden"/>
                                      </p:to>
                                    </p:set>
                                  </p:childTnLst>
                                </p:cTn>
                              </p:par>
                              <p:par>
                                <p:cTn id="133" presetID="1" presetClass="exit" presetSubtype="0" fill="hold" grpId="0" nodeType="withEffect">
                                  <p:stCondLst>
                                    <p:cond delay="0"/>
                                  </p:stCondLst>
                                  <p:childTnLst>
                                    <p:set>
                                      <p:cBhvr>
                                        <p:cTn id="134" dur="1" fill="hold">
                                          <p:stCondLst>
                                            <p:cond delay="0"/>
                                          </p:stCondLst>
                                        </p:cTn>
                                        <p:tgtEl>
                                          <p:spTgt spid="53377"/>
                                        </p:tgtEl>
                                        <p:attrNameLst>
                                          <p:attrName>style.visibility</p:attrName>
                                        </p:attrNameLst>
                                      </p:cBhvr>
                                      <p:to>
                                        <p:strVal val="hidden"/>
                                      </p:to>
                                    </p:set>
                                  </p:childTnLst>
                                </p:cTn>
                              </p:par>
                              <p:par>
                                <p:cTn id="135" presetID="1" presetClass="exit" presetSubtype="0" fill="hold" grpId="0" nodeType="withEffect">
                                  <p:stCondLst>
                                    <p:cond delay="0"/>
                                  </p:stCondLst>
                                  <p:childTnLst>
                                    <p:set>
                                      <p:cBhvr>
                                        <p:cTn id="136" dur="1" fill="hold">
                                          <p:stCondLst>
                                            <p:cond delay="0"/>
                                          </p:stCondLst>
                                        </p:cTn>
                                        <p:tgtEl>
                                          <p:spTgt spid="53378"/>
                                        </p:tgtEl>
                                        <p:attrNameLst>
                                          <p:attrName>style.visibility</p:attrName>
                                        </p:attrNameLst>
                                      </p:cBhvr>
                                      <p:to>
                                        <p:strVal val="hidden"/>
                                      </p:to>
                                    </p:set>
                                  </p:childTnLst>
                                </p:cTn>
                              </p:par>
                              <p:par>
                                <p:cTn id="137" presetID="1" presetClass="exit" presetSubtype="0" fill="hold" grpId="0" nodeType="withEffect">
                                  <p:stCondLst>
                                    <p:cond delay="0"/>
                                  </p:stCondLst>
                                  <p:childTnLst>
                                    <p:set>
                                      <p:cBhvr>
                                        <p:cTn id="138" dur="1" fill="hold">
                                          <p:stCondLst>
                                            <p:cond delay="0"/>
                                          </p:stCondLst>
                                        </p:cTn>
                                        <p:tgtEl>
                                          <p:spTgt spid="53381"/>
                                        </p:tgtEl>
                                        <p:attrNameLst>
                                          <p:attrName>style.visibility</p:attrName>
                                        </p:attrNameLst>
                                      </p:cBhvr>
                                      <p:to>
                                        <p:strVal val="hidden"/>
                                      </p:to>
                                    </p:set>
                                  </p:childTnLst>
                                </p:cTn>
                              </p:par>
                              <p:par>
                                <p:cTn id="139" presetID="1" presetClass="exit" presetSubtype="0" fill="hold" grpId="0" nodeType="withEffect">
                                  <p:stCondLst>
                                    <p:cond delay="0"/>
                                  </p:stCondLst>
                                  <p:childTnLst>
                                    <p:set>
                                      <p:cBhvr>
                                        <p:cTn id="140" dur="1" fill="hold">
                                          <p:stCondLst>
                                            <p:cond delay="0"/>
                                          </p:stCondLst>
                                        </p:cTn>
                                        <p:tgtEl>
                                          <p:spTgt spid="53382"/>
                                        </p:tgtEl>
                                        <p:attrNameLst>
                                          <p:attrName>style.visibility</p:attrName>
                                        </p:attrNameLst>
                                      </p:cBhvr>
                                      <p:to>
                                        <p:strVal val="hidden"/>
                                      </p:to>
                                    </p:set>
                                  </p:childTnLst>
                                </p:cTn>
                              </p:par>
                              <p:par>
                                <p:cTn id="141" presetID="1" presetClass="exit" presetSubtype="0" fill="hold" nodeType="withEffect">
                                  <p:stCondLst>
                                    <p:cond delay="0"/>
                                  </p:stCondLst>
                                  <p:childTnLst>
                                    <p:set>
                                      <p:cBhvr>
                                        <p:cTn id="142" dur="1" fill="hold">
                                          <p:stCondLst>
                                            <p:cond delay="0"/>
                                          </p:stCondLst>
                                        </p:cTn>
                                        <p:tgtEl>
                                          <p:spTgt spid="53437"/>
                                        </p:tgtEl>
                                        <p:attrNameLst>
                                          <p:attrName>style.visibility</p:attrName>
                                        </p:attrNameLst>
                                      </p:cBhvr>
                                      <p:to>
                                        <p:strVal val="hidden"/>
                                      </p:to>
                                    </p:set>
                                  </p:childTnLst>
                                </p:cTn>
                              </p:par>
                              <p:par>
                                <p:cTn id="143" presetID="1" presetClass="exit" presetSubtype="0" fill="hold" nodeType="withEffect">
                                  <p:stCondLst>
                                    <p:cond delay="0"/>
                                  </p:stCondLst>
                                  <p:childTnLst>
                                    <p:set>
                                      <p:cBhvr>
                                        <p:cTn id="144" dur="1" fill="hold">
                                          <p:stCondLst>
                                            <p:cond delay="0"/>
                                          </p:stCondLst>
                                        </p:cTn>
                                        <p:tgtEl>
                                          <p:spTgt spid="53449"/>
                                        </p:tgtEl>
                                        <p:attrNameLst>
                                          <p:attrName>style.visibility</p:attrName>
                                        </p:attrNameLst>
                                      </p:cBhvr>
                                      <p:to>
                                        <p:strVal val="hidden"/>
                                      </p:to>
                                    </p:set>
                                  </p:childTnLst>
                                </p:cTn>
                              </p:par>
                              <p:par>
                                <p:cTn id="145" presetID="1" presetClass="exit" presetSubtype="0" fill="hold" grpId="0" nodeType="withEffect">
                                  <p:stCondLst>
                                    <p:cond delay="0"/>
                                  </p:stCondLst>
                                  <p:childTnLst>
                                    <p:set>
                                      <p:cBhvr>
                                        <p:cTn id="146" dur="1" fill="hold">
                                          <p:stCondLst>
                                            <p:cond delay="0"/>
                                          </p:stCondLst>
                                        </p:cTn>
                                        <p:tgtEl>
                                          <p:spTgt spid="53452"/>
                                        </p:tgtEl>
                                        <p:attrNameLst>
                                          <p:attrName>style.visibility</p:attrName>
                                        </p:attrNameLst>
                                      </p:cBhvr>
                                      <p:to>
                                        <p:strVal val="hidden"/>
                                      </p:to>
                                    </p:set>
                                  </p:childTnLst>
                                </p:cTn>
                              </p:par>
                              <p:par>
                                <p:cTn id="147" presetID="1" presetClass="exit" presetSubtype="0" fill="hold" grpId="0" nodeType="withEffect">
                                  <p:stCondLst>
                                    <p:cond delay="0"/>
                                  </p:stCondLst>
                                  <p:childTnLst>
                                    <p:set>
                                      <p:cBhvr>
                                        <p:cTn id="148" dur="1" fill="hold">
                                          <p:stCondLst>
                                            <p:cond delay="0"/>
                                          </p:stCondLst>
                                        </p:cTn>
                                        <p:tgtEl>
                                          <p:spTgt spid="53453"/>
                                        </p:tgtEl>
                                        <p:attrNameLst>
                                          <p:attrName>style.visibility</p:attrName>
                                        </p:attrNameLst>
                                      </p:cBhvr>
                                      <p:to>
                                        <p:strVal val="hidden"/>
                                      </p:to>
                                    </p:set>
                                  </p:childTnLst>
                                </p:cTn>
                              </p:par>
                              <p:par>
                                <p:cTn id="149" presetID="1" presetClass="exit" presetSubtype="0" fill="hold" grpId="0" nodeType="withEffect">
                                  <p:stCondLst>
                                    <p:cond delay="0"/>
                                  </p:stCondLst>
                                  <p:childTnLst>
                                    <p:set>
                                      <p:cBhvr>
                                        <p:cTn id="150" dur="1" fill="hold">
                                          <p:stCondLst>
                                            <p:cond delay="0"/>
                                          </p:stCondLst>
                                        </p:cTn>
                                        <p:tgtEl>
                                          <p:spTgt spid="53454"/>
                                        </p:tgtEl>
                                        <p:attrNameLst>
                                          <p:attrName>style.visibility</p:attrName>
                                        </p:attrNameLst>
                                      </p:cBhvr>
                                      <p:to>
                                        <p:strVal val="hidden"/>
                                      </p:to>
                                    </p:set>
                                  </p:childTnLst>
                                </p:cTn>
                              </p:par>
                              <p:par>
                                <p:cTn id="151" presetID="1" presetClass="exit" presetSubtype="0" fill="hold" grpId="1" nodeType="withEffect">
                                  <p:stCondLst>
                                    <p:cond delay="0"/>
                                  </p:stCondLst>
                                  <p:childTnLst>
                                    <p:set>
                                      <p:cBhvr>
                                        <p:cTn id="152" dur="1" fill="hold">
                                          <p:stCondLst>
                                            <p:cond delay="0"/>
                                          </p:stCondLst>
                                        </p:cTn>
                                        <p:tgtEl>
                                          <p:spTgt spid="53469"/>
                                        </p:tgtEl>
                                        <p:attrNameLst>
                                          <p:attrName>style.visibility</p:attrName>
                                        </p:attrNameLst>
                                      </p:cBhvr>
                                      <p:to>
                                        <p:strVal val="hidden"/>
                                      </p:to>
                                    </p:set>
                                  </p:childTnLst>
                                </p:cTn>
                              </p:par>
                              <p:par>
                                <p:cTn id="153" presetID="1" presetClass="exit" presetSubtype="0" fill="hold" grpId="1" nodeType="withEffect">
                                  <p:stCondLst>
                                    <p:cond delay="0"/>
                                  </p:stCondLst>
                                  <p:childTnLst>
                                    <p:set>
                                      <p:cBhvr>
                                        <p:cTn id="154" dur="1" fill="hold">
                                          <p:stCondLst>
                                            <p:cond delay="0"/>
                                          </p:stCondLst>
                                        </p:cTn>
                                        <p:tgtEl>
                                          <p:spTgt spid="53471"/>
                                        </p:tgtEl>
                                        <p:attrNameLst>
                                          <p:attrName>style.visibility</p:attrName>
                                        </p:attrNameLst>
                                      </p:cBhvr>
                                      <p:to>
                                        <p:strVal val="hidden"/>
                                      </p:to>
                                    </p:set>
                                  </p:childTnLst>
                                </p:cTn>
                              </p:par>
                              <p:par>
                                <p:cTn id="155" presetID="1" presetClass="exit" presetSubtype="0" fill="hold" grpId="1" nodeType="withEffect">
                                  <p:stCondLst>
                                    <p:cond delay="0"/>
                                  </p:stCondLst>
                                  <p:childTnLst>
                                    <p:set>
                                      <p:cBhvr>
                                        <p:cTn id="156" dur="1" fill="hold">
                                          <p:stCondLst>
                                            <p:cond delay="0"/>
                                          </p:stCondLst>
                                        </p:cTn>
                                        <p:tgtEl>
                                          <p:spTgt spid="53472"/>
                                        </p:tgtEl>
                                        <p:attrNameLst>
                                          <p:attrName>style.visibility</p:attrName>
                                        </p:attrNameLst>
                                      </p:cBhvr>
                                      <p:to>
                                        <p:strVal val="hidden"/>
                                      </p:to>
                                    </p:set>
                                  </p:childTnLst>
                                </p:cTn>
                              </p:par>
                              <p:par>
                                <p:cTn id="157" presetID="1" presetClass="exit" presetSubtype="0" fill="hold" grpId="1" nodeType="withEffect">
                                  <p:stCondLst>
                                    <p:cond delay="0"/>
                                  </p:stCondLst>
                                  <p:childTnLst>
                                    <p:set>
                                      <p:cBhvr>
                                        <p:cTn id="158" dur="1" fill="hold">
                                          <p:stCondLst>
                                            <p:cond delay="0"/>
                                          </p:stCondLst>
                                        </p:cTn>
                                        <p:tgtEl>
                                          <p:spTgt spid="53473"/>
                                        </p:tgtEl>
                                        <p:attrNameLst>
                                          <p:attrName>style.visibility</p:attrName>
                                        </p:attrNameLst>
                                      </p:cBhvr>
                                      <p:to>
                                        <p:strVal val="hidden"/>
                                      </p:to>
                                    </p:set>
                                  </p:childTnLst>
                                </p:cTn>
                              </p:par>
                              <p:par>
                                <p:cTn id="159" presetID="1" presetClass="exit" presetSubtype="0" fill="hold" grpId="1" nodeType="withEffect">
                                  <p:stCondLst>
                                    <p:cond delay="0"/>
                                  </p:stCondLst>
                                  <p:childTnLst>
                                    <p:set>
                                      <p:cBhvr>
                                        <p:cTn id="160" dur="1" fill="hold">
                                          <p:stCondLst>
                                            <p:cond delay="0"/>
                                          </p:stCondLst>
                                        </p:cTn>
                                        <p:tgtEl>
                                          <p:spTgt spid="53474"/>
                                        </p:tgtEl>
                                        <p:attrNameLst>
                                          <p:attrName>style.visibility</p:attrName>
                                        </p:attrNameLst>
                                      </p:cBhvr>
                                      <p:to>
                                        <p:strVal val="hidden"/>
                                      </p:to>
                                    </p:set>
                                  </p:childTnLst>
                                </p:cTn>
                              </p:par>
                              <p:par>
                                <p:cTn id="161" presetID="1" presetClass="exit" presetSubtype="0" fill="hold" nodeType="withEffect">
                                  <p:stCondLst>
                                    <p:cond delay="0"/>
                                  </p:stCondLst>
                                  <p:childTnLst>
                                    <p:set>
                                      <p:cBhvr>
                                        <p:cTn id="162" dur="1" fill="hold">
                                          <p:stCondLst>
                                            <p:cond delay="0"/>
                                          </p:stCondLst>
                                        </p:cTn>
                                        <p:tgtEl>
                                          <p:spTgt spid="53476"/>
                                        </p:tgtEl>
                                        <p:attrNameLst>
                                          <p:attrName>style.visibility</p:attrName>
                                        </p:attrNameLst>
                                      </p:cBhvr>
                                      <p:to>
                                        <p:strVal val="hidden"/>
                                      </p:to>
                                    </p:set>
                                  </p:childTnLst>
                                </p:cTn>
                              </p:par>
                              <p:par>
                                <p:cTn id="163" presetID="1" presetClass="exit" presetSubtype="0" fill="hold" nodeType="withEffect">
                                  <p:stCondLst>
                                    <p:cond delay="0"/>
                                  </p:stCondLst>
                                  <p:childTnLst>
                                    <p:set>
                                      <p:cBhvr>
                                        <p:cTn id="164" dur="1" fill="hold">
                                          <p:stCondLst>
                                            <p:cond delay="0"/>
                                          </p:stCondLst>
                                        </p:cTn>
                                        <p:tgtEl>
                                          <p:spTgt spid="53477"/>
                                        </p:tgtEl>
                                        <p:attrNameLst>
                                          <p:attrName>style.visibility</p:attrName>
                                        </p:attrNameLst>
                                      </p:cBhvr>
                                      <p:to>
                                        <p:strVal val="hidden"/>
                                      </p:to>
                                    </p:set>
                                  </p:childTnLst>
                                </p:cTn>
                              </p:par>
                              <p:par>
                                <p:cTn id="165" presetID="1" presetClass="exit" presetSubtype="0" fill="hold" grpId="2" nodeType="withEffect">
                                  <p:stCondLst>
                                    <p:cond delay="0"/>
                                  </p:stCondLst>
                                  <p:childTnLst>
                                    <p:set>
                                      <p:cBhvr>
                                        <p:cTn id="166" dur="1" fill="hold">
                                          <p:stCondLst>
                                            <p:cond delay="0"/>
                                          </p:stCondLst>
                                        </p:cTn>
                                        <p:tgtEl>
                                          <p:spTgt spid="53478"/>
                                        </p:tgtEl>
                                        <p:attrNameLst>
                                          <p:attrName>style.visibility</p:attrName>
                                        </p:attrNameLst>
                                      </p:cBhvr>
                                      <p:to>
                                        <p:strVal val="hidden"/>
                                      </p:to>
                                    </p:set>
                                  </p:childTnLst>
                                </p:cTn>
                              </p:par>
                              <p:par>
                                <p:cTn id="167" presetID="1" presetClass="exit" presetSubtype="0" fill="hold" grpId="2" nodeType="withEffect">
                                  <p:stCondLst>
                                    <p:cond delay="0"/>
                                  </p:stCondLst>
                                  <p:childTnLst>
                                    <p:set>
                                      <p:cBhvr>
                                        <p:cTn id="168" dur="1" fill="hold">
                                          <p:stCondLst>
                                            <p:cond delay="0"/>
                                          </p:stCondLst>
                                        </p:cTn>
                                        <p:tgtEl>
                                          <p:spTgt spid="53479"/>
                                        </p:tgtEl>
                                        <p:attrNameLst>
                                          <p:attrName>style.visibility</p:attrName>
                                        </p:attrNameLst>
                                      </p:cBhvr>
                                      <p:to>
                                        <p:strVal val="hidden"/>
                                      </p:to>
                                    </p:set>
                                  </p:childTnLst>
                                </p:cTn>
                              </p:par>
                              <p:par>
                                <p:cTn id="169" presetID="1" presetClass="exit" presetSubtype="0" fill="hold" nodeType="withEffect">
                                  <p:stCondLst>
                                    <p:cond delay="0"/>
                                  </p:stCondLst>
                                  <p:childTnLst>
                                    <p:set>
                                      <p:cBhvr>
                                        <p:cTn id="170" dur="1" fill="hold">
                                          <p:stCondLst>
                                            <p:cond delay="0"/>
                                          </p:stCondLst>
                                        </p:cTn>
                                        <p:tgtEl>
                                          <p:spTgt spid="53480"/>
                                        </p:tgtEl>
                                        <p:attrNameLst>
                                          <p:attrName>style.visibility</p:attrName>
                                        </p:attrNameLst>
                                      </p:cBhvr>
                                      <p:to>
                                        <p:strVal val="hidden"/>
                                      </p:to>
                                    </p:set>
                                  </p:childTnLst>
                                </p:cTn>
                              </p:par>
                              <p:par>
                                <p:cTn id="171" presetID="1" presetClass="exit" presetSubtype="0" fill="hold" nodeType="withEffect">
                                  <p:stCondLst>
                                    <p:cond delay="0"/>
                                  </p:stCondLst>
                                  <p:childTnLst>
                                    <p:set>
                                      <p:cBhvr>
                                        <p:cTn id="172" dur="1" fill="hold">
                                          <p:stCondLst>
                                            <p:cond delay="0"/>
                                          </p:stCondLst>
                                        </p:cTn>
                                        <p:tgtEl>
                                          <p:spTgt spid="53481"/>
                                        </p:tgtEl>
                                        <p:attrNameLst>
                                          <p:attrName>style.visibility</p:attrName>
                                        </p:attrNameLst>
                                      </p:cBhvr>
                                      <p:to>
                                        <p:strVal val="hidden"/>
                                      </p:to>
                                    </p:set>
                                  </p:childTnLst>
                                </p:cTn>
                              </p:par>
                              <p:par>
                                <p:cTn id="173" presetID="1" presetClass="exit" presetSubtype="0" fill="hold" grpId="2" nodeType="withEffect">
                                  <p:stCondLst>
                                    <p:cond delay="0"/>
                                  </p:stCondLst>
                                  <p:childTnLst>
                                    <p:set>
                                      <p:cBhvr>
                                        <p:cTn id="174" dur="1" fill="hold">
                                          <p:stCondLst>
                                            <p:cond delay="0"/>
                                          </p:stCondLst>
                                        </p:cTn>
                                        <p:tgtEl>
                                          <p:spTgt spid="53482"/>
                                        </p:tgtEl>
                                        <p:attrNameLst>
                                          <p:attrName>style.visibility</p:attrName>
                                        </p:attrNameLst>
                                      </p:cBhvr>
                                      <p:to>
                                        <p:strVal val="hidden"/>
                                      </p:to>
                                    </p:set>
                                  </p:childTnLst>
                                </p:cTn>
                              </p:par>
                              <p:par>
                                <p:cTn id="175" presetID="1" presetClass="exit" presetSubtype="0" fill="hold" grpId="2" nodeType="withEffect">
                                  <p:stCondLst>
                                    <p:cond delay="0"/>
                                  </p:stCondLst>
                                  <p:childTnLst>
                                    <p:set>
                                      <p:cBhvr>
                                        <p:cTn id="176" dur="1" fill="hold">
                                          <p:stCondLst>
                                            <p:cond delay="0"/>
                                          </p:stCondLst>
                                        </p:cTn>
                                        <p:tgtEl>
                                          <p:spTgt spid="53483"/>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53484"/>
                                        </p:tgtEl>
                                        <p:attrNameLst>
                                          <p:attrName>style.visibility</p:attrName>
                                        </p:attrNameLst>
                                      </p:cBhvr>
                                      <p:to>
                                        <p:strVal val="hidden"/>
                                      </p:to>
                                    </p:set>
                                  </p:childTnLst>
                                </p:cTn>
                              </p:par>
                              <p:par>
                                <p:cTn id="179" presetID="1" presetClass="exit" presetSubtype="0" fill="hold" nodeType="withEffect">
                                  <p:stCondLst>
                                    <p:cond delay="0"/>
                                  </p:stCondLst>
                                  <p:childTnLst>
                                    <p:set>
                                      <p:cBhvr>
                                        <p:cTn id="180" dur="1" fill="hold">
                                          <p:stCondLst>
                                            <p:cond delay="0"/>
                                          </p:stCondLst>
                                        </p:cTn>
                                        <p:tgtEl>
                                          <p:spTgt spid="53485"/>
                                        </p:tgtEl>
                                        <p:attrNameLst>
                                          <p:attrName>style.visibility</p:attrName>
                                        </p:attrNameLst>
                                      </p:cBhvr>
                                      <p:to>
                                        <p:strVal val="hidden"/>
                                      </p:to>
                                    </p:set>
                                  </p:childTnLst>
                                </p:cTn>
                              </p:par>
                              <p:par>
                                <p:cTn id="181" presetID="1" presetClass="exit" presetSubtype="0" fill="hold" grpId="2" nodeType="withEffect">
                                  <p:stCondLst>
                                    <p:cond delay="0"/>
                                  </p:stCondLst>
                                  <p:childTnLst>
                                    <p:set>
                                      <p:cBhvr>
                                        <p:cTn id="182" dur="1" fill="hold">
                                          <p:stCondLst>
                                            <p:cond delay="0"/>
                                          </p:stCondLst>
                                        </p:cTn>
                                        <p:tgtEl>
                                          <p:spTgt spid="53486"/>
                                        </p:tgtEl>
                                        <p:attrNameLst>
                                          <p:attrName>style.visibility</p:attrName>
                                        </p:attrNameLst>
                                      </p:cBhvr>
                                      <p:to>
                                        <p:strVal val="hidden"/>
                                      </p:to>
                                    </p:set>
                                  </p:childTnLst>
                                </p:cTn>
                              </p:par>
                              <p:par>
                                <p:cTn id="183" presetID="1" presetClass="exit" presetSubtype="0" fill="hold" grpId="2" nodeType="withEffect">
                                  <p:stCondLst>
                                    <p:cond delay="0"/>
                                  </p:stCondLst>
                                  <p:childTnLst>
                                    <p:set>
                                      <p:cBhvr>
                                        <p:cTn id="184" dur="1" fill="hold">
                                          <p:stCondLst>
                                            <p:cond delay="0"/>
                                          </p:stCondLst>
                                        </p:cTn>
                                        <p:tgtEl>
                                          <p:spTgt spid="53487"/>
                                        </p:tgtEl>
                                        <p:attrNameLst>
                                          <p:attrName>style.visibility</p:attrName>
                                        </p:attrNameLst>
                                      </p:cBhvr>
                                      <p:to>
                                        <p:strVal val="hidden"/>
                                      </p:to>
                                    </p:set>
                                  </p:childTnLst>
                                </p:cTn>
                              </p:par>
                              <p:par>
                                <p:cTn id="185" presetID="1" presetClass="exit" presetSubtype="0" fill="hold" nodeType="withEffect">
                                  <p:stCondLst>
                                    <p:cond delay="0"/>
                                  </p:stCondLst>
                                  <p:childTnLst>
                                    <p:set>
                                      <p:cBhvr>
                                        <p:cTn id="186" dur="1" fill="hold">
                                          <p:stCondLst>
                                            <p:cond delay="0"/>
                                          </p:stCondLst>
                                        </p:cTn>
                                        <p:tgtEl>
                                          <p:spTgt spid="53488"/>
                                        </p:tgtEl>
                                        <p:attrNameLst>
                                          <p:attrName>style.visibility</p:attrName>
                                        </p:attrNameLst>
                                      </p:cBhvr>
                                      <p:to>
                                        <p:strVal val="hidden"/>
                                      </p:to>
                                    </p:set>
                                  </p:childTnLst>
                                </p:cTn>
                              </p:par>
                              <p:par>
                                <p:cTn id="187" presetID="1" presetClass="exit" presetSubtype="0" fill="hold" nodeType="withEffect">
                                  <p:stCondLst>
                                    <p:cond delay="0"/>
                                  </p:stCondLst>
                                  <p:childTnLst>
                                    <p:set>
                                      <p:cBhvr>
                                        <p:cTn id="188" dur="1" fill="hold">
                                          <p:stCondLst>
                                            <p:cond delay="0"/>
                                          </p:stCondLst>
                                        </p:cTn>
                                        <p:tgtEl>
                                          <p:spTgt spid="53489"/>
                                        </p:tgtEl>
                                        <p:attrNameLst>
                                          <p:attrName>style.visibility</p:attrName>
                                        </p:attrNameLst>
                                      </p:cBhvr>
                                      <p:to>
                                        <p:strVal val="hidden"/>
                                      </p:to>
                                    </p:set>
                                  </p:childTnLst>
                                </p:cTn>
                              </p:par>
                              <p:par>
                                <p:cTn id="189" presetID="1" presetClass="exit" presetSubtype="0" fill="hold" grpId="2" nodeType="withEffect">
                                  <p:stCondLst>
                                    <p:cond delay="0"/>
                                  </p:stCondLst>
                                  <p:childTnLst>
                                    <p:set>
                                      <p:cBhvr>
                                        <p:cTn id="190" dur="1" fill="hold">
                                          <p:stCondLst>
                                            <p:cond delay="0"/>
                                          </p:stCondLst>
                                        </p:cTn>
                                        <p:tgtEl>
                                          <p:spTgt spid="53490"/>
                                        </p:tgtEl>
                                        <p:attrNameLst>
                                          <p:attrName>style.visibility</p:attrName>
                                        </p:attrNameLst>
                                      </p:cBhvr>
                                      <p:to>
                                        <p:strVal val="hidden"/>
                                      </p:to>
                                    </p:set>
                                  </p:childTnLst>
                                </p:cTn>
                              </p:par>
                              <p:par>
                                <p:cTn id="191" presetID="1" presetClass="exit" presetSubtype="0" fill="hold" grpId="2" nodeType="withEffect">
                                  <p:stCondLst>
                                    <p:cond delay="0"/>
                                  </p:stCondLst>
                                  <p:childTnLst>
                                    <p:set>
                                      <p:cBhvr>
                                        <p:cTn id="192" dur="1" fill="hold">
                                          <p:stCondLst>
                                            <p:cond delay="0"/>
                                          </p:stCondLst>
                                        </p:cTn>
                                        <p:tgtEl>
                                          <p:spTgt spid="53491"/>
                                        </p:tgtEl>
                                        <p:attrNameLst>
                                          <p:attrName>style.visibility</p:attrName>
                                        </p:attrNameLst>
                                      </p:cBhvr>
                                      <p:to>
                                        <p:strVal val="hidden"/>
                                      </p:to>
                                    </p:set>
                                  </p:childTnLst>
                                </p:cTn>
                              </p:par>
                              <p:par>
                                <p:cTn id="193" presetID="1" presetClass="exit" presetSubtype="0" fill="hold" nodeType="withEffect">
                                  <p:stCondLst>
                                    <p:cond delay="0"/>
                                  </p:stCondLst>
                                  <p:childTnLst>
                                    <p:set>
                                      <p:cBhvr>
                                        <p:cTn id="194" dur="1" fill="hold">
                                          <p:stCondLst>
                                            <p:cond delay="0"/>
                                          </p:stCondLst>
                                        </p:cTn>
                                        <p:tgtEl>
                                          <p:spTgt spid="53492"/>
                                        </p:tgtEl>
                                        <p:attrNameLst>
                                          <p:attrName>style.visibility</p:attrName>
                                        </p:attrNameLst>
                                      </p:cBhvr>
                                      <p:to>
                                        <p:strVal val="hidden"/>
                                      </p:to>
                                    </p:set>
                                  </p:childTnLst>
                                </p:cTn>
                              </p:par>
                              <p:par>
                                <p:cTn id="195" presetID="1" presetClass="exit" presetSubtype="0" fill="hold" nodeType="withEffect">
                                  <p:stCondLst>
                                    <p:cond delay="0"/>
                                  </p:stCondLst>
                                  <p:childTnLst>
                                    <p:set>
                                      <p:cBhvr>
                                        <p:cTn id="196" dur="1" fill="hold">
                                          <p:stCondLst>
                                            <p:cond delay="0"/>
                                          </p:stCondLst>
                                        </p:cTn>
                                        <p:tgtEl>
                                          <p:spTgt spid="53493"/>
                                        </p:tgtEl>
                                        <p:attrNameLst>
                                          <p:attrName>style.visibility</p:attrName>
                                        </p:attrNameLst>
                                      </p:cBhvr>
                                      <p:to>
                                        <p:strVal val="hidden"/>
                                      </p:to>
                                    </p:set>
                                  </p:childTnLst>
                                </p:cTn>
                              </p:par>
                              <p:par>
                                <p:cTn id="197" presetID="1" presetClass="exit" presetSubtype="0" fill="hold" grpId="2" nodeType="withEffect">
                                  <p:stCondLst>
                                    <p:cond delay="0"/>
                                  </p:stCondLst>
                                  <p:childTnLst>
                                    <p:set>
                                      <p:cBhvr>
                                        <p:cTn id="198" dur="1" fill="hold">
                                          <p:stCondLst>
                                            <p:cond delay="0"/>
                                          </p:stCondLst>
                                        </p:cTn>
                                        <p:tgtEl>
                                          <p:spTgt spid="53494"/>
                                        </p:tgtEl>
                                        <p:attrNameLst>
                                          <p:attrName>style.visibility</p:attrName>
                                        </p:attrNameLst>
                                      </p:cBhvr>
                                      <p:to>
                                        <p:strVal val="hidden"/>
                                      </p:to>
                                    </p:set>
                                  </p:childTnLst>
                                </p:cTn>
                              </p:par>
                              <p:par>
                                <p:cTn id="199" presetID="1" presetClass="exit" presetSubtype="0" fill="hold" grpId="2" nodeType="withEffect">
                                  <p:stCondLst>
                                    <p:cond delay="0"/>
                                  </p:stCondLst>
                                  <p:childTnLst>
                                    <p:set>
                                      <p:cBhvr>
                                        <p:cTn id="200" dur="1" fill="hold">
                                          <p:stCondLst>
                                            <p:cond delay="0"/>
                                          </p:stCondLst>
                                        </p:cTn>
                                        <p:tgtEl>
                                          <p:spTgt spid="53495"/>
                                        </p:tgtEl>
                                        <p:attrNameLst>
                                          <p:attrName>style.visibility</p:attrName>
                                        </p:attrNameLst>
                                      </p:cBhvr>
                                      <p:to>
                                        <p:strVal val="hidden"/>
                                      </p:to>
                                    </p:set>
                                  </p:childTnLst>
                                </p:cTn>
                              </p:par>
                              <p:par>
                                <p:cTn id="201" presetID="1" presetClass="exit" presetSubtype="0" fill="hold" nodeType="withEffect">
                                  <p:stCondLst>
                                    <p:cond delay="0"/>
                                  </p:stCondLst>
                                  <p:childTnLst>
                                    <p:set>
                                      <p:cBhvr>
                                        <p:cTn id="202" dur="1" fill="hold">
                                          <p:stCondLst>
                                            <p:cond delay="0"/>
                                          </p:stCondLst>
                                        </p:cTn>
                                        <p:tgtEl>
                                          <p:spTgt spid="53496"/>
                                        </p:tgtEl>
                                        <p:attrNameLst>
                                          <p:attrName>style.visibility</p:attrName>
                                        </p:attrNameLst>
                                      </p:cBhvr>
                                      <p:to>
                                        <p:strVal val="hidden"/>
                                      </p:to>
                                    </p:set>
                                  </p:childTnLst>
                                </p:cTn>
                              </p:par>
                              <p:par>
                                <p:cTn id="203" presetID="1" presetClass="exit" presetSubtype="0" fill="hold" nodeType="withEffect">
                                  <p:stCondLst>
                                    <p:cond delay="0"/>
                                  </p:stCondLst>
                                  <p:childTnLst>
                                    <p:set>
                                      <p:cBhvr>
                                        <p:cTn id="204" dur="1" fill="hold">
                                          <p:stCondLst>
                                            <p:cond delay="0"/>
                                          </p:stCondLst>
                                        </p:cTn>
                                        <p:tgtEl>
                                          <p:spTgt spid="53497"/>
                                        </p:tgtEl>
                                        <p:attrNameLst>
                                          <p:attrName>style.visibility</p:attrName>
                                        </p:attrNameLst>
                                      </p:cBhvr>
                                      <p:to>
                                        <p:strVal val="hidden"/>
                                      </p:to>
                                    </p:set>
                                  </p:childTnLst>
                                </p:cTn>
                              </p:par>
                              <p:par>
                                <p:cTn id="205" presetID="1" presetClass="exit" presetSubtype="0" fill="hold" grpId="2" nodeType="withEffect">
                                  <p:stCondLst>
                                    <p:cond delay="0"/>
                                  </p:stCondLst>
                                  <p:childTnLst>
                                    <p:set>
                                      <p:cBhvr>
                                        <p:cTn id="206" dur="1" fill="hold">
                                          <p:stCondLst>
                                            <p:cond delay="0"/>
                                          </p:stCondLst>
                                        </p:cTn>
                                        <p:tgtEl>
                                          <p:spTgt spid="53498"/>
                                        </p:tgtEl>
                                        <p:attrNameLst>
                                          <p:attrName>style.visibility</p:attrName>
                                        </p:attrNameLst>
                                      </p:cBhvr>
                                      <p:to>
                                        <p:strVal val="hidden"/>
                                      </p:to>
                                    </p:set>
                                  </p:childTnLst>
                                </p:cTn>
                              </p:par>
                              <p:par>
                                <p:cTn id="207" presetID="1" presetClass="exit" presetSubtype="0" fill="hold" grpId="2" nodeType="withEffect">
                                  <p:stCondLst>
                                    <p:cond delay="0"/>
                                  </p:stCondLst>
                                  <p:childTnLst>
                                    <p:set>
                                      <p:cBhvr>
                                        <p:cTn id="208" dur="1" fill="hold">
                                          <p:stCondLst>
                                            <p:cond delay="0"/>
                                          </p:stCondLst>
                                        </p:cTn>
                                        <p:tgtEl>
                                          <p:spTgt spid="53499"/>
                                        </p:tgtEl>
                                        <p:attrNameLst>
                                          <p:attrName>style.visibility</p:attrName>
                                        </p:attrNameLst>
                                      </p:cBhvr>
                                      <p:to>
                                        <p:strVal val="hidden"/>
                                      </p:to>
                                    </p:set>
                                  </p:childTnLst>
                                </p:cTn>
                              </p:par>
                              <p:par>
                                <p:cTn id="209" presetID="1" presetClass="exit" presetSubtype="0" fill="hold" nodeType="withEffect">
                                  <p:stCondLst>
                                    <p:cond delay="0"/>
                                  </p:stCondLst>
                                  <p:childTnLst>
                                    <p:set>
                                      <p:cBhvr>
                                        <p:cTn id="210" dur="1" fill="hold">
                                          <p:stCondLst>
                                            <p:cond delay="0"/>
                                          </p:stCondLst>
                                        </p:cTn>
                                        <p:tgtEl>
                                          <p:spTgt spid="53501"/>
                                        </p:tgtEl>
                                        <p:attrNameLst>
                                          <p:attrName>style.visibility</p:attrName>
                                        </p:attrNameLst>
                                      </p:cBhvr>
                                      <p:to>
                                        <p:strVal val="hidden"/>
                                      </p:to>
                                    </p:set>
                                  </p:childTnLst>
                                </p:cTn>
                              </p:par>
                              <p:par>
                                <p:cTn id="211" presetID="1" presetClass="exit" presetSubtype="0" fill="hold" grpId="1" nodeType="withEffect">
                                  <p:stCondLst>
                                    <p:cond delay="0"/>
                                  </p:stCondLst>
                                  <p:childTnLst>
                                    <p:set>
                                      <p:cBhvr>
                                        <p:cTn id="212" dur="1" fill="hold">
                                          <p:stCondLst>
                                            <p:cond delay="0"/>
                                          </p:stCondLst>
                                        </p:cTn>
                                        <p:tgtEl>
                                          <p:spTgt spid="53502"/>
                                        </p:tgtEl>
                                        <p:attrNameLst>
                                          <p:attrName>style.visibility</p:attrName>
                                        </p:attrNameLst>
                                      </p:cBhvr>
                                      <p:to>
                                        <p:strVal val="hidden"/>
                                      </p:to>
                                    </p:set>
                                  </p:childTnLst>
                                </p:cTn>
                              </p:par>
                              <p:par>
                                <p:cTn id="213" presetID="1" presetClass="exit" presetSubtype="0" fill="hold" nodeType="withEffect">
                                  <p:stCondLst>
                                    <p:cond delay="0"/>
                                  </p:stCondLst>
                                  <p:childTnLst>
                                    <p:set>
                                      <p:cBhvr>
                                        <p:cTn id="214" dur="1" fill="hold">
                                          <p:stCondLst>
                                            <p:cond delay="0"/>
                                          </p:stCondLst>
                                        </p:cTn>
                                        <p:tgtEl>
                                          <p:spTgt spid="53468"/>
                                        </p:tgtEl>
                                        <p:attrNameLst>
                                          <p:attrName>style.visibility</p:attrName>
                                        </p:attrNameLst>
                                      </p:cBhvr>
                                      <p:to>
                                        <p:strVal val="hidden"/>
                                      </p:to>
                                    </p:set>
                                  </p:childTnLst>
                                </p:cTn>
                              </p:par>
                              <p:par>
                                <p:cTn id="215" presetID="0" presetClass="path" presetSubtype="0" accel="50000" decel="50000" fill="hold" grpId="0" nodeType="withEffect">
                                  <p:stCondLst>
                                    <p:cond delay="0"/>
                                  </p:stCondLst>
                                  <p:childTnLst>
                                    <p:animMotion origin="layout" path="M -3.05556E-6 4.46809E-6 L 0.11771 -0.5192 " pathEditMode="relative" rAng="0" ptsTypes="AA">
                                      <p:cBhvr>
                                        <p:cTn id="216" dur="2000" fill="hold"/>
                                        <p:tgtEl>
                                          <p:spTgt spid="53379"/>
                                        </p:tgtEl>
                                        <p:attrNameLst>
                                          <p:attrName>ppt_x</p:attrName>
                                          <p:attrName>ppt_y</p:attrName>
                                        </p:attrNameLst>
                                      </p:cBhvr>
                                      <p:rCtr x="5885" y="-25971"/>
                                    </p:animMotion>
                                  </p:childTnLst>
                                </p:cTn>
                              </p:par>
                              <p:par>
                                <p:cTn id="217" presetID="0" presetClass="path" presetSubtype="0" accel="50000" decel="50000" fill="hold" grpId="0" nodeType="withEffect">
                                  <p:stCondLst>
                                    <p:cond delay="0"/>
                                  </p:stCondLst>
                                  <p:childTnLst>
                                    <p:animMotion origin="layout" path="M -4.72222E-6 -3.321E-6 L 0.11841 -0.51202 " pathEditMode="relative" rAng="0" ptsTypes="AA">
                                      <p:cBhvr>
                                        <p:cTn id="218" dur="2000" fill="hold"/>
                                        <p:tgtEl>
                                          <p:spTgt spid="53380"/>
                                        </p:tgtEl>
                                        <p:attrNameLst>
                                          <p:attrName>ppt_x</p:attrName>
                                          <p:attrName>ppt_y</p:attrName>
                                        </p:attrNameLst>
                                      </p:cBhvr>
                                      <p:rCtr x="5920" y="-25601"/>
                                    </p:animMotion>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 presetClass="entr" presetSubtype="0" fill="hold" nodeType="clickEffect">
                                  <p:stCondLst>
                                    <p:cond delay="0"/>
                                  </p:stCondLst>
                                  <p:childTnLst>
                                    <p:set>
                                      <p:cBhvr>
                                        <p:cTn id="222" dur="1" fill="hold">
                                          <p:stCondLst>
                                            <p:cond delay="0"/>
                                          </p:stCondLst>
                                        </p:cTn>
                                        <p:tgtEl>
                                          <p:spTgt spid="3"/>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 presetClass="entr" presetSubtype="0" fill="hold" nodeType="clickEffect">
                                  <p:stCondLst>
                                    <p:cond delay="0"/>
                                  </p:stCondLst>
                                  <p:childTnLst>
                                    <p:set>
                                      <p:cBhvr>
                                        <p:cTn id="226" dur="1" fill="hold">
                                          <p:stCondLst>
                                            <p:cond delay="0"/>
                                          </p:stCondLst>
                                        </p:cTn>
                                        <p:tgtEl>
                                          <p:spTgt spid="2"/>
                                        </p:tgtEl>
                                        <p:attrNameLst>
                                          <p:attrName>style.visibility</p:attrName>
                                        </p:attrNameLst>
                                      </p:cBhvr>
                                      <p:to>
                                        <p:strVal val="visible"/>
                                      </p:to>
                                    </p:set>
                                  </p:childTnLst>
                                </p:cTn>
                              </p:par>
                              <p:par>
                                <p:cTn id="227" presetID="1" presetClass="exit" presetSubtype="0" fill="hold" nodeType="withEffect">
                                  <p:stCondLst>
                                    <p:cond delay="0"/>
                                  </p:stCondLst>
                                  <p:childTnLst>
                                    <p:set>
                                      <p:cBhvr>
                                        <p:cTn id="228"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75" grpId="0" animBg="1"/>
      <p:bldP spid="53376" grpId="0" animBg="1"/>
      <p:bldP spid="53377" grpId="0" animBg="1"/>
      <p:bldP spid="53378" grpId="0" animBg="1"/>
      <p:bldP spid="53379" grpId="0" animBg="1"/>
      <p:bldP spid="53380" grpId="0" animBg="1"/>
      <p:bldP spid="53381" grpId="0" animBg="1"/>
      <p:bldP spid="53382" grpId="0"/>
      <p:bldP spid="53452" grpId="0"/>
      <p:bldP spid="53453" grpId="0"/>
      <p:bldP spid="53454" grpId="0" animBg="1"/>
      <p:bldP spid="53469" grpId="0"/>
      <p:bldP spid="53469" grpId="1"/>
      <p:bldP spid="53471" grpId="0"/>
      <p:bldP spid="53471" grpId="1"/>
      <p:bldP spid="53472" grpId="0"/>
      <p:bldP spid="53472" grpId="1"/>
      <p:bldP spid="53473" grpId="0"/>
      <p:bldP spid="53473" grpId="1"/>
      <p:bldP spid="53474" grpId="0"/>
      <p:bldP spid="53474" grpId="1"/>
      <p:bldP spid="53475" grpId="0"/>
      <p:bldP spid="53478" grpId="0"/>
      <p:bldP spid="53478" grpId="1"/>
      <p:bldP spid="53478" grpId="2"/>
      <p:bldP spid="53479" grpId="0"/>
      <p:bldP spid="53479" grpId="1"/>
      <p:bldP spid="53479" grpId="2"/>
      <p:bldP spid="53482" grpId="0"/>
      <p:bldP spid="53482" grpId="1"/>
      <p:bldP spid="53482" grpId="2"/>
      <p:bldP spid="53483" grpId="0"/>
      <p:bldP spid="53483" grpId="1"/>
      <p:bldP spid="53483" grpId="2"/>
      <p:bldP spid="53486" grpId="0"/>
      <p:bldP spid="53486" grpId="1"/>
      <p:bldP spid="53486" grpId="2"/>
      <p:bldP spid="53487" grpId="0"/>
      <p:bldP spid="53487" grpId="1"/>
      <p:bldP spid="53487" grpId="2"/>
      <p:bldP spid="53490" grpId="0"/>
      <p:bldP spid="53490" grpId="1"/>
      <p:bldP spid="53490" grpId="2"/>
      <p:bldP spid="53491" grpId="0"/>
      <p:bldP spid="53491" grpId="1"/>
      <p:bldP spid="53491" grpId="2"/>
      <p:bldP spid="53494" grpId="0"/>
      <p:bldP spid="53494" grpId="1"/>
      <p:bldP spid="53494" grpId="2"/>
      <p:bldP spid="53495" grpId="0"/>
      <p:bldP spid="53495" grpId="1"/>
      <p:bldP spid="53495" grpId="2"/>
      <p:bldP spid="53498" grpId="0"/>
      <p:bldP spid="53498" grpId="1"/>
      <p:bldP spid="53498" grpId="2"/>
      <p:bldP spid="53499" grpId="0"/>
      <p:bldP spid="53499" grpId="1"/>
      <p:bldP spid="53499" grpId="2"/>
      <p:bldP spid="53502" grpId="0"/>
      <p:bldP spid="53502"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170" name="Rectangle 4">
            <a:extLst>
              <a:ext uri="{FF2B5EF4-FFF2-40B4-BE49-F238E27FC236}">
                <a16:creationId xmlns:a16="http://schemas.microsoft.com/office/drawing/2014/main" id="{9CA29403-551A-C31B-F90B-02517447E736}"/>
              </a:ext>
            </a:extLst>
          </p:cNvPr>
          <p:cNvSpPr>
            <a:spLocks noGrp="1" noChangeArrowheads="1"/>
          </p:cNvSpPr>
          <p:nvPr>
            <p:ph type="title"/>
          </p:nvPr>
        </p:nvSpPr>
        <p:spPr>
          <a:xfrm>
            <a:off x="468313" y="44450"/>
            <a:ext cx="8229600" cy="1143000"/>
          </a:xfrm>
          <a:noFill/>
        </p:spPr>
        <p:txBody>
          <a:bodyPr/>
          <a:lstStyle/>
          <a:p>
            <a:pPr eaLnBrk="1" hangingPunct="1"/>
            <a:r>
              <a:rPr lang="fr-CA" altLang="fr-FR" b="1">
                <a:solidFill>
                  <a:srgbClr val="FFFF99"/>
                </a:solidFill>
              </a:rPr>
              <a:t>Architecture NES</a:t>
            </a:r>
          </a:p>
        </p:txBody>
      </p:sp>
      <p:sp>
        <p:nvSpPr>
          <p:cNvPr id="7171" name="Text Box 5">
            <a:extLst>
              <a:ext uri="{FF2B5EF4-FFF2-40B4-BE49-F238E27FC236}">
                <a16:creationId xmlns:a16="http://schemas.microsoft.com/office/drawing/2014/main" id="{27887483-22B8-CC33-D691-3BED0FA894D0}"/>
              </a:ext>
            </a:extLst>
          </p:cNvPr>
          <p:cNvSpPr txBox="1">
            <a:spLocks noChangeArrowheads="1"/>
          </p:cNvSpPr>
          <p:nvPr/>
        </p:nvSpPr>
        <p:spPr bwMode="auto">
          <a:xfrm>
            <a:off x="3976688" y="908050"/>
            <a:ext cx="1041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b="1" u="sng">
                <a:solidFill>
                  <a:srgbClr val="FF9900"/>
                </a:solidFill>
              </a:rPr>
              <a:t>mémoire</a:t>
            </a:r>
            <a:endParaRPr lang="en-US" altLang="fr-FR" sz="1600" b="1" u="sng">
              <a:solidFill>
                <a:srgbClr val="FF9900"/>
              </a:solidFill>
            </a:endParaRPr>
          </a:p>
        </p:txBody>
      </p:sp>
      <p:sp>
        <p:nvSpPr>
          <p:cNvPr id="7172" name="Text Box 6">
            <a:extLst>
              <a:ext uri="{FF2B5EF4-FFF2-40B4-BE49-F238E27FC236}">
                <a16:creationId xmlns:a16="http://schemas.microsoft.com/office/drawing/2014/main" id="{D4F7CAF7-E105-CD68-1F6B-461DC629DE7E}"/>
              </a:ext>
            </a:extLst>
          </p:cNvPr>
          <p:cNvSpPr txBox="1">
            <a:spLocks noChangeArrowheads="1"/>
          </p:cNvSpPr>
          <p:nvPr/>
        </p:nvSpPr>
        <p:spPr bwMode="auto">
          <a:xfrm>
            <a:off x="358775" y="1268413"/>
            <a:ext cx="8785225" cy="664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b="1">
                <a:solidFill>
                  <a:srgbClr val="FFFF99"/>
                </a:solidFill>
              </a:rPr>
              <a:t> Adresses de 16 bits (bus d’adresses et compteur ordinal)</a:t>
            </a:r>
          </a:p>
          <a:p>
            <a:pPr lvl="1" eaLnBrk="1" hangingPunct="1">
              <a:spcBef>
                <a:spcPct val="0"/>
              </a:spcBef>
              <a:buFont typeface="Wingdings" panose="05000000000000000000" pitchFamily="2" charset="2"/>
              <a:buChar char="§"/>
            </a:pPr>
            <a:r>
              <a:rPr lang="fr-CA" altLang="fr-FR" sz="1800" b="1">
                <a:solidFill>
                  <a:schemeClr val="folHlink"/>
                </a:solidFill>
              </a:rPr>
              <a:t>La quantité de mémoire adressable normalement est donc de 64k</a:t>
            </a:r>
            <a:endParaRPr lang="fr-CA" altLang="fr-FR" sz="24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Format « little endian »</a:t>
            </a:r>
          </a:p>
          <a:p>
            <a:pPr lvl="1" eaLnBrk="1" hangingPunct="1">
              <a:spcBef>
                <a:spcPct val="0"/>
              </a:spcBef>
              <a:buFont typeface="Wingdings" panose="05000000000000000000" pitchFamily="2" charset="2"/>
              <a:buChar char="§"/>
            </a:pPr>
            <a:r>
              <a:rPr lang="fr-CA" altLang="fr-FR" sz="1800" b="1">
                <a:solidFill>
                  <a:schemeClr val="folHlink"/>
                </a:solidFill>
              </a:rPr>
              <a:t>Les instructions qui manipulent des opérandes de 16 bits (adresses passées en immédiat) et qui manipulent le compteur ordinal travaillent en format «little endian».  </a:t>
            </a:r>
          </a:p>
          <a:p>
            <a:pPr eaLnBrk="1" hangingPunct="1">
              <a:spcBef>
                <a:spcPct val="0"/>
              </a:spcBef>
              <a:buFont typeface="Wingdings" panose="05000000000000000000" pitchFamily="2" charset="2"/>
              <a:buChar char="§"/>
            </a:pPr>
            <a:r>
              <a:rPr lang="fr-CA" altLang="fr-FR" sz="2400" b="1">
                <a:solidFill>
                  <a:srgbClr val="FFFF99"/>
                </a:solidFill>
              </a:rPr>
              <a:t> Une petite partie de l’espace adressable constitue la RAM</a:t>
            </a:r>
          </a:p>
          <a:p>
            <a:pPr lvl="1" eaLnBrk="1" hangingPunct="1">
              <a:spcBef>
                <a:spcPct val="0"/>
              </a:spcBef>
              <a:buFont typeface="Wingdings" panose="05000000000000000000" pitchFamily="2" charset="2"/>
              <a:buChar char="§"/>
            </a:pPr>
            <a:r>
              <a:rPr lang="fr-CA" altLang="fr-FR" sz="1800" b="1">
                <a:solidFill>
                  <a:schemeClr val="folHlink"/>
                </a:solidFill>
              </a:rPr>
              <a:t>Les adresses de $0000 à $0800 constituent les 2048 (2k) octets de RAM disponibles pour faire des calculs.</a:t>
            </a:r>
            <a:endParaRPr lang="fr-CA" altLang="fr-FR" sz="2400" b="1">
              <a:solidFill>
                <a:srgbClr val="FFFF99"/>
              </a:solidFill>
            </a:endParaRPr>
          </a:p>
          <a:p>
            <a:pPr eaLnBrk="1" hangingPunct="1">
              <a:spcBef>
                <a:spcPct val="0"/>
              </a:spcBef>
              <a:buFont typeface="Wingdings" panose="05000000000000000000" pitchFamily="2" charset="2"/>
              <a:buChar char="§"/>
            </a:pPr>
            <a:r>
              <a:rPr lang="fr-CA" altLang="fr-FR" sz="2400" b="1">
                <a:solidFill>
                  <a:srgbClr val="FFFF99"/>
                </a:solidFill>
              </a:rPr>
              <a:t> Une partie de la mémoire sert aux entrées / sorties</a:t>
            </a:r>
          </a:p>
          <a:p>
            <a:pPr lvl="1" eaLnBrk="1" hangingPunct="1">
              <a:spcBef>
                <a:spcPct val="0"/>
              </a:spcBef>
              <a:buFont typeface="Wingdings" panose="05000000000000000000" pitchFamily="2" charset="2"/>
              <a:buChar char="§"/>
            </a:pPr>
            <a:r>
              <a:rPr lang="fr-CA" altLang="fr-FR" sz="1800" b="1">
                <a:solidFill>
                  <a:schemeClr val="folHlink"/>
                </a:solidFill>
              </a:rPr>
              <a:t>Les adresses $2000 à $401F sont des adresses mémoire qui ont des fonctions  particulières pour communiquer avec le coprocesseur d’images, le générateur de sons et les autres périphériques.</a:t>
            </a:r>
          </a:p>
          <a:p>
            <a:pPr eaLnBrk="1" hangingPunct="1">
              <a:spcBef>
                <a:spcPct val="0"/>
              </a:spcBef>
              <a:buFont typeface="Wingdings" panose="05000000000000000000" pitchFamily="2" charset="2"/>
              <a:buChar char="§"/>
            </a:pPr>
            <a:r>
              <a:rPr lang="fr-CA" altLang="fr-FR" sz="2400" b="1">
                <a:solidFill>
                  <a:srgbClr val="FFFF99"/>
                </a:solidFill>
              </a:rPr>
              <a:t> Une partie de la mémoire représente la cartouche de jeu</a:t>
            </a:r>
          </a:p>
          <a:p>
            <a:pPr lvl="1" eaLnBrk="1" hangingPunct="1">
              <a:spcBef>
                <a:spcPct val="0"/>
              </a:spcBef>
              <a:buFont typeface="Wingdings" panose="05000000000000000000" pitchFamily="2" charset="2"/>
              <a:buChar char="§"/>
            </a:pPr>
            <a:r>
              <a:rPr lang="fr-CA" altLang="fr-FR" sz="1800" b="1">
                <a:solidFill>
                  <a:schemeClr val="folHlink"/>
                </a:solidFill>
              </a:rPr>
              <a:t>Les adresses $4020 à $FFFF sont reliées aux puces de mémoire morte se trouvant dans la cartouche.  L’accès à ces segments de la mémoire se fait par le biais d’une unité de gestion de la mémoire (MMU : Memory Mapping Unit).</a:t>
            </a:r>
          </a:p>
          <a:p>
            <a:pPr eaLnBrk="1" hangingPunct="1">
              <a:spcBef>
                <a:spcPct val="0"/>
              </a:spcBef>
              <a:buFont typeface="Wingdings" panose="05000000000000000000" pitchFamily="2" charset="2"/>
              <a:buChar char="§"/>
            </a:pPr>
            <a:endParaRPr lang="fr-CA" altLang="fr-FR" sz="2400" b="1">
              <a:solidFill>
                <a:srgbClr val="FFFF99"/>
              </a:solidFill>
            </a:endParaRPr>
          </a:p>
          <a:p>
            <a:pPr eaLnBrk="1" hangingPunct="1">
              <a:spcBef>
                <a:spcPct val="0"/>
              </a:spcBef>
              <a:buFont typeface="Wingdings" panose="05000000000000000000" pitchFamily="2" charset="2"/>
              <a:buChar char="§"/>
            </a:pPr>
            <a:endParaRPr lang="fr-CA" altLang="fr-FR" sz="2400" b="1">
              <a:solidFill>
                <a:srgbClr val="FFFF99"/>
              </a:solidFill>
            </a:endParaRPr>
          </a:p>
          <a:p>
            <a:pPr lvl="1" eaLnBrk="1" hangingPunct="1">
              <a:spcBef>
                <a:spcPct val="0"/>
              </a:spcBef>
              <a:buFont typeface="Wingdings" panose="05000000000000000000" pitchFamily="2" charset="2"/>
              <a:buNone/>
            </a:pPr>
            <a:endParaRPr lang="en-US" altLang="fr-FR" sz="2400" b="1">
              <a:solidFill>
                <a:srgbClr val="FFFF9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726EF149-9D81-808E-B006-649003AD4787}"/>
              </a:ext>
            </a:extLst>
          </p:cNvPr>
          <p:cNvSpPr>
            <a:spLocks noGrp="1" noChangeArrowheads="1"/>
          </p:cNvSpPr>
          <p:nvPr>
            <p:ph type="title"/>
          </p:nvPr>
        </p:nvSpPr>
        <p:spPr>
          <a:xfrm>
            <a:off x="468313" y="0"/>
            <a:ext cx="8229600" cy="1143000"/>
          </a:xfrm>
          <a:noFill/>
        </p:spPr>
        <p:txBody>
          <a:bodyPr/>
          <a:lstStyle/>
          <a:p>
            <a:pPr eaLnBrk="1" hangingPunct="1"/>
            <a:r>
              <a:rPr lang="fr-CA" altLang="fr-FR">
                <a:solidFill>
                  <a:srgbClr val="FFFF99"/>
                </a:solidFill>
              </a:rPr>
              <a:t>Architecture NES</a:t>
            </a:r>
          </a:p>
        </p:txBody>
      </p:sp>
      <p:sp>
        <p:nvSpPr>
          <p:cNvPr id="8195" name="Text Box 5">
            <a:extLst>
              <a:ext uri="{FF2B5EF4-FFF2-40B4-BE49-F238E27FC236}">
                <a16:creationId xmlns:a16="http://schemas.microsoft.com/office/drawing/2014/main" id="{698DFCAB-257C-5FE8-C702-97978CD2A693}"/>
              </a:ext>
            </a:extLst>
          </p:cNvPr>
          <p:cNvSpPr txBox="1">
            <a:spLocks noChangeArrowheads="1"/>
          </p:cNvSpPr>
          <p:nvPr/>
        </p:nvSpPr>
        <p:spPr bwMode="auto">
          <a:xfrm>
            <a:off x="4010025" y="908050"/>
            <a:ext cx="9747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mémoire</a:t>
            </a:r>
            <a:endParaRPr lang="en-US" altLang="fr-FR" sz="1600" u="sng">
              <a:solidFill>
                <a:srgbClr val="FF9900"/>
              </a:solidFill>
            </a:endParaRPr>
          </a:p>
        </p:txBody>
      </p:sp>
      <p:graphicFrame>
        <p:nvGraphicFramePr>
          <p:cNvPr id="56356" name="Group 36">
            <a:extLst>
              <a:ext uri="{FF2B5EF4-FFF2-40B4-BE49-F238E27FC236}">
                <a16:creationId xmlns:a16="http://schemas.microsoft.com/office/drawing/2014/main" id="{F8FBE57E-CB64-18D7-9D0E-18E375E2EB33}"/>
              </a:ext>
            </a:extLst>
          </p:cNvPr>
          <p:cNvGraphicFramePr>
            <a:graphicFrameLocks noGrp="1"/>
          </p:cNvGraphicFramePr>
          <p:nvPr/>
        </p:nvGraphicFramePr>
        <p:xfrm>
          <a:off x="4787900" y="1412875"/>
          <a:ext cx="3455988" cy="5129213"/>
        </p:xfrm>
        <a:graphic>
          <a:graphicData uri="http://schemas.openxmlformats.org/drawingml/2006/table">
            <a:tbl>
              <a:tblPr/>
              <a:tblGrid>
                <a:gridCol w="3455988">
                  <a:extLst>
                    <a:ext uri="{9D8B030D-6E8A-4147-A177-3AD203B41FA5}">
                      <a16:colId xmlns:a16="http://schemas.microsoft.com/office/drawing/2014/main" val="20000"/>
                    </a:ext>
                  </a:extLst>
                </a:gridCol>
              </a:tblGrid>
              <a:tr h="6714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PRG-ROM (cartouche)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Banque mémoire #1</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695257">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PRG-ROM (cartouche)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Banque mémoire #0</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67144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SRAM (cartouche)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Mémoire de sauvegarde</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67303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EX-RAM (cartouche)</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Mémoire RAM additionnelle</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8717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Entrées / sorties </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Communication avec processeur audio et ports des manettes</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87170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Entrées / sorties</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Communication avec le processeur d’image</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6746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RAM</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Mémoire d’usage général</a:t>
                      </a:r>
                      <a:endParaRPr kumimoji="0" lang="en-US" sz="1600" b="0" i="0" u="none" strike="noStrike" cap="none" normalizeH="0" baseline="0">
                        <a:ln>
                          <a:noFill/>
                        </a:ln>
                        <a:solidFill>
                          <a:schemeClr val="tx1"/>
                        </a:solidFill>
                        <a:effectLst/>
                        <a:latin typeface="Arial" charset="0"/>
                      </a:endParaRPr>
                    </a:p>
                  </a:txBody>
                  <a:tcPr marT="45716" marB="45716"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bl>
          </a:graphicData>
        </a:graphic>
      </p:graphicFrame>
      <p:sp>
        <p:nvSpPr>
          <p:cNvPr id="8214" name="Text Box 37">
            <a:extLst>
              <a:ext uri="{FF2B5EF4-FFF2-40B4-BE49-F238E27FC236}">
                <a16:creationId xmlns:a16="http://schemas.microsoft.com/office/drawing/2014/main" id="{10FBEBD6-357F-076E-4ED4-ADFA5F861EB0}"/>
              </a:ext>
            </a:extLst>
          </p:cNvPr>
          <p:cNvSpPr txBox="1">
            <a:spLocks noChangeArrowheads="1"/>
          </p:cNvSpPr>
          <p:nvPr/>
        </p:nvSpPr>
        <p:spPr bwMode="auto">
          <a:xfrm>
            <a:off x="8172450" y="1341438"/>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$FFFF</a:t>
            </a:r>
            <a:endParaRPr lang="en-US" altLang="fr-FR" sz="1600">
              <a:solidFill>
                <a:srgbClr val="FF9900"/>
              </a:solidFill>
            </a:endParaRPr>
          </a:p>
        </p:txBody>
      </p:sp>
      <p:sp>
        <p:nvSpPr>
          <p:cNvPr id="8215" name="Text Box 38">
            <a:extLst>
              <a:ext uri="{FF2B5EF4-FFF2-40B4-BE49-F238E27FC236}">
                <a16:creationId xmlns:a16="http://schemas.microsoft.com/office/drawing/2014/main" id="{A181679F-DC49-FE27-EF69-95750BC18283}"/>
              </a:ext>
            </a:extLst>
          </p:cNvPr>
          <p:cNvSpPr txBox="1">
            <a:spLocks noChangeArrowheads="1"/>
          </p:cNvSpPr>
          <p:nvPr/>
        </p:nvSpPr>
        <p:spPr bwMode="auto">
          <a:xfrm>
            <a:off x="8172450" y="1916113"/>
            <a:ext cx="781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$C000</a:t>
            </a:r>
            <a:endParaRPr lang="en-US" altLang="fr-FR" sz="1600">
              <a:solidFill>
                <a:srgbClr val="FF9900"/>
              </a:solidFill>
            </a:endParaRPr>
          </a:p>
        </p:txBody>
      </p:sp>
      <p:sp>
        <p:nvSpPr>
          <p:cNvPr id="8216" name="Text Box 39">
            <a:extLst>
              <a:ext uri="{FF2B5EF4-FFF2-40B4-BE49-F238E27FC236}">
                <a16:creationId xmlns:a16="http://schemas.microsoft.com/office/drawing/2014/main" id="{F2160E19-8EF2-F82B-2CDD-AB824B8A6083}"/>
              </a:ext>
            </a:extLst>
          </p:cNvPr>
          <p:cNvSpPr txBox="1">
            <a:spLocks noChangeArrowheads="1"/>
          </p:cNvSpPr>
          <p:nvPr/>
        </p:nvSpPr>
        <p:spPr bwMode="auto">
          <a:xfrm>
            <a:off x="8172450" y="2565400"/>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$8000</a:t>
            </a:r>
            <a:endParaRPr lang="en-US" altLang="fr-FR" sz="1600">
              <a:solidFill>
                <a:srgbClr val="FF9900"/>
              </a:solidFill>
            </a:endParaRPr>
          </a:p>
        </p:txBody>
      </p:sp>
      <p:sp>
        <p:nvSpPr>
          <p:cNvPr id="8217" name="Text Box 40">
            <a:extLst>
              <a:ext uri="{FF2B5EF4-FFF2-40B4-BE49-F238E27FC236}">
                <a16:creationId xmlns:a16="http://schemas.microsoft.com/office/drawing/2014/main" id="{14088482-E175-07B1-96F9-0A5621AD1A9D}"/>
              </a:ext>
            </a:extLst>
          </p:cNvPr>
          <p:cNvSpPr txBox="1">
            <a:spLocks noChangeArrowheads="1"/>
          </p:cNvSpPr>
          <p:nvPr/>
        </p:nvSpPr>
        <p:spPr bwMode="auto">
          <a:xfrm>
            <a:off x="8197850" y="328453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$6000</a:t>
            </a:r>
            <a:endParaRPr lang="en-US" altLang="fr-FR" sz="1600">
              <a:solidFill>
                <a:srgbClr val="FF9900"/>
              </a:solidFill>
            </a:endParaRPr>
          </a:p>
        </p:txBody>
      </p:sp>
      <p:sp>
        <p:nvSpPr>
          <p:cNvPr id="8218" name="Text Box 41">
            <a:extLst>
              <a:ext uri="{FF2B5EF4-FFF2-40B4-BE49-F238E27FC236}">
                <a16:creationId xmlns:a16="http://schemas.microsoft.com/office/drawing/2014/main" id="{5104DCAE-109C-33D7-F64C-D1FCB2F85140}"/>
              </a:ext>
            </a:extLst>
          </p:cNvPr>
          <p:cNvSpPr txBox="1">
            <a:spLocks noChangeArrowheads="1"/>
          </p:cNvSpPr>
          <p:nvPr/>
        </p:nvSpPr>
        <p:spPr bwMode="auto">
          <a:xfrm>
            <a:off x="8189913" y="3859213"/>
            <a:ext cx="747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$4020</a:t>
            </a:r>
            <a:endParaRPr lang="en-US" altLang="fr-FR" sz="1600">
              <a:solidFill>
                <a:srgbClr val="FF9900"/>
              </a:solidFill>
            </a:endParaRPr>
          </a:p>
        </p:txBody>
      </p:sp>
      <p:sp>
        <p:nvSpPr>
          <p:cNvPr id="8219" name="Text Box 42">
            <a:extLst>
              <a:ext uri="{FF2B5EF4-FFF2-40B4-BE49-F238E27FC236}">
                <a16:creationId xmlns:a16="http://schemas.microsoft.com/office/drawing/2014/main" id="{8AF6144D-A068-D11D-2DA4-A088BFE6468E}"/>
              </a:ext>
            </a:extLst>
          </p:cNvPr>
          <p:cNvSpPr txBox="1">
            <a:spLocks noChangeArrowheads="1"/>
          </p:cNvSpPr>
          <p:nvPr/>
        </p:nvSpPr>
        <p:spPr bwMode="auto">
          <a:xfrm>
            <a:off x="8174038" y="4821238"/>
            <a:ext cx="747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$4000</a:t>
            </a:r>
            <a:endParaRPr lang="en-US" altLang="fr-FR" sz="1600">
              <a:solidFill>
                <a:srgbClr val="FF9900"/>
              </a:solidFill>
            </a:endParaRPr>
          </a:p>
        </p:txBody>
      </p:sp>
      <p:sp>
        <p:nvSpPr>
          <p:cNvPr id="8220" name="Text Box 43">
            <a:extLst>
              <a:ext uri="{FF2B5EF4-FFF2-40B4-BE49-F238E27FC236}">
                <a16:creationId xmlns:a16="http://schemas.microsoft.com/office/drawing/2014/main" id="{18996AD8-6757-E8E6-BAEA-F4C9EB611542}"/>
              </a:ext>
            </a:extLst>
          </p:cNvPr>
          <p:cNvSpPr txBox="1">
            <a:spLocks noChangeArrowheads="1"/>
          </p:cNvSpPr>
          <p:nvPr/>
        </p:nvSpPr>
        <p:spPr bwMode="auto">
          <a:xfrm>
            <a:off x="8172450" y="568483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$2000</a:t>
            </a:r>
            <a:endParaRPr lang="en-US" altLang="fr-FR" sz="1600">
              <a:solidFill>
                <a:srgbClr val="FF9900"/>
              </a:solidFill>
            </a:endParaRPr>
          </a:p>
        </p:txBody>
      </p:sp>
      <p:sp>
        <p:nvSpPr>
          <p:cNvPr id="8221" name="Text Box 44">
            <a:extLst>
              <a:ext uri="{FF2B5EF4-FFF2-40B4-BE49-F238E27FC236}">
                <a16:creationId xmlns:a16="http://schemas.microsoft.com/office/drawing/2014/main" id="{D5C00A9D-588F-2D22-A3F1-A1738E63A735}"/>
              </a:ext>
            </a:extLst>
          </p:cNvPr>
          <p:cNvSpPr txBox="1">
            <a:spLocks noChangeArrowheads="1"/>
          </p:cNvSpPr>
          <p:nvPr/>
        </p:nvSpPr>
        <p:spPr bwMode="auto">
          <a:xfrm>
            <a:off x="8172450" y="633253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$0000</a:t>
            </a:r>
            <a:endParaRPr lang="en-US" altLang="fr-FR" sz="1600">
              <a:solidFill>
                <a:srgbClr val="FF9900"/>
              </a:solidFill>
            </a:endParaRPr>
          </a:p>
        </p:txBody>
      </p:sp>
      <p:sp>
        <p:nvSpPr>
          <p:cNvPr id="8222" name="Line 45">
            <a:extLst>
              <a:ext uri="{FF2B5EF4-FFF2-40B4-BE49-F238E27FC236}">
                <a16:creationId xmlns:a16="http://schemas.microsoft.com/office/drawing/2014/main" id="{09887C1A-1197-4E55-E8EE-4B2F0010EC79}"/>
              </a:ext>
            </a:extLst>
          </p:cNvPr>
          <p:cNvSpPr>
            <a:spLocks noChangeShapeType="1"/>
          </p:cNvSpPr>
          <p:nvPr/>
        </p:nvSpPr>
        <p:spPr bwMode="auto">
          <a:xfrm>
            <a:off x="3060700" y="1844675"/>
            <a:ext cx="1655763" cy="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23" name="Text Box 46">
            <a:extLst>
              <a:ext uri="{FF2B5EF4-FFF2-40B4-BE49-F238E27FC236}">
                <a16:creationId xmlns:a16="http://schemas.microsoft.com/office/drawing/2014/main" id="{55EA4851-0305-2DEB-D675-148659815B68}"/>
              </a:ext>
            </a:extLst>
          </p:cNvPr>
          <p:cNvSpPr txBox="1">
            <a:spLocks noChangeArrowheads="1"/>
          </p:cNvSpPr>
          <p:nvPr/>
        </p:nvSpPr>
        <p:spPr bwMode="auto">
          <a:xfrm>
            <a:off x="107950" y="1412875"/>
            <a:ext cx="3414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Contient le programme et parfois</a:t>
            </a:r>
          </a:p>
          <a:p>
            <a:pPr eaLnBrk="1" hangingPunct="1">
              <a:spcBef>
                <a:spcPct val="0"/>
              </a:spcBef>
              <a:buFontTx/>
              <a:buNone/>
            </a:pPr>
            <a:r>
              <a:rPr lang="fr-CA" altLang="fr-FR" sz="1600" b="1">
                <a:solidFill>
                  <a:srgbClr val="FFFF99"/>
                </a:solidFill>
              </a:rPr>
              <a:t>les graphiques du jeu.</a:t>
            </a:r>
            <a:endParaRPr lang="en-US" altLang="fr-FR" sz="1600" b="1">
              <a:solidFill>
                <a:srgbClr val="FFFF99"/>
              </a:solidFill>
            </a:endParaRPr>
          </a:p>
        </p:txBody>
      </p:sp>
      <p:sp>
        <p:nvSpPr>
          <p:cNvPr id="8224" name="Line 47">
            <a:extLst>
              <a:ext uri="{FF2B5EF4-FFF2-40B4-BE49-F238E27FC236}">
                <a16:creationId xmlns:a16="http://schemas.microsoft.com/office/drawing/2014/main" id="{5777A164-FC5D-D26C-AD18-EF8E358A29B7}"/>
              </a:ext>
            </a:extLst>
          </p:cNvPr>
          <p:cNvSpPr>
            <a:spLocks noChangeShapeType="1"/>
          </p:cNvSpPr>
          <p:nvPr/>
        </p:nvSpPr>
        <p:spPr bwMode="auto">
          <a:xfrm>
            <a:off x="3060700" y="1844675"/>
            <a:ext cx="1655763" cy="5048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25" name="Line 48">
            <a:extLst>
              <a:ext uri="{FF2B5EF4-FFF2-40B4-BE49-F238E27FC236}">
                <a16:creationId xmlns:a16="http://schemas.microsoft.com/office/drawing/2014/main" id="{2F90EF2F-1B1A-C33A-198C-86FE4338154C}"/>
              </a:ext>
            </a:extLst>
          </p:cNvPr>
          <p:cNvSpPr>
            <a:spLocks noChangeShapeType="1"/>
          </p:cNvSpPr>
          <p:nvPr/>
        </p:nvSpPr>
        <p:spPr bwMode="auto">
          <a:xfrm>
            <a:off x="3348038" y="2924175"/>
            <a:ext cx="1368425" cy="29051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26" name="Text Box 49">
            <a:extLst>
              <a:ext uri="{FF2B5EF4-FFF2-40B4-BE49-F238E27FC236}">
                <a16:creationId xmlns:a16="http://schemas.microsoft.com/office/drawing/2014/main" id="{FFC22B2E-4778-3205-A9FB-C55D9E58082C}"/>
              </a:ext>
            </a:extLst>
          </p:cNvPr>
          <p:cNvSpPr txBox="1">
            <a:spLocks noChangeArrowheads="1"/>
          </p:cNvSpPr>
          <p:nvPr/>
        </p:nvSpPr>
        <p:spPr bwMode="auto">
          <a:xfrm>
            <a:off x="76200" y="2259013"/>
            <a:ext cx="4302125"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Mémoire RAM branchée sur une batterie,</a:t>
            </a:r>
          </a:p>
          <a:p>
            <a:pPr eaLnBrk="1" hangingPunct="1">
              <a:spcBef>
                <a:spcPct val="0"/>
              </a:spcBef>
              <a:buFontTx/>
              <a:buNone/>
            </a:pPr>
            <a:r>
              <a:rPr lang="fr-CA" altLang="fr-FR" sz="1600" b="1">
                <a:solidFill>
                  <a:srgbClr val="FFFF99"/>
                </a:solidFill>
              </a:rPr>
              <a:t>Utilisée pour sauvegarder / récupérer une </a:t>
            </a:r>
          </a:p>
          <a:p>
            <a:pPr eaLnBrk="1" hangingPunct="1">
              <a:spcBef>
                <a:spcPct val="0"/>
              </a:spcBef>
              <a:buFontTx/>
              <a:buNone/>
            </a:pPr>
            <a:r>
              <a:rPr lang="fr-CA" altLang="fr-FR" sz="1600" b="1">
                <a:solidFill>
                  <a:srgbClr val="FFFF99"/>
                </a:solidFill>
              </a:rPr>
              <a:t>partie.</a:t>
            </a:r>
          </a:p>
          <a:p>
            <a:pPr eaLnBrk="1" hangingPunct="1">
              <a:spcBef>
                <a:spcPct val="0"/>
              </a:spcBef>
              <a:buFontTx/>
              <a:buNone/>
            </a:pPr>
            <a:endParaRPr lang="fr-CA" altLang="fr-FR" sz="1600" b="1">
              <a:solidFill>
                <a:srgbClr val="FFFF99"/>
              </a:solidFill>
            </a:endParaRPr>
          </a:p>
          <a:p>
            <a:pPr eaLnBrk="1" hangingPunct="1">
              <a:spcBef>
                <a:spcPct val="0"/>
              </a:spcBef>
              <a:buFontTx/>
              <a:buNone/>
            </a:pPr>
            <a:endParaRPr lang="en-US" altLang="fr-FR" sz="1600" b="1">
              <a:solidFill>
                <a:srgbClr val="FFFF99"/>
              </a:solidFill>
            </a:endParaRPr>
          </a:p>
        </p:txBody>
      </p:sp>
      <p:sp>
        <p:nvSpPr>
          <p:cNvPr id="8227" name="Text Box 50">
            <a:extLst>
              <a:ext uri="{FF2B5EF4-FFF2-40B4-BE49-F238E27FC236}">
                <a16:creationId xmlns:a16="http://schemas.microsoft.com/office/drawing/2014/main" id="{71AA0CDD-754D-7D93-EA2D-BED060022ABD}"/>
              </a:ext>
            </a:extLst>
          </p:cNvPr>
          <p:cNvSpPr txBox="1">
            <a:spLocks noChangeArrowheads="1"/>
          </p:cNvSpPr>
          <p:nvPr/>
        </p:nvSpPr>
        <p:spPr bwMode="auto">
          <a:xfrm>
            <a:off x="107950" y="3284538"/>
            <a:ext cx="35972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Utilisée par la puce MMC5, capable</a:t>
            </a:r>
          </a:p>
          <a:p>
            <a:pPr eaLnBrk="1" hangingPunct="1">
              <a:spcBef>
                <a:spcPct val="0"/>
              </a:spcBef>
              <a:buFontTx/>
              <a:buNone/>
            </a:pPr>
            <a:r>
              <a:rPr lang="fr-CA" altLang="fr-FR" sz="1600" b="1">
                <a:solidFill>
                  <a:srgbClr val="FFFF99"/>
                </a:solidFill>
              </a:rPr>
              <a:t>de faire des calculs spécialisés.</a:t>
            </a:r>
            <a:endParaRPr lang="en-US" altLang="fr-FR" sz="1600" b="1">
              <a:solidFill>
                <a:srgbClr val="FFFF99"/>
              </a:solidFill>
            </a:endParaRPr>
          </a:p>
        </p:txBody>
      </p:sp>
      <p:sp>
        <p:nvSpPr>
          <p:cNvPr id="8228" name="Line 51">
            <a:extLst>
              <a:ext uri="{FF2B5EF4-FFF2-40B4-BE49-F238E27FC236}">
                <a16:creationId xmlns:a16="http://schemas.microsoft.com/office/drawing/2014/main" id="{7E2769D4-26FC-964D-9701-9D25FA0F965E}"/>
              </a:ext>
            </a:extLst>
          </p:cNvPr>
          <p:cNvSpPr>
            <a:spLocks noChangeShapeType="1"/>
          </p:cNvSpPr>
          <p:nvPr/>
        </p:nvSpPr>
        <p:spPr bwMode="auto">
          <a:xfrm>
            <a:off x="3565525" y="3716338"/>
            <a:ext cx="1150938" cy="71437"/>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29" name="Text Box 52">
            <a:extLst>
              <a:ext uri="{FF2B5EF4-FFF2-40B4-BE49-F238E27FC236}">
                <a16:creationId xmlns:a16="http://schemas.microsoft.com/office/drawing/2014/main" id="{FACF8C69-9F83-E529-125D-88F4589B37DC}"/>
              </a:ext>
            </a:extLst>
          </p:cNvPr>
          <p:cNvSpPr txBox="1">
            <a:spLocks noChangeArrowheads="1"/>
          </p:cNvSpPr>
          <p:nvPr/>
        </p:nvSpPr>
        <p:spPr bwMode="auto">
          <a:xfrm>
            <a:off x="107950" y="3933825"/>
            <a:ext cx="45100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$4014 utilisé pour des transferts DMA</a:t>
            </a:r>
          </a:p>
          <a:p>
            <a:pPr eaLnBrk="1" hangingPunct="1">
              <a:spcBef>
                <a:spcPct val="0"/>
              </a:spcBef>
              <a:buFontTx/>
              <a:buNone/>
            </a:pPr>
            <a:r>
              <a:rPr lang="fr-CA" altLang="fr-FR" sz="1600" b="1">
                <a:solidFill>
                  <a:srgbClr val="FFFF99"/>
                </a:solidFill>
              </a:rPr>
              <a:t>entre CPU et PPU (mise à jour des sprites).</a:t>
            </a:r>
          </a:p>
          <a:p>
            <a:pPr eaLnBrk="1" hangingPunct="1">
              <a:spcBef>
                <a:spcPct val="0"/>
              </a:spcBef>
              <a:buFontTx/>
              <a:buNone/>
            </a:pPr>
            <a:r>
              <a:rPr lang="fr-CA" altLang="fr-FR" sz="1600" b="1">
                <a:solidFill>
                  <a:srgbClr val="FFFF99"/>
                </a:solidFill>
              </a:rPr>
              <a:t>$4016 et $4017 sont les ports des manettes. </a:t>
            </a:r>
            <a:endParaRPr lang="en-US" altLang="fr-FR" sz="1600" b="1">
              <a:solidFill>
                <a:srgbClr val="FFFF99"/>
              </a:solidFill>
            </a:endParaRPr>
          </a:p>
        </p:txBody>
      </p:sp>
      <p:sp>
        <p:nvSpPr>
          <p:cNvPr id="8230" name="Line 53">
            <a:extLst>
              <a:ext uri="{FF2B5EF4-FFF2-40B4-BE49-F238E27FC236}">
                <a16:creationId xmlns:a16="http://schemas.microsoft.com/office/drawing/2014/main" id="{BE0CA2E2-8EB4-D673-1138-20589D85A907}"/>
              </a:ext>
            </a:extLst>
          </p:cNvPr>
          <p:cNvSpPr>
            <a:spLocks noChangeShapeType="1"/>
          </p:cNvSpPr>
          <p:nvPr/>
        </p:nvSpPr>
        <p:spPr bwMode="auto">
          <a:xfrm>
            <a:off x="4211638" y="4437063"/>
            <a:ext cx="504825" cy="6985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31" name="Text Box 54">
            <a:extLst>
              <a:ext uri="{FF2B5EF4-FFF2-40B4-BE49-F238E27FC236}">
                <a16:creationId xmlns:a16="http://schemas.microsoft.com/office/drawing/2014/main" id="{B15EEA50-A5DE-8E7E-9A21-8ABEBC1C0933}"/>
              </a:ext>
            </a:extLst>
          </p:cNvPr>
          <p:cNvSpPr txBox="1">
            <a:spLocks noChangeArrowheads="1"/>
          </p:cNvSpPr>
          <p:nvPr/>
        </p:nvSpPr>
        <p:spPr bwMode="auto">
          <a:xfrm>
            <a:off x="111125" y="4868863"/>
            <a:ext cx="4475163"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$2000 à $2008 servent à programmer</a:t>
            </a:r>
          </a:p>
          <a:p>
            <a:pPr eaLnBrk="1" hangingPunct="1">
              <a:spcBef>
                <a:spcPct val="0"/>
              </a:spcBef>
              <a:buFontTx/>
              <a:buNone/>
            </a:pPr>
            <a:r>
              <a:rPr lang="fr-CA" altLang="fr-FR" sz="1600" b="1">
                <a:solidFill>
                  <a:srgbClr val="FFFF99"/>
                </a:solidFill>
              </a:rPr>
              <a:t>le PPU.  $2009 à $3FFF sont câblées sur</a:t>
            </a:r>
          </a:p>
          <a:p>
            <a:pPr eaLnBrk="1" hangingPunct="1">
              <a:spcBef>
                <a:spcPct val="0"/>
              </a:spcBef>
              <a:buFontTx/>
              <a:buNone/>
            </a:pPr>
            <a:r>
              <a:rPr lang="fr-CA" altLang="fr-FR" sz="1600" b="1">
                <a:solidFill>
                  <a:srgbClr val="FFFF99"/>
                </a:solidFill>
              </a:rPr>
              <a:t>les mêmes fonctions, répétées aux 8 octets.</a:t>
            </a:r>
            <a:endParaRPr lang="en-US" altLang="fr-FR" sz="1600" b="1">
              <a:solidFill>
                <a:srgbClr val="FFFF99"/>
              </a:solidFill>
            </a:endParaRPr>
          </a:p>
        </p:txBody>
      </p:sp>
      <p:sp>
        <p:nvSpPr>
          <p:cNvPr id="8232" name="Line 55">
            <a:extLst>
              <a:ext uri="{FF2B5EF4-FFF2-40B4-BE49-F238E27FC236}">
                <a16:creationId xmlns:a16="http://schemas.microsoft.com/office/drawing/2014/main" id="{6A01414F-CA15-A82C-1212-34E225A14249}"/>
              </a:ext>
            </a:extLst>
          </p:cNvPr>
          <p:cNvSpPr>
            <a:spLocks noChangeShapeType="1"/>
          </p:cNvSpPr>
          <p:nvPr/>
        </p:nvSpPr>
        <p:spPr bwMode="auto">
          <a:xfrm>
            <a:off x="4140200" y="5373688"/>
            <a:ext cx="504825" cy="6985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8233" name="Text Box 56">
            <a:extLst>
              <a:ext uri="{FF2B5EF4-FFF2-40B4-BE49-F238E27FC236}">
                <a16:creationId xmlns:a16="http://schemas.microsoft.com/office/drawing/2014/main" id="{FD2664E2-5FEA-9B0F-65BF-9DD05407ADDE}"/>
              </a:ext>
            </a:extLst>
          </p:cNvPr>
          <p:cNvSpPr txBox="1">
            <a:spLocks noChangeArrowheads="1"/>
          </p:cNvSpPr>
          <p:nvPr/>
        </p:nvSpPr>
        <p:spPr bwMode="auto">
          <a:xfrm>
            <a:off x="107950" y="5772150"/>
            <a:ext cx="4113213"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b="1">
                <a:solidFill>
                  <a:srgbClr val="FFFF99"/>
                </a:solidFill>
              </a:rPr>
              <a:t>$0000 à $0800 sont les 2k de mémoire</a:t>
            </a:r>
          </a:p>
          <a:p>
            <a:pPr eaLnBrk="1" hangingPunct="1">
              <a:spcBef>
                <a:spcPct val="0"/>
              </a:spcBef>
              <a:buFontTx/>
              <a:buNone/>
            </a:pPr>
            <a:r>
              <a:rPr lang="fr-CA" altLang="fr-FR" sz="1600" b="1">
                <a:solidFill>
                  <a:srgbClr val="FFFF99"/>
                </a:solidFill>
              </a:rPr>
              <a:t>RAM, $0801 à $1FFF sont câblées sur </a:t>
            </a:r>
          </a:p>
          <a:p>
            <a:pPr eaLnBrk="1" hangingPunct="1">
              <a:spcBef>
                <a:spcPct val="0"/>
              </a:spcBef>
              <a:buFontTx/>
              <a:buNone/>
            </a:pPr>
            <a:r>
              <a:rPr lang="fr-CA" altLang="fr-FR" sz="1600" b="1">
                <a:solidFill>
                  <a:srgbClr val="FFFF99"/>
                </a:solidFill>
              </a:rPr>
              <a:t>la même mémoire, répétée à tous les 2k.</a:t>
            </a:r>
            <a:endParaRPr lang="en-US" altLang="fr-FR" sz="1600" b="1">
              <a:solidFill>
                <a:srgbClr val="FFFF99"/>
              </a:solidFill>
            </a:endParaRPr>
          </a:p>
        </p:txBody>
      </p:sp>
      <p:sp>
        <p:nvSpPr>
          <p:cNvPr id="8234" name="Line 57">
            <a:extLst>
              <a:ext uri="{FF2B5EF4-FFF2-40B4-BE49-F238E27FC236}">
                <a16:creationId xmlns:a16="http://schemas.microsoft.com/office/drawing/2014/main" id="{322B6133-CF00-3CD2-682E-987CF2AD98E5}"/>
              </a:ext>
            </a:extLst>
          </p:cNvPr>
          <p:cNvSpPr>
            <a:spLocks noChangeShapeType="1"/>
          </p:cNvSpPr>
          <p:nvPr/>
        </p:nvSpPr>
        <p:spPr bwMode="auto">
          <a:xfrm flipV="1">
            <a:off x="3924300" y="6237288"/>
            <a:ext cx="720725" cy="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Line 6">
            <a:extLst>
              <a:ext uri="{FF2B5EF4-FFF2-40B4-BE49-F238E27FC236}">
                <a16:creationId xmlns:a16="http://schemas.microsoft.com/office/drawing/2014/main" id="{2FB85E9B-FD48-772C-08E8-3802AF58B266}"/>
              </a:ext>
            </a:extLst>
          </p:cNvPr>
          <p:cNvSpPr>
            <a:spLocks noChangeShapeType="1"/>
          </p:cNvSpPr>
          <p:nvPr/>
        </p:nvSpPr>
        <p:spPr bwMode="auto">
          <a:xfrm>
            <a:off x="900113" y="5516563"/>
            <a:ext cx="7416800" cy="0"/>
          </a:xfrm>
          <a:prstGeom prst="line">
            <a:avLst/>
          </a:prstGeom>
          <a:noFill/>
          <a:ln w="76200" cmpd="tri">
            <a:solidFill>
              <a:srgbClr val="FF9900"/>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9219" name="Text Box 8">
            <a:extLst>
              <a:ext uri="{FF2B5EF4-FFF2-40B4-BE49-F238E27FC236}">
                <a16:creationId xmlns:a16="http://schemas.microsoft.com/office/drawing/2014/main" id="{383F69AE-712D-F61F-8DF8-01A7D3238249}"/>
              </a:ext>
            </a:extLst>
          </p:cNvPr>
          <p:cNvSpPr txBox="1">
            <a:spLocks noChangeArrowheads="1"/>
          </p:cNvSpPr>
          <p:nvPr/>
        </p:nvSpPr>
        <p:spPr bwMode="auto">
          <a:xfrm>
            <a:off x="107950" y="2781300"/>
            <a:ext cx="1800225" cy="1400175"/>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fr-CA" altLang="fr-FR" sz="2400"/>
          </a:p>
          <a:p>
            <a:pPr algn="ctr" eaLnBrk="1" hangingPunct="1">
              <a:spcBef>
                <a:spcPct val="0"/>
              </a:spcBef>
              <a:buFontTx/>
              <a:buNone/>
            </a:pPr>
            <a:r>
              <a:rPr lang="fr-CA" altLang="fr-FR" sz="2000"/>
              <a:t>Processeur</a:t>
            </a:r>
          </a:p>
          <a:p>
            <a:pPr algn="ctr" eaLnBrk="1" hangingPunct="1">
              <a:spcBef>
                <a:spcPct val="0"/>
              </a:spcBef>
              <a:buFontTx/>
              <a:buNone/>
            </a:pPr>
            <a:r>
              <a:rPr lang="fr-CA" altLang="fr-FR" sz="2000"/>
              <a:t>6502</a:t>
            </a:r>
          </a:p>
          <a:p>
            <a:pPr algn="ctr" eaLnBrk="1" hangingPunct="1">
              <a:spcBef>
                <a:spcPct val="0"/>
              </a:spcBef>
              <a:buFontTx/>
              <a:buNone/>
            </a:pPr>
            <a:endParaRPr lang="en-US" altLang="fr-FR" sz="2000"/>
          </a:p>
        </p:txBody>
      </p:sp>
      <p:sp>
        <p:nvSpPr>
          <p:cNvPr id="9220" name="Text Box 9">
            <a:extLst>
              <a:ext uri="{FF2B5EF4-FFF2-40B4-BE49-F238E27FC236}">
                <a16:creationId xmlns:a16="http://schemas.microsoft.com/office/drawing/2014/main" id="{66A04605-C15D-4642-B399-778A48D3D4C7}"/>
              </a:ext>
            </a:extLst>
          </p:cNvPr>
          <p:cNvSpPr txBox="1">
            <a:spLocks noChangeArrowheads="1"/>
          </p:cNvSpPr>
          <p:nvPr/>
        </p:nvSpPr>
        <p:spPr bwMode="auto">
          <a:xfrm>
            <a:off x="2268538" y="2276475"/>
            <a:ext cx="2089150" cy="1095375"/>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fr-CA" altLang="fr-FR" sz="2400"/>
          </a:p>
          <a:p>
            <a:pPr algn="ctr" eaLnBrk="1" hangingPunct="1">
              <a:spcBef>
                <a:spcPct val="0"/>
              </a:spcBef>
              <a:buFontTx/>
              <a:buNone/>
            </a:pPr>
            <a:r>
              <a:rPr lang="fr-CA" altLang="fr-FR" sz="2000"/>
              <a:t>ROM</a:t>
            </a:r>
          </a:p>
          <a:p>
            <a:pPr algn="ctr" eaLnBrk="1" hangingPunct="1">
              <a:spcBef>
                <a:spcPct val="0"/>
              </a:spcBef>
              <a:buFontTx/>
              <a:buNone/>
            </a:pPr>
            <a:endParaRPr lang="en-US" altLang="fr-FR" sz="2000"/>
          </a:p>
        </p:txBody>
      </p:sp>
      <p:sp>
        <p:nvSpPr>
          <p:cNvPr id="9221" name="Text Box 10">
            <a:extLst>
              <a:ext uri="{FF2B5EF4-FFF2-40B4-BE49-F238E27FC236}">
                <a16:creationId xmlns:a16="http://schemas.microsoft.com/office/drawing/2014/main" id="{F629BBE7-2C62-5B29-AE4E-184151FF8FE2}"/>
              </a:ext>
            </a:extLst>
          </p:cNvPr>
          <p:cNvSpPr txBox="1">
            <a:spLocks noChangeArrowheads="1"/>
          </p:cNvSpPr>
          <p:nvPr/>
        </p:nvSpPr>
        <p:spPr bwMode="auto">
          <a:xfrm>
            <a:off x="2268538" y="3933825"/>
            <a:ext cx="2087562" cy="1035050"/>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t>Unité de gestion mémoire </a:t>
            </a:r>
          </a:p>
          <a:p>
            <a:pPr algn="ctr" eaLnBrk="1" hangingPunct="1">
              <a:spcBef>
                <a:spcPct val="0"/>
              </a:spcBef>
              <a:buFontTx/>
              <a:buNone/>
            </a:pPr>
            <a:r>
              <a:rPr lang="fr-CA" altLang="fr-FR" sz="2000"/>
              <a:t>(MMU)</a:t>
            </a:r>
            <a:endParaRPr lang="en-US" altLang="fr-FR" sz="2000"/>
          </a:p>
        </p:txBody>
      </p:sp>
      <p:sp>
        <p:nvSpPr>
          <p:cNvPr id="9222" name="Text Box 11">
            <a:extLst>
              <a:ext uri="{FF2B5EF4-FFF2-40B4-BE49-F238E27FC236}">
                <a16:creationId xmlns:a16="http://schemas.microsoft.com/office/drawing/2014/main" id="{999063FC-20C5-9A33-958D-3C39CC65EDA8}"/>
              </a:ext>
            </a:extLst>
          </p:cNvPr>
          <p:cNvSpPr txBox="1">
            <a:spLocks noChangeArrowheads="1"/>
          </p:cNvSpPr>
          <p:nvPr/>
        </p:nvSpPr>
        <p:spPr bwMode="auto">
          <a:xfrm>
            <a:off x="4572000" y="2997200"/>
            <a:ext cx="2089150" cy="1095375"/>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fr-CA" altLang="fr-FR" sz="2400"/>
          </a:p>
          <a:p>
            <a:pPr algn="ctr" eaLnBrk="1" hangingPunct="1">
              <a:spcBef>
                <a:spcPct val="0"/>
              </a:spcBef>
              <a:buFontTx/>
              <a:buNone/>
            </a:pPr>
            <a:r>
              <a:rPr lang="fr-CA" altLang="fr-FR" sz="2000"/>
              <a:t>RAM</a:t>
            </a:r>
          </a:p>
          <a:p>
            <a:pPr algn="ctr" eaLnBrk="1" hangingPunct="1">
              <a:spcBef>
                <a:spcPct val="0"/>
              </a:spcBef>
              <a:buFontTx/>
              <a:buNone/>
            </a:pPr>
            <a:endParaRPr lang="en-US" altLang="fr-FR" sz="2000"/>
          </a:p>
        </p:txBody>
      </p:sp>
      <p:sp>
        <p:nvSpPr>
          <p:cNvPr id="9223" name="Text Box 12">
            <a:extLst>
              <a:ext uri="{FF2B5EF4-FFF2-40B4-BE49-F238E27FC236}">
                <a16:creationId xmlns:a16="http://schemas.microsoft.com/office/drawing/2014/main" id="{A3AF4F6D-EFA2-1DB7-7073-2F2F312B4E89}"/>
              </a:ext>
            </a:extLst>
          </p:cNvPr>
          <p:cNvSpPr txBox="1">
            <a:spLocks noChangeArrowheads="1"/>
          </p:cNvSpPr>
          <p:nvPr/>
        </p:nvSpPr>
        <p:spPr bwMode="auto">
          <a:xfrm>
            <a:off x="6804025" y="2781300"/>
            <a:ext cx="2089150" cy="1400175"/>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fr-CA" altLang="fr-FR" sz="2400"/>
          </a:p>
          <a:p>
            <a:pPr algn="ctr" eaLnBrk="1" hangingPunct="1">
              <a:spcBef>
                <a:spcPct val="0"/>
              </a:spcBef>
              <a:buFontTx/>
              <a:buNone/>
            </a:pPr>
            <a:r>
              <a:rPr lang="fr-CA" altLang="fr-FR" sz="2000"/>
              <a:t>Entrées </a:t>
            </a:r>
          </a:p>
          <a:p>
            <a:pPr algn="ctr" eaLnBrk="1" hangingPunct="1">
              <a:spcBef>
                <a:spcPct val="0"/>
              </a:spcBef>
              <a:buFontTx/>
              <a:buNone/>
            </a:pPr>
            <a:r>
              <a:rPr lang="fr-CA" altLang="fr-FR" sz="2000"/>
              <a:t>Sorties</a:t>
            </a:r>
          </a:p>
          <a:p>
            <a:pPr algn="ctr" eaLnBrk="1" hangingPunct="1">
              <a:spcBef>
                <a:spcPct val="0"/>
              </a:spcBef>
              <a:buFontTx/>
              <a:buNone/>
            </a:pPr>
            <a:endParaRPr lang="en-US" altLang="fr-FR" sz="2000"/>
          </a:p>
        </p:txBody>
      </p:sp>
      <p:sp>
        <p:nvSpPr>
          <p:cNvPr id="9224" name="Line 13">
            <a:extLst>
              <a:ext uri="{FF2B5EF4-FFF2-40B4-BE49-F238E27FC236}">
                <a16:creationId xmlns:a16="http://schemas.microsoft.com/office/drawing/2014/main" id="{4666FD3D-18EF-2739-10CA-D3547FA25EE3}"/>
              </a:ext>
            </a:extLst>
          </p:cNvPr>
          <p:cNvSpPr>
            <a:spLocks noChangeShapeType="1"/>
          </p:cNvSpPr>
          <p:nvPr/>
        </p:nvSpPr>
        <p:spPr bwMode="auto">
          <a:xfrm>
            <a:off x="900113" y="1557338"/>
            <a:ext cx="7416800" cy="0"/>
          </a:xfrm>
          <a:prstGeom prst="line">
            <a:avLst/>
          </a:prstGeom>
          <a:noFill/>
          <a:ln w="76200" cmpd="tri">
            <a:solidFill>
              <a:srgbClr val="FFFF99"/>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9225" name="Line 14">
            <a:extLst>
              <a:ext uri="{FF2B5EF4-FFF2-40B4-BE49-F238E27FC236}">
                <a16:creationId xmlns:a16="http://schemas.microsoft.com/office/drawing/2014/main" id="{87927440-B97D-5F30-2D53-B228136BA913}"/>
              </a:ext>
            </a:extLst>
          </p:cNvPr>
          <p:cNvSpPr>
            <a:spLocks noChangeShapeType="1"/>
          </p:cNvSpPr>
          <p:nvPr/>
        </p:nvSpPr>
        <p:spPr bwMode="auto">
          <a:xfrm>
            <a:off x="611188" y="6524625"/>
            <a:ext cx="8064500" cy="0"/>
          </a:xfrm>
          <a:prstGeom prst="line">
            <a:avLst/>
          </a:prstGeom>
          <a:noFill/>
          <a:ln w="76200" cmpd="tri">
            <a:solidFill>
              <a:srgbClr val="FF0000"/>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9226" name="Line 15">
            <a:extLst>
              <a:ext uri="{FF2B5EF4-FFF2-40B4-BE49-F238E27FC236}">
                <a16:creationId xmlns:a16="http://schemas.microsoft.com/office/drawing/2014/main" id="{4C0984EB-B13B-034F-EF37-A8E91DAB0A95}"/>
              </a:ext>
            </a:extLst>
          </p:cNvPr>
          <p:cNvSpPr>
            <a:spLocks noChangeShapeType="1"/>
          </p:cNvSpPr>
          <p:nvPr/>
        </p:nvSpPr>
        <p:spPr bwMode="auto">
          <a:xfrm>
            <a:off x="900113" y="1557338"/>
            <a:ext cx="0" cy="1223962"/>
          </a:xfrm>
          <a:prstGeom prst="line">
            <a:avLst/>
          </a:prstGeom>
          <a:noFill/>
          <a:ln w="57150">
            <a:solidFill>
              <a:srgbClr val="FFFF99"/>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27" name="Line 16">
            <a:extLst>
              <a:ext uri="{FF2B5EF4-FFF2-40B4-BE49-F238E27FC236}">
                <a16:creationId xmlns:a16="http://schemas.microsoft.com/office/drawing/2014/main" id="{DF1B5EF3-2FA8-992C-270B-B38C3F6B3D7F}"/>
              </a:ext>
            </a:extLst>
          </p:cNvPr>
          <p:cNvSpPr>
            <a:spLocks noChangeShapeType="1"/>
          </p:cNvSpPr>
          <p:nvPr/>
        </p:nvSpPr>
        <p:spPr bwMode="auto">
          <a:xfrm>
            <a:off x="2843213" y="1557338"/>
            <a:ext cx="0" cy="719137"/>
          </a:xfrm>
          <a:prstGeom prst="line">
            <a:avLst/>
          </a:prstGeom>
          <a:noFill/>
          <a:ln w="57150">
            <a:solidFill>
              <a:srgbClr val="FFFF99"/>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28" name="Line 17">
            <a:extLst>
              <a:ext uri="{FF2B5EF4-FFF2-40B4-BE49-F238E27FC236}">
                <a16:creationId xmlns:a16="http://schemas.microsoft.com/office/drawing/2014/main" id="{1B83C23A-AB29-96D8-A209-81D3B11E50EA}"/>
              </a:ext>
            </a:extLst>
          </p:cNvPr>
          <p:cNvSpPr>
            <a:spLocks noChangeShapeType="1"/>
          </p:cNvSpPr>
          <p:nvPr/>
        </p:nvSpPr>
        <p:spPr bwMode="auto">
          <a:xfrm>
            <a:off x="6156325" y="1557338"/>
            <a:ext cx="0" cy="1439862"/>
          </a:xfrm>
          <a:prstGeom prst="line">
            <a:avLst/>
          </a:prstGeom>
          <a:noFill/>
          <a:ln w="57150">
            <a:solidFill>
              <a:srgbClr val="FFFF99"/>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29" name="Line 18">
            <a:extLst>
              <a:ext uri="{FF2B5EF4-FFF2-40B4-BE49-F238E27FC236}">
                <a16:creationId xmlns:a16="http://schemas.microsoft.com/office/drawing/2014/main" id="{3765C48A-2CF9-A913-0938-F61C3D986ABA}"/>
              </a:ext>
            </a:extLst>
          </p:cNvPr>
          <p:cNvSpPr>
            <a:spLocks noChangeShapeType="1"/>
          </p:cNvSpPr>
          <p:nvPr/>
        </p:nvSpPr>
        <p:spPr bwMode="auto">
          <a:xfrm>
            <a:off x="8316913" y="1557338"/>
            <a:ext cx="0" cy="1223962"/>
          </a:xfrm>
          <a:prstGeom prst="line">
            <a:avLst/>
          </a:prstGeom>
          <a:noFill/>
          <a:ln w="57150">
            <a:solidFill>
              <a:srgbClr val="FFFF99"/>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0" name="Line 19">
            <a:extLst>
              <a:ext uri="{FF2B5EF4-FFF2-40B4-BE49-F238E27FC236}">
                <a16:creationId xmlns:a16="http://schemas.microsoft.com/office/drawing/2014/main" id="{61495E06-3E82-5E6A-5C48-46B3BEC5B3F2}"/>
              </a:ext>
            </a:extLst>
          </p:cNvPr>
          <p:cNvSpPr>
            <a:spLocks noChangeShapeType="1"/>
          </p:cNvSpPr>
          <p:nvPr/>
        </p:nvSpPr>
        <p:spPr bwMode="auto">
          <a:xfrm>
            <a:off x="900113" y="4076700"/>
            <a:ext cx="0" cy="1439863"/>
          </a:xfrm>
          <a:prstGeom prst="line">
            <a:avLst/>
          </a:prstGeom>
          <a:noFill/>
          <a:ln w="57150">
            <a:solidFill>
              <a:srgbClr val="FF99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1" name="Line 20">
            <a:extLst>
              <a:ext uri="{FF2B5EF4-FFF2-40B4-BE49-F238E27FC236}">
                <a16:creationId xmlns:a16="http://schemas.microsoft.com/office/drawing/2014/main" id="{FA5E8075-80A8-3EEB-E394-DCF693A0ACE5}"/>
              </a:ext>
            </a:extLst>
          </p:cNvPr>
          <p:cNvSpPr>
            <a:spLocks noChangeShapeType="1"/>
          </p:cNvSpPr>
          <p:nvPr/>
        </p:nvSpPr>
        <p:spPr bwMode="auto">
          <a:xfrm>
            <a:off x="3276600" y="4941888"/>
            <a:ext cx="0" cy="574675"/>
          </a:xfrm>
          <a:prstGeom prst="line">
            <a:avLst/>
          </a:prstGeom>
          <a:noFill/>
          <a:ln w="57150">
            <a:solidFill>
              <a:srgbClr val="FF99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2" name="Line 21">
            <a:extLst>
              <a:ext uri="{FF2B5EF4-FFF2-40B4-BE49-F238E27FC236}">
                <a16:creationId xmlns:a16="http://schemas.microsoft.com/office/drawing/2014/main" id="{39D94BD8-A252-977B-E57E-A055F2171A76}"/>
              </a:ext>
            </a:extLst>
          </p:cNvPr>
          <p:cNvSpPr>
            <a:spLocks noChangeShapeType="1"/>
          </p:cNvSpPr>
          <p:nvPr/>
        </p:nvSpPr>
        <p:spPr bwMode="auto">
          <a:xfrm>
            <a:off x="5651500" y="4076700"/>
            <a:ext cx="0" cy="1368425"/>
          </a:xfrm>
          <a:prstGeom prst="line">
            <a:avLst/>
          </a:prstGeom>
          <a:noFill/>
          <a:ln w="57150">
            <a:solidFill>
              <a:srgbClr val="FF99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3" name="Line 22">
            <a:extLst>
              <a:ext uri="{FF2B5EF4-FFF2-40B4-BE49-F238E27FC236}">
                <a16:creationId xmlns:a16="http://schemas.microsoft.com/office/drawing/2014/main" id="{22737EC3-FC63-4B04-613F-45D55FF91077}"/>
              </a:ext>
            </a:extLst>
          </p:cNvPr>
          <p:cNvSpPr>
            <a:spLocks noChangeShapeType="1"/>
          </p:cNvSpPr>
          <p:nvPr/>
        </p:nvSpPr>
        <p:spPr bwMode="auto">
          <a:xfrm>
            <a:off x="8316913" y="4149725"/>
            <a:ext cx="0" cy="1366838"/>
          </a:xfrm>
          <a:prstGeom prst="line">
            <a:avLst/>
          </a:prstGeom>
          <a:noFill/>
          <a:ln w="57150">
            <a:solidFill>
              <a:srgbClr val="FF99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4" name="Line 23">
            <a:extLst>
              <a:ext uri="{FF2B5EF4-FFF2-40B4-BE49-F238E27FC236}">
                <a16:creationId xmlns:a16="http://schemas.microsoft.com/office/drawing/2014/main" id="{17141CA8-2062-91D8-4DC1-7D25C695EFD5}"/>
              </a:ext>
            </a:extLst>
          </p:cNvPr>
          <p:cNvSpPr>
            <a:spLocks noChangeShapeType="1"/>
          </p:cNvSpPr>
          <p:nvPr/>
        </p:nvSpPr>
        <p:spPr bwMode="auto">
          <a:xfrm>
            <a:off x="3276600" y="3357563"/>
            <a:ext cx="0" cy="576262"/>
          </a:xfrm>
          <a:prstGeom prst="line">
            <a:avLst/>
          </a:prstGeom>
          <a:noFill/>
          <a:ln w="57150">
            <a:solidFill>
              <a:srgbClr val="FF99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5" name="Line 24">
            <a:extLst>
              <a:ext uri="{FF2B5EF4-FFF2-40B4-BE49-F238E27FC236}">
                <a16:creationId xmlns:a16="http://schemas.microsoft.com/office/drawing/2014/main" id="{307CB5B1-02D4-5000-8577-6FE5B7244C73}"/>
              </a:ext>
            </a:extLst>
          </p:cNvPr>
          <p:cNvSpPr>
            <a:spLocks noChangeShapeType="1"/>
          </p:cNvSpPr>
          <p:nvPr/>
        </p:nvSpPr>
        <p:spPr bwMode="auto">
          <a:xfrm>
            <a:off x="611188" y="4149725"/>
            <a:ext cx="0" cy="2374900"/>
          </a:xfrm>
          <a:prstGeom prst="line">
            <a:avLst/>
          </a:prstGeom>
          <a:noFill/>
          <a:ln w="57150">
            <a:solidFill>
              <a:srgbClr val="FF00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6" name="Line 25">
            <a:extLst>
              <a:ext uri="{FF2B5EF4-FFF2-40B4-BE49-F238E27FC236}">
                <a16:creationId xmlns:a16="http://schemas.microsoft.com/office/drawing/2014/main" id="{ABC7638B-BD87-A605-38A9-74AF253DD819}"/>
              </a:ext>
            </a:extLst>
          </p:cNvPr>
          <p:cNvSpPr>
            <a:spLocks noChangeShapeType="1"/>
          </p:cNvSpPr>
          <p:nvPr/>
        </p:nvSpPr>
        <p:spPr bwMode="auto">
          <a:xfrm>
            <a:off x="2700338" y="4941888"/>
            <a:ext cx="0" cy="1582737"/>
          </a:xfrm>
          <a:prstGeom prst="line">
            <a:avLst/>
          </a:prstGeom>
          <a:noFill/>
          <a:ln w="57150">
            <a:solidFill>
              <a:srgbClr val="FF00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7" name="Line 26">
            <a:extLst>
              <a:ext uri="{FF2B5EF4-FFF2-40B4-BE49-F238E27FC236}">
                <a16:creationId xmlns:a16="http://schemas.microsoft.com/office/drawing/2014/main" id="{EA3DDB9F-9C11-BF52-295C-8DEF1BED4AAF}"/>
              </a:ext>
            </a:extLst>
          </p:cNvPr>
          <p:cNvSpPr>
            <a:spLocks noChangeShapeType="1"/>
          </p:cNvSpPr>
          <p:nvPr/>
        </p:nvSpPr>
        <p:spPr bwMode="auto">
          <a:xfrm>
            <a:off x="8675688" y="4149725"/>
            <a:ext cx="0" cy="2374900"/>
          </a:xfrm>
          <a:prstGeom prst="line">
            <a:avLst/>
          </a:prstGeom>
          <a:noFill/>
          <a:ln w="57150">
            <a:solidFill>
              <a:srgbClr val="FF00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8" name="Line 27">
            <a:extLst>
              <a:ext uri="{FF2B5EF4-FFF2-40B4-BE49-F238E27FC236}">
                <a16:creationId xmlns:a16="http://schemas.microsoft.com/office/drawing/2014/main" id="{FDA9C679-B8AC-80D6-49EA-54BB30BE63DF}"/>
              </a:ext>
            </a:extLst>
          </p:cNvPr>
          <p:cNvSpPr>
            <a:spLocks noChangeShapeType="1"/>
          </p:cNvSpPr>
          <p:nvPr/>
        </p:nvSpPr>
        <p:spPr bwMode="auto">
          <a:xfrm>
            <a:off x="6084888" y="4076700"/>
            <a:ext cx="0" cy="2447925"/>
          </a:xfrm>
          <a:prstGeom prst="line">
            <a:avLst/>
          </a:prstGeom>
          <a:noFill/>
          <a:ln w="57150">
            <a:solidFill>
              <a:srgbClr val="FF0000"/>
            </a:solidFill>
            <a:round/>
            <a:headEnd type="arrow" w="sm" len="med"/>
            <a:tailEnd type="arrow" w="sm" len="med"/>
          </a:ln>
          <a:extLst>
            <a:ext uri="{909E8E84-426E-40DD-AFC4-6F175D3DCCD1}">
              <a14:hiddenFill xmlns:a14="http://schemas.microsoft.com/office/drawing/2010/main">
                <a:noFill/>
              </a14:hiddenFill>
            </a:ext>
          </a:extLst>
        </p:spPr>
        <p:txBody>
          <a:bodyPr anchor="ctr"/>
          <a:lstStyle/>
          <a:p>
            <a:endParaRPr lang="fr-CA"/>
          </a:p>
        </p:txBody>
      </p:sp>
      <p:sp>
        <p:nvSpPr>
          <p:cNvPr id="9239" name="Text Box 28">
            <a:extLst>
              <a:ext uri="{FF2B5EF4-FFF2-40B4-BE49-F238E27FC236}">
                <a16:creationId xmlns:a16="http://schemas.microsoft.com/office/drawing/2014/main" id="{65195CD2-90F0-1AFD-F4C6-B8AF62BC68C6}"/>
              </a:ext>
            </a:extLst>
          </p:cNvPr>
          <p:cNvSpPr txBox="1">
            <a:spLocks noChangeArrowheads="1"/>
          </p:cNvSpPr>
          <p:nvPr/>
        </p:nvSpPr>
        <p:spPr bwMode="auto">
          <a:xfrm>
            <a:off x="2987675" y="6127750"/>
            <a:ext cx="2779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3300"/>
                </a:solidFill>
              </a:rPr>
              <a:t>Bus d’adresse (16 bits)</a:t>
            </a:r>
            <a:endParaRPr lang="en-US" altLang="fr-FR" sz="2000">
              <a:solidFill>
                <a:srgbClr val="FF3300"/>
              </a:solidFill>
            </a:endParaRPr>
          </a:p>
        </p:txBody>
      </p:sp>
      <p:sp>
        <p:nvSpPr>
          <p:cNvPr id="9240" name="Text Box 29">
            <a:extLst>
              <a:ext uri="{FF2B5EF4-FFF2-40B4-BE49-F238E27FC236}">
                <a16:creationId xmlns:a16="http://schemas.microsoft.com/office/drawing/2014/main" id="{B7C10EBC-8AFB-B7C2-635F-22A9B03CEA58}"/>
              </a:ext>
            </a:extLst>
          </p:cNvPr>
          <p:cNvSpPr txBox="1">
            <a:spLocks noChangeArrowheads="1"/>
          </p:cNvSpPr>
          <p:nvPr/>
        </p:nvSpPr>
        <p:spPr bwMode="auto">
          <a:xfrm>
            <a:off x="2989263" y="5516563"/>
            <a:ext cx="27924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9900"/>
                </a:solidFill>
              </a:rPr>
              <a:t>Bus de contrôle (8 bits)</a:t>
            </a:r>
            <a:endParaRPr lang="en-US" altLang="fr-FR" sz="2000">
              <a:solidFill>
                <a:srgbClr val="FF9900"/>
              </a:solidFill>
            </a:endParaRPr>
          </a:p>
        </p:txBody>
      </p:sp>
      <p:sp>
        <p:nvSpPr>
          <p:cNvPr id="9241" name="Text Box 30">
            <a:extLst>
              <a:ext uri="{FF2B5EF4-FFF2-40B4-BE49-F238E27FC236}">
                <a16:creationId xmlns:a16="http://schemas.microsoft.com/office/drawing/2014/main" id="{5CE56E1E-4A59-B9FD-159B-809C20AD3ADE}"/>
              </a:ext>
            </a:extLst>
          </p:cNvPr>
          <p:cNvSpPr txBox="1">
            <a:spLocks noChangeArrowheads="1"/>
          </p:cNvSpPr>
          <p:nvPr/>
        </p:nvSpPr>
        <p:spPr bwMode="auto">
          <a:xfrm>
            <a:off x="3059113" y="1628775"/>
            <a:ext cx="28638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Bus de données (8 bits)</a:t>
            </a:r>
            <a:endParaRPr lang="en-US" altLang="fr-FR" sz="2000">
              <a:solidFill>
                <a:srgbClr val="FFFF99"/>
              </a:solidFill>
            </a:endParaRPr>
          </a:p>
        </p:txBody>
      </p:sp>
      <p:sp>
        <p:nvSpPr>
          <p:cNvPr id="9242" name="Rectangle 31">
            <a:extLst>
              <a:ext uri="{FF2B5EF4-FFF2-40B4-BE49-F238E27FC236}">
                <a16:creationId xmlns:a16="http://schemas.microsoft.com/office/drawing/2014/main" id="{248AE5D5-CA49-C3BC-9C4A-B8677B3B543C}"/>
              </a:ext>
            </a:extLst>
          </p:cNvPr>
          <p:cNvSpPr>
            <a:spLocks noGrp="1" noChangeArrowheads="1"/>
          </p:cNvSpPr>
          <p:nvPr>
            <p:ph type="title"/>
          </p:nvPr>
        </p:nvSpPr>
        <p:spPr>
          <a:xfrm>
            <a:off x="468313" y="0"/>
            <a:ext cx="8229600" cy="1143000"/>
          </a:xfrm>
          <a:noFill/>
        </p:spPr>
        <p:txBody>
          <a:bodyPr/>
          <a:lstStyle/>
          <a:p>
            <a:pPr eaLnBrk="1" hangingPunct="1"/>
            <a:r>
              <a:rPr lang="fr-CA" altLang="fr-FR">
                <a:solidFill>
                  <a:srgbClr val="FFFF99"/>
                </a:solidFill>
              </a:rPr>
              <a:t>Architecture NES</a:t>
            </a:r>
          </a:p>
        </p:txBody>
      </p:sp>
      <p:sp>
        <p:nvSpPr>
          <p:cNvPr id="9243" name="Text Box 32">
            <a:extLst>
              <a:ext uri="{FF2B5EF4-FFF2-40B4-BE49-F238E27FC236}">
                <a16:creationId xmlns:a16="http://schemas.microsoft.com/office/drawing/2014/main" id="{C00DCA0D-C3E5-DCFF-2E7D-6E7A9F7E8FE6}"/>
              </a:ext>
            </a:extLst>
          </p:cNvPr>
          <p:cNvSpPr txBox="1">
            <a:spLocks noChangeArrowheads="1"/>
          </p:cNvSpPr>
          <p:nvPr/>
        </p:nvSpPr>
        <p:spPr bwMode="auto">
          <a:xfrm>
            <a:off x="3840163" y="908050"/>
            <a:ext cx="1335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Organisation</a:t>
            </a:r>
            <a:endParaRPr lang="en-US" altLang="fr-FR" sz="1600" u="sng">
              <a:solidFill>
                <a:srgbClr val="FF99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084CF835-6688-EFC1-BEAD-8B3268D87A13}"/>
              </a:ext>
            </a:extLst>
          </p:cNvPr>
          <p:cNvSpPr>
            <a:spLocks noGrp="1" noChangeArrowheads="1"/>
          </p:cNvSpPr>
          <p:nvPr>
            <p:ph type="title"/>
          </p:nvPr>
        </p:nvSpPr>
        <p:spPr>
          <a:xfrm>
            <a:off x="468313" y="0"/>
            <a:ext cx="8229600" cy="1143000"/>
          </a:xfrm>
          <a:noFill/>
        </p:spPr>
        <p:txBody>
          <a:bodyPr/>
          <a:lstStyle/>
          <a:p>
            <a:pPr eaLnBrk="1" hangingPunct="1"/>
            <a:r>
              <a:rPr lang="fr-CA" altLang="fr-FR" b="1">
                <a:solidFill>
                  <a:srgbClr val="FFFF99"/>
                </a:solidFill>
              </a:rPr>
              <a:t>Architecture NES</a:t>
            </a:r>
          </a:p>
        </p:txBody>
      </p:sp>
      <p:sp>
        <p:nvSpPr>
          <p:cNvPr id="10243" name="Text Box 5">
            <a:extLst>
              <a:ext uri="{FF2B5EF4-FFF2-40B4-BE49-F238E27FC236}">
                <a16:creationId xmlns:a16="http://schemas.microsoft.com/office/drawing/2014/main" id="{85500691-83F5-40B1-648F-C38CD080753C}"/>
              </a:ext>
            </a:extLst>
          </p:cNvPr>
          <p:cNvSpPr txBox="1">
            <a:spLocks noChangeArrowheads="1"/>
          </p:cNvSpPr>
          <p:nvPr/>
        </p:nvSpPr>
        <p:spPr bwMode="auto">
          <a:xfrm>
            <a:off x="3609975" y="908050"/>
            <a:ext cx="17843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b="1" u="sng">
                <a:solidFill>
                  <a:srgbClr val="FF9900"/>
                </a:solidFill>
              </a:rPr>
              <a:t>Entrées / sorties</a:t>
            </a:r>
            <a:endParaRPr lang="en-US" altLang="fr-FR" sz="1600" b="1" u="sng">
              <a:solidFill>
                <a:srgbClr val="FF9900"/>
              </a:solidFill>
            </a:endParaRPr>
          </a:p>
        </p:txBody>
      </p:sp>
      <p:sp>
        <p:nvSpPr>
          <p:cNvPr id="10244" name="Text Box 6">
            <a:extLst>
              <a:ext uri="{FF2B5EF4-FFF2-40B4-BE49-F238E27FC236}">
                <a16:creationId xmlns:a16="http://schemas.microsoft.com/office/drawing/2014/main" id="{89B9ECB9-9FE0-F97D-781C-C2DA62B5E608}"/>
              </a:ext>
            </a:extLst>
          </p:cNvPr>
          <p:cNvSpPr txBox="1">
            <a:spLocks noChangeArrowheads="1"/>
          </p:cNvSpPr>
          <p:nvPr/>
        </p:nvSpPr>
        <p:spPr bwMode="auto">
          <a:xfrm>
            <a:off x="358775" y="1730375"/>
            <a:ext cx="8785225" cy="4938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b="1">
                <a:solidFill>
                  <a:srgbClr val="FFFF99"/>
                </a:solidFill>
              </a:rPr>
              <a:t> Une seule technique: « memory-mapping »  </a:t>
            </a:r>
          </a:p>
          <a:p>
            <a:pPr lvl="1" eaLnBrk="1" hangingPunct="1">
              <a:spcBef>
                <a:spcPct val="0"/>
              </a:spcBef>
              <a:buFont typeface="Wingdings" panose="05000000000000000000" pitchFamily="2" charset="2"/>
              <a:buChar char="§"/>
            </a:pPr>
            <a:r>
              <a:rPr lang="fr-CA" altLang="fr-FR" sz="1800" b="1">
                <a:solidFill>
                  <a:srgbClr val="FF9900"/>
                </a:solidFill>
              </a:rPr>
              <a:t>Toute communication avec les registres des contrôleurs des périphériques se fait avec les instructions normales du processeur 6502 (lda/sta, ldx/stx, ldy/sty, etc).</a:t>
            </a:r>
            <a:r>
              <a:rPr lang="fr-CA" altLang="fr-FR" sz="1800" b="1">
                <a:solidFill>
                  <a:schemeClr val="folHlink"/>
                </a:solidFill>
              </a:rPr>
              <a:t> </a:t>
            </a:r>
          </a:p>
          <a:p>
            <a:pPr lvl="1" eaLnBrk="1" hangingPunct="1">
              <a:spcBef>
                <a:spcPct val="0"/>
              </a:spcBef>
              <a:buFont typeface="Wingdings" panose="05000000000000000000" pitchFamily="2" charset="2"/>
              <a:buChar char="§"/>
            </a:pPr>
            <a:endParaRPr lang="fr-CA" altLang="fr-FR" sz="24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Certaines adresses sont reliées à plusieurs registres</a:t>
            </a:r>
          </a:p>
          <a:p>
            <a:pPr lvl="1" eaLnBrk="1" hangingPunct="1">
              <a:spcBef>
                <a:spcPct val="0"/>
              </a:spcBef>
              <a:buFont typeface="Wingdings" panose="05000000000000000000" pitchFamily="2" charset="2"/>
              <a:buChar char="§"/>
            </a:pPr>
            <a:r>
              <a:rPr lang="fr-CA" altLang="fr-FR" sz="1800" b="1">
                <a:solidFill>
                  <a:srgbClr val="FF9900"/>
                </a:solidFill>
              </a:rPr>
              <a:t>Dans certains cas, une lecture et une écriture à une adresse réservée aux entrées / sorties  n’ont pas pour effet de communiquer avec le même registre sur le contrôleur de périphérique.  Un des registres est en lecture seule, l’autre en écriture seule.  Ils partagent la même adresse.</a:t>
            </a:r>
          </a:p>
          <a:p>
            <a:pPr lvl="1" eaLnBrk="1" hangingPunct="1">
              <a:spcBef>
                <a:spcPct val="0"/>
              </a:spcBef>
              <a:buFont typeface="Wingdings" panose="05000000000000000000" pitchFamily="2" charset="2"/>
              <a:buChar char="§"/>
            </a:pPr>
            <a:endParaRPr lang="fr-CA" altLang="fr-FR" sz="1800" b="1">
              <a:solidFill>
                <a:schemeClr val="hlink"/>
              </a:solidFill>
            </a:endParaRPr>
          </a:p>
          <a:p>
            <a:pPr eaLnBrk="1" hangingPunct="1">
              <a:spcBef>
                <a:spcPct val="0"/>
              </a:spcBef>
              <a:buFont typeface="Wingdings" panose="05000000000000000000" pitchFamily="2" charset="2"/>
              <a:buChar char="§"/>
            </a:pPr>
            <a:r>
              <a:rPr lang="fr-CA" altLang="fr-FR" sz="2400" b="1">
                <a:solidFill>
                  <a:srgbClr val="FFFF99"/>
                </a:solidFill>
              </a:rPr>
              <a:t> Certains registres sur les contrôleurs ont 16 bits</a:t>
            </a:r>
          </a:p>
          <a:p>
            <a:pPr lvl="1" eaLnBrk="1" hangingPunct="1">
              <a:spcBef>
                <a:spcPct val="0"/>
              </a:spcBef>
              <a:buFont typeface="Wingdings" panose="05000000000000000000" pitchFamily="2" charset="2"/>
              <a:buChar char="§"/>
            </a:pPr>
            <a:r>
              <a:rPr lang="fr-CA" altLang="fr-FR" sz="1800" b="1">
                <a:solidFill>
                  <a:srgbClr val="FF9900"/>
                </a:solidFill>
              </a:rPr>
              <a:t>Dans ces cas, l’écriture ou la lecture du registre doit se faire en deux instructions consécutives, une pour les 8 bits les moins significatifs d’abord, une autre pour les 8 bits plus significatifs ensuite. </a:t>
            </a:r>
            <a:endParaRPr lang="fr-CA" altLang="fr-FR" sz="2400" b="1">
              <a:solidFill>
                <a:srgbClr val="FF9900"/>
              </a:solidFill>
            </a:endParaRPr>
          </a:p>
          <a:p>
            <a:pPr lvl="1" eaLnBrk="1" hangingPunct="1">
              <a:spcBef>
                <a:spcPct val="0"/>
              </a:spcBef>
              <a:buFont typeface="Wingdings" panose="05000000000000000000" pitchFamily="2" charset="2"/>
              <a:buNone/>
            </a:pPr>
            <a:endParaRPr lang="en-US" altLang="fr-FR" sz="2400" b="1">
              <a:solidFill>
                <a:srgbClr val="FF9900"/>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D033DD6B-E291-9102-77BB-70FAD4A63268}"/>
              </a:ext>
            </a:extLst>
          </p:cNvPr>
          <p:cNvSpPr>
            <a:spLocks noGrp="1" noChangeArrowheads="1"/>
          </p:cNvSpPr>
          <p:nvPr>
            <p:ph type="title"/>
          </p:nvPr>
        </p:nvSpPr>
        <p:spPr>
          <a:xfrm>
            <a:off x="468313" y="0"/>
            <a:ext cx="8229600" cy="1143000"/>
          </a:xfrm>
          <a:noFill/>
        </p:spPr>
        <p:txBody>
          <a:bodyPr/>
          <a:lstStyle/>
          <a:p>
            <a:pPr eaLnBrk="1" hangingPunct="1"/>
            <a:r>
              <a:rPr lang="fr-CA" altLang="fr-FR" b="1">
                <a:solidFill>
                  <a:srgbClr val="FFFF99"/>
                </a:solidFill>
              </a:rPr>
              <a:t>Architecture NES</a:t>
            </a:r>
          </a:p>
        </p:txBody>
      </p:sp>
      <p:sp>
        <p:nvSpPr>
          <p:cNvPr id="11267" name="Text Box 5">
            <a:extLst>
              <a:ext uri="{FF2B5EF4-FFF2-40B4-BE49-F238E27FC236}">
                <a16:creationId xmlns:a16="http://schemas.microsoft.com/office/drawing/2014/main" id="{FF6CCC04-3237-3001-248A-B04BCF7BE514}"/>
              </a:ext>
            </a:extLst>
          </p:cNvPr>
          <p:cNvSpPr txBox="1">
            <a:spLocks noChangeArrowheads="1"/>
          </p:cNvSpPr>
          <p:nvPr/>
        </p:nvSpPr>
        <p:spPr bwMode="auto">
          <a:xfrm>
            <a:off x="2709863" y="908050"/>
            <a:ext cx="35972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b="1" u="sng">
                <a:solidFill>
                  <a:srgbClr val="FF9900"/>
                </a:solidFill>
              </a:rPr>
              <a:t>Entrées / sorties avec les manettes</a:t>
            </a:r>
            <a:endParaRPr lang="en-US" altLang="fr-FR" sz="1600" b="1" u="sng">
              <a:solidFill>
                <a:srgbClr val="FF9900"/>
              </a:solidFill>
            </a:endParaRPr>
          </a:p>
        </p:txBody>
      </p:sp>
      <p:pic>
        <p:nvPicPr>
          <p:cNvPr id="11268" name="Picture 6" descr="images">
            <a:extLst>
              <a:ext uri="{FF2B5EF4-FFF2-40B4-BE49-F238E27FC236}">
                <a16:creationId xmlns:a16="http://schemas.microsoft.com/office/drawing/2014/main" id="{154C9223-D415-AC93-039B-05A6F37294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33375"/>
            <a:ext cx="1200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9" name="Text Box 7">
            <a:extLst>
              <a:ext uri="{FF2B5EF4-FFF2-40B4-BE49-F238E27FC236}">
                <a16:creationId xmlns:a16="http://schemas.microsoft.com/office/drawing/2014/main" id="{69E75B0E-5C7A-80F9-3F2A-1012CCA3C138}"/>
              </a:ext>
            </a:extLst>
          </p:cNvPr>
          <p:cNvSpPr txBox="1">
            <a:spLocks noChangeArrowheads="1"/>
          </p:cNvSpPr>
          <p:nvPr/>
        </p:nvSpPr>
        <p:spPr bwMode="auto">
          <a:xfrm>
            <a:off x="358775" y="1268413"/>
            <a:ext cx="8785225"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b="1">
                <a:solidFill>
                  <a:srgbClr val="FFFF99"/>
                </a:solidFill>
              </a:rPr>
              <a:t> </a:t>
            </a:r>
            <a:r>
              <a:rPr lang="fr-CA" altLang="fr-FR" sz="2000" b="1">
                <a:solidFill>
                  <a:srgbClr val="FFFF99"/>
                </a:solidFill>
              </a:rPr>
              <a:t>Les deux ports de manettes sont associés aux adresses mémoire $4016 et $4017 respectivement</a:t>
            </a:r>
          </a:p>
          <a:p>
            <a:pPr lvl="1" eaLnBrk="1" hangingPunct="1">
              <a:spcBef>
                <a:spcPct val="0"/>
              </a:spcBef>
              <a:buFont typeface="Wingdings" panose="05000000000000000000" pitchFamily="2" charset="2"/>
              <a:buChar char="§"/>
            </a:pPr>
            <a:r>
              <a:rPr lang="fr-CA" altLang="fr-FR" sz="1600" b="1">
                <a:solidFill>
                  <a:srgbClr val="FF9900"/>
                </a:solidFill>
              </a:rPr>
              <a:t>Les deux adresses sont accessibles en lecture; seule $4016 est aussi accessible en écriture.  En écriture, on envoie la commande de mettre à jour de l’état des boutons.  En lecture, on obtient l’information sur l’état des boutons.</a:t>
            </a:r>
          </a:p>
          <a:p>
            <a:pPr lvl="1" eaLnBrk="1" hangingPunct="1">
              <a:spcBef>
                <a:spcPct val="0"/>
              </a:spcBef>
              <a:buFont typeface="Wingdings" panose="05000000000000000000" pitchFamily="2" charset="2"/>
              <a:buChar char="§"/>
            </a:pPr>
            <a:endParaRPr lang="fr-CA" altLang="fr-FR" sz="1600" b="1">
              <a:solidFill>
                <a:srgbClr val="FF9900"/>
              </a:solidFill>
            </a:endParaRPr>
          </a:p>
          <a:p>
            <a:pPr eaLnBrk="1" hangingPunct="1">
              <a:spcBef>
                <a:spcPct val="0"/>
              </a:spcBef>
              <a:buFont typeface="Wingdings" panose="05000000000000000000" pitchFamily="2" charset="2"/>
              <a:buChar char="§"/>
            </a:pPr>
            <a:r>
              <a:rPr lang="fr-CA" altLang="fr-FR" sz="2400" b="1">
                <a:solidFill>
                  <a:srgbClr val="FFFF99"/>
                </a:solidFill>
              </a:rPr>
              <a:t> </a:t>
            </a:r>
            <a:r>
              <a:rPr lang="fr-CA" altLang="fr-FR" sz="2000" b="1">
                <a:solidFill>
                  <a:srgbClr val="FFFF99"/>
                </a:solidFill>
              </a:rPr>
              <a:t>La lecture ne peut se faire qu’après qu’une demande ait été envoyée à la manette pour qu’elle mette à jour les données et les envoie.</a:t>
            </a:r>
          </a:p>
          <a:p>
            <a:pPr lvl="1" eaLnBrk="1" hangingPunct="1">
              <a:spcBef>
                <a:spcPct val="0"/>
              </a:spcBef>
              <a:buFont typeface="Wingdings" panose="05000000000000000000" pitchFamily="2" charset="2"/>
              <a:buChar char="§"/>
            </a:pPr>
            <a:r>
              <a:rPr lang="fr-CA" altLang="fr-FR" sz="1600" b="1">
                <a:solidFill>
                  <a:srgbClr val="FF9900"/>
                </a:solidFill>
              </a:rPr>
              <a:t>Cette demande suit un protocole précis. Pour initialiser la lecture des manettes, il faut d’abord écrire la valeur 1, puis, la valeur 0, à l’adresse $4016.</a:t>
            </a:r>
          </a:p>
          <a:p>
            <a:pPr lvl="1" eaLnBrk="1" hangingPunct="1">
              <a:spcBef>
                <a:spcPct val="0"/>
              </a:spcBef>
              <a:buFont typeface="Wingdings" panose="05000000000000000000" pitchFamily="2" charset="2"/>
              <a:buChar char="§"/>
            </a:pPr>
            <a:r>
              <a:rPr lang="fr-CA" altLang="fr-FR" sz="1600" b="1">
                <a:solidFill>
                  <a:srgbClr val="FF9900"/>
                </a:solidFill>
              </a:rPr>
              <a:t>Cette commande affecte les deux manettes en même temps.</a:t>
            </a:r>
            <a:r>
              <a:rPr lang="fr-CA" altLang="fr-FR" sz="1800" b="1">
                <a:solidFill>
                  <a:schemeClr val="folHlink"/>
                </a:solidFill>
              </a:rPr>
              <a:t>  </a:t>
            </a:r>
          </a:p>
          <a:p>
            <a:pPr lvl="1" eaLnBrk="1" hangingPunct="1">
              <a:spcBef>
                <a:spcPct val="0"/>
              </a:spcBef>
              <a:buFont typeface="Wingdings" panose="05000000000000000000" pitchFamily="2" charset="2"/>
              <a:buChar char="§"/>
            </a:pPr>
            <a:endParaRPr lang="fr-CA" altLang="fr-FR" sz="1800" b="1">
              <a:solidFill>
                <a:schemeClr val="folHlink"/>
              </a:solidFill>
            </a:endParaRPr>
          </a:p>
          <a:p>
            <a:pPr eaLnBrk="1" hangingPunct="1">
              <a:spcBef>
                <a:spcPct val="0"/>
              </a:spcBef>
              <a:buFont typeface="Wingdings" panose="05000000000000000000" pitchFamily="2" charset="2"/>
              <a:buChar char="§"/>
            </a:pPr>
            <a:r>
              <a:rPr lang="fr-CA" altLang="fr-FR" sz="2400" b="1">
                <a:solidFill>
                  <a:srgbClr val="FFFF99"/>
                </a:solidFill>
              </a:rPr>
              <a:t> </a:t>
            </a:r>
            <a:r>
              <a:rPr lang="fr-CA" altLang="fr-FR" sz="2000" b="1">
                <a:solidFill>
                  <a:srgbClr val="FFFF99"/>
                </a:solidFill>
              </a:rPr>
              <a:t>L’information retournée par la manette est un flot de bits</a:t>
            </a:r>
          </a:p>
          <a:p>
            <a:pPr lvl="1" eaLnBrk="1" hangingPunct="1">
              <a:spcBef>
                <a:spcPct val="0"/>
              </a:spcBef>
              <a:buFont typeface="Wingdings" panose="05000000000000000000" pitchFamily="2" charset="2"/>
              <a:buChar char="§"/>
            </a:pPr>
            <a:r>
              <a:rPr lang="fr-CA" altLang="fr-FR" sz="1600" b="1">
                <a:solidFill>
                  <a:srgbClr val="FF9900"/>
                </a:solidFill>
              </a:rPr>
              <a:t>La seule information pertinente obtenue lors de la lecture est la valeur du bit 0 de la cellule mémoire correspondante : 1 = enfoncé, 0 = relâché.</a:t>
            </a:r>
          </a:p>
          <a:p>
            <a:pPr lvl="1" eaLnBrk="1" hangingPunct="1">
              <a:spcBef>
                <a:spcPct val="0"/>
              </a:spcBef>
              <a:buFont typeface="Wingdings" panose="05000000000000000000" pitchFamily="2" charset="2"/>
              <a:buChar char="§"/>
            </a:pPr>
            <a:r>
              <a:rPr lang="fr-CA" altLang="fr-FR" sz="1600" b="1">
                <a:solidFill>
                  <a:srgbClr val="FF9900"/>
                </a:solidFill>
              </a:rPr>
              <a:t>Pour obtenir l’information sur tous les boutons, il faut donc faire 8 lectures consécutives.</a:t>
            </a:r>
          </a:p>
          <a:p>
            <a:pPr lvl="1" eaLnBrk="1" hangingPunct="1">
              <a:spcBef>
                <a:spcPct val="0"/>
              </a:spcBef>
              <a:buFont typeface="Wingdings" panose="05000000000000000000" pitchFamily="2" charset="2"/>
              <a:buChar char="§"/>
            </a:pPr>
            <a:r>
              <a:rPr lang="fr-CA" altLang="fr-FR" sz="1600" b="1">
                <a:solidFill>
                  <a:srgbClr val="FF9900"/>
                </a:solidFill>
              </a:rPr>
              <a:t>L’information concerne les boutons dans l’ordre suivant: A, B, select, start, haut, bas, gauche, droite.</a:t>
            </a:r>
          </a:p>
          <a:p>
            <a:pPr eaLnBrk="1" hangingPunct="1">
              <a:spcBef>
                <a:spcPct val="0"/>
              </a:spcBef>
              <a:buFont typeface="Wingdings" panose="05000000000000000000" pitchFamily="2" charset="2"/>
              <a:buNone/>
            </a:pPr>
            <a:endParaRPr lang="fr-CA" altLang="fr-FR" sz="1600" b="1">
              <a:solidFill>
                <a:srgbClr val="FF9900"/>
              </a:solidFill>
            </a:endParaRPr>
          </a:p>
          <a:p>
            <a:pPr lvl="1" eaLnBrk="1" hangingPunct="1">
              <a:spcBef>
                <a:spcPct val="0"/>
              </a:spcBef>
              <a:buFont typeface="Wingdings" panose="05000000000000000000" pitchFamily="2" charset="2"/>
              <a:buNone/>
            </a:pPr>
            <a:endParaRPr lang="en-US" altLang="fr-FR" sz="2400" b="1">
              <a:solidFill>
                <a:srgbClr val="FFFF99"/>
              </a:solidFill>
            </a:endParaRPr>
          </a:p>
        </p:txBody>
      </p:sp>
      <p:pic>
        <p:nvPicPr>
          <p:cNvPr id="11270" name="Picture 8" descr="images">
            <a:extLst>
              <a:ext uri="{FF2B5EF4-FFF2-40B4-BE49-F238E27FC236}">
                <a16:creationId xmlns:a16="http://schemas.microsoft.com/office/drawing/2014/main" id="{4B6CBCDD-7A2A-8A9B-6FA5-854AF2966E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8563" y="333375"/>
            <a:ext cx="1200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863DAC1F-DC47-FE15-EFF2-FC866745B11A}"/>
              </a:ext>
            </a:extLst>
          </p:cNvPr>
          <p:cNvSpPr>
            <a:spLocks noGrp="1" noChangeArrowheads="1"/>
          </p:cNvSpPr>
          <p:nvPr>
            <p:ph type="title"/>
          </p:nvPr>
        </p:nvSpPr>
        <p:spPr>
          <a:xfrm>
            <a:off x="468313" y="0"/>
            <a:ext cx="8229600" cy="1143000"/>
          </a:xfrm>
          <a:noFill/>
        </p:spPr>
        <p:txBody>
          <a:bodyPr/>
          <a:lstStyle/>
          <a:p>
            <a:pPr eaLnBrk="1" hangingPunct="1"/>
            <a:r>
              <a:rPr lang="fr-CA" altLang="fr-FR">
                <a:solidFill>
                  <a:srgbClr val="FFFF99"/>
                </a:solidFill>
              </a:rPr>
              <a:t>Architecture NES</a:t>
            </a:r>
          </a:p>
        </p:txBody>
      </p:sp>
      <p:sp>
        <p:nvSpPr>
          <p:cNvPr id="12291" name="Text Box 5">
            <a:extLst>
              <a:ext uri="{FF2B5EF4-FFF2-40B4-BE49-F238E27FC236}">
                <a16:creationId xmlns:a16="http://schemas.microsoft.com/office/drawing/2014/main" id="{BAE2A04F-A063-C0DE-B100-8AA82DBAA665}"/>
              </a:ext>
            </a:extLst>
          </p:cNvPr>
          <p:cNvSpPr txBox="1">
            <a:spLocks noChangeArrowheads="1"/>
          </p:cNvSpPr>
          <p:nvPr/>
        </p:nvSpPr>
        <p:spPr bwMode="auto">
          <a:xfrm>
            <a:off x="2833688" y="908050"/>
            <a:ext cx="33496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Entrées / sorties avec les manettes</a:t>
            </a:r>
            <a:endParaRPr lang="en-US" altLang="fr-FR" sz="1600" u="sng">
              <a:solidFill>
                <a:srgbClr val="FF9900"/>
              </a:solidFill>
            </a:endParaRPr>
          </a:p>
        </p:txBody>
      </p:sp>
      <p:pic>
        <p:nvPicPr>
          <p:cNvPr id="12292" name="Picture 6" descr="images">
            <a:extLst>
              <a:ext uri="{FF2B5EF4-FFF2-40B4-BE49-F238E27FC236}">
                <a16:creationId xmlns:a16="http://schemas.microsoft.com/office/drawing/2014/main" id="{2A663A8E-B0B8-DEA8-4A71-FEDD65E4D3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333375"/>
            <a:ext cx="1200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3" name="Picture 7" descr="images">
            <a:extLst>
              <a:ext uri="{FF2B5EF4-FFF2-40B4-BE49-F238E27FC236}">
                <a16:creationId xmlns:a16="http://schemas.microsoft.com/office/drawing/2014/main" id="{B61F5C06-3052-0B21-9668-90A75F89F5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8563" y="333375"/>
            <a:ext cx="1200150" cy="49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92" name="Text Box 8">
            <a:extLst>
              <a:ext uri="{FF2B5EF4-FFF2-40B4-BE49-F238E27FC236}">
                <a16:creationId xmlns:a16="http://schemas.microsoft.com/office/drawing/2014/main" id="{E990DDD6-EFE8-1513-6D35-32CDD737D58E}"/>
              </a:ext>
            </a:extLst>
          </p:cNvPr>
          <p:cNvSpPr txBox="1">
            <a:spLocks noChangeArrowheads="1"/>
          </p:cNvSpPr>
          <p:nvPr/>
        </p:nvSpPr>
        <p:spPr bwMode="auto">
          <a:xfrm>
            <a:off x="971550" y="1484313"/>
            <a:ext cx="5545138"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200" b="1">
                <a:solidFill>
                  <a:srgbClr val="FFFF99"/>
                </a:solidFill>
              </a:rPr>
              <a:t>;Segment de code pour lire</a:t>
            </a:r>
          </a:p>
          <a:p>
            <a:pPr eaLnBrk="1" hangingPunct="1">
              <a:spcBef>
                <a:spcPct val="0"/>
              </a:spcBef>
              <a:buFontTx/>
              <a:buNone/>
            </a:pPr>
            <a:r>
              <a:rPr lang="fr-CA" altLang="fr-FR" sz="1200" b="1">
                <a:solidFill>
                  <a:srgbClr val="FFFF99"/>
                </a:solidFill>
              </a:rPr>
              <a:t>;l’état de la manette #1.</a:t>
            </a:r>
          </a:p>
          <a:p>
            <a:pPr eaLnBrk="1" hangingPunct="1">
              <a:spcBef>
                <a:spcPct val="0"/>
              </a:spcBef>
              <a:buFontTx/>
              <a:buNone/>
            </a:pPr>
            <a:r>
              <a:rPr lang="fr-CA" altLang="fr-FR" sz="1200" b="1">
                <a:solidFill>
                  <a:srgbClr val="FFFF99"/>
                </a:solidFill>
              </a:rPr>
              <a:t> </a:t>
            </a:r>
          </a:p>
          <a:p>
            <a:pPr eaLnBrk="1" hangingPunct="1">
              <a:spcBef>
                <a:spcPct val="0"/>
              </a:spcBef>
              <a:buFontTx/>
              <a:buNone/>
            </a:pPr>
            <a:r>
              <a:rPr lang="fr-CA" altLang="fr-FR" sz="1200" b="1">
                <a:solidFill>
                  <a:srgbClr val="FFFF99"/>
                </a:solidFill>
              </a:rPr>
              <a:t>.zp	 ;Section de données dans la page zéro</a:t>
            </a:r>
          </a:p>
          <a:p>
            <a:pPr eaLnBrk="1" hangingPunct="1">
              <a:spcBef>
                <a:spcPct val="0"/>
              </a:spcBef>
              <a:buFontTx/>
              <a:buNone/>
            </a:pPr>
            <a:endParaRPr lang="fr-CA" altLang="fr-FR" sz="1200" b="1">
              <a:solidFill>
                <a:srgbClr val="FFFF99"/>
              </a:solidFill>
            </a:endParaRPr>
          </a:p>
          <a:p>
            <a:pPr eaLnBrk="1" hangingPunct="1">
              <a:spcBef>
                <a:spcPct val="0"/>
              </a:spcBef>
              <a:buFontTx/>
              <a:buNone/>
            </a:pPr>
            <a:endParaRPr lang="fr-CA" altLang="fr-FR" sz="1200" b="1">
              <a:solidFill>
                <a:srgbClr val="FFFF99"/>
              </a:solidFill>
            </a:endParaRPr>
          </a:p>
          <a:p>
            <a:pPr eaLnBrk="1" hangingPunct="1">
              <a:spcBef>
                <a:spcPct val="0"/>
              </a:spcBef>
              <a:buFontTx/>
              <a:buNone/>
            </a:pPr>
            <a:r>
              <a:rPr lang="fr-CA" altLang="fr-FR" sz="1200" b="1">
                <a:solidFill>
                  <a:srgbClr val="FFFF99"/>
                </a:solidFill>
              </a:rPr>
              <a:t>;</a:t>
            </a:r>
            <a:r>
              <a:rPr lang="en-US" altLang="fr-FR" sz="1200" b="1">
                <a:solidFill>
                  <a:srgbClr val="FFFF99"/>
                </a:solidFill>
              </a:rPr>
              <a:t>Variables pour conserver les états des boutons.</a:t>
            </a:r>
          </a:p>
          <a:p>
            <a:pPr eaLnBrk="1" hangingPunct="1">
              <a:spcBef>
                <a:spcPct val="0"/>
              </a:spcBef>
              <a:buFontTx/>
              <a:buNone/>
            </a:pPr>
            <a:r>
              <a:rPr lang="en-US" altLang="fr-FR" sz="1200" b="1">
                <a:solidFill>
                  <a:srgbClr val="FFFF99"/>
                </a:solidFill>
              </a:rPr>
              <a:t>A.READ = $08</a:t>
            </a:r>
          </a:p>
          <a:p>
            <a:pPr eaLnBrk="1" hangingPunct="1">
              <a:spcBef>
                <a:spcPct val="0"/>
              </a:spcBef>
              <a:buFontTx/>
              <a:buNone/>
            </a:pPr>
            <a:r>
              <a:rPr lang="en-US" altLang="fr-FR" sz="1200" b="1">
                <a:solidFill>
                  <a:srgbClr val="FFFF99"/>
                </a:solidFill>
              </a:rPr>
              <a:t>B.READ = $09</a:t>
            </a:r>
          </a:p>
          <a:p>
            <a:pPr eaLnBrk="1" hangingPunct="1">
              <a:spcBef>
                <a:spcPct val="0"/>
              </a:spcBef>
              <a:buFontTx/>
              <a:buNone/>
            </a:pPr>
            <a:r>
              <a:rPr lang="en-US" altLang="fr-FR" sz="1200" b="1">
                <a:solidFill>
                  <a:srgbClr val="FFFF99"/>
                </a:solidFill>
              </a:rPr>
              <a:t>SEL.READ = $0A</a:t>
            </a:r>
          </a:p>
          <a:p>
            <a:pPr eaLnBrk="1" hangingPunct="1">
              <a:spcBef>
                <a:spcPct val="0"/>
              </a:spcBef>
              <a:buFontTx/>
              <a:buNone/>
            </a:pPr>
            <a:r>
              <a:rPr lang="en-US" altLang="fr-FR" sz="1200" b="1">
                <a:solidFill>
                  <a:srgbClr val="FFFF99"/>
                </a:solidFill>
              </a:rPr>
              <a:t>STA.READ = $0B</a:t>
            </a:r>
          </a:p>
          <a:p>
            <a:pPr eaLnBrk="1" hangingPunct="1">
              <a:spcBef>
                <a:spcPct val="0"/>
              </a:spcBef>
              <a:buFontTx/>
              <a:buNone/>
            </a:pPr>
            <a:r>
              <a:rPr lang="en-US" altLang="fr-FR" sz="1200" b="1">
                <a:solidFill>
                  <a:srgbClr val="FFFF99"/>
                </a:solidFill>
              </a:rPr>
              <a:t>UP.READ = $0C</a:t>
            </a:r>
          </a:p>
          <a:p>
            <a:pPr eaLnBrk="1" hangingPunct="1">
              <a:spcBef>
                <a:spcPct val="0"/>
              </a:spcBef>
              <a:buFontTx/>
              <a:buNone/>
            </a:pPr>
            <a:r>
              <a:rPr lang="en-US" altLang="fr-FR" sz="1200" b="1">
                <a:solidFill>
                  <a:srgbClr val="FFFF99"/>
                </a:solidFill>
              </a:rPr>
              <a:t>DOWN.READ = $0D</a:t>
            </a:r>
          </a:p>
          <a:p>
            <a:pPr eaLnBrk="1" hangingPunct="1">
              <a:spcBef>
                <a:spcPct val="0"/>
              </a:spcBef>
              <a:buFontTx/>
              <a:buNone/>
            </a:pPr>
            <a:r>
              <a:rPr lang="en-US" altLang="fr-FR" sz="1200" b="1">
                <a:solidFill>
                  <a:srgbClr val="FFFF99"/>
                </a:solidFill>
              </a:rPr>
              <a:t>LEFT.READ = $0E</a:t>
            </a:r>
          </a:p>
          <a:p>
            <a:pPr eaLnBrk="1" hangingPunct="1">
              <a:spcBef>
                <a:spcPct val="0"/>
              </a:spcBef>
              <a:buFontTx/>
              <a:buNone/>
            </a:pPr>
            <a:r>
              <a:rPr lang="en-US" altLang="fr-FR" sz="1200" b="1">
                <a:solidFill>
                  <a:srgbClr val="FFFF99"/>
                </a:solidFill>
              </a:rPr>
              <a:t>RIGHT.READ = $0F</a:t>
            </a:r>
          </a:p>
          <a:p>
            <a:pPr eaLnBrk="1" hangingPunct="1">
              <a:spcBef>
                <a:spcPct val="0"/>
              </a:spcBef>
              <a:buFontTx/>
              <a:buNone/>
            </a:pPr>
            <a:endParaRPr lang="fr-CA" altLang="fr-FR" sz="1200" b="1">
              <a:solidFill>
                <a:srgbClr val="FFFF99"/>
              </a:solidFill>
            </a:endParaRPr>
          </a:p>
          <a:p>
            <a:pPr eaLnBrk="1" hangingPunct="1">
              <a:spcBef>
                <a:spcPct val="0"/>
              </a:spcBef>
              <a:buFontTx/>
              <a:buNone/>
            </a:pPr>
            <a:endParaRPr lang="fr-CA" altLang="fr-FR" sz="1200" b="1">
              <a:solidFill>
                <a:srgbClr val="FFFF99"/>
              </a:solidFill>
            </a:endParaRPr>
          </a:p>
          <a:p>
            <a:pPr eaLnBrk="1" hangingPunct="1">
              <a:spcBef>
                <a:spcPct val="0"/>
              </a:spcBef>
              <a:buFontTx/>
              <a:buNone/>
            </a:pPr>
            <a:r>
              <a:rPr lang="en-US" altLang="fr-FR" sz="1200" b="1">
                <a:solidFill>
                  <a:srgbClr val="FFFF99"/>
                </a:solidFill>
              </a:rPr>
              <a:t>.code	;segment de code</a:t>
            </a:r>
          </a:p>
          <a:p>
            <a:pPr eaLnBrk="1" hangingPunct="1">
              <a:spcBef>
                <a:spcPct val="0"/>
              </a:spcBef>
              <a:buFontTx/>
              <a:buNone/>
            </a:pPr>
            <a:r>
              <a:rPr lang="en-US" altLang="fr-FR" sz="1200" b="1">
                <a:solidFill>
                  <a:srgbClr val="FFFF99"/>
                </a:solidFill>
              </a:rPr>
              <a:t>.org $c000	;débutant à l’adresse $C000</a:t>
            </a:r>
          </a:p>
          <a:p>
            <a:pPr eaLnBrk="1" hangingPunct="1">
              <a:spcBef>
                <a:spcPct val="0"/>
              </a:spcBef>
              <a:buFontTx/>
              <a:buNone/>
            </a:pPr>
            <a:endParaRPr lang="fr-CA" altLang="fr-FR" sz="1200" b="1">
              <a:solidFill>
                <a:srgbClr val="FFFF99"/>
              </a:solidFill>
            </a:endParaRPr>
          </a:p>
          <a:p>
            <a:pPr eaLnBrk="1" hangingPunct="1">
              <a:spcBef>
                <a:spcPct val="0"/>
              </a:spcBef>
              <a:buFontTx/>
              <a:buNone/>
            </a:pPr>
            <a:r>
              <a:rPr lang="en-US" altLang="fr-FR" sz="1200" b="1">
                <a:solidFill>
                  <a:srgbClr val="FFFF99"/>
                </a:solidFill>
              </a:rPr>
              <a:t>Lecture:	</a:t>
            </a:r>
          </a:p>
          <a:p>
            <a:pPr eaLnBrk="1" hangingPunct="1">
              <a:spcBef>
                <a:spcPct val="0"/>
              </a:spcBef>
              <a:buFontTx/>
              <a:buNone/>
            </a:pPr>
            <a:r>
              <a:rPr lang="fr-CA" altLang="fr-FR" sz="1200" b="1">
                <a:solidFill>
                  <a:srgbClr val="FFFF99"/>
                </a:solidFill>
              </a:rPr>
              <a:t>	;Envoi de la commande préparatoire à la manette</a:t>
            </a:r>
            <a:endParaRPr lang="en-US" altLang="fr-FR" sz="1200" b="1">
              <a:solidFill>
                <a:srgbClr val="FFFF99"/>
              </a:solidFill>
            </a:endParaRPr>
          </a:p>
          <a:p>
            <a:pPr eaLnBrk="1" hangingPunct="1">
              <a:spcBef>
                <a:spcPct val="0"/>
              </a:spcBef>
              <a:buFontTx/>
              <a:buNone/>
            </a:pPr>
            <a:r>
              <a:rPr lang="en-US" altLang="fr-FR" sz="1200" b="1">
                <a:solidFill>
                  <a:srgbClr val="FFFF99"/>
                </a:solidFill>
              </a:rPr>
              <a:t>	ldx 	#1		;valeur 1 dans X</a:t>
            </a:r>
          </a:p>
          <a:p>
            <a:pPr eaLnBrk="1" hangingPunct="1">
              <a:spcBef>
                <a:spcPct val="0"/>
              </a:spcBef>
              <a:buFontTx/>
              <a:buNone/>
            </a:pPr>
            <a:r>
              <a:rPr lang="en-US" altLang="fr-FR" sz="1200" b="1">
                <a:solidFill>
                  <a:srgbClr val="FFFF99"/>
                </a:solidFill>
              </a:rPr>
              <a:t>	stx 	$4016		;écriture de 1 à $4016</a:t>
            </a:r>
          </a:p>
          <a:p>
            <a:pPr eaLnBrk="1" hangingPunct="1">
              <a:spcBef>
                <a:spcPct val="0"/>
              </a:spcBef>
              <a:buFontTx/>
              <a:buNone/>
            </a:pPr>
            <a:r>
              <a:rPr lang="en-US" altLang="fr-FR" sz="1200" b="1">
                <a:solidFill>
                  <a:srgbClr val="FFFF99"/>
                </a:solidFill>
              </a:rPr>
              <a:t>	dex			;valeur 0 dans X</a:t>
            </a:r>
          </a:p>
          <a:p>
            <a:pPr eaLnBrk="1" hangingPunct="1">
              <a:spcBef>
                <a:spcPct val="0"/>
              </a:spcBef>
              <a:buFontTx/>
              <a:buNone/>
            </a:pPr>
            <a:r>
              <a:rPr lang="en-US" altLang="fr-FR" sz="1200" b="1">
                <a:solidFill>
                  <a:srgbClr val="FFFF99"/>
                </a:solidFill>
              </a:rPr>
              <a:t>	stx 	$4016		;écriture de 0 à $4016</a:t>
            </a:r>
          </a:p>
          <a:p>
            <a:pPr eaLnBrk="1" hangingPunct="1">
              <a:spcBef>
                <a:spcPct val="0"/>
              </a:spcBef>
              <a:buFontTx/>
              <a:buNone/>
            </a:pPr>
            <a:endParaRPr lang="en-US" altLang="fr-FR" sz="1200" b="1">
              <a:solidFill>
                <a:srgbClr val="FFFF99"/>
              </a:solidFill>
            </a:endParaRPr>
          </a:p>
          <a:p>
            <a:pPr eaLnBrk="1" hangingPunct="1">
              <a:spcBef>
                <a:spcPct val="0"/>
              </a:spcBef>
              <a:buFontTx/>
              <a:buNone/>
            </a:pPr>
            <a:endParaRPr lang="en-US" altLang="fr-FR" sz="1200" b="1">
              <a:solidFill>
                <a:srgbClr val="FFFF99"/>
              </a:solidFill>
            </a:endParaRPr>
          </a:p>
        </p:txBody>
      </p:sp>
      <p:sp>
        <p:nvSpPr>
          <p:cNvPr id="67596" name="Text Box 12">
            <a:extLst>
              <a:ext uri="{FF2B5EF4-FFF2-40B4-BE49-F238E27FC236}">
                <a16:creationId xmlns:a16="http://schemas.microsoft.com/office/drawing/2014/main" id="{7379E930-B220-7E36-C8E5-A434CCE8FD2C}"/>
              </a:ext>
            </a:extLst>
          </p:cNvPr>
          <p:cNvSpPr txBox="1">
            <a:spLocks noChangeArrowheads="1"/>
          </p:cNvSpPr>
          <p:nvPr/>
        </p:nvSpPr>
        <p:spPr bwMode="auto">
          <a:xfrm>
            <a:off x="900113" y="7029450"/>
            <a:ext cx="8748712" cy="434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endParaRPr lang="fr-CA" altLang="fr-FR" sz="1200" b="1">
              <a:solidFill>
                <a:srgbClr val="FFFF99"/>
              </a:solidFill>
            </a:endParaRPr>
          </a:p>
          <a:p>
            <a:pPr eaLnBrk="1" hangingPunct="1">
              <a:spcBef>
                <a:spcPct val="0"/>
              </a:spcBef>
              <a:buFontTx/>
              <a:buNone/>
            </a:pPr>
            <a:r>
              <a:rPr lang="fr-CA" altLang="fr-FR" sz="1200" b="1">
                <a:solidFill>
                  <a:srgbClr val="FFFF99"/>
                </a:solidFill>
              </a:rPr>
              <a:t>	 </a:t>
            </a:r>
            <a:r>
              <a:rPr lang="en-US" altLang="fr-FR" sz="1200" b="1">
                <a:solidFill>
                  <a:srgbClr val="FFFF99"/>
                </a:solidFill>
              </a:rPr>
              <a:t>;Lecture des boutons: A,B,select,start, haut,bas,gauche,droite</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ldy #0			;Y est un index pour un déplacement</a:t>
            </a:r>
          </a:p>
          <a:p>
            <a:pPr eaLnBrk="1" hangingPunct="1">
              <a:spcBef>
                <a:spcPct val="0"/>
              </a:spcBef>
              <a:buFontTx/>
              <a:buNone/>
            </a:pPr>
            <a:r>
              <a:rPr lang="en-US" altLang="fr-FR" sz="1200" b="1">
                <a:solidFill>
                  <a:srgbClr val="FFFF99"/>
                </a:solidFill>
              </a:rPr>
              <a:t>lecture10:</a:t>
            </a:r>
          </a:p>
          <a:p>
            <a:pPr eaLnBrk="1" hangingPunct="1">
              <a:spcBef>
                <a:spcPct val="0"/>
              </a:spcBef>
              <a:buFontTx/>
              <a:buNone/>
            </a:pPr>
            <a:r>
              <a:rPr lang="en-US" altLang="fr-FR" sz="1200" b="1">
                <a:solidFill>
                  <a:srgbClr val="FFFF99"/>
                </a:solidFill>
              </a:rPr>
              <a:t>	lda 	$4016		;Lecture sur le port de la manette 1	 </a:t>
            </a:r>
          </a:p>
          <a:p>
            <a:pPr eaLnBrk="1" hangingPunct="1">
              <a:spcBef>
                <a:spcPct val="0"/>
              </a:spcBef>
              <a:buFontTx/>
              <a:buNone/>
            </a:pPr>
            <a:r>
              <a:rPr lang="en-US" altLang="fr-FR" sz="1200" b="1">
                <a:solidFill>
                  <a:srgbClr val="FFFF99"/>
                </a:solidFill>
              </a:rPr>
              <a:t>	and 	#1		;Et avec la constante 1: seul le bit 0 est conservé	</a:t>
            </a:r>
          </a:p>
          <a:p>
            <a:pPr eaLnBrk="1" hangingPunct="1">
              <a:spcBef>
                <a:spcPct val="0"/>
              </a:spcBef>
              <a:buFontTx/>
              <a:buNone/>
            </a:pPr>
            <a:r>
              <a:rPr lang="en-US" altLang="fr-FR" sz="1200" b="1">
                <a:solidFill>
                  <a:srgbClr val="FFFF99"/>
                </a:solidFill>
              </a:rPr>
              <a:t>	sta	&lt;A.READ,Y 	 	;Écrit la valeur lue à A.READ + Y</a:t>
            </a:r>
          </a:p>
          <a:p>
            <a:pPr eaLnBrk="1" hangingPunct="1">
              <a:spcBef>
                <a:spcPct val="0"/>
              </a:spcBef>
              <a:buFontTx/>
              <a:buNone/>
            </a:pPr>
            <a:r>
              <a:rPr lang="en-US" altLang="fr-FR" sz="1200" b="1">
                <a:solidFill>
                  <a:srgbClr val="FFFF99"/>
                </a:solidFill>
              </a:rPr>
              <a:t>	iny			;incrémente l’index</a:t>
            </a:r>
          </a:p>
          <a:p>
            <a:pPr eaLnBrk="1" hangingPunct="1">
              <a:spcBef>
                <a:spcPct val="0"/>
              </a:spcBef>
              <a:buFontTx/>
              <a:buNone/>
            </a:pPr>
            <a:r>
              <a:rPr lang="en-US" altLang="fr-FR" sz="1200" b="1">
                <a:solidFill>
                  <a:srgbClr val="FFFF99"/>
                </a:solidFill>
              </a:rPr>
              <a:t>	cpy	#8		;si Y != 8</a:t>
            </a:r>
          </a:p>
          <a:p>
            <a:pPr eaLnBrk="1" hangingPunct="1">
              <a:spcBef>
                <a:spcPct val="0"/>
              </a:spcBef>
              <a:buFontTx/>
              <a:buNone/>
            </a:pPr>
            <a:r>
              <a:rPr lang="en-US" altLang="fr-FR" sz="1200" b="1">
                <a:solidFill>
                  <a:srgbClr val="FFFF99"/>
                </a:solidFill>
              </a:rPr>
              <a:t>	bne	lecture10 		;on continue, sinon, tous les boutons sont lus</a:t>
            </a:r>
          </a:p>
          <a:p>
            <a:pPr eaLnBrk="1" hangingPunct="1">
              <a:spcBef>
                <a:spcPct val="0"/>
              </a:spcBef>
              <a:buFontTx/>
              <a:buNone/>
            </a:pPr>
            <a:endParaRPr lang="fr-CA" altLang="fr-FR" sz="1200" b="1">
              <a:solidFill>
                <a:srgbClr val="FFFF99"/>
              </a:solidFill>
            </a:endParaRPr>
          </a:p>
          <a:p>
            <a:pPr eaLnBrk="1" hangingPunct="1">
              <a:spcBef>
                <a:spcPct val="0"/>
              </a:spcBef>
              <a:buFontTx/>
              <a:buNone/>
            </a:pPr>
            <a:r>
              <a:rPr lang="fr-CA" altLang="fr-FR" sz="1200" b="1">
                <a:solidFill>
                  <a:srgbClr val="FFFF99"/>
                </a:solidFill>
              </a:rPr>
              <a:t>	;Vérification si B est enfoncé</a:t>
            </a:r>
            <a:endParaRPr lang="en-US" altLang="fr-FR" sz="1200" b="1">
              <a:solidFill>
                <a:srgbClr val="FFFF99"/>
              </a:solidFill>
            </a:endParaRP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lda 	&lt;B.READ		;obtient la valeur de B</a:t>
            </a:r>
          </a:p>
          <a:p>
            <a:pPr eaLnBrk="1" hangingPunct="1">
              <a:spcBef>
                <a:spcPct val="0"/>
              </a:spcBef>
              <a:buFontTx/>
              <a:buNone/>
            </a:pPr>
            <a:r>
              <a:rPr lang="en-US" altLang="fr-FR" sz="1200" b="1">
                <a:solidFill>
                  <a:srgbClr val="FFFF99"/>
                </a:solidFill>
              </a:rPr>
              <a:t>	beq 	lecture20		;si c’est 0, passe à la suite du code</a:t>
            </a:r>
          </a:p>
          <a:p>
            <a:pPr eaLnBrk="1" hangingPunct="1">
              <a:spcBef>
                <a:spcPct val="0"/>
              </a:spcBef>
              <a:buFontTx/>
              <a:buNone/>
            </a:pPr>
            <a:endParaRPr lang="fr-CA" altLang="fr-FR" sz="1200" b="1">
              <a:solidFill>
                <a:srgbClr val="FFFF99"/>
              </a:solidFill>
            </a:endParaRPr>
          </a:p>
          <a:p>
            <a:pPr eaLnBrk="1" hangingPunct="1">
              <a:spcBef>
                <a:spcPct val="0"/>
              </a:spcBef>
              <a:buFontTx/>
              <a:buNone/>
            </a:pPr>
            <a:r>
              <a:rPr lang="fr-CA" altLang="fr-FR" sz="1200" b="1">
                <a:solidFill>
                  <a:srgbClr val="FFFF99"/>
                </a:solidFill>
              </a:rPr>
              <a:t>	; B est enfoncé</a:t>
            </a:r>
            <a:endParaRPr lang="en-US" altLang="fr-FR" sz="1200" b="1">
              <a:solidFill>
                <a:srgbClr val="FFFF99"/>
              </a:solidFill>
            </a:endParaRP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fr-CA" altLang="fr-FR" sz="1200" b="1">
                <a:solidFill>
                  <a:srgbClr val="FFFF99"/>
                </a:solidFill>
              </a:rPr>
              <a:t>	… 			;code pour B enfoncé</a:t>
            </a:r>
          </a:p>
          <a:p>
            <a:pPr eaLnBrk="1" hangingPunct="1">
              <a:spcBef>
                <a:spcPct val="0"/>
              </a:spcBef>
              <a:buFontTx/>
              <a:buNone/>
            </a:pPr>
            <a:r>
              <a:rPr lang="fr-CA" altLang="fr-FR" sz="1200" b="1">
                <a:solidFill>
                  <a:srgbClr val="FFFF99"/>
                </a:solidFill>
              </a:rPr>
              <a:t>	</a:t>
            </a:r>
          </a:p>
          <a:p>
            <a:pPr eaLnBrk="1" hangingPunct="1">
              <a:spcBef>
                <a:spcPct val="0"/>
              </a:spcBef>
              <a:buFontTx/>
              <a:buNone/>
            </a:pPr>
            <a:r>
              <a:rPr lang="fr-CA" altLang="fr-FR" sz="1200" b="1">
                <a:solidFill>
                  <a:srgbClr val="FFFF99"/>
                </a:solidFill>
              </a:rPr>
              <a:t>	;B n’est pas enfoncé</a:t>
            </a:r>
          </a:p>
          <a:p>
            <a:pPr eaLnBrk="1" hangingPunct="1">
              <a:spcBef>
                <a:spcPct val="0"/>
              </a:spcBef>
              <a:buFontTx/>
              <a:buNone/>
            </a:pPr>
            <a:r>
              <a:rPr lang="fr-CA" altLang="fr-FR" sz="1200" b="1">
                <a:solidFill>
                  <a:srgbClr val="FFFF99"/>
                </a:solidFill>
              </a:rPr>
              <a:t>lecture20:	…			;suite du code</a:t>
            </a:r>
            <a:endParaRPr lang="en-US" altLang="fr-FR" sz="1200" b="1">
              <a:solidFill>
                <a:srgbClr val="FFFF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7592"/>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3.05556E-6 -1.48148E-6 L -0.00191 -0.80625 " pathEditMode="relative" rAng="0" ptsTypes="AA">
                                      <p:cBhvr>
                                        <p:cTn id="8" dur="2000" fill="hold"/>
                                        <p:tgtEl>
                                          <p:spTgt spid="67596"/>
                                        </p:tgtEl>
                                        <p:attrNameLst>
                                          <p:attrName>ppt_x</p:attrName>
                                          <p:attrName>ppt_y</p:attrName>
                                        </p:attrNameLst>
                                      </p:cBhvr>
                                      <p:rCtr x="-104" y="-4032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2" grpId="0"/>
      <p:bldP spid="6759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3314" name="Rectangle 4">
            <a:extLst>
              <a:ext uri="{FF2B5EF4-FFF2-40B4-BE49-F238E27FC236}">
                <a16:creationId xmlns:a16="http://schemas.microsoft.com/office/drawing/2014/main" id="{7162C19A-3228-671B-351D-CD68AC578EBB}"/>
              </a:ext>
            </a:extLst>
          </p:cNvPr>
          <p:cNvSpPr>
            <a:spLocks noGrp="1" noChangeArrowheads="1"/>
          </p:cNvSpPr>
          <p:nvPr>
            <p:ph type="title"/>
          </p:nvPr>
        </p:nvSpPr>
        <p:spPr>
          <a:xfrm>
            <a:off x="468313" y="0"/>
            <a:ext cx="8229600" cy="1143000"/>
          </a:xfrm>
          <a:noFill/>
        </p:spPr>
        <p:txBody>
          <a:bodyPr/>
          <a:lstStyle/>
          <a:p>
            <a:pPr eaLnBrk="1" hangingPunct="1"/>
            <a:r>
              <a:rPr lang="fr-CA" altLang="fr-FR">
                <a:solidFill>
                  <a:srgbClr val="FFFF99"/>
                </a:solidFill>
              </a:rPr>
              <a:t>Architecture NES</a:t>
            </a:r>
          </a:p>
        </p:txBody>
      </p:sp>
      <p:sp>
        <p:nvSpPr>
          <p:cNvPr id="13315" name="Text Box 5">
            <a:extLst>
              <a:ext uri="{FF2B5EF4-FFF2-40B4-BE49-F238E27FC236}">
                <a16:creationId xmlns:a16="http://schemas.microsoft.com/office/drawing/2014/main" id="{DC8AD876-6E9C-28B8-1AC8-149A10512806}"/>
              </a:ext>
            </a:extLst>
          </p:cNvPr>
          <p:cNvSpPr txBox="1">
            <a:spLocks noChangeArrowheads="1"/>
          </p:cNvSpPr>
          <p:nvPr/>
        </p:nvSpPr>
        <p:spPr bwMode="auto">
          <a:xfrm>
            <a:off x="3175000" y="908050"/>
            <a:ext cx="26892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Processeur d’images (PPU)</a:t>
            </a:r>
            <a:endParaRPr lang="en-US" altLang="fr-FR" sz="1600" u="sng">
              <a:solidFill>
                <a:srgbClr val="FF9900"/>
              </a:solidFill>
            </a:endParaRPr>
          </a:p>
        </p:txBody>
      </p:sp>
      <p:sp>
        <p:nvSpPr>
          <p:cNvPr id="13316" name="Text Box 7">
            <a:extLst>
              <a:ext uri="{FF2B5EF4-FFF2-40B4-BE49-F238E27FC236}">
                <a16:creationId xmlns:a16="http://schemas.microsoft.com/office/drawing/2014/main" id="{9CCFFA73-2215-83B0-523F-F1B4E7E505AC}"/>
              </a:ext>
            </a:extLst>
          </p:cNvPr>
          <p:cNvSpPr txBox="1">
            <a:spLocks noChangeArrowheads="1"/>
          </p:cNvSpPr>
          <p:nvPr/>
        </p:nvSpPr>
        <p:spPr bwMode="auto">
          <a:xfrm>
            <a:off x="358775" y="1268413"/>
            <a:ext cx="8785225" cy="598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000">
                <a:solidFill>
                  <a:srgbClr val="FFFF99"/>
                </a:solidFill>
              </a:rPr>
              <a:t>La plus petite unité dessinée par le processeur d’images est la « tuile ».</a:t>
            </a:r>
          </a:p>
          <a:p>
            <a:pPr lvl="1" eaLnBrk="1" hangingPunct="1">
              <a:spcBef>
                <a:spcPct val="0"/>
              </a:spcBef>
              <a:buFont typeface="Wingdings" panose="05000000000000000000" pitchFamily="2" charset="2"/>
              <a:buChar char="§"/>
            </a:pPr>
            <a:r>
              <a:rPr lang="fr-CA" altLang="fr-FR" sz="1600">
                <a:solidFill>
                  <a:schemeClr val="accent1"/>
                </a:solidFill>
              </a:rPr>
              <a:t>Une</a:t>
            </a:r>
            <a:r>
              <a:rPr lang="fr-CA" altLang="fr-FR" sz="1600">
                <a:solidFill>
                  <a:srgbClr val="FF9900"/>
                </a:solidFill>
              </a:rPr>
              <a:t> tuile</a:t>
            </a:r>
            <a:r>
              <a:rPr lang="fr-CA" altLang="fr-FR" sz="1600">
                <a:solidFill>
                  <a:schemeClr val="accent1"/>
                </a:solidFill>
              </a:rPr>
              <a:t> est un carré de 8 par 8 pixels.</a:t>
            </a:r>
          </a:p>
          <a:p>
            <a:pPr lvl="1" eaLnBrk="1" hangingPunct="1">
              <a:spcBef>
                <a:spcPct val="0"/>
              </a:spcBef>
              <a:buFont typeface="Wingdings" panose="05000000000000000000" pitchFamily="2" charset="2"/>
              <a:buChar char="§"/>
            </a:pPr>
            <a:r>
              <a:rPr lang="fr-CA" altLang="fr-FR" sz="1600">
                <a:solidFill>
                  <a:schemeClr val="accent1"/>
                </a:solidFill>
              </a:rPr>
              <a:t>Tout arrière-plan, obstacle, personnage, projectile ou autre est une combinaison de tuiles.</a:t>
            </a:r>
          </a:p>
          <a:p>
            <a:pPr lvl="1" eaLnBrk="1" hangingPunct="1">
              <a:spcBef>
                <a:spcPct val="0"/>
              </a:spcBef>
              <a:buFont typeface="Wingdings" panose="05000000000000000000" pitchFamily="2" charset="2"/>
              <a:buChar char="§"/>
            </a:pPr>
            <a:r>
              <a:rPr lang="fr-CA" altLang="fr-FR" sz="1600">
                <a:solidFill>
                  <a:schemeClr val="accent1"/>
                </a:solidFill>
              </a:rPr>
              <a:t>Toutes les tuiles sont définies dans les </a:t>
            </a:r>
            <a:r>
              <a:rPr lang="fr-CA" altLang="fr-FR" sz="1600" i="1">
                <a:solidFill>
                  <a:schemeClr val="accent1"/>
                </a:solidFill>
              </a:rPr>
              <a:t>pattern tables</a:t>
            </a:r>
            <a:r>
              <a:rPr lang="fr-CA" altLang="fr-FR" sz="1600">
                <a:solidFill>
                  <a:schemeClr val="accent1"/>
                </a:solidFill>
              </a:rPr>
              <a:t> (</a:t>
            </a:r>
            <a:r>
              <a:rPr lang="fr-CA" altLang="fr-FR" sz="1600">
                <a:solidFill>
                  <a:srgbClr val="FF9900"/>
                </a:solidFill>
              </a:rPr>
              <a:t>tables des schémas</a:t>
            </a:r>
            <a:r>
              <a:rPr lang="fr-CA" altLang="fr-FR" sz="1600">
                <a:solidFill>
                  <a:schemeClr val="accent1"/>
                </a:solidFill>
              </a:rPr>
              <a:t>).</a:t>
            </a:r>
          </a:p>
          <a:p>
            <a:pPr lvl="1" eaLnBrk="1" hangingPunct="1">
              <a:spcBef>
                <a:spcPct val="0"/>
              </a:spcBef>
              <a:buFont typeface="Wingdings" panose="05000000000000000000" pitchFamily="2" charset="2"/>
              <a:buChar char="§"/>
            </a:pPr>
            <a:endParaRPr lang="fr-CA" altLang="fr-FR" sz="1600">
              <a:solidFill>
                <a:srgbClr val="FFFF99"/>
              </a:solidFill>
            </a:endParaRPr>
          </a:p>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La principale fonction du processeur d’images du NES est de superposer des « sprites » et un arrière-plan.</a:t>
            </a:r>
          </a:p>
          <a:p>
            <a:pPr lvl="1" eaLnBrk="1" hangingPunct="1">
              <a:spcBef>
                <a:spcPct val="0"/>
              </a:spcBef>
              <a:buFont typeface="Wingdings" panose="05000000000000000000" pitchFamily="2" charset="2"/>
              <a:buChar char="§"/>
            </a:pPr>
            <a:r>
              <a:rPr lang="fr-CA" altLang="fr-FR" sz="1600">
                <a:solidFill>
                  <a:schemeClr val="accent1"/>
                </a:solidFill>
              </a:rPr>
              <a:t>Un </a:t>
            </a:r>
            <a:r>
              <a:rPr lang="fr-CA" altLang="fr-FR" sz="1600" i="1">
                <a:solidFill>
                  <a:srgbClr val="FF9900"/>
                </a:solidFill>
              </a:rPr>
              <a:t>sprite</a:t>
            </a:r>
            <a:r>
              <a:rPr lang="fr-CA" altLang="fr-FR" sz="1600">
                <a:solidFill>
                  <a:schemeClr val="accent1"/>
                </a:solidFill>
              </a:rPr>
              <a:t> est un objet (</a:t>
            </a:r>
            <a:r>
              <a:rPr lang="fr-CA" altLang="fr-FR" sz="1600">
                <a:solidFill>
                  <a:srgbClr val="FF9900"/>
                </a:solidFill>
              </a:rPr>
              <a:t>une tuile</a:t>
            </a:r>
            <a:r>
              <a:rPr lang="fr-CA" altLang="fr-FR" sz="1600">
                <a:solidFill>
                  <a:schemeClr val="accent1"/>
                </a:solidFill>
              </a:rPr>
              <a:t>) pouvant se positionner à l’écran au pixel près.</a:t>
            </a:r>
          </a:p>
          <a:p>
            <a:pPr lvl="1" eaLnBrk="1" hangingPunct="1">
              <a:spcBef>
                <a:spcPct val="0"/>
              </a:spcBef>
              <a:buFont typeface="Wingdings" panose="05000000000000000000" pitchFamily="2" charset="2"/>
              <a:buChar char="§"/>
            </a:pPr>
            <a:r>
              <a:rPr lang="fr-CA" altLang="fr-FR" sz="1600">
                <a:solidFill>
                  <a:schemeClr val="accent1"/>
                </a:solidFill>
              </a:rPr>
              <a:t>La majorité des petits objets animés ou mouvants est une judicieuse combinaison de </a:t>
            </a:r>
            <a:r>
              <a:rPr lang="fr-CA" altLang="fr-FR" sz="1600" i="1">
                <a:solidFill>
                  <a:schemeClr val="accent1"/>
                </a:solidFill>
              </a:rPr>
              <a:t>sprites</a:t>
            </a:r>
            <a:r>
              <a:rPr lang="fr-CA" altLang="fr-FR" sz="1600">
                <a:solidFill>
                  <a:schemeClr val="accent1"/>
                </a:solidFill>
              </a:rPr>
              <a:t>.</a:t>
            </a:r>
          </a:p>
          <a:p>
            <a:pPr lvl="1" eaLnBrk="1" hangingPunct="1">
              <a:spcBef>
                <a:spcPct val="0"/>
              </a:spcBef>
              <a:buFont typeface="Wingdings" panose="05000000000000000000" pitchFamily="2" charset="2"/>
              <a:buChar char="§"/>
            </a:pPr>
            <a:r>
              <a:rPr lang="fr-CA" altLang="fr-FR" sz="1600">
                <a:solidFill>
                  <a:schemeClr val="accent1"/>
                </a:solidFill>
              </a:rPr>
              <a:t>L’arrière-plan est une image qui change moins souvent, mais qui peut </a:t>
            </a:r>
            <a:r>
              <a:rPr lang="fr-CA" altLang="fr-FR" sz="1600">
                <a:solidFill>
                  <a:srgbClr val="FF9900"/>
                </a:solidFill>
              </a:rPr>
              <a:t>défiler</a:t>
            </a:r>
            <a:r>
              <a:rPr lang="fr-CA" altLang="fr-FR" sz="1600">
                <a:solidFill>
                  <a:schemeClr val="accent1"/>
                </a:solidFill>
              </a:rPr>
              <a:t>.</a:t>
            </a:r>
          </a:p>
          <a:p>
            <a:pPr lvl="1" eaLnBrk="1" hangingPunct="1">
              <a:spcBef>
                <a:spcPct val="0"/>
              </a:spcBef>
              <a:buFont typeface="Wingdings" panose="05000000000000000000" pitchFamily="2" charset="2"/>
              <a:buChar char="§"/>
            </a:pPr>
            <a:r>
              <a:rPr lang="fr-CA" altLang="fr-FR" sz="1600">
                <a:solidFill>
                  <a:schemeClr val="accent1"/>
                </a:solidFill>
              </a:rPr>
              <a:t>Le contact entre les sprites et certains éléments de l’arrière-plan est détecté par le PPU; on utilise donc aussi l’arrière-plan pour représenter certains obstacles.</a:t>
            </a:r>
          </a:p>
          <a:p>
            <a:pPr eaLnBrk="1" hangingPunct="1">
              <a:spcBef>
                <a:spcPct val="0"/>
              </a:spcBef>
              <a:buFont typeface="Wingdings" panose="05000000000000000000" pitchFamily="2" charset="2"/>
              <a:buNone/>
            </a:pPr>
            <a:endParaRPr lang="fr-CA" altLang="fr-FR" sz="1800">
              <a:solidFill>
                <a:schemeClr val="accent1"/>
              </a:solidFill>
            </a:endParaRPr>
          </a:p>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Les couleurs des tuiles sont définies par un choix parmi les « palettes ».</a:t>
            </a:r>
          </a:p>
          <a:p>
            <a:pPr lvl="1" eaLnBrk="1" hangingPunct="1">
              <a:spcBef>
                <a:spcPct val="0"/>
              </a:spcBef>
              <a:buFont typeface="Wingdings" panose="05000000000000000000" pitchFamily="2" charset="2"/>
              <a:buChar char="§"/>
            </a:pPr>
            <a:r>
              <a:rPr lang="fr-CA" altLang="fr-FR" sz="1600">
                <a:solidFill>
                  <a:schemeClr val="accent1"/>
                </a:solidFill>
              </a:rPr>
              <a:t>Une </a:t>
            </a:r>
            <a:r>
              <a:rPr lang="fr-CA" altLang="fr-FR" sz="1600">
                <a:solidFill>
                  <a:srgbClr val="FF9900"/>
                </a:solidFill>
              </a:rPr>
              <a:t>palette</a:t>
            </a:r>
            <a:r>
              <a:rPr lang="fr-CA" altLang="fr-FR" sz="1600">
                <a:solidFill>
                  <a:schemeClr val="accent1"/>
                </a:solidFill>
              </a:rPr>
              <a:t> est un éventail de quatre couleurs, choisies parmi les 52 disponibles au NES.</a:t>
            </a:r>
          </a:p>
          <a:p>
            <a:pPr lvl="1" eaLnBrk="1" hangingPunct="1">
              <a:spcBef>
                <a:spcPct val="0"/>
              </a:spcBef>
              <a:buFont typeface="Wingdings" panose="05000000000000000000" pitchFamily="2" charset="2"/>
              <a:buChar char="§"/>
            </a:pPr>
            <a:r>
              <a:rPr lang="fr-CA" altLang="fr-FR" sz="1600">
                <a:solidFill>
                  <a:schemeClr val="accent1"/>
                </a:solidFill>
              </a:rPr>
              <a:t>8 palettes sont définies en tout temps, 4 pour les sprites, 4 pour l’arrière-plan.</a:t>
            </a:r>
          </a:p>
          <a:p>
            <a:pPr lvl="1" eaLnBrk="1" hangingPunct="1">
              <a:spcBef>
                <a:spcPct val="0"/>
              </a:spcBef>
              <a:buFont typeface="Wingdings" panose="05000000000000000000" pitchFamily="2" charset="2"/>
              <a:buChar char="§"/>
            </a:pPr>
            <a:r>
              <a:rPr lang="fr-CA" altLang="fr-FR" sz="1600">
                <a:solidFill>
                  <a:schemeClr val="accent1"/>
                </a:solidFill>
              </a:rPr>
              <a:t>Les tuiles sont des images en quatre couleurs auxquelles on applique une des 8 palettes pour déterminer leur couleur réelle.</a:t>
            </a:r>
          </a:p>
          <a:p>
            <a:pPr eaLnBrk="1" hangingPunct="1">
              <a:spcBef>
                <a:spcPct val="0"/>
              </a:spcBef>
              <a:buFont typeface="Wingdings" panose="05000000000000000000" pitchFamily="2" charset="2"/>
              <a:buChar char="§"/>
            </a:pPr>
            <a:endParaRPr lang="fr-CA" altLang="fr-FR" sz="1600">
              <a:solidFill>
                <a:schemeClr val="accent1"/>
              </a:solidFill>
            </a:endParaRPr>
          </a:p>
          <a:p>
            <a:pPr lvl="1" eaLnBrk="1" hangingPunct="1">
              <a:spcBef>
                <a:spcPct val="0"/>
              </a:spcBef>
              <a:buFont typeface="Wingdings" panose="05000000000000000000" pitchFamily="2" charset="2"/>
              <a:buNone/>
            </a:pPr>
            <a:endParaRPr lang="en-US" altLang="fr-FR" sz="2400">
              <a:solidFill>
                <a:srgbClr val="FFFF99"/>
              </a:solidFill>
            </a:endParaRPr>
          </a:p>
        </p:txBody>
      </p:sp>
      <p:pic>
        <p:nvPicPr>
          <p:cNvPr id="13317" name="Picture 10" descr="21">
            <a:extLst>
              <a:ext uri="{FF2B5EF4-FFF2-40B4-BE49-F238E27FC236}">
                <a16:creationId xmlns:a16="http://schemas.microsoft.com/office/drawing/2014/main" id="{34D91BC7-C8FC-2ECE-D53A-FBE3D589C7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8" name="Picture 12" descr="21">
            <a:extLst>
              <a:ext uri="{FF2B5EF4-FFF2-40B4-BE49-F238E27FC236}">
                <a16:creationId xmlns:a16="http://schemas.microsoft.com/office/drawing/2014/main" id="{5CC8E8E8-6408-56CB-2C64-4178A07DC2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4338" name="Rectangle 4">
            <a:extLst>
              <a:ext uri="{FF2B5EF4-FFF2-40B4-BE49-F238E27FC236}">
                <a16:creationId xmlns:a16="http://schemas.microsoft.com/office/drawing/2014/main" id="{BE94316A-DFFE-B22F-CAB3-18805AABAAC1}"/>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14339" name="Text Box 5">
            <a:extLst>
              <a:ext uri="{FF2B5EF4-FFF2-40B4-BE49-F238E27FC236}">
                <a16:creationId xmlns:a16="http://schemas.microsoft.com/office/drawing/2014/main" id="{B18B2F67-2532-28FD-20AB-D56889DD1031}"/>
              </a:ext>
            </a:extLst>
          </p:cNvPr>
          <p:cNvSpPr txBox="1">
            <a:spLocks noChangeArrowheads="1"/>
          </p:cNvSpPr>
          <p:nvPr/>
        </p:nvSpPr>
        <p:spPr bwMode="auto">
          <a:xfrm>
            <a:off x="3741738" y="908050"/>
            <a:ext cx="15621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PPU / mémoire</a:t>
            </a:r>
            <a:endParaRPr lang="en-US" altLang="fr-FR" sz="1600" u="sng">
              <a:solidFill>
                <a:srgbClr val="FF9900"/>
              </a:solidFill>
            </a:endParaRPr>
          </a:p>
        </p:txBody>
      </p:sp>
      <p:sp>
        <p:nvSpPr>
          <p:cNvPr id="69638" name="Text Box 6">
            <a:extLst>
              <a:ext uri="{FF2B5EF4-FFF2-40B4-BE49-F238E27FC236}">
                <a16:creationId xmlns:a16="http://schemas.microsoft.com/office/drawing/2014/main" id="{5EBC2C95-2F93-CA41-8EAE-BD558C242197}"/>
              </a:ext>
            </a:extLst>
          </p:cNvPr>
          <p:cNvSpPr txBox="1">
            <a:spLocks noChangeArrowheads="1"/>
          </p:cNvSpPr>
          <p:nvPr/>
        </p:nvSpPr>
        <p:spPr bwMode="auto">
          <a:xfrm>
            <a:off x="358775" y="1268413"/>
            <a:ext cx="8534400" cy="619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Le PPU peut adresser 16k de mémoire (la mémoire vidéo du NES).</a:t>
            </a:r>
          </a:p>
          <a:p>
            <a:pPr lvl="1" eaLnBrk="1" hangingPunct="1">
              <a:spcBef>
                <a:spcPct val="0"/>
              </a:spcBef>
              <a:buFont typeface="Wingdings" panose="05000000000000000000" pitchFamily="2" charset="2"/>
              <a:buChar char="§"/>
            </a:pPr>
            <a:r>
              <a:rPr lang="fr-CA" altLang="fr-FR" sz="1600">
                <a:solidFill>
                  <a:schemeClr val="accent1"/>
                </a:solidFill>
              </a:rPr>
              <a:t>La puce travaille avec des adresses de 16 bits, mais n’utilise que les 14 bits les moins significatifs de celles-ci.</a:t>
            </a:r>
          </a:p>
          <a:p>
            <a:pPr lvl="1" eaLnBrk="1" hangingPunct="1">
              <a:spcBef>
                <a:spcPct val="0"/>
              </a:spcBef>
              <a:buFont typeface="Wingdings" panose="05000000000000000000" pitchFamily="2" charset="2"/>
              <a:buChar char="§"/>
            </a:pPr>
            <a:r>
              <a:rPr lang="fr-CA" altLang="fr-FR" sz="1600">
                <a:solidFill>
                  <a:schemeClr val="accent1"/>
                </a:solidFill>
              </a:rPr>
              <a:t>Les adresses de $4000 à $FFFF de la mémoire vidéo sont donc les mêmes que les adresses entre $0000 et $3FFFF, répétées aux 16k.</a:t>
            </a:r>
          </a:p>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La moitié de la mémoire vidéo sert à définir les tuiles.</a:t>
            </a:r>
          </a:p>
          <a:p>
            <a:pPr lvl="1" eaLnBrk="1" hangingPunct="1">
              <a:spcBef>
                <a:spcPct val="0"/>
              </a:spcBef>
              <a:buFont typeface="Wingdings" panose="05000000000000000000" pitchFamily="2" charset="2"/>
              <a:buChar char="§"/>
            </a:pPr>
            <a:r>
              <a:rPr lang="fr-CA" altLang="fr-FR" sz="1600">
                <a:solidFill>
                  <a:schemeClr val="accent1"/>
                </a:solidFill>
              </a:rPr>
              <a:t>Deux </a:t>
            </a:r>
            <a:r>
              <a:rPr lang="fr-CA" altLang="fr-FR" sz="1600" i="1">
                <a:solidFill>
                  <a:srgbClr val="FF9900"/>
                </a:solidFill>
              </a:rPr>
              <a:t>tables de schémas</a:t>
            </a:r>
            <a:r>
              <a:rPr lang="fr-CA" altLang="fr-FR" sz="1600">
                <a:solidFill>
                  <a:schemeClr val="accent1"/>
                </a:solidFill>
              </a:rPr>
              <a:t> de 4k chacune définissent ensemble 512 tuiles de 8x8 pixels, à raison de 2 bits par pixel (4 couleurs).</a:t>
            </a:r>
          </a:p>
          <a:p>
            <a:pPr lvl="1" eaLnBrk="1" hangingPunct="1">
              <a:spcBef>
                <a:spcPct val="0"/>
              </a:spcBef>
              <a:buFont typeface="Wingdings" panose="05000000000000000000" pitchFamily="2" charset="2"/>
              <a:buChar char="§"/>
            </a:pPr>
            <a:r>
              <a:rPr lang="fr-CA" altLang="fr-FR" sz="1600">
                <a:solidFill>
                  <a:schemeClr val="accent1"/>
                </a:solidFill>
              </a:rPr>
              <a:t>Une table de schémas est choisie pour l’arrière-plan tandis que l’autre est associée aux sprites.  </a:t>
            </a:r>
          </a:p>
          <a:p>
            <a:pPr lvl="1" eaLnBrk="1" hangingPunct="1">
              <a:spcBef>
                <a:spcPct val="0"/>
              </a:spcBef>
              <a:buFont typeface="Wingdings" panose="05000000000000000000" pitchFamily="2" charset="2"/>
              <a:buChar char="§"/>
            </a:pPr>
            <a:r>
              <a:rPr lang="fr-CA" altLang="fr-FR" sz="1600">
                <a:solidFill>
                  <a:schemeClr val="accent1"/>
                </a:solidFill>
              </a:rPr>
              <a:t>L’arrière-plan et les sprites sont donc composés d’un ensemble de tuiles choisies parmi les 256 tuiles de leur table de schémas respective.</a:t>
            </a:r>
            <a:endParaRPr lang="fr-CA" altLang="fr-FR" sz="1800">
              <a:solidFill>
                <a:schemeClr val="accent1"/>
              </a:solidFill>
            </a:endParaRPr>
          </a:p>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Le quart de la mémoire vidéo sert à définir l’arrière-plan.</a:t>
            </a:r>
          </a:p>
          <a:p>
            <a:pPr lvl="1" eaLnBrk="1" hangingPunct="1">
              <a:spcBef>
                <a:spcPct val="0"/>
              </a:spcBef>
              <a:buFont typeface="Wingdings" panose="05000000000000000000" pitchFamily="2" charset="2"/>
              <a:buChar char="§"/>
            </a:pPr>
            <a:r>
              <a:rPr lang="fr-CA" altLang="fr-FR" sz="1600">
                <a:solidFill>
                  <a:schemeClr val="accent1"/>
                </a:solidFill>
              </a:rPr>
              <a:t>Une </a:t>
            </a:r>
            <a:r>
              <a:rPr lang="fr-CA" altLang="fr-FR" sz="1600">
                <a:solidFill>
                  <a:srgbClr val="FF9900"/>
                </a:solidFill>
              </a:rPr>
              <a:t>table de noms</a:t>
            </a:r>
            <a:r>
              <a:rPr lang="fr-CA" altLang="fr-FR" sz="1600">
                <a:solidFill>
                  <a:schemeClr val="accent1"/>
                </a:solidFill>
              </a:rPr>
              <a:t> est une liste des numéros des tuiles à dessiner dans l’arrière plan.  </a:t>
            </a:r>
          </a:p>
          <a:p>
            <a:pPr lvl="1" eaLnBrk="1" hangingPunct="1">
              <a:spcBef>
                <a:spcPct val="0"/>
              </a:spcBef>
              <a:buFont typeface="Wingdings" panose="05000000000000000000" pitchFamily="2" charset="2"/>
              <a:buChar char="§"/>
            </a:pPr>
            <a:r>
              <a:rPr lang="fr-CA" altLang="fr-FR" sz="1600">
                <a:solidFill>
                  <a:schemeClr val="accent1"/>
                </a:solidFill>
              </a:rPr>
              <a:t>Quatre tables de noms indiquent chacune comment les 32 par 30 (donc 960) tuiles d’un arrière-plan sont agencées.</a:t>
            </a:r>
          </a:p>
          <a:p>
            <a:pPr lvl="1" eaLnBrk="1" hangingPunct="1">
              <a:spcBef>
                <a:spcPct val="0"/>
              </a:spcBef>
              <a:buFont typeface="Wingdings" panose="05000000000000000000" pitchFamily="2" charset="2"/>
              <a:buChar char="§"/>
            </a:pPr>
            <a:r>
              <a:rPr lang="fr-CA" altLang="fr-FR" sz="1600">
                <a:solidFill>
                  <a:schemeClr val="accent1"/>
                </a:solidFill>
              </a:rPr>
              <a:t>La mémoire physique ne peut contenir que </a:t>
            </a:r>
            <a:r>
              <a:rPr lang="fr-CA" altLang="fr-FR" sz="1600">
                <a:solidFill>
                  <a:srgbClr val="FF9900"/>
                </a:solidFill>
              </a:rPr>
              <a:t>deux</a:t>
            </a:r>
            <a:r>
              <a:rPr lang="fr-CA" altLang="fr-FR" sz="1600">
                <a:solidFill>
                  <a:schemeClr val="accent1"/>
                </a:solidFill>
              </a:rPr>
              <a:t> tables de noms même si elle peut en adresser 4. Les adresses de la mémoire vidéo correspondant aux deux autres tables pointent généralement sur les deux premières tables physiques, sauf si la cartouche possède une </a:t>
            </a:r>
            <a:r>
              <a:rPr lang="fr-CA" altLang="fr-FR" sz="1600">
                <a:solidFill>
                  <a:srgbClr val="FF9900"/>
                </a:solidFill>
              </a:rPr>
              <a:t>mémoire supplémentaire</a:t>
            </a:r>
            <a:r>
              <a:rPr lang="fr-CA" altLang="fr-FR" sz="1600">
                <a:solidFill>
                  <a:schemeClr val="accent1"/>
                </a:solidFill>
              </a:rPr>
              <a:t> utilisée pour doter le système de quatre tables de noms physiques au lieu de deux.</a:t>
            </a:r>
          </a:p>
          <a:p>
            <a:pPr eaLnBrk="1" hangingPunct="1">
              <a:spcBef>
                <a:spcPct val="0"/>
              </a:spcBef>
              <a:buFont typeface="Wingdings" panose="05000000000000000000" pitchFamily="2" charset="2"/>
              <a:buChar char="§"/>
            </a:pPr>
            <a:endParaRPr lang="fr-CA" altLang="fr-FR" sz="1600">
              <a:solidFill>
                <a:schemeClr val="accent1"/>
              </a:solidFill>
            </a:endParaRPr>
          </a:p>
          <a:p>
            <a:pPr lvl="1" eaLnBrk="1" hangingPunct="1">
              <a:spcBef>
                <a:spcPct val="0"/>
              </a:spcBef>
              <a:buFont typeface="Wingdings" panose="05000000000000000000" pitchFamily="2" charset="2"/>
              <a:buNone/>
            </a:pPr>
            <a:endParaRPr lang="en-US" altLang="fr-FR" sz="2400">
              <a:solidFill>
                <a:srgbClr val="FFFF99"/>
              </a:solidFill>
            </a:endParaRPr>
          </a:p>
        </p:txBody>
      </p:sp>
      <p:pic>
        <p:nvPicPr>
          <p:cNvPr id="14341" name="Picture 7" descr="21">
            <a:extLst>
              <a:ext uri="{FF2B5EF4-FFF2-40B4-BE49-F238E27FC236}">
                <a16:creationId xmlns:a16="http://schemas.microsoft.com/office/drawing/2014/main" id="{9AE5C4E2-B5A1-E27B-6FB5-BEC813D14F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2" name="Picture 8" descr="21">
            <a:extLst>
              <a:ext uri="{FF2B5EF4-FFF2-40B4-BE49-F238E27FC236}">
                <a16:creationId xmlns:a16="http://schemas.microsoft.com/office/drawing/2014/main" id="{A2E94E2A-11E0-D8AC-BBA1-AE21961675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41" name="Text Box 9">
            <a:extLst>
              <a:ext uri="{FF2B5EF4-FFF2-40B4-BE49-F238E27FC236}">
                <a16:creationId xmlns:a16="http://schemas.microsoft.com/office/drawing/2014/main" id="{4F2C434C-D9A8-B192-0FB1-142E5FB941D1}"/>
              </a:ext>
            </a:extLst>
          </p:cNvPr>
          <p:cNvSpPr txBox="1">
            <a:spLocks noChangeArrowheads="1"/>
          </p:cNvSpPr>
          <p:nvPr/>
        </p:nvSpPr>
        <p:spPr bwMode="auto">
          <a:xfrm>
            <a:off x="395288" y="7173913"/>
            <a:ext cx="8748712"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Les tables de noms sont associées à des tables d’attributs qui définissent les couleurs finales des tuiles.</a:t>
            </a:r>
          </a:p>
          <a:p>
            <a:pPr lvl="1" eaLnBrk="1" hangingPunct="1">
              <a:spcBef>
                <a:spcPct val="0"/>
              </a:spcBef>
              <a:buFont typeface="Wingdings" panose="05000000000000000000" pitchFamily="2" charset="2"/>
              <a:buChar char="§"/>
            </a:pPr>
            <a:r>
              <a:rPr lang="fr-CA" altLang="fr-FR" sz="1600">
                <a:solidFill>
                  <a:schemeClr val="accent1"/>
                </a:solidFill>
              </a:rPr>
              <a:t>Les </a:t>
            </a:r>
            <a:r>
              <a:rPr lang="fr-CA" altLang="fr-FR" sz="1600">
                <a:solidFill>
                  <a:srgbClr val="FF9900"/>
                </a:solidFill>
              </a:rPr>
              <a:t>tables d’attributs</a:t>
            </a:r>
            <a:r>
              <a:rPr lang="fr-CA" altLang="fr-FR" sz="1600">
                <a:solidFill>
                  <a:schemeClr val="accent1"/>
                </a:solidFill>
              </a:rPr>
              <a:t> choisissent les palettes de couleurs pour des groupes de 4 tuiles (2 de haut par 2 de large à l’écran).</a:t>
            </a:r>
          </a:p>
          <a:p>
            <a:pPr lvl="1" eaLnBrk="1" hangingPunct="1">
              <a:spcBef>
                <a:spcPct val="0"/>
              </a:spcBef>
              <a:buFont typeface="Wingdings" panose="05000000000000000000" pitchFamily="2" charset="2"/>
              <a:buChar char="§"/>
            </a:pPr>
            <a:r>
              <a:rPr lang="fr-CA" altLang="fr-FR" sz="1600">
                <a:solidFill>
                  <a:schemeClr val="accent1"/>
                </a:solidFill>
              </a:rPr>
              <a:t>Le choix d’une palette parmi quatre disponibles pour l’arrière-plan prend 2 bits.  Un octet définit donc les choix de palettes pour 4 groupes de 4 tuiles (donc 16 tuiles par octet).</a:t>
            </a:r>
          </a:p>
          <a:p>
            <a:pPr lvl="1" eaLnBrk="1" hangingPunct="1">
              <a:spcBef>
                <a:spcPct val="0"/>
              </a:spcBef>
              <a:buFont typeface="Wingdings" panose="05000000000000000000" pitchFamily="2" charset="2"/>
              <a:buChar char="§"/>
            </a:pPr>
            <a:r>
              <a:rPr lang="fr-CA" altLang="fr-FR" sz="1600">
                <a:solidFill>
                  <a:schemeClr val="accent1"/>
                </a:solidFill>
              </a:rPr>
              <a:t>La définition des attributs de couleur pour toutes les 960 tuiles d’une table de noms se fait donc en 60 octets (arrondi à 64).</a:t>
            </a:r>
          </a:p>
          <a:p>
            <a:pPr lvl="1" eaLnBrk="1" hangingPunct="1">
              <a:spcBef>
                <a:spcPct val="0"/>
              </a:spcBef>
              <a:buFont typeface="Wingdings" panose="05000000000000000000" pitchFamily="2" charset="2"/>
              <a:buChar char="§"/>
            </a:pPr>
            <a:r>
              <a:rPr lang="fr-CA" altLang="fr-FR" sz="1600">
                <a:solidFill>
                  <a:schemeClr val="accent1"/>
                </a:solidFill>
              </a:rPr>
              <a:t>Chaque numéro de tuile dans la table de noms porte sur un octet (1 tuile parmi les 256 définies dans la table de schémas de l’arrière-plan).</a:t>
            </a:r>
          </a:p>
          <a:p>
            <a:pPr lvl="1" eaLnBrk="1" hangingPunct="1">
              <a:spcBef>
                <a:spcPct val="0"/>
              </a:spcBef>
              <a:buFont typeface="Wingdings" panose="05000000000000000000" pitchFamily="2" charset="2"/>
              <a:buChar char="§"/>
            </a:pPr>
            <a:r>
              <a:rPr lang="fr-CA" altLang="fr-FR" sz="1600">
                <a:solidFill>
                  <a:schemeClr val="accent1"/>
                </a:solidFill>
              </a:rPr>
              <a:t>960 numéros de tuiles + 64 octets pour définir les attributs = 1024 octets par arrière-plan.</a:t>
            </a:r>
          </a:p>
          <a:p>
            <a:pPr eaLnBrk="1" hangingPunct="1">
              <a:spcBef>
                <a:spcPct val="0"/>
              </a:spcBef>
              <a:buFont typeface="Wingdings" panose="05000000000000000000" pitchFamily="2" charset="2"/>
              <a:buChar char="§"/>
            </a:pPr>
            <a:r>
              <a:rPr lang="fr-CA" altLang="fr-FR" sz="2400">
                <a:solidFill>
                  <a:srgbClr val="FFFF99"/>
                </a:solidFill>
              </a:rPr>
              <a:t> </a:t>
            </a:r>
            <a:r>
              <a:rPr lang="fr-CA" altLang="fr-FR" sz="2000">
                <a:solidFill>
                  <a:srgbClr val="FFFF99"/>
                </a:solidFill>
              </a:rPr>
              <a:t>Une petite partie de la mémoire vidéo définit les palettes de couleurs.</a:t>
            </a:r>
          </a:p>
          <a:p>
            <a:pPr lvl="1" eaLnBrk="1" hangingPunct="1">
              <a:spcBef>
                <a:spcPct val="0"/>
              </a:spcBef>
              <a:buFont typeface="Wingdings" panose="05000000000000000000" pitchFamily="2" charset="2"/>
              <a:buChar char="§"/>
            </a:pPr>
            <a:r>
              <a:rPr lang="fr-CA" altLang="fr-FR" sz="1600">
                <a:solidFill>
                  <a:schemeClr val="accent1"/>
                </a:solidFill>
              </a:rPr>
              <a:t>Chacune des huit palettes de couleurs définit l’ensemble de quatre couleurs servant à peindre une tuile à laquelle on a associé cette palette (via la table d’attributs ou les propriétés du sprite).</a:t>
            </a:r>
          </a:p>
          <a:p>
            <a:pPr lvl="1" eaLnBrk="1" hangingPunct="1">
              <a:spcBef>
                <a:spcPct val="0"/>
              </a:spcBef>
              <a:buFont typeface="Wingdings" panose="05000000000000000000" pitchFamily="2" charset="2"/>
              <a:buChar char="§"/>
            </a:pPr>
            <a:r>
              <a:rPr lang="fr-CA" altLang="fr-FR" sz="1600">
                <a:solidFill>
                  <a:schemeClr val="accent1"/>
                </a:solidFill>
              </a:rPr>
              <a:t>Chaque couleur est choisie parmi les 52 couleurs physiques que le NES peut afficher (6 bits par numéro de couleur, arrondi à 8).</a:t>
            </a:r>
          </a:p>
          <a:p>
            <a:pPr lvl="1" eaLnBrk="1" hangingPunct="1">
              <a:spcBef>
                <a:spcPct val="0"/>
              </a:spcBef>
              <a:buFont typeface="Wingdings" panose="05000000000000000000" pitchFamily="2" charset="2"/>
              <a:buChar char="§"/>
            </a:pPr>
            <a:r>
              <a:rPr lang="fr-CA" altLang="fr-FR" sz="1600">
                <a:solidFill>
                  <a:schemeClr val="accent1"/>
                </a:solidFill>
              </a:rPr>
              <a:t>La première couleur de chacune des huit palettes sert à définir la transparence.    </a:t>
            </a:r>
          </a:p>
          <a:p>
            <a:pPr lvl="1" eaLnBrk="1" hangingPunct="1">
              <a:spcBef>
                <a:spcPct val="0"/>
              </a:spcBef>
              <a:buFont typeface="Wingdings" panose="05000000000000000000" pitchFamily="2" charset="2"/>
              <a:buChar char="§"/>
            </a:pPr>
            <a:r>
              <a:rPr lang="fr-CA" altLang="fr-FR" sz="1600">
                <a:solidFill>
                  <a:schemeClr val="accent1"/>
                </a:solidFill>
              </a:rPr>
              <a:t>Les pixels transparents des sprites ne sont pas dessinés, conservant l’arrière-plan intact.</a:t>
            </a:r>
            <a:endParaRPr lang="en-US" altLang="fr-FR" sz="2400">
              <a:solidFill>
                <a:srgbClr val="FFFF99"/>
              </a:solidFill>
            </a:endParaRPr>
          </a:p>
        </p:txBody>
      </p:sp>
      <p:sp>
        <p:nvSpPr>
          <p:cNvPr id="69642" name="Text Box 10">
            <a:extLst>
              <a:ext uri="{FF2B5EF4-FFF2-40B4-BE49-F238E27FC236}">
                <a16:creationId xmlns:a16="http://schemas.microsoft.com/office/drawing/2014/main" id="{1083D3BD-96B5-FFB9-7ED4-9AC6437BB763}"/>
              </a:ext>
            </a:extLst>
          </p:cNvPr>
          <p:cNvSpPr txBox="1">
            <a:spLocks noChangeArrowheads="1"/>
          </p:cNvSpPr>
          <p:nvPr/>
        </p:nvSpPr>
        <p:spPr bwMode="auto">
          <a:xfrm>
            <a:off x="395288" y="12430125"/>
            <a:ext cx="8280400" cy="265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1800">
                <a:solidFill>
                  <a:srgbClr val="FFFF99"/>
                </a:solidFill>
              </a:rPr>
              <a:t> </a:t>
            </a:r>
            <a:r>
              <a:rPr lang="fr-CA" altLang="fr-FR" sz="2000">
                <a:solidFill>
                  <a:srgbClr val="FFFF99"/>
                </a:solidFill>
              </a:rPr>
              <a:t>Un segment de mémoire supplémentaire, indépendant de la mémoire vidéo, contient les propriétés des sprites.</a:t>
            </a:r>
          </a:p>
          <a:p>
            <a:pPr lvl="1" eaLnBrk="1" hangingPunct="1">
              <a:spcBef>
                <a:spcPct val="0"/>
              </a:spcBef>
              <a:buFont typeface="Wingdings" panose="05000000000000000000" pitchFamily="2" charset="2"/>
              <a:buChar char="§"/>
            </a:pPr>
            <a:r>
              <a:rPr lang="fr-CA" altLang="fr-FR" sz="1600">
                <a:solidFill>
                  <a:schemeClr val="accent1"/>
                </a:solidFill>
              </a:rPr>
              <a:t>Le NES peut afficher 64 sprites à la fois à l’écran.  Chaque définition de sprite prend 4 octets: ses coordonnées à l’écran (2 octets), son numéro de tuile (1 octet) et ses attributs (1 octet). </a:t>
            </a:r>
          </a:p>
          <a:p>
            <a:pPr lvl="1" eaLnBrk="1" hangingPunct="1">
              <a:spcBef>
                <a:spcPct val="0"/>
              </a:spcBef>
              <a:buFont typeface="Wingdings" panose="05000000000000000000" pitchFamily="2" charset="2"/>
              <a:buChar char="§"/>
            </a:pPr>
            <a:r>
              <a:rPr lang="fr-CA" altLang="fr-FR" sz="1600">
                <a:solidFill>
                  <a:schemeClr val="accent1"/>
                </a:solidFill>
              </a:rPr>
              <a:t>La mémoire des sprites a donc 256 octets.  Elle est accessible en lecture et en écriture via des commandes envoyées par les registres du processeur d’images, ainsi qu’en écriture par la technique d’accès mémoire direct (DMA).</a:t>
            </a:r>
          </a:p>
          <a:p>
            <a:pPr eaLnBrk="1" hangingPunct="1">
              <a:spcBef>
                <a:spcPct val="0"/>
              </a:spcBef>
              <a:buFontTx/>
              <a:buNone/>
            </a:pPr>
            <a:endParaRPr lang="fr-CA" altLang="fr-FR" sz="1600">
              <a:solidFill>
                <a:schemeClr val="accent1"/>
              </a:solidFill>
            </a:endParaRPr>
          </a:p>
          <a:p>
            <a:pPr eaLnBrk="1" hangingPunct="1">
              <a:spcBef>
                <a:spcPct val="0"/>
              </a:spcBef>
              <a:buFontTx/>
              <a:buNone/>
            </a:pPr>
            <a:endParaRPr lang="en-US" altLang="fr-FR" sz="1600">
              <a:solidFill>
                <a:srgbClr val="FFFF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9638"/>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2.5E-6 -0.02153 L -2.5E-6 -0.85417 " pathEditMode="relative" rAng="0" ptsTypes="AA">
                                      <p:cBhvr>
                                        <p:cTn id="8" dur="2000" fill="hold"/>
                                        <p:tgtEl>
                                          <p:spTgt spid="69641"/>
                                        </p:tgtEl>
                                        <p:attrNameLst>
                                          <p:attrName>ppt_x</p:attrName>
                                          <p:attrName>ppt_y</p:attrName>
                                        </p:attrNameLst>
                                      </p:cBhvr>
                                      <p:rCtr x="0" y="-41644"/>
                                    </p:animMotion>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69641"/>
                                        </p:tgtEl>
                                        <p:attrNameLst>
                                          <p:attrName>style.visibility</p:attrName>
                                        </p:attrNameLst>
                                      </p:cBhvr>
                                      <p:to>
                                        <p:strVal val="hidden"/>
                                      </p:to>
                                    </p:set>
                                  </p:childTnLst>
                                </p:cTn>
                              </p:par>
                              <p:par>
                                <p:cTn id="13" presetID="0" presetClass="path" presetSubtype="0" accel="50000" decel="50000" fill="hold" grpId="0" nodeType="withEffect">
                                  <p:stCondLst>
                                    <p:cond delay="0"/>
                                  </p:stCondLst>
                                  <p:childTnLst>
                                    <p:animMotion origin="layout" path="M 0.03941 -4.44089E-16 L 0.02778 -1.53773 " pathEditMode="relative" rAng="0" ptsTypes="AA">
                                      <p:cBhvr>
                                        <p:cTn id="14" dur="2000" fill="hold"/>
                                        <p:tgtEl>
                                          <p:spTgt spid="69642"/>
                                        </p:tgtEl>
                                        <p:attrNameLst>
                                          <p:attrName>ppt_x</p:attrName>
                                          <p:attrName>ppt_y</p:attrName>
                                        </p:attrNameLst>
                                      </p:cBhvr>
                                      <p:rCtr x="-590" y="-7689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8" grpId="0"/>
      <p:bldP spid="69641" grpId="0"/>
      <p:bldP spid="69641" grpId="1"/>
      <p:bldP spid="6964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graphicFrame>
        <p:nvGraphicFramePr>
          <p:cNvPr id="70758" name="Group 102">
            <a:extLst>
              <a:ext uri="{FF2B5EF4-FFF2-40B4-BE49-F238E27FC236}">
                <a16:creationId xmlns:a16="http://schemas.microsoft.com/office/drawing/2014/main" id="{78F61A72-FAE4-0032-F4A0-8EB2FCD67DA2}"/>
              </a:ext>
            </a:extLst>
          </p:cNvPr>
          <p:cNvGraphicFramePr>
            <a:graphicFrameLocks noGrp="1"/>
          </p:cNvGraphicFramePr>
          <p:nvPr/>
        </p:nvGraphicFramePr>
        <p:xfrm>
          <a:off x="4787900" y="1835150"/>
          <a:ext cx="3455988" cy="4951413"/>
        </p:xfrm>
        <a:graphic>
          <a:graphicData uri="http://schemas.openxmlformats.org/drawingml/2006/table">
            <a:tbl>
              <a:tblPr/>
              <a:tblGrid>
                <a:gridCol w="3455988">
                  <a:extLst>
                    <a:ext uri="{9D8B030D-6E8A-4147-A177-3AD203B41FA5}">
                      <a16:colId xmlns:a16="http://schemas.microsoft.com/office/drawing/2014/main" val="20000"/>
                    </a:ext>
                  </a:extLst>
                </a:gridCol>
              </a:tblGrid>
              <a:tr h="36189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Inutilisé, copies de $3F00 à $3F1F</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189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Palette des sprites</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1"/>
                  </a:ext>
                </a:extLst>
              </a:tr>
              <a:tr h="36189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Palettes de l’arrière-plan</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2"/>
                  </a:ext>
                </a:extLst>
              </a:tr>
              <a:tr h="33809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Inutilisé, copie de $2000 à $2EFF</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3"/>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d’attributs #3</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4"/>
                  </a:ext>
                </a:extLst>
              </a:tr>
              <a:tr h="33809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noms #3</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5"/>
                  </a:ext>
                </a:extLst>
              </a:tr>
              <a:tr h="3603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d’attributs #2</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6"/>
                  </a:ext>
                </a:extLst>
              </a:tr>
              <a:tr h="3603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noms #2</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7"/>
                  </a:ext>
                </a:extLst>
              </a:tr>
              <a:tr h="3587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d’attributs #1</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8"/>
                  </a:ext>
                </a:extLst>
              </a:tr>
              <a:tr h="36031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noms #1</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9"/>
                  </a:ext>
                </a:extLst>
              </a:tr>
              <a:tr h="3365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d’attributs #0</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0"/>
                  </a:ext>
                </a:extLst>
              </a:tr>
              <a:tr h="35872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noms #0</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1"/>
                  </a:ext>
                </a:extLst>
              </a:tr>
              <a:tr h="384121">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schémas #1</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2"/>
                  </a:ext>
                </a:extLst>
              </a:tr>
              <a:tr h="33526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Table de schémas #0</a:t>
                      </a:r>
                      <a:endParaRPr kumimoji="0" lang="en-US" sz="1600" b="0" i="0" u="none" strike="noStrike" cap="none" normalizeH="0" baseline="0">
                        <a:ln>
                          <a:noFill/>
                        </a:ln>
                        <a:solidFill>
                          <a:schemeClr val="tx1"/>
                        </a:solidFill>
                        <a:effectLst/>
                        <a:latin typeface="Arial" charset="0"/>
                      </a:endParaRPr>
                    </a:p>
                  </a:txBody>
                  <a:tcPr marT="45713" marB="45713" horzOverflow="overflow">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13"/>
                  </a:ext>
                </a:extLst>
              </a:tr>
            </a:tbl>
          </a:graphicData>
        </a:graphic>
      </p:graphicFrame>
      <p:sp>
        <p:nvSpPr>
          <p:cNvPr id="15394" name="Text Box 22">
            <a:extLst>
              <a:ext uri="{FF2B5EF4-FFF2-40B4-BE49-F238E27FC236}">
                <a16:creationId xmlns:a16="http://schemas.microsoft.com/office/drawing/2014/main" id="{D7F06121-7F07-999E-1D08-CC4D6B7F6482}"/>
              </a:ext>
            </a:extLst>
          </p:cNvPr>
          <p:cNvSpPr txBox="1">
            <a:spLocks noChangeArrowheads="1"/>
          </p:cNvSpPr>
          <p:nvPr/>
        </p:nvSpPr>
        <p:spPr bwMode="auto">
          <a:xfrm>
            <a:off x="8167688" y="4078288"/>
            <a:ext cx="8032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$2BC0</a:t>
            </a:r>
            <a:endParaRPr lang="en-US" altLang="fr-FR" sz="1600">
              <a:solidFill>
                <a:srgbClr val="FF9900"/>
              </a:solidFill>
            </a:endParaRPr>
          </a:p>
        </p:txBody>
      </p:sp>
      <p:sp>
        <p:nvSpPr>
          <p:cNvPr id="15395" name="Text Box 23">
            <a:extLst>
              <a:ext uri="{FF2B5EF4-FFF2-40B4-BE49-F238E27FC236}">
                <a16:creationId xmlns:a16="http://schemas.microsoft.com/office/drawing/2014/main" id="{BDF2D150-61E3-63AE-B1E0-CB91868672EC}"/>
              </a:ext>
            </a:extLst>
          </p:cNvPr>
          <p:cNvSpPr txBox="1">
            <a:spLocks noChangeArrowheads="1"/>
          </p:cNvSpPr>
          <p:nvPr/>
        </p:nvSpPr>
        <p:spPr bwMode="auto">
          <a:xfrm>
            <a:off x="8172450" y="4389438"/>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$2800</a:t>
            </a:r>
            <a:endParaRPr lang="en-US" altLang="fr-FR" sz="1600">
              <a:solidFill>
                <a:srgbClr val="FF9900"/>
              </a:solidFill>
            </a:endParaRPr>
          </a:p>
        </p:txBody>
      </p:sp>
      <p:sp>
        <p:nvSpPr>
          <p:cNvPr id="15396" name="Text Box 24">
            <a:extLst>
              <a:ext uri="{FF2B5EF4-FFF2-40B4-BE49-F238E27FC236}">
                <a16:creationId xmlns:a16="http://schemas.microsoft.com/office/drawing/2014/main" id="{4B36EFD5-0B72-140B-DB84-8D1BBE1F91CE}"/>
              </a:ext>
            </a:extLst>
          </p:cNvPr>
          <p:cNvSpPr txBox="1">
            <a:spLocks noChangeArrowheads="1"/>
          </p:cNvSpPr>
          <p:nvPr/>
        </p:nvSpPr>
        <p:spPr bwMode="auto">
          <a:xfrm>
            <a:off x="8183563" y="4749800"/>
            <a:ext cx="781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$27C0</a:t>
            </a:r>
            <a:endParaRPr lang="en-US" altLang="fr-FR" sz="1600">
              <a:solidFill>
                <a:srgbClr val="FF9900"/>
              </a:solidFill>
            </a:endParaRPr>
          </a:p>
        </p:txBody>
      </p:sp>
      <p:sp>
        <p:nvSpPr>
          <p:cNvPr id="15397" name="Text Box 25">
            <a:extLst>
              <a:ext uri="{FF2B5EF4-FFF2-40B4-BE49-F238E27FC236}">
                <a16:creationId xmlns:a16="http://schemas.microsoft.com/office/drawing/2014/main" id="{D0260B5F-B246-677C-E098-5645865DB027}"/>
              </a:ext>
            </a:extLst>
          </p:cNvPr>
          <p:cNvSpPr txBox="1">
            <a:spLocks noChangeArrowheads="1"/>
          </p:cNvSpPr>
          <p:nvPr/>
        </p:nvSpPr>
        <p:spPr bwMode="auto">
          <a:xfrm>
            <a:off x="8172450" y="5110163"/>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$2400</a:t>
            </a:r>
            <a:endParaRPr lang="en-US" altLang="fr-FR" sz="1600">
              <a:solidFill>
                <a:srgbClr val="FF9900"/>
              </a:solidFill>
            </a:endParaRPr>
          </a:p>
        </p:txBody>
      </p:sp>
      <p:sp>
        <p:nvSpPr>
          <p:cNvPr id="15398" name="Text Box 26">
            <a:extLst>
              <a:ext uri="{FF2B5EF4-FFF2-40B4-BE49-F238E27FC236}">
                <a16:creationId xmlns:a16="http://schemas.microsoft.com/office/drawing/2014/main" id="{5B4FC00F-2822-4D29-B19D-DE56845904C2}"/>
              </a:ext>
            </a:extLst>
          </p:cNvPr>
          <p:cNvSpPr txBox="1">
            <a:spLocks noChangeArrowheads="1"/>
          </p:cNvSpPr>
          <p:nvPr/>
        </p:nvSpPr>
        <p:spPr bwMode="auto">
          <a:xfrm>
            <a:off x="8183563" y="5446713"/>
            <a:ext cx="781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$23C0</a:t>
            </a:r>
            <a:endParaRPr lang="en-US" altLang="fr-FR" sz="1600">
              <a:solidFill>
                <a:srgbClr val="FF9900"/>
              </a:solidFill>
            </a:endParaRPr>
          </a:p>
        </p:txBody>
      </p:sp>
      <p:sp>
        <p:nvSpPr>
          <p:cNvPr id="15399" name="Text Box 27">
            <a:extLst>
              <a:ext uri="{FF2B5EF4-FFF2-40B4-BE49-F238E27FC236}">
                <a16:creationId xmlns:a16="http://schemas.microsoft.com/office/drawing/2014/main" id="{213D6986-0E20-D579-C02E-E7D90F9097D0}"/>
              </a:ext>
            </a:extLst>
          </p:cNvPr>
          <p:cNvSpPr txBox="1">
            <a:spLocks noChangeArrowheads="1"/>
          </p:cNvSpPr>
          <p:nvPr/>
        </p:nvSpPr>
        <p:spPr bwMode="auto">
          <a:xfrm>
            <a:off x="8174038" y="5807075"/>
            <a:ext cx="747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$2000</a:t>
            </a:r>
            <a:endParaRPr lang="en-US" altLang="fr-FR" sz="1600">
              <a:solidFill>
                <a:srgbClr val="FF9900"/>
              </a:solidFill>
            </a:endParaRPr>
          </a:p>
        </p:txBody>
      </p:sp>
      <p:sp>
        <p:nvSpPr>
          <p:cNvPr id="15400" name="Text Box 28">
            <a:extLst>
              <a:ext uri="{FF2B5EF4-FFF2-40B4-BE49-F238E27FC236}">
                <a16:creationId xmlns:a16="http://schemas.microsoft.com/office/drawing/2014/main" id="{E497C039-0032-BD9C-F3B1-8B951DC32D1F}"/>
              </a:ext>
            </a:extLst>
          </p:cNvPr>
          <p:cNvSpPr txBox="1">
            <a:spLocks noChangeArrowheads="1"/>
          </p:cNvSpPr>
          <p:nvPr/>
        </p:nvSpPr>
        <p:spPr bwMode="auto">
          <a:xfrm>
            <a:off x="8172450" y="6238875"/>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$1000</a:t>
            </a:r>
            <a:endParaRPr lang="en-US" altLang="fr-FR" sz="1600">
              <a:solidFill>
                <a:srgbClr val="FF9900"/>
              </a:solidFill>
            </a:endParaRPr>
          </a:p>
        </p:txBody>
      </p:sp>
      <p:sp>
        <p:nvSpPr>
          <p:cNvPr id="15401" name="Text Box 29">
            <a:extLst>
              <a:ext uri="{FF2B5EF4-FFF2-40B4-BE49-F238E27FC236}">
                <a16:creationId xmlns:a16="http://schemas.microsoft.com/office/drawing/2014/main" id="{D689251E-D1D0-82CB-FC48-A95CD08547BC}"/>
              </a:ext>
            </a:extLst>
          </p:cNvPr>
          <p:cNvSpPr txBox="1">
            <a:spLocks noChangeArrowheads="1"/>
          </p:cNvSpPr>
          <p:nvPr/>
        </p:nvSpPr>
        <p:spPr bwMode="auto">
          <a:xfrm>
            <a:off x="8172450" y="6526213"/>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$0000</a:t>
            </a:r>
            <a:endParaRPr lang="en-US" altLang="fr-FR" sz="1600">
              <a:solidFill>
                <a:srgbClr val="FF9900"/>
              </a:solidFill>
            </a:endParaRPr>
          </a:p>
        </p:txBody>
      </p:sp>
      <p:sp>
        <p:nvSpPr>
          <p:cNvPr id="15402" name="Line 30">
            <a:extLst>
              <a:ext uri="{FF2B5EF4-FFF2-40B4-BE49-F238E27FC236}">
                <a16:creationId xmlns:a16="http://schemas.microsoft.com/office/drawing/2014/main" id="{19B1EDC1-04DD-44F2-2C7D-A6C8EA3EF8F5}"/>
              </a:ext>
            </a:extLst>
          </p:cNvPr>
          <p:cNvSpPr>
            <a:spLocks noChangeShapeType="1"/>
          </p:cNvSpPr>
          <p:nvPr/>
        </p:nvSpPr>
        <p:spPr bwMode="auto">
          <a:xfrm flipV="1">
            <a:off x="3708400" y="1485900"/>
            <a:ext cx="935038" cy="1428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03" name="Text Box 31">
            <a:extLst>
              <a:ext uri="{FF2B5EF4-FFF2-40B4-BE49-F238E27FC236}">
                <a16:creationId xmlns:a16="http://schemas.microsoft.com/office/drawing/2014/main" id="{9DDAD705-E33B-1E30-B951-DAECE0442AB1}"/>
              </a:ext>
            </a:extLst>
          </p:cNvPr>
          <p:cNvSpPr txBox="1">
            <a:spLocks noChangeArrowheads="1"/>
          </p:cNvSpPr>
          <p:nvPr/>
        </p:nvSpPr>
        <p:spPr bwMode="auto">
          <a:xfrm>
            <a:off x="107950" y="1196975"/>
            <a:ext cx="3630613"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Définit les propriétés des 64 sprites.</a:t>
            </a:r>
          </a:p>
          <a:p>
            <a:pPr eaLnBrk="1" hangingPunct="1">
              <a:spcBef>
                <a:spcPct val="0"/>
              </a:spcBef>
              <a:buFontTx/>
              <a:buNone/>
            </a:pPr>
            <a:r>
              <a:rPr lang="fr-CA" altLang="fr-FR" sz="1600">
                <a:solidFill>
                  <a:srgbClr val="FFFF99"/>
                </a:solidFill>
              </a:rPr>
              <a:t>Ce segment de la mémoire est séparé</a:t>
            </a:r>
          </a:p>
          <a:p>
            <a:pPr eaLnBrk="1" hangingPunct="1">
              <a:spcBef>
                <a:spcPct val="0"/>
              </a:spcBef>
              <a:buFontTx/>
              <a:buNone/>
            </a:pPr>
            <a:r>
              <a:rPr lang="fr-CA" altLang="fr-FR" sz="1600">
                <a:solidFill>
                  <a:srgbClr val="FFFF99"/>
                </a:solidFill>
              </a:rPr>
              <a:t>de la mémoire vidéo. [256 octets]</a:t>
            </a:r>
            <a:endParaRPr lang="en-US" altLang="fr-FR" sz="1600">
              <a:solidFill>
                <a:srgbClr val="FFFF99"/>
              </a:solidFill>
            </a:endParaRPr>
          </a:p>
        </p:txBody>
      </p:sp>
      <p:sp>
        <p:nvSpPr>
          <p:cNvPr id="15404" name="Line 32">
            <a:extLst>
              <a:ext uri="{FF2B5EF4-FFF2-40B4-BE49-F238E27FC236}">
                <a16:creationId xmlns:a16="http://schemas.microsoft.com/office/drawing/2014/main" id="{313B1795-1EAE-8B15-FEBE-6EA743727846}"/>
              </a:ext>
            </a:extLst>
          </p:cNvPr>
          <p:cNvSpPr>
            <a:spLocks noChangeShapeType="1"/>
          </p:cNvSpPr>
          <p:nvPr/>
        </p:nvSpPr>
        <p:spPr bwMode="auto">
          <a:xfrm flipV="1">
            <a:off x="3995738" y="2278063"/>
            <a:ext cx="720725" cy="1428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05" name="Line 33">
            <a:extLst>
              <a:ext uri="{FF2B5EF4-FFF2-40B4-BE49-F238E27FC236}">
                <a16:creationId xmlns:a16="http://schemas.microsoft.com/office/drawing/2014/main" id="{E3ED39FF-0082-1E1E-5101-5EDC6598C67D}"/>
              </a:ext>
            </a:extLst>
          </p:cNvPr>
          <p:cNvSpPr>
            <a:spLocks noChangeShapeType="1"/>
          </p:cNvSpPr>
          <p:nvPr/>
        </p:nvSpPr>
        <p:spPr bwMode="auto">
          <a:xfrm>
            <a:off x="3995738" y="2420938"/>
            <a:ext cx="720725" cy="290512"/>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06" name="Text Box 34">
            <a:extLst>
              <a:ext uri="{FF2B5EF4-FFF2-40B4-BE49-F238E27FC236}">
                <a16:creationId xmlns:a16="http://schemas.microsoft.com/office/drawing/2014/main" id="{CE365919-E0A6-8C95-182E-FE4585051EF2}"/>
              </a:ext>
            </a:extLst>
          </p:cNvPr>
          <p:cNvSpPr txBox="1">
            <a:spLocks noChangeArrowheads="1"/>
          </p:cNvSpPr>
          <p:nvPr/>
        </p:nvSpPr>
        <p:spPr bwMode="auto">
          <a:xfrm>
            <a:off x="76200" y="2187575"/>
            <a:ext cx="3922713"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Deux blocs de 16 octets définissent les 8 </a:t>
            </a:r>
          </a:p>
          <a:p>
            <a:pPr eaLnBrk="1" hangingPunct="1">
              <a:spcBef>
                <a:spcPct val="0"/>
              </a:spcBef>
              <a:buFontTx/>
              <a:buNone/>
            </a:pPr>
            <a:r>
              <a:rPr lang="fr-CA" altLang="fr-FR" sz="1600">
                <a:solidFill>
                  <a:srgbClr val="FFFF99"/>
                </a:solidFill>
              </a:rPr>
              <a:t>palettes de l’arrière-plan et des sprites.</a:t>
            </a:r>
          </a:p>
          <a:p>
            <a:pPr eaLnBrk="1" hangingPunct="1">
              <a:spcBef>
                <a:spcPct val="0"/>
              </a:spcBef>
              <a:buFontTx/>
              <a:buNone/>
            </a:pPr>
            <a:endParaRPr lang="fr-CA" altLang="fr-FR" sz="1600">
              <a:solidFill>
                <a:schemeClr val="accent1"/>
              </a:solidFill>
            </a:endParaRPr>
          </a:p>
          <a:p>
            <a:pPr eaLnBrk="1" hangingPunct="1">
              <a:spcBef>
                <a:spcPct val="0"/>
              </a:spcBef>
              <a:buFontTx/>
              <a:buNone/>
            </a:pPr>
            <a:endParaRPr lang="en-US" altLang="fr-FR" sz="1600">
              <a:solidFill>
                <a:schemeClr val="accent1"/>
              </a:solidFill>
            </a:endParaRPr>
          </a:p>
        </p:txBody>
      </p:sp>
      <p:sp>
        <p:nvSpPr>
          <p:cNvPr id="15407" name="Text Box 35">
            <a:extLst>
              <a:ext uri="{FF2B5EF4-FFF2-40B4-BE49-F238E27FC236}">
                <a16:creationId xmlns:a16="http://schemas.microsoft.com/office/drawing/2014/main" id="{76AFB127-6205-073D-8DEE-A959835F1EF1}"/>
              </a:ext>
            </a:extLst>
          </p:cNvPr>
          <p:cNvSpPr txBox="1">
            <a:spLocks noChangeArrowheads="1"/>
          </p:cNvSpPr>
          <p:nvPr/>
        </p:nvSpPr>
        <p:spPr bwMode="auto">
          <a:xfrm>
            <a:off x="107950" y="2935288"/>
            <a:ext cx="4002088"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Tables de noms et d’attributs #2 et #3.</a:t>
            </a:r>
          </a:p>
          <a:p>
            <a:pPr eaLnBrk="1" hangingPunct="1">
              <a:spcBef>
                <a:spcPct val="0"/>
              </a:spcBef>
              <a:buFontTx/>
              <a:buNone/>
            </a:pPr>
            <a:r>
              <a:rPr lang="fr-CA" altLang="fr-FR" sz="1600">
                <a:solidFill>
                  <a:srgbClr val="FFFF99"/>
                </a:solidFill>
              </a:rPr>
              <a:t>Correspondent souvent aux mêmes tables</a:t>
            </a:r>
          </a:p>
          <a:p>
            <a:pPr eaLnBrk="1" hangingPunct="1">
              <a:spcBef>
                <a:spcPct val="0"/>
              </a:spcBef>
              <a:buFontTx/>
              <a:buNone/>
            </a:pPr>
            <a:r>
              <a:rPr lang="fr-CA" altLang="fr-FR" sz="1600">
                <a:solidFill>
                  <a:srgbClr val="FFFF99"/>
                </a:solidFill>
              </a:rPr>
              <a:t>que #0 et #1,ce lien peut varier selon le</a:t>
            </a:r>
          </a:p>
          <a:p>
            <a:pPr eaLnBrk="1" hangingPunct="1">
              <a:spcBef>
                <a:spcPct val="0"/>
              </a:spcBef>
              <a:buFontTx/>
              <a:buNone/>
            </a:pPr>
            <a:r>
              <a:rPr lang="fr-CA" altLang="fr-FR" sz="1600">
                <a:solidFill>
                  <a:srgbClr val="FFFF99"/>
                </a:solidFill>
              </a:rPr>
              <a:t>type de défilement choisi.</a:t>
            </a:r>
            <a:endParaRPr lang="en-US" altLang="fr-FR" sz="1600">
              <a:solidFill>
                <a:srgbClr val="FFFF99"/>
              </a:solidFill>
            </a:endParaRPr>
          </a:p>
        </p:txBody>
      </p:sp>
      <p:sp>
        <p:nvSpPr>
          <p:cNvPr id="15408" name="Line 36">
            <a:extLst>
              <a:ext uri="{FF2B5EF4-FFF2-40B4-BE49-F238E27FC236}">
                <a16:creationId xmlns:a16="http://schemas.microsoft.com/office/drawing/2014/main" id="{70F37FA9-24EA-9F9D-9390-1D87B02364B7}"/>
              </a:ext>
            </a:extLst>
          </p:cNvPr>
          <p:cNvSpPr>
            <a:spLocks noChangeShapeType="1"/>
          </p:cNvSpPr>
          <p:nvPr/>
        </p:nvSpPr>
        <p:spPr bwMode="auto">
          <a:xfrm>
            <a:off x="3995738" y="3573463"/>
            <a:ext cx="504825" cy="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09" name="Text Box 37">
            <a:extLst>
              <a:ext uri="{FF2B5EF4-FFF2-40B4-BE49-F238E27FC236}">
                <a16:creationId xmlns:a16="http://schemas.microsoft.com/office/drawing/2014/main" id="{A624CBDD-9943-0CD8-BBF0-A07D78647383}"/>
              </a:ext>
            </a:extLst>
          </p:cNvPr>
          <p:cNvSpPr txBox="1">
            <a:spLocks noChangeArrowheads="1"/>
          </p:cNvSpPr>
          <p:nvPr/>
        </p:nvSpPr>
        <p:spPr bwMode="auto">
          <a:xfrm>
            <a:off x="107950" y="4149725"/>
            <a:ext cx="3800475" cy="106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Tables de noms #0 et #1.  Contiennent </a:t>
            </a:r>
          </a:p>
          <a:p>
            <a:pPr eaLnBrk="1" hangingPunct="1">
              <a:spcBef>
                <a:spcPct val="0"/>
              </a:spcBef>
              <a:buFontTx/>
              <a:buNone/>
            </a:pPr>
            <a:r>
              <a:rPr lang="fr-CA" altLang="fr-FR" sz="1600">
                <a:solidFill>
                  <a:srgbClr val="FFFF99"/>
                </a:solidFill>
              </a:rPr>
              <a:t>chacune une matrice 32 par 30 tuiles  à </a:t>
            </a:r>
          </a:p>
          <a:p>
            <a:pPr eaLnBrk="1" hangingPunct="1">
              <a:spcBef>
                <a:spcPct val="0"/>
              </a:spcBef>
              <a:buFontTx/>
              <a:buNone/>
            </a:pPr>
            <a:r>
              <a:rPr lang="fr-CA" altLang="fr-FR" sz="1600">
                <a:solidFill>
                  <a:srgbClr val="FFFF99"/>
                </a:solidFill>
              </a:rPr>
              <a:t>dessiner, une partie de chaque table est</a:t>
            </a:r>
          </a:p>
          <a:p>
            <a:pPr eaLnBrk="1" hangingPunct="1">
              <a:spcBef>
                <a:spcPct val="0"/>
              </a:spcBef>
              <a:buFontTx/>
              <a:buNone/>
            </a:pPr>
            <a:r>
              <a:rPr lang="fr-CA" altLang="fr-FR" sz="1600">
                <a:solidFill>
                  <a:srgbClr val="FFFF99"/>
                </a:solidFill>
              </a:rPr>
              <a:t>affichée selon l’état du défilement.</a:t>
            </a:r>
            <a:endParaRPr lang="en-US" altLang="fr-FR" sz="1600">
              <a:solidFill>
                <a:srgbClr val="FFFF99"/>
              </a:solidFill>
            </a:endParaRPr>
          </a:p>
        </p:txBody>
      </p:sp>
      <p:sp>
        <p:nvSpPr>
          <p:cNvPr id="15410" name="Line 38">
            <a:extLst>
              <a:ext uri="{FF2B5EF4-FFF2-40B4-BE49-F238E27FC236}">
                <a16:creationId xmlns:a16="http://schemas.microsoft.com/office/drawing/2014/main" id="{C73782DE-95A4-ACCD-1D02-2D6EAFD9F367}"/>
              </a:ext>
            </a:extLst>
          </p:cNvPr>
          <p:cNvSpPr>
            <a:spLocks noChangeShapeType="1"/>
          </p:cNvSpPr>
          <p:nvPr/>
        </p:nvSpPr>
        <p:spPr bwMode="auto">
          <a:xfrm>
            <a:off x="3995738" y="3573463"/>
            <a:ext cx="576262" cy="71755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11" name="Text Box 39">
            <a:extLst>
              <a:ext uri="{FF2B5EF4-FFF2-40B4-BE49-F238E27FC236}">
                <a16:creationId xmlns:a16="http://schemas.microsoft.com/office/drawing/2014/main" id="{736BB597-20DF-18F6-D8A9-5E697BFEA293}"/>
              </a:ext>
            </a:extLst>
          </p:cNvPr>
          <p:cNvSpPr txBox="1">
            <a:spLocks noChangeArrowheads="1"/>
          </p:cNvSpPr>
          <p:nvPr/>
        </p:nvSpPr>
        <p:spPr bwMode="auto">
          <a:xfrm>
            <a:off x="111125" y="5300663"/>
            <a:ext cx="3910013"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Tables de schémas.  Contiennent les </a:t>
            </a:r>
          </a:p>
          <a:p>
            <a:pPr eaLnBrk="1" hangingPunct="1">
              <a:spcBef>
                <a:spcPct val="0"/>
              </a:spcBef>
              <a:buFontTx/>
              <a:buNone/>
            </a:pPr>
            <a:r>
              <a:rPr lang="fr-CA" altLang="fr-FR" sz="1600">
                <a:solidFill>
                  <a:srgbClr val="FFFF99"/>
                </a:solidFill>
              </a:rPr>
              <a:t>définitions des tuiles en 4 couleurs.  </a:t>
            </a:r>
          </a:p>
          <a:p>
            <a:pPr eaLnBrk="1" hangingPunct="1">
              <a:spcBef>
                <a:spcPct val="0"/>
              </a:spcBef>
              <a:buFontTx/>
              <a:buNone/>
            </a:pPr>
            <a:r>
              <a:rPr lang="fr-CA" altLang="fr-FR" sz="1600">
                <a:solidFill>
                  <a:srgbClr val="FFFF99"/>
                </a:solidFill>
              </a:rPr>
              <a:t>Une table est utilisée pour les sprites et</a:t>
            </a:r>
          </a:p>
          <a:p>
            <a:pPr eaLnBrk="1" hangingPunct="1">
              <a:spcBef>
                <a:spcPct val="0"/>
              </a:spcBef>
              <a:buFontTx/>
              <a:buNone/>
            </a:pPr>
            <a:r>
              <a:rPr lang="fr-CA" altLang="fr-FR" sz="1600">
                <a:solidFill>
                  <a:srgbClr val="FFFF99"/>
                </a:solidFill>
              </a:rPr>
              <a:t>l’autre est utilisée pour les arrière-plans.</a:t>
            </a:r>
          </a:p>
          <a:p>
            <a:pPr eaLnBrk="1" hangingPunct="1">
              <a:spcBef>
                <a:spcPct val="0"/>
              </a:spcBef>
              <a:buFontTx/>
              <a:buNone/>
            </a:pPr>
            <a:r>
              <a:rPr lang="fr-CA" altLang="fr-FR" sz="1600">
                <a:solidFill>
                  <a:srgbClr val="FFFF99"/>
                </a:solidFill>
              </a:rPr>
              <a:t>Possiblement chargées directement de la</a:t>
            </a:r>
          </a:p>
          <a:p>
            <a:pPr eaLnBrk="1" hangingPunct="1">
              <a:spcBef>
                <a:spcPct val="0"/>
              </a:spcBef>
              <a:buFontTx/>
              <a:buNone/>
            </a:pPr>
            <a:r>
              <a:rPr lang="fr-CA" altLang="fr-FR" sz="1600">
                <a:solidFill>
                  <a:srgbClr val="FFFF99"/>
                </a:solidFill>
              </a:rPr>
              <a:t>cartouche (CHR-ROM).</a:t>
            </a:r>
            <a:endParaRPr lang="en-US" altLang="fr-FR" sz="1600">
              <a:solidFill>
                <a:srgbClr val="FFFF99"/>
              </a:solidFill>
            </a:endParaRPr>
          </a:p>
        </p:txBody>
      </p:sp>
      <p:sp>
        <p:nvSpPr>
          <p:cNvPr id="15412" name="Line 42">
            <a:extLst>
              <a:ext uri="{FF2B5EF4-FFF2-40B4-BE49-F238E27FC236}">
                <a16:creationId xmlns:a16="http://schemas.microsoft.com/office/drawing/2014/main" id="{9E94AD33-386F-9CE0-96FE-0436B6A54471}"/>
              </a:ext>
            </a:extLst>
          </p:cNvPr>
          <p:cNvSpPr>
            <a:spLocks noChangeShapeType="1"/>
          </p:cNvSpPr>
          <p:nvPr/>
        </p:nvSpPr>
        <p:spPr bwMode="auto">
          <a:xfrm>
            <a:off x="3995738" y="6092825"/>
            <a:ext cx="722312" cy="14605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aphicFrame>
        <p:nvGraphicFramePr>
          <p:cNvPr id="70761" name="Group 105">
            <a:extLst>
              <a:ext uri="{FF2B5EF4-FFF2-40B4-BE49-F238E27FC236}">
                <a16:creationId xmlns:a16="http://schemas.microsoft.com/office/drawing/2014/main" id="{C79A6F28-52D9-2773-BEC2-5CACE2CAD891}"/>
              </a:ext>
            </a:extLst>
          </p:cNvPr>
          <p:cNvGraphicFramePr>
            <a:graphicFrameLocks noGrp="1"/>
          </p:cNvGraphicFramePr>
          <p:nvPr/>
        </p:nvGraphicFramePr>
        <p:xfrm>
          <a:off x="4787900" y="1270000"/>
          <a:ext cx="3455988" cy="360363"/>
        </p:xfrm>
        <a:graphic>
          <a:graphicData uri="http://schemas.openxmlformats.org/drawingml/2006/table">
            <a:tbl>
              <a:tblPr/>
              <a:tblGrid>
                <a:gridCol w="3455988">
                  <a:extLst>
                    <a:ext uri="{9D8B030D-6E8A-4147-A177-3AD203B41FA5}">
                      <a16:colId xmlns:a16="http://schemas.microsoft.com/office/drawing/2014/main" val="20000"/>
                    </a:ext>
                  </a:extLst>
                </a:gridCol>
              </a:tblGrid>
              <a:tr h="36036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1600" b="0" i="0" u="none" strike="noStrike" cap="none" normalizeH="0" baseline="0">
                          <a:ln>
                            <a:noFill/>
                          </a:ln>
                          <a:solidFill>
                            <a:schemeClr val="tx1"/>
                          </a:solidFill>
                          <a:effectLst/>
                          <a:latin typeface="Arial" charset="0"/>
                        </a:rPr>
                        <a:t>Définition des sprites (SPR-RAM)</a:t>
                      </a:r>
                      <a:endParaRPr kumimoji="0" lang="en-US" sz="1600" b="0" i="0" u="none" strike="noStrike" cap="none" normalizeH="0" baseline="0">
                        <a:ln>
                          <a:noFill/>
                        </a:ln>
                        <a:solidFill>
                          <a:schemeClr val="tx1"/>
                        </a:solidFill>
                        <a:effectLst/>
                        <a:latin typeface="Arial" charset="0"/>
                      </a:endParaRP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15419" name="Text Box 93">
            <a:extLst>
              <a:ext uri="{FF2B5EF4-FFF2-40B4-BE49-F238E27FC236}">
                <a16:creationId xmlns:a16="http://schemas.microsoft.com/office/drawing/2014/main" id="{FEE2F438-ED55-A710-2D97-C2E08179ADAF}"/>
              </a:ext>
            </a:extLst>
          </p:cNvPr>
          <p:cNvSpPr txBox="1">
            <a:spLocks noChangeArrowheads="1"/>
          </p:cNvSpPr>
          <p:nvPr/>
        </p:nvSpPr>
        <p:spPr bwMode="auto">
          <a:xfrm>
            <a:off x="8185150" y="2709863"/>
            <a:ext cx="758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$3F00</a:t>
            </a:r>
            <a:endParaRPr lang="en-US" altLang="fr-FR" sz="1600">
              <a:solidFill>
                <a:srgbClr val="FF9900"/>
              </a:solidFill>
            </a:endParaRPr>
          </a:p>
        </p:txBody>
      </p:sp>
      <p:sp>
        <p:nvSpPr>
          <p:cNvPr id="15420" name="Text Box 94">
            <a:extLst>
              <a:ext uri="{FF2B5EF4-FFF2-40B4-BE49-F238E27FC236}">
                <a16:creationId xmlns:a16="http://schemas.microsoft.com/office/drawing/2014/main" id="{5EAE06B4-83AE-61A6-1497-6C902F7C634C}"/>
              </a:ext>
            </a:extLst>
          </p:cNvPr>
          <p:cNvSpPr txBox="1">
            <a:spLocks noChangeArrowheads="1"/>
          </p:cNvSpPr>
          <p:nvPr/>
        </p:nvSpPr>
        <p:spPr bwMode="auto">
          <a:xfrm>
            <a:off x="8172450" y="3021013"/>
            <a:ext cx="747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$3000</a:t>
            </a:r>
            <a:endParaRPr lang="en-US" altLang="fr-FR" sz="1600">
              <a:solidFill>
                <a:srgbClr val="FF9900"/>
              </a:solidFill>
            </a:endParaRPr>
          </a:p>
        </p:txBody>
      </p:sp>
      <p:sp>
        <p:nvSpPr>
          <p:cNvPr id="15421" name="Text Box 95">
            <a:extLst>
              <a:ext uri="{FF2B5EF4-FFF2-40B4-BE49-F238E27FC236}">
                <a16:creationId xmlns:a16="http://schemas.microsoft.com/office/drawing/2014/main" id="{BC91C198-E9D0-2C4C-DB31-16EF0A487E1D}"/>
              </a:ext>
            </a:extLst>
          </p:cNvPr>
          <p:cNvSpPr txBox="1">
            <a:spLocks noChangeArrowheads="1"/>
          </p:cNvSpPr>
          <p:nvPr/>
        </p:nvSpPr>
        <p:spPr bwMode="auto">
          <a:xfrm>
            <a:off x="8172450" y="3381375"/>
            <a:ext cx="7921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$2FC0</a:t>
            </a:r>
            <a:endParaRPr lang="en-US" altLang="fr-FR" sz="1600">
              <a:solidFill>
                <a:srgbClr val="FF9900"/>
              </a:solidFill>
            </a:endParaRPr>
          </a:p>
        </p:txBody>
      </p:sp>
      <p:sp>
        <p:nvSpPr>
          <p:cNvPr id="15422" name="Text Box 96">
            <a:extLst>
              <a:ext uri="{FF2B5EF4-FFF2-40B4-BE49-F238E27FC236}">
                <a16:creationId xmlns:a16="http://schemas.microsoft.com/office/drawing/2014/main" id="{B91B58C6-9A25-14ED-C5EF-2B5F159910BA}"/>
              </a:ext>
            </a:extLst>
          </p:cNvPr>
          <p:cNvSpPr txBox="1">
            <a:spLocks noChangeArrowheads="1"/>
          </p:cNvSpPr>
          <p:nvPr/>
        </p:nvSpPr>
        <p:spPr bwMode="auto">
          <a:xfrm>
            <a:off x="8156575" y="3741738"/>
            <a:ext cx="781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$2C00</a:t>
            </a:r>
            <a:endParaRPr lang="en-US" altLang="fr-FR" sz="1600">
              <a:solidFill>
                <a:srgbClr val="FF9900"/>
              </a:solidFill>
            </a:endParaRPr>
          </a:p>
        </p:txBody>
      </p:sp>
      <p:sp>
        <p:nvSpPr>
          <p:cNvPr id="15423" name="Text Box 106">
            <a:extLst>
              <a:ext uri="{FF2B5EF4-FFF2-40B4-BE49-F238E27FC236}">
                <a16:creationId xmlns:a16="http://schemas.microsoft.com/office/drawing/2014/main" id="{179DFF37-D428-3638-1986-E53307867983}"/>
              </a:ext>
            </a:extLst>
          </p:cNvPr>
          <p:cNvSpPr txBox="1">
            <a:spLocks noChangeArrowheads="1"/>
          </p:cNvSpPr>
          <p:nvPr/>
        </p:nvSpPr>
        <p:spPr bwMode="auto">
          <a:xfrm>
            <a:off x="8172450" y="1628775"/>
            <a:ext cx="781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$3FFF</a:t>
            </a:r>
            <a:endParaRPr lang="en-US" altLang="fr-FR" sz="1600">
              <a:solidFill>
                <a:srgbClr val="FF9900"/>
              </a:solidFill>
            </a:endParaRPr>
          </a:p>
        </p:txBody>
      </p:sp>
      <p:sp>
        <p:nvSpPr>
          <p:cNvPr id="15424" name="Text Box 107">
            <a:extLst>
              <a:ext uri="{FF2B5EF4-FFF2-40B4-BE49-F238E27FC236}">
                <a16:creationId xmlns:a16="http://schemas.microsoft.com/office/drawing/2014/main" id="{5C63160C-285A-49EA-5E8F-262C6C1FC241}"/>
              </a:ext>
            </a:extLst>
          </p:cNvPr>
          <p:cNvSpPr txBox="1">
            <a:spLocks noChangeArrowheads="1"/>
          </p:cNvSpPr>
          <p:nvPr/>
        </p:nvSpPr>
        <p:spPr bwMode="auto">
          <a:xfrm>
            <a:off x="8166100" y="2012950"/>
            <a:ext cx="758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$3F20</a:t>
            </a:r>
            <a:endParaRPr lang="en-US" altLang="fr-FR" sz="1600">
              <a:solidFill>
                <a:srgbClr val="FF9900"/>
              </a:solidFill>
            </a:endParaRPr>
          </a:p>
        </p:txBody>
      </p:sp>
      <p:sp>
        <p:nvSpPr>
          <p:cNvPr id="15425" name="Text Box 108">
            <a:extLst>
              <a:ext uri="{FF2B5EF4-FFF2-40B4-BE49-F238E27FC236}">
                <a16:creationId xmlns:a16="http://schemas.microsoft.com/office/drawing/2014/main" id="{E790ECB6-C93D-A933-A521-F3D1C7D5D160}"/>
              </a:ext>
            </a:extLst>
          </p:cNvPr>
          <p:cNvSpPr txBox="1">
            <a:spLocks noChangeArrowheads="1"/>
          </p:cNvSpPr>
          <p:nvPr/>
        </p:nvSpPr>
        <p:spPr bwMode="auto">
          <a:xfrm>
            <a:off x="8189913" y="2373313"/>
            <a:ext cx="7588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$3F10</a:t>
            </a:r>
            <a:endParaRPr lang="en-US" altLang="fr-FR" sz="1600">
              <a:solidFill>
                <a:srgbClr val="FF9900"/>
              </a:solidFill>
            </a:endParaRPr>
          </a:p>
        </p:txBody>
      </p:sp>
      <p:sp>
        <p:nvSpPr>
          <p:cNvPr id="15426" name="Text Box 109">
            <a:extLst>
              <a:ext uri="{FF2B5EF4-FFF2-40B4-BE49-F238E27FC236}">
                <a16:creationId xmlns:a16="http://schemas.microsoft.com/office/drawing/2014/main" id="{A90AEB22-0F05-C512-8296-BE4DCB457635}"/>
              </a:ext>
            </a:extLst>
          </p:cNvPr>
          <p:cNvSpPr txBox="1">
            <a:spLocks noChangeArrowheads="1"/>
          </p:cNvSpPr>
          <p:nvPr/>
        </p:nvSpPr>
        <p:spPr bwMode="auto">
          <a:xfrm>
            <a:off x="4487863" y="3141663"/>
            <a:ext cx="371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9900"/>
                </a:solidFill>
              </a:rPr>
              <a:t>{</a:t>
            </a:r>
            <a:endParaRPr lang="en-US" altLang="fr-FR" sz="4400">
              <a:solidFill>
                <a:srgbClr val="FF9900"/>
              </a:solidFill>
            </a:endParaRPr>
          </a:p>
        </p:txBody>
      </p:sp>
      <p:sp>
        <p:nvSpPr>
          <p:cNvPr id="15427" name="Text Box 110">
            <a:extLst>
              <a:ext uri="{FF2B5EF4-FFF2-40B4-BE49-F238E27FC236}">
                <a16:creationId xmlns:a16="http://schemas.microsoft.com/office/drawing/2014/main" id="{A97CB3AE-56F3-8C8B-B208-4214FCF410F0}"/>
              </a:ext>
            </a:extLst>
          </p:cNvPr>
          <p:cNvSpPr txBox="1">
            <a:spLocks noChangeArrowheads="1"/>
          </p:cNvSpPr>
          <p:nvPr/>
        </p:nvSpPr>
        <p:spPr bwMode="auto">
          <a:xfrm>
            <a:off x="4487863" y="3862388"/>
            <a:ext cx="371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9900"/>
                </a:solidFill>
              </a:rPr>
              <a:t>{</a:t>
            </a:r>
            <a:endParaRPr lang="en-US" altLang="fr-FR" sz="4400">
              <a:solidFill>
                <a:srgbClr val="FF9900"/>
              </a:solidFill>
            </a:endParaRPr>
          </a:p>
        </p:txBody>
      </p:sp>
      <p:sp>
        <p:nvSpPr>
          <p:cNvPr id="15428" name="Line 111">
            <a:extLst>
              <a:ext uri="{FF2B5EF4-FFF2-40B4-BE49-F238E27FC236}">
                <a16:creationId xmlns:a16="http://schemas.microsoft.com/office/drawing/2014/main" id="{5902334A-595E-77DE-7E5A-061461F0BB36}"/>
              </a:ext>
            </a:extLst>
          </p:cNvPr>
          <p:cNvSpPr>
            <a:spLocks noChangeShapeType="1"/>
          </p:cNvSpPr>
          <p:nvPr/>
        </p:nvSpPr>
        <p:spPr bwMode="auto">
          <a:xfrm>
            <a:off x="3924300" y="4870450"/>
            <a:ext cx="576263" cy="7143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29" name="Line 112">
            <a:extLst>
              <a:ext uri="{FF2B5EF4-FFF2-40B4-BE49-F238E27FC236}">
                <a16:creationId xmlns:a16="http://schemas.microsoft.com/office/drawing/2014/main" id="{BBFF2431-6498-FDC3-EE47-3C6C70AF079C}"/>
              </a:ext>
            </a:extLst>
          </p:cNvPr>
          <p:cNvSpPr>
            <a:spLocks noChangeShapeType="1"/>
          </p:cNvSpPr>
          <p:nvPr/>
        </p:nvSpPr>
        <p:spPr bwMode="auto">
          <a:xfrm>
            <a:off x="3924300" y="4870450"/>
            <a:ext cx="647700" cy="78898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30" name="Text Box 113">
            <a:extLst>
              <a:ext uri="{FF2B5EF4-FFF2-40B4-BE49-F238E27FC236}">
                <a16:creationId xmlns:a16="http://schemas.microsoft.com/office/drawing/2014/main" id="{47E60E3E-2250-30A9-AF47-09A2BDB5326F}"/>
              </a:ext>
            </a:extLst>
          </p:cNvPr>
          <p:cNvSpPr txBox="1">
            <a:spLocks noChangeArrowheads="1"/>
          </p:cNvSpPr>
          <p:nvPr/>
        </p:nvSpPr>
        <p:spPr bwMode="auto">
          <a:xfrm>
            <a:off x="4487863" y="4510088"/>
            <a:ext cx="371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9900"/>
                </a:solidFill>
              </a:rPr>
              <a:t>{</a:t>
            </a:r>
            <a:endParaRPr lang="en-US" altLang="fr-FR" sz="4400">
              <a:solidFill>
                <a:srgbClr val="FF9900"/>
              </a:solidFill>
            </a:endParaRPr>
          </a:p>
        </p:txBody>
      </p:sp>
      <p:sp>
        <p:nvSpPr>
          <p:cNvPr id="15431" name="Text Box 114">
            <a:extLst>
              <a:ext uri="{FF2B5EF4-FFF2-40B4-BE49-F238E27FC236}">
                <a16:creationId xmlns:a16="http://schemas.microsoft.com/office/drawing/2014/main" id="{1B6261D2-E9BD-265A-F8FC-57160DCCA265}"/>
              </a:ext>
            </a:extLst>
          </p:cNvPr>
          <p:cNvSpPr txBox="1">
            <a:spLocks noChangeArrowheads="1"/>
          </p:cNvSpPr>
          <p:nvPr/>
        </p:nvSpPr>
        <p:spPr bwMode="auto">
          <a:xfrm>
            <a:off x="4487863" y="5230813"/>
            <a:ext cx="3714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9900"/>
                </a:solidFill>
              </a:rPr>
              <a:t>{</a:t>
            </a:r>
            <a:endParaRPr lang="en-US" altLang="fr-FR" sz="4400">
              <a:solidFill>
                <a:srgbClr val="FF9900"/>
              </a:solidFill>
            </a:endParaRPr>
          </a:p>
        </p:txBody>
      </p:sp>
      <p:sp>
        <p:nvSpPr>
          <p:cNvPr id="15432" name="Line 115">
            <a:extLst>
              <a:ext uri="{FF2B5EF4-FFF2-40B4-BE49-F238E27FC236}">
                <a16:creationId xmlns:a16="http://schemas.microsoft.com/office/drawing/2014/main" id="{104276CD-C8EE-E73B-7DAB-0DB40376DD9C}"/>
              </a:ext>
            </a:extLst>
          </p:cNvPr>
          <p:cNvSpPr>
            <a:spLocks noChangeShapeType="1"/>
          </p:cNvSpPr>
          <p:nvPr/>
        </p:nvSpPr>
        <p:spPr bwMode="auto">
          <a:xfrm>
            <a:off x="3995738" y="6092825"/>
            <a:ext cx="720725" cy="5048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5433" name="Rectangle 116">
            <a:extLst>
              <a:ext uri="{FF2B5EF4-FFF2-40B4-BE49-F238E27FC236}">
                <a16:creationId xmlns:a16="http://schemas.microsoft.com/office/drawing/2014/main" id="{54091281-6842-7633-9558-1D5AC92AFECA}"/>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15434" name="Text Box 117">
            <a:extLst>
              <a:ext uri="{FF2B5EF4-FFF2-40B4-BE49-F238E27FC236}">
                <a16:creationId xmlns:a16="http://schemas.microsoft.com/office/drawing/2014/main" id="{BD9817B3-61FB-57D1-F097-2CCED05F5334}"/>
              </a:ext>
            </a:extLst>
          </p:cNvPr>
          <p:cNvSpPr txBox="1">
            <a:spLocks noChangeArrowheads="1"/>
          </p:cNvSpPr>
          <p:nvPr/>
        </p:nvSpPr>
        <p:spPr bwMode="auto">
          <a:xfrm>
            <a:off x="3770313" y="908050"/>
            <a:ext cx="151606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mémoire vidéo</a:t>
            </a:r>
            <a:endParaRPr lang="en-US" altLang="fr-FR" sz="1600" u="sng">
              <a:solidFill>
                <a:srgbClr val="FF9900"/>
              </a:solidFill>
            </a:endParaRPr>
          </a:p>
        </p:txBody>
      </p:sp>
      <p:pic>
        <p:nvPicPr>
          <p:cNvPr id="15435" name="Picture 118" descr="21">
            <a:extLst>
              <a:ext uri="{FF2B5EF4-FFF2-40B4-BE49-F238E27FC236}">
                <a16:creationId xmlns:a16="http://schemas.microsoft.com/office/drawing/2014/main" id="{7CD82476-2A1A-5B06-16F1-5B45FACA10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436" name="Picture 119" descr="21">
            <a:extLst>
              <a:ext uri="{FF2B5EF4-FFF2-40B4-BE49-F238E27FC236}">
                <a16:creationId xmlns:a16="http://schemas.microsoft.com/office/drawing/2014/main" id="{C3A7910D-F2AA-B08A-0982-57EE775E25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pic>
        <p:nvPicPr>
          <p:cNvPr id="16386" name="Picture 2" descr="ppuview">
            <a:extLst>
              <a:ext uri="{FF2B5EF4-FFF2-40B4-BE49-F238E27FC236}">
                <a16:creationId xmlns:a16="http://schemas.microsoft.com/office/drawing/2014/main" id="{127C3B65-D4DA-5A5A-CB74-901B1D075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412875"/>
            <a:ext cx="3744912" cy="2735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7" name="Picture 3" descr="mario2">
            <a:extLst>
              <a:ext uri="{FF2B5EF4-FFF2-40B4-BE49-F238E27FC236}">
                <a16:creationId xmlns:a16="http://schemas.microsoft.com/office/drawing/2014/main" id="{016D2D49-1DEF-3DD8-5C3D-3B1D3E305C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5363" y="4221163"/>
            <a:ext cx="768350" cy="1657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8" name="Picture 4" descr="22">
            <a:extLst>
              <a:ext uri="{FF2B5EF4-FFF2-40B4-BE49-F238E27FC236}">
                <a16:creationId xmlns:a16="http://schemas.microsoft.com/office/drawing/2014/main" id="{44BD31A3-4AC4-123E-233D-C290FD9F632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1628775"/>
            <a:ext cx="24384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9" name="Rectangle 5">
            <a:extLst>
              <a:ext uri="{FF2B5EF4-FFF2-40B4-BE49-F238E27FC236}">
                <a16:creationId xmlns:a16="http://schemas.microsoft.com/office/drawing/2014/main" id="{C08D33B0-B905-63D0-BF44-37B77BC4E49C}"/>
              </a:ext>
            </a:extLst>
          </p:cNvPr>
          <p:cNvSpPr>
            <a:spLocks noChangeArrowheads="1"/>
          </p:cNvSpPr>
          <p:nvPr/>
        </p:nvSpPr>
        <p:spPr bwMode="auto">
          <a:xfrm>
            <a:off x="468313" y="-17145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grpSp>
        <p:nvGrpSpPr>
          <p:cNvPr id="2" name="Group 6">
            <a:extLst>
              <a:ext uri="{FF2B5EF4-FFF2-40B4-BE49-F238E27FC236}">
                <a16:creationId xmlns:a16="http://schemas.microsoft.com/office/drawing/2014/main" id="{1B401F7B-32E1-8734-E876-B6A20B39E0F6}"/>
              </a:ext>
            </a:extLst>
          </p:cNvPr>
          <p:cNvGrpSpPr>
            <a:grpSpLocks/>
          </p:cNvGrpSpPr>
          <p:nvPr/>
        </p:nvGrpSpPr>
        <p:grpSpPr bwMode="auto">
          <a:xfrm>
            <a:off x="1476375" y="2708275"/>
            <a:ext cx="503238" cy="1512888"/>
            <a:chOff x="930" y="1706"/>
            <a:chExt cx="317" cy="953"/>
          </a:xfrm>
        </p:grpSpPr>
        <p:sp>
          <p:nvSpPr>
            <p:cNvPr id="16551" name="Oval 7">
              <a:extLst>
                <a:ext uri="{FF2B5EF4-FFF2-40B4-BE49-F238E27FC236}">
                  <a16:creationId xmlns:a16="http://schemas.microsoft.com/office/drawing/2014/main" id="{53F8342B-2455-626B-6FE7-ABD70FDB77F9}"/>
                </a:ext>
              </a:extLst>
            </p:cNvPr>
            <p:cNvSpPr>
              <a:spLocks noChangeArrowheads="1"/>
            </p:cNvSpPr>
            <p:nvPr/>
          </p:nvSpPr>
          <p:spPr bwMode="auto">
            <a:xfrm>
              <a:off x="1020" y="1706"/>
              <a:ext cx="227" cy="272"/>
            </a:xfrm>
            <a:prstGeom prst="ellipse">
              <a:avLst/>
            </a:prstGeom>
            <a:noFill/>
            <a:ln w="38100"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552" name="Line 8">
              <a:extLst>
                <a:ext uri="{FF2B5EF4-FFF2-40B4-BE49-F238E27FC236}">
                  <a16:creationId xmlns:a16="http://schemas.microsoft.com/office/drawing/2014/main" id="{F253E789-74E9-EB9E-CEBD-EAFFB228105B}"/>
                </a:ext>
              </a:extLst>
            </p:cNvPr>
            <p:cNvSpPr>
              <a:spLocks noChangeShapeType="1"/>
            </p:cNvSpPr>
            <p:nvPr/>
          </p:nvSpPr>
          <p:spPr bwMode="auto">
            <a:xfrm flipH="1">
              <a:off x="930" y="1978"/>
              <a:ext cx="181" cy="681"/>
            </a:xfrm>
            <a:prstGeom prst="line">
              <a:avLst/>
            </a:prstGeom>
            <a:noFill/>
            <a:ln w="38100">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3" name="Group 9">
            <a:extLst>
              <a:ext uri="{FF2B5EF4-FFF2-40B4-BE49-F238E27FC236}">
                <a16:creationId xmlns:a16="http://schemas.microsoft.com/office/drawing/2014/main" id="{F8570A38-7D6A-E870-A7FB-4BAA330BAFE3}"/>
              </a:ext>
            </a:extLst>
          </p:cNvPr>
          <p:cNvGrpSpPr>
            <a:grpSpLocks/>
          </p:cNvGrpSpPr>
          <p:nvPr/>
        </p:nvGrpSpPr>
        <p:grpSpPr bwMode="auto">
          <a:xfrm>
            <a:off x="0" y="1219200"/>
            <a:ext cx="3203575" cy="2568575"/>
            <a:chOff x="0" y="768"/>
            <a:chExt cx="2018" cy="1618"/>
          </a:xfrm>
        </p:grpSpPr>
        <p:sp>
          <p:nvSpPr>
            <p:cNvPr id="16547" name="Line 10">
              <a:extLst>
                <a:ext uri="{FF2B5EF4-FFF2-40B4-BE49-F238E27FC236}">
                  <a16:creationId xmlns:a16="http://schemas.microsoft.com/office/drawing/2014/main" id="{41507D64-EFE0-58D9-CB70-5E346B0CBA91}"/>
                </a:ext>
              </a:extLst>
            </p:cNvPr>
            <p:cNvSpPr>
              <a:spLocks noChangeShapeType="1"/>
            </p:cNvSpPr>
            <p:nvPr/>
          </p:nvSpPr>
          <p:spPr bwMode="auto">
            <a:xfrm>
              <a:off x="385" y="1026"/>
              <a:ext cx="0" cy="136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548" name="Line 11">
              <a:extLst>
                <a:ext uri="{FF2B5EF4-FFF2-40B4-BE49-F238E27FC236}">
                  <a16:creationId xmlns:a16="http://schemas.microsoft.com/office/drawing/2014/main" id="{50229442-5F64-1BC1-A518-B439805E7234}"/>
                </a:ext>
              </a:extLst>
            </p:cNvPr>
            <p:cNvSpPr>
              <a:spLocks noChangeShapeType="1"/>
            </p:cNvSpPr>
            <p:nvPr/>
          </p:nvSpPr>
          <p:spPr bwMode="auto">
            <a:xfrm>
              <a:off x="431" y="935"/>
              <a:ext cx="1587"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549" name="Text Box 12">
              <a:extLst>
                <a:ext uri="{FF2B5EF4-FFF2-40B4-BE49-F238E27FC236}">
                  <a16:creationId xmlns:a16="http://schemas.microsoft.com/office/drawing/2014/main" id="{FC5F2F23-1F8F-875C-BD6B-CEE19FDC39C6}"/>
                </a:ext>
              </a:extLst>
            </p:cNvPr>
            <p:cNvSpPr txBox="1">
              <a:spLocks noChangeArrowheads="1"/>
            </p:cNvSpPr>
            <p:nvPr/>
          </p:nvSpPr>
          <p:spPr bwMode="auto">
            <a:xfrm>
              <a:off x="730" y="768"/>
              <a:ext cx="9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256 pixels (32 tuiles)</a:t>
              </a:r>
              <a:endParaRPr lang="en-US" altLang="fr-FR" sz="1200">
                <a:solidFill>
                  <a:srgbClr val="FFFF99"/>
                </a:solidFill>
              </a:endParaRPr>
            </a:p>
          </p:txBody>
        </p:sp>
        <p:sp>
          <p:nvSpPr>
            <p:cNvPr id="16550" name="Text Box 13">
              <a:extLst>
                <a:ext uri="{FF2B5EF4-FFF2-40B4-BE49-F238E27FC236}">
                  <a16:creationId xmlns:a16="http://schemas.microsoft.com/office/drawing/2014/main" id="{7CE31235-1C0F-FE4B-4710-322026B1B3E3}"/>
                </a:ext>
              </a:extLst>
            </p:cNvPr>
            <p:cNvSpPr txBox="1">
              <a:spLocks noChangeArrowheads="1"/>
            </p:cNvSpPr>
            <p:nvPr/>
          </p:nvSpPr>
          <p:spPr bwMode="auto">
            <a:xfrm>
              <a:off x="0" y="1415"/>
              <a:ext cx="398" cy="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200">
                  <a:solidFill>
                    <a:srgbClr val="FFFF99"/>
                  </a:solidFill>
                </a:rPr>
                <a:t>240</a:t>
              </a:r>
            </a:p>
            <a:p>
              <a:pPr eaLnBrk="1" hangingPunct="1">
                <a:spcBef>
                  <a:spcPct val="0"/>
                </a:spcBef>
                <a:buFontTx/>
                <a:buNone/>
              </a:pPr>
              <a:r>
                <a:rPr lang="fr-CA" altLang="fr-FR" sz="1200">
                  <a:solidFill>
                    <a:srgbClr val="FFFF99"/>
                  </a:solidFill>
                </a:rPr>
                <a:t>pixels</a:t>
              </a:r>
            </a:p>
            <a:p>
              <a:pPr eaLnBrk="1" hangingPunct="1">
                <a:spcBef>
                  <a:spcPct val="0"/>
                </a:spcBef>
                <a:buFontTx/>
                <a:buNone/>
              </a:pPr>
              <a:r>
                <a:rPr lang="fr-CA" altLang="fr-FR" sz="1200">
                  <a:solidFill>
                    <a:srgbClr val="FFFF99"/>
                  </a:solidFill>
                </a:rPr>
                <a:t> (30</a:t>
              </a:r>
            </a:p>
            <a:p>
              <a:pPr eaLnBrk="1" hangingPunct="1">
                <a:spcBef>
                  <a:spcPct val="0"/>
                </a:spcBef>
                <a:buFontTx/>
                <a:buNone/>
              </a:pPr>
              <a:r>
                <a:rPr lang="fr-CA" altLang="fr-FR" sz="1200">
                  <a:solidFill>
                    <a:srgbClr val="FFFF99"/>
                  </a:solidFill>
                </a:rPr>
                <a:t> tuiles)</a:t>
              </a:r>
              <a:endParaRPr lang="en-US" altLang="fr-FR" sz="1200">
                <a:solidFill>
                  <a:srgbClr val="FFFF99"/>
                </a:solidFill>
              </a:endParaRPr>
            </a:p>
          </p:txBody>
        </p:sp>
      </p:grpSp>
      <p:grpSp>
        <p:nvGrpSpPr>
          <p:cNvPr id="4" name="Group 14">
            <a:extLst>
              <a:ext uri="{FF2B5EF4-FFF2-40B4-BE49-F238E27FC236}">
                <a16:creationId xmlns:a16="http://schemas.microsoft.com/office/drawing/2014/main" id="{93052F28-C606-4ACC-114D-9EC25E6532A4}"/>
              </a:ext>
            </a:extLst>
          </p:cNvPr>
          <p:cNvGrpSpPr>
            <a:grpSpLocks/>
          </p:cNvGrpSpPr>
          <p:nvPr/>
        </p:nvGrpSpPr>
        <p:grpSpPr bwMode="auto">
          <a:xfrm>
            <a:off x="4643438" y="4652963"/>
            <a:ext cx="4252912" cy="1798637"/>
            <a:chOff x="2923" y="3021"/>
            <a:chExt cx="2679" cy="1133"/>
          </a:xfrm>
        </p:grpSpPr>
        <p:sp>
          <p:nvSpPr>
            <p:cNvPr id="16531" name="Text Box 15">
              <a:extLst>
                <a:ext uri="{FF2B5EF4-FFF2-40B4-BE49-F238E27FC236}">
                  <a16:creationId xmlns:a16="http://schemas.microsoft.com/office/drawing/2014/main" id="{7A8BAA6E-35E5-E828-B9E0-A183B500A37E}"/>
                </a:ext>
              </a:extLst>
            </p:cNvPr>
            <p:cNvSpPr txBox="1">
              <a:spLocks noChangeArrowheads="1"/>
            </p:cNvSpPr>
            <p:nvPr/>
          </p:nvSpPr>
          <p:spPr bwMode="auto">
            <a:xfrm>
              <a:off x="3107" y="3021"/>
              <a:ext cx="188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Définition d’un sprite (4 octets):</a:t>
              </a:r>
            </a:p>
          </p:txBody>
        </p:sp>
        <p:sp>
          <p:nvSpPr>
            <p:cNvPr id="16532" name="Rectangle 16">
              <a:extLst>
                <a:ext uri="{FF2B5EF4-FFF2-40B4-BE49-F238E27FC236}">
                  <a16:creationId xmlns:a16="http://schemas.microsoft.com/office/drawing/2014/main" id="{1B7A9614-2D17-78A3-C5FD-A3EB83F25296}"/>
                </a:ext>
              </a:extLst>
            </p:cNvPr>
            <p:cNvSpPr>
              <a:spLocks noChangeArrowheads="1"/>
            </p:cNvSpPr>
            <p:nvPr/>
          </p:nvSpPr>
          <p:spPr bwMode="auto">
            <a:xfrm>
              <a:off x="2923" y="3294"/>
              <a:ext cx="2177" cy="212"/>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Position Y en pixels (0-240)</a:t>
              </a:r>
              <a:endParaRPr lang="en-US" altLang="fr-FR" sz="1600"/>
            </a:p>
          </p:txBody>
        </p:sp>
        <p:sp>
          <p:nvSpPr>
            <p:cNvPr id="16533" name="Rectangle 17">
              <a:extLst>
                <a:ext uri="{FF2B5EF4-FFF2-40B4-BE49-F238E27FC236}">
                  <a16:creationId xmlns:a16="http://schemas.microsoft.com/office/drawing/2014/main" id="{D286F9CB-237F-9B31-9D5C-2C3180D332A0}"/>
                </a:ext>
              </a:extLst>
            </p:cNvPr>
            <p:cNvSpPr>
              <a:spLocks noChangeArrowheads="1"/>
            </p:cNvSpPr>
            <p:nvPr/>
          </p:nvSpPr>
          <p:spPr bwMode="auto">
            <a:xfrm>
              <a:off x="2923" y="3506"/>
              <a:ext cx="2177" cy="226"/>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Numéro de tuile (0-255)</a:t>
              </a:r>
              <a:endParaRPr lang="en-US" altLang="fr-FR" sz="1600"/>
            </a:p>
          </p:txBody>
        </p:sp>
        <p:sp>
          <p:nvSpPr>
            <p:cNvPr id="16534" name="Rectangle 18">
              <a:extLst>
                <a:ext uri="{FF2B5EF4-FFF2-40B4-BE49-F238E27FC236}">
                  <a16:creationId xmlns:a16="http://schemas.microsoft.com/office/drawing/2014/main" id="{D7E768E6-894D-99BC-3DA7-DA85013A0A45}"/>
                </a:ext>
              </a:extLst>
            </p:cNvPr>
            <p:cNvSpPr>
              <a:spLocks noChangeArrowheads="1"/>
            </p:cNvSpPr>
            <p:nvPr/>
          </p:nvSpPr>
          <p:spPr bwMode="auto">
            <a:xfrm>
              <a:off x="2923" y="3732"/>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Attributs du sprite</a:t>
              </a:r>
              <a:endParaRPr lang="en-US" altLang="fr-FR" sz="1600"/>
            </a:p>
          </p:txBody>
        </p:sp>
        <p:sp>
          <p:nvSpPr>
            <p:cNvPr id="16535" name="Rectangle 19">
              <a:extLst>
                <a:ext uri="{FF2B5EF4-FFF2-40B4-BE49-F238E27FC236}">
                  <a16:creationId xmlns:a16="http://schemas.microsoft.com/office/drawing/2014/main" id="{85F51C18-0EE5-F6D0-7188-C7F5CA8E3934}"/>
                </a:ext>
              </a:extLst>
            </p:cNvPr>
            <p:cNvSpPr>
              <a:spLocks noChangeArrowheads="1"/>
            </p:cNvSpPr>
            <p:nvPr/>
          </p:nvSpPr>
          <p:spPr bwMode="auto">
            <a:xfrm>
              <a:off x="2923" y="3943"/>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Position X en pixels (0-255)</a:t>
              </a:r>
              <a:endParaRPr lang="en-US" altLang="fr-FR" sz="1600"/>
            </a:p>
          </p:txBody>
        </p:sp>
        <p:sp>
          <p:nvSpPr>
            <p:cNvPr id="16536" name="Line 20">
              <a:extLst>
                <a:ext uri="{FF2B5EF4-FFF2-40B4-BE49-F238E27FC236}">
                  <a16:creationId xmlns:a16="http://schemas.microsoft.com/office/drawing/2014/main" id="{E1E3A231-934C-1363-829C-D5A15FE2899C}"/>
                </a:ext>
              </a:extLst>
            </p:cNvPr>
            <p:cNvSpPr>
              <a:spLocks noChangeShapeType="1"/>
            </p:cNvSpPr>
            <p:nvPr/>
          </p:nvSpPr>
          <p:spPr bwMode="auto">
            <a:xfrm>
              <a:off x="2923" y="329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37" name="Line 21">
              <a:extLst>
                <a:ext uri="{FF2B5EF4-FFF2-40B4-BE49-F238E27FC236}">
                  <a16:creationId xmlns:a16="http://schemas.microsoft.com/office/drawing/2014/main" id="{805446B7-8ECA-04F9-777F-18FC9C2FB1E4}"/>
                </a:ext>
              </a:extLst>
            </p:cNvPr>
            <p:cNvSpPr>
              <a:spLocks noChangeShapeType="1"/>
            </p:cNvSpPr>
            <p:nvPr/>
          </p:nvSpPr>
          <p:spPr bwMode="auto">
            <a:xfrm>
              <a:off x="2923" y="415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38" name="Line 22">
              <a:extLst>
                <a:ext uri="{FF2B5EF4-FFF2-40B4-BE49-F238E27FC236}">
                  <a16:creationId xmlns:a16="http://schemas.microsoft.com/office/drawing/2014/main" id="{AEA7FF3A-797A-CB17-83D2-C8D8D106624C}"/>
                </a:ext>
              </a:extLst>
            </p:cNvPr>
            <p:cNvSpPr>
              <a:spLocks noChangeShapeType="1"/>
            </p:cNvSpPr>
            <p:nvPr/>
          </p:nvSpPr>
          <p:spPr bwMode="auto">
            <a:xfrm>
              <a:off x="2923"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39" name="Line 23">
              <a:extLst>
                <a:ext uri="{FF2B5EF4-FFF2-40B4-BE49-F238E27FC236}">
                  <a16:creationId xmlns:a16="http://schemas.microsoft.com/office/drawing/2014/main" id="{2610C9A2-2196-5E95-CB6E-A87C853E2C3F}"/>
                </a:ext>
              </a:extLst>
            </p:cNvPr>
            <p:cNvSpPr>
              <a:spLocks noChangeShapeType="1"/>
            </p:cNvSpPr>
            <p:nvPr/>
          </p:nvSpPr>
          <p:spPr bwMode="auto">
            <a:xfrm>
              <a:off x="5100"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40" name="Line 24">
              <a:extLst>
                <a:ext uri="{FF2B5EF4-FFF2-40B4-BE49-F238E27FC236}">
                  <a16:creationId xmlns:a16="http://schemas.microsoft.com/office/drawing/2014/main" id="{8AC33286-0353-5BFF-834F-2265160012C5}"/>
                </a:ext>
              </a:extLst>
            </p:cNvPr>
            <p:cNvSpPr>
              <a:spLocks noChangeShapeType="1"/>
            </p:cNvSpPr>
            <p:nvPr/>
          </p:nvSpPr>
          <p:spPr bwMode="auto">
            <a:xfrm>
              <a:off x="2923" y="3943"/>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41" name="Line 25">
              <a:extLst>
                <a:ext uri="{FF2B5EF4-FFF2-40B4-BE49-F238E27FC236}">
                  <a16:creationId xmlns:a16="http://schemas.microsoft.com/office/drawing/2014/main" id="{BB739C9A-86B1-DD12-C43F-DFE5D8D3D470}"/>
                </a:ext>
              </a:extLst>
            </p:cNvPr>
            <p:cNvSpPr>
              <a:spLocks noChangeShapeType="1"/>
            </p:cNvSpPr>
            <p:nvPr/>
          </p:nvSpPr>
          <p:spPr bwMode="auto">
            <a:xfrm>
              <a:off x="2923" y="3732"/>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42" name="Line 26">
              <a:extLst>
                <a:ext uri="{FF2B5EF4-FFF2-40B4-BE49-F238E27FC236}">
                  <a16:creationId xmlns:a16="http://schemas.microsoft.com/office/drawing/2014/main" id="{7A5E4EF8-9516-6206-B720-BD2B44CF3BDB}"/>
                </a:ext>
              </a:extLst>
            </p:cNvPr>
            <p:cNvSpPr>
              <a:spLocks noChangeShapeType="1"/>
            </p:cNvSpPr>
            <p:nvPr/>
          </p:nvSpPr>
          <p:spPr bwMode="auto">
            <a:xfrm>
              <a:off x="2923" y="3506"/>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43" name="Text Box 27">
              <a:extLst>
                <a:ext uri="{FF2B5EF4-FFF2-40B4-BE49-F238E27FC236}">
                  <a16:creationId xmlns:a16="http://schemas.microsoft.com/office/drawing/2014/main" id="{A534E69E-3B6E-17C9-CA57-341867A76171}"/>
                </a:ext>
              </a:extLst>
            </p:cNvPr>
            <p:cNvSpPr txBox="1">
              <a:spLocks noChangeArrowheads="1"/>
            </p:cNvSpPr>
            <p:nvPr/>
          </p:nvSpPr>
          <p:spPr bwMode="auto">
            <a:xfrm>
              <a:off x="5101" y="3929"/>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3</a:t>
              </a:r>
              <a:endParaRPr lang="en-US" altLang="fr-FR" sz="1600">
                <a:solidFill>
                  <a:srgbClr val="FF9900"/>
                </a:solidFill>
              </a:endParaRPr>
            </a:p>
          </p:txBody>
        </p:sp>
        <p:sp>
          <p:nvSpPr>
            <p:cNvPr id="16544" name="Text Box 28">
              <a:extLst>
                <a:ext uri="{FF2B5EF4-FFF2-40B4-BE49-F238E27FC236}">
                  <a16:creationId xmlns:a16="http://schemas.microsoft.com/office/drawing/2014/main" id="{4BED94B0-8B3E-44CB-EED3-962133A80D0D}"/>
                </a:ext>
              </a:extLst>
            </p:cNvPr>
            <p:cNvSpPr txBox="1">
              <a:spLocks noChangeArrowheads="1"/>
            </p:cNvSpPr>
            <p:nvPr/>
          </p:nvSpPr>
          <p:spPr bwMode="auto">
            <a:xfrm>
              <a:off x="5101" y="329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0</a:t>
              </a:r>
              <a:endParaRPr lang="en-US" altLang="fr-FR" sz="1600">
                <a:solidFill>
                  <a:srgbClr val="FF9900"/>
                </a:solidFill>
              </a:endParaRPr>
            </a:p>
          </p:txBody>
        </p:sp>
        <p:sp>
          <p:nvSpPr>
            <p:cNvPr id="16545" name="Text Box 29">
              <a:extLst>
                <a:ext uri="{FF2B5EF4-FFF2-40B4-BE49-F238E27FC236}">
                  <a16:creationId xmlns:a16="http://schemas.microsoft.com/office/drawing/2014/main" id="{BB829EBA-C946-F30D-2C7C-8144877E5AF7}"/>
                </a:ext>
              </a:extLst>
            </p:cNvPr>
            <p:cNvSpPr txBox="1">
              <a:spLocks noChangeArrowheads="1"/>
            </p:cNvSpPr>
            <p:nvPr/>
          </p:nvSpPr>
          <p:spPr bwMode="auto">
            <a:xfrm>
              <a:off x="5101" y="3521"/>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1</a:t>
              </a:r>
              <a:endParaRPr lang="en-US" altLang="fr-FR" sz="1600">
                <a:solidFill>
                  <a:srgbClr val="FF9900"/>
                </a:solidFill>
              </a:endParaRPr>
            </a:p>
          </p:txBody>
        </p:sp>
        <p:sp>
          <p:nvSpPr>
            <p:cNvPr id="16546" name="Text Box 30">
              <a:extLst>
                <a:ext uri="{FF2B5EF4-FFF2-40B4-BE49-F238E27FC236}">
                  <a16:creationId xmlns:a16="http://schemas.microsoft.com/office/drawing/2014/main" id="{3E6A3A89-1DB0-9464-84EF-6FE22891E6CA}"/>
                </a:ext>
              </a:extLst>
            </p:cNvPr>
            <p:cNvSpPr txBox="1">
              <a:spLocks noChangeArrowheads="1"/>
            </p:cNvSpPr>
            <p:nvPr/>
          </p:nvSpPr>
          <p:spPr bwMode="auto">
            <a:xfrm>
              <a:off x="5099" y="3702"/>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2</a:t>
              </a:r>
              <a:endParaRPr lang="en-US" altLang="fr-FR" sz="1600">
                <a:solidFill>
                  <a:srgbClr val="FF9900"/>
                </a:solidFill>
              </a:endParaRPr>
            </a:p>
          </p:txBody>
        </p:sp>
      </p:grpSp>
      <p:grpSp>
        <p:nvGrpSpPr>
          <p:cNvPr id="5" name="Group 31">
            <a:extLst>
              <a:ext uri="{FF2B5EF4-FFF2-40B4-BE49-F238E27FC236}">
                <a16:creationId xmlns:a16="http://schemas.microsoft.com/office/drawing/2014/main" id="{D8963CC0-B82E-21BB-A772-E49626CFFA11}"/>
              </a:ext>
            </a:extLst>
          </p:cNvPr>
          <p:cNvGrpSpPr>
            <a:grpSpLocks/>
          </p:cNvGrpSpPr>
          <p:nvPr/>
        </p:nvGrpSpPr>
        <p:grpSpPr bwMode="auto">
          <a:xfrm>
            <a:off x="-36513" y="7029450"/>
            <a:ext cx="6226176" cy="2655888"/>
            <a:chOff x="1" y="4428"/>
            <a:chExt cx="3922" cy="1673"/>
          </a:xfrm>
        </p:grpSpPr>
        <p:sp>
          <p:nvSpPr>
            <p:cNvPr id="16517" name="Text Box 32">
              <a:extLst>
                <a:ext uri="{FF2B5EF4-FFF2-40B4-BE49-F238E27FC236}">
                  <a16:creationId xmlns:a16="http://schemas.microsoft.com/office/drawing/2014/main" id="{233EC0E0-3542-AB30-B98B-81A5D42C4C41}"/>
                </a:ext>
              </a:extLst>
            </p:cNvPr>
            <p:cNvSpPr txBox="1">
              <a:spLocks noChangeArrowheads="1"/>
            </p:cNvSpPr>
            <p:nvPr/>
          </p:nvSpPr>
          <p:spPr bwMode="auto">
            <a:xfrm>
              <a:off x="1247" y="5698"/>
              <a:ext cx="1163" cy="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Priorité sur l’arrière-plan:</a:t>
              </a:r>
            </a:p>
            <a:p>
              <a:pPr algn="ctr" eaLnBrk="1" hangingPunct="1">
                <a:spcBef>
                  <a:spcPct val="0"/>
                </a:spcBef>
                <a:buFontTx/>
                <a:buNone/>
              </a:pPr>
              <a:r>
                <a:rPr lang="fr-CA" altLang="fr-FR" sz="1200">
                  <a:solidFill>
                    <a:srgbClr val="FFFF99"/>
                  </a:solidFill>
                </a:rPr>
                <a:t>0 = devant</a:t>
              </a:r>
            </a:p>
            <a:p>
              <a:pPr algn="ctr" eaLnBrk="1" hangingPunct="1">
                <a:spcBef>
                  <a:spcPct val="0"/>
                </a:spcBef>
                <a:buFontTx/>
                <a:buNone/>
              </a:pPr>
              <a:r>
                <a:rPr lang="fr-CA" altLang="fr-FR" sz="1200">
                  <a:solidFill>
                    <a:srgbClr val="FFFF99"/>
                  </a:solidFill>
                </a:rPr>
                <a:t>1 = derrière</a:t>
              </a:r>
              <a:endParaRPr lang="en-US" altLang="fr-FR" sz="1200">
                <a:solidFill>
                  <a:srgbClr val="FFFF99"/>
                </a:solidFill>
              </a:endParaRPr>
            </a:p>
          </p:txBody>
        </p:sp>
        <p:sp>
          <p:nvSpPr>
            <p:cNvPr id="16518" name="Text Box 33">
              <a:extLst>
                <a:ext uri="{FF2B5EF4-FFF2-40B4-BE49-F238E27FC236}">
                  <a16:creationId xmlns:a16="http://schemas.microsoft.com/office/drawing/2014/main" id="{2FC602A0-99DD-B01B-1B8D-CF8722C02BBA}"/>
                </a:ext>
              </a:extLst>
            </p:cNvPr>
            <p:cNvSpPr txBox="1">
              <a:spLocks noChangeArrowheads="1"/>
            </p:cNvSpPr>
            <p:nvPr/>
          </p:nvSpPr>
          <p:spPr bwMode="auto">
            <a:xfrm>
              <a:off x="1070" y="4655"/>
              <a:ext cx="1723" cy="345"/>
            </a:xfrm>
            <a:prstGeom prst="rect">
              <a:avLst/>
            </a:prstGeom>
            <a:solidFill>
              <a:schemeClr val="accent1"/>
            </a:solidFill>
            <a:ln w="28575" algn="ctr">
              <a:solidFill>
                <a:schemeClr val="tx1"/>
              </a:solidFill>
              <a:miter lim="800000"/>
              <a:headEnd/>
              <a:tailEnd/>
            </a:ln>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800"/>
                <a:t>v h p 0 0 0 c c</a:t>
              </a:r>
              <a:endParaRPr lang="en-US" altLang="fr-FR" sz="2800"/>
            </a:p>
          </p:txBody>
        </p:sp>
        <p:sp>
          <p:nvSpPr>
            <p:cNvPr id="16519" name="Text Box 34">
              <a:extLst>
                <a:ext uri="{FF2B5EF4-FFF2-40B4-BE49-F238E27FC236}">
                  <a16:creationId xmlns:a16="http://schemas.microsoft.com/office/drawing/2014/main" id="{8D0D8CD7-3135-DE8F-A77D-02BA1B5EEF22}"/>
                </a:ext>
              </a:extLst>
            </p:cNvPr>
            <p:cNvSpPr txBox="1">
              <a:spLocks noChangeArrowheads="1"/>
            </p:cNvSpPr>
            <p:nvPr/>
          </p:nvSpPr>
          <p:spPr bwMode="auto">
            <a:xfrm>
              <a:off x="1" y="5380"/>
              <a:ext cx="88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Inversion verticale</a:t>
              </a:r>
              <a:endParaRPr lang="en-US" altLang="fr-FR" sz="1200">
                <a:solidFill>
                  <a:srgbClr val="FFFF99"/>
                </a:solidFill>
              </a:endParaRPr>
            </a:p>
          </p:txBody>
        </p:sp>
        <p:sp>
          <p:nvSpPr>
            <p:cNvPr id="16520" name="Line 35">
              <a:extLst>
                <a:ext uri="{FF2B5EF4-FFF2-40B4-BE49-F238E27FC236}">
                  <a16:creationId xmlns:a16="http://schemas.microsoft.com/office/drawing/2014/main" id="{FEFEC5DC-A363-0A96-E088-DF665B87EB39}"/>
                </a:ext>
              </a:extLst>
            </p:cNvPr>
            <p:cNvSpPr>
              <a:spLocks noChangeShapeType="1"/>
            </p:cNvSpPr>
            <p:nvPr/>
          </p:nvSpPr>
          <p:spPr bwMode="auto">
            <a:xfrm flipV="1">
              <a:off x="571" y="5018"/>
              <a:ext cx="680" cy="362"/>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521" name="Text Box 36">
              <a:extLst>
                <a:ext uri="{FF2B5EF4-FFF2-40B4-BE49-F238E27FC236}">
                  <a16:creationId xmlns:a16="http://schemas.microsoft.com/office/drawing/2014/main" id="{25CECFB3-CC34-1CB3-B5DF-FAB460096FF6}"/>
                </a:ext>
              </a:extLst>
            </p:cNvPr>
            <p:cNvSpPr txBox="1">
              <a:spLocks noChangeArrowheads="1"/>
            </p:cNvSpPr>
            <p:nvPr/>
          </p:nvSpPr>
          <p:spPr bwMode="auto">
            <a:xfrm>
              <a:off x="435" y="5562"/>
              <a:ext cx="998"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Inversion horizontale</a:t>
              </a:r>
              <a:endParaRPr lang="en-US" altLang="fr-FR" sz="1200">
                <a:solidFill>
                  <a:srgbClr val="FFFF99"/>
                </a:solidFill>
              </a:endParaRPr>
            </a:p>
          </p:txBody>
        </p:sp>
        <p:sp>
          <p:nvSpPr>
            <p:cNvPr id="16522" name="Line 37">
              <a:extLst>
                <a:ext uri="{FF2B5EF4-FFF2-40B4-BE49-F238E27FC236}">
                  <a16:creationId xmlns:a16="http://schemas.microsoft.com/office/drawing/2014/main" id="{510C8C2C-1C0E-C20E-F622-BE38BA492CC6}"/>
                </a:ext>
              </a:extLst>
            </p:cNvPr>
            <p:cNvSpPr>
              <a:spLocks noChangeShapeType="1"/>
            </p:cNvSpPr>
            <p:nvPr/>
          </p:nvSpPr>
          <p:spPr bwMode="auto">
            <a:xfrm flipV="1">
              <a:off x="934" y="5018"/>
              <a:ext cx="499" cy="58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523" name="Line 38">
              <a:extLst>
                <a:ext uri="{FF2B5EF4-FFF2-40B4-BE49-F238E27FC236}">
                  <a16:creationId xmlns:a16="http://schemas.microsoft.com/office/drawing/2014/main" id="{CFF91F63-BED6-170E-E0B7-DD8117A33A83}"/>
                </a:ext>
              </a:extLst>
            </p:cNvPr>
            <p:cNvSpPr>
              <a:spLocks noChangeShapeType="1"/>
            </p:cNvSpPr>
            <p:nvPr/>
          </p:nvSpPr>
          <p:spPr bwMode="auto">
            <a:xfrm flipH="1" flipV="1">
              <a:off x="1659" y="5018"/>
              <a:ext cx="137" cy="7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524" name="Text Box 39">
              <a:extLst>
                <a:ext uri="{FF2B5EF4-FFF2-40B4-BE49-F238E27FC236}">
                  <a16:creationId xmlns:a16="http://schemas.microsoft.com/office/drawing/2014/main" id="{36149116-CB2C-2D58-36E1-AB72B08B128D}"/>
                </a:ext>
              </a:extLst>
            </p:cNvPr>
            <p:cNvSpPr txBox="1">
              <a:spLocks noChangeArrowheads="1"/>
            </p:cNvSpPr>
            <p:nvPr/>
          </p:nvSpPr>
          <p:spPr bwMode="auto">
            <a:xfrm>
              <a:off x="2296" y="5562"/>
              <a:ext cx="6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Bits inutilisés</a:t>
              </a:r>
            </a:p>
            <a:p>
              <a:pPr algn="ctr" eaLnBrk="1" hangingPunct="1">
                <a:spcBef>
                  <a:spcPct val="0"/>
                </a:spcBef>
                <a:buFontTx/>
                <a:buNone/>
              </a:pPr>
              <a:r>
                <a:rPr lang="fr-CA" altLang="fr-FR" sz="1200">
                  <a:solidFill>
                    <a:srgbClr val="FFFF99"/>
                  </a:solidFill>
                </a:rPr>
                <a:t> (fixés à 0)</a:t>
              </a:r>
              <a:endParaRPr lang="en-US" altLang="fr-FR" sz="1200">
                <a:solidFill>
                  <a:srgbClr val="FFFF99"/>
                </a:solidFill>
              </a:endParaRPr>
            </a:p>
          </p:txBody>
        </p:sp>
        <p:sp>
          <p:nvSpPr>
            <p:cNvPr id="16525" name="Line 40">
              <a:extLst>
                <a:ext uri="{FF2B5EF4-FFF2-40B4-BE49-F238E27FC236}">
                  <a16:creationId xmlns:a16="http://schemas.microsoft.com/office/drawing/2014/main" id="{41E0A09D-91E5-4967-A9C0-7BEB265CAEB9}"/>
                </a:ext>
              </a:extLst>
            </p:cNvPr>
            <p:cNvSpPr>
              <a:spLocks noChangeShapeType="1"/>
            </p:cNvSpPr>
            <p:nvPr/>
          </p:nvSpPr>
          <p:spPr bwMode="auto">
            <a:xfrm flipH="1" flipV="1">
              <a:off x="2068" y="5063"/>
              <a:ext cx="408" cy="499"/>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526" name="Text Box 41">
              <a:extLst>
                <a:ext uri="{FF2B5EF4-FFF2-40B4-BE49-F238E27FC236}">
                  <a16:creationId xmlns:a16="http://schemas.microsoft.com/office/drawing/2014/main" id="{264576C2-0505-5B59-8A6F-D4EBA6E84AA3}"/>
                </a:ext>
              </a:extLst>
            </p:cNvPr>
            <p:cNvSpPr txBox="1">
              <a:spLocks noChangeArrowheads="1"/>
            </p:cNvSpPr>
            <p:nvPr/>
          </p:nvSpPr>
          <p:spPr bwMode="auto">
            <a:xfrm>
              <a:off x="3020" y="5501"/>
              <a:ext cx="90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Numéro de palette</a:t>
              </a:r>
            </a:p>
            <a:p>
              <a:pPr algn="ctr" eaLnBrk="1" hangingPunct="1">
                <a:spcBef>
                  <a:spcPct val="0"/>
                </a:spcBef>
                <a:buFontTx/>
                <a:buNone/>
              </a:pPr>
              <a:r>
                <a:rPr lang="fr-CA" altLang="fr-FR" sz="1200">
                  <a:solidFill>
                    <a:srgbClr val="FFFF99"/>
                  </a:solidFill>
                </a:rPr>
                <a:t>(2 bits)</a:t>
              </a:r>
              <a:endParaRPr lang="en-US" altLang="fr-FR" sz="1200">
                <a:solidFill>
                  <a:srgbClr val="FFFF99"/>
                </a:solidFill>
              </a:endParaRPr>
            </a:p>
          </p:txBody>
        </p:sp>
        <p:sp>
          <p:nvSpPr>
            <p:cNvPr id="16527" name="Line 42">
              <a:extLst>
                <a:ext uri="{FF2B5EF4-FFF2-40B4-BE49-F238E27FC236}">
                  <a16:creationId xmlns:a16="http://schemas.microsoft.com/office/drawing/2014/main" id="{0C93C6C2-4A6A-9D7D-7713-209131AA41FA}"/>
                </a:ext>
              </a:extLst>
            </p:cNvPr>
            <p:cNvSpPr>
              <a:spLocks noChangeShapeType="1"/>
            </p:cNvSpPr>
            <p:nvPr/>
          </p:nvSpPr>
          <p:spPr bwMode="auto">
            <a:xfrm flipH="1" flipV="1">
              <a:off x="2521" y="5063"/>
              <a:ext cx="681" cy="40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528" name="Line 43">
              <a:extLst>
                <a:ext uri="{FF2B5EF4-FFF2-40B4-BE49-F238E27FC236}">
                  <a16:creationId xmlns:a16="http://schemas.microsoft.com/office/drawing/2014/main" id="{5F6C440D-51EF-A13A-81F9-6E40DF506384}"/>
                </a:ext>
              </a:extLst>
            </p:cNvPr>
            <p:cNvSpPr>
              <a:spLocks noChangeShapeType="1"/>
            </p:cNvSpPr>
            <p:nvPr/>
          </p:nvSpPr>
          <p:spPr bwMode="auto">
            <a:xfrm flipV="1">
              <a:off x="1796" y="5018"/>
              <a:ext cx="453" cy="0"/>
            </a:xfrm>
            <a:prstGeom prst="line">
              <a:avLst/>
            </a:prstGeom>
            <a:noFill/>
            <a:ln w="28575">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529" name="Line 44">
              <a:extLst>
                <a:ext uri="{FF2B5EF4-FFF2-40B4-BE49-F238E27FC236}">
                  <a16:creationId xmlns:a16="http://schemas.microsoft.com/office/drawing/2014/main" id="{7101C39C-DEFE-7067-3D56-CB40BBE34967}"/>
                </a:ext>
              </a:extLst>
            </p:cNvPr>
            <p:cNvSpPr>
              <a:spLocks noChangeShapeType="1"/>
            </p:cNvSpPr>
            <p:nvPr/>
          </p:nvSpPr>
          <p:spPr bwMode="auto">
            <a:xfrm flipV="1">
              <a:off x="2385" y="5018"/>
              <a:ext cx="227" cy="0"/>
            </a:xfrm>
            <a:prstGeom prst="line">
              <a:avLst/>
            </a:prstGeom>
            <a:noFill/>
            <a:ln w="28575">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530" name="Text Box 45">
              <a:extLst>
                <a:ext uri="{FF2B5EF4-FFF2-40B4-BE49-F238E27FC236}">
                  <a16:creationId xmlns:a16="http://schemas.microsoft.com/office/drawing/2014/main" id="{314EB47E-35EA-63FC-481E-277D0A03FD48}"/>
                </a:ext>
              </a:extLst>
            </p:cNvPr>
            <p:cNvSpPr txBox="1">
              <a:spLocks noChangeArrowheads="1"/>
            </p:cNvSpPr>
            <p:nvPr/>
          </p:nvSpPr>
          <p:spPr bwMode="auto">
            <a:xfrm>
              <a:off x="1284" y="4428"/>
              <a:ext cx="121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Attributs d’un sprite</a:t>
              </a:r>
              <a:endParaRPr lang="en-US" altLang="fr-FR" sz="1600">
                <a:solidFill>
                  <a:srgbClr val="FFFF99"/>
                </a:solidFill>
              </a:endParaRPr>
            </a:p>
          </p:txBody>
        </p:sp>
      </p:grpSp>
      <p:grpSp>
        <p:nvGrpSpPr>
          <p:cNvPr id="6" name="Group 46">
            <a:extLst>
              <a:ext uri="{FF2B5EF4-FFF2-40B4-BE49-F238E27FC236}">
                <a16:creationId xmlns:a16="http://schemas.microsoft.com/office/drawing/2014/main" id="{7FDDA078-A47B-737A-C9B9-61EC39D9C29F}"/>
              </a:ext>
            </a:extLst>
          </p:cNvPr>
          <p:cNvGrpSpPr>
            <a:grpSpLocks/>
          </p:cNvGrpSpPr>
          <p:nvPr/>
        </p:nvGrpSpPr>
        <p:grpSpPr bwMode="auto">
          <a:xfrm>
            <a:off x="4427538" y="7173913"/>
            <a:ext cx="4252912" cy="1798637"/>
            <a:chOff x="2923" y="3021"/>
            <a:chExt cx="2679" cy="1133"/>
          </a:xfrm>
        </p:grpSpPr>
        <p:sp>
          <p:nvSpPr>
            <p:cNvPr id="16501" name="Text Box 47">
              <a:extLst>
                <a:ext uri="{FF2B5EF4-FFF2-40B4-BE49-F238E27FC236}">
                  <a16:creationId xmlns:a16="http://schemas.microsoft.com/office/drawing/2014/main" id="{39E160DC-9B23-FB79-452F-6D22972685CE}"/>
                </a:ext>
              </a:extLst>
            </p:cNvPr>
            <p:cNvSpPr txBox="1">
              <a:spLocks noChangeArrowheads="1"/>
            </p:cNvSpPr>
            <p:nvPr/>
          </p:nvSpPr>
          <p:spPr bwMode="auto">
            <a:xfrm>
              <a:off x="3333" y="3021"/>
              <a:ext cx="1425"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Définition du sprite #0 :</a:t>
              </a:r>
            </a:p>
          </p:txBody>
        </p:sp>
        <p:sp>
          <p:nvSpPr>
            <p:cNvPr id="16502" name="Rectangle 48">
              <a:extLst>
                <a:ext uri="{FF2B5EF4-FFF2-40B4-BE49-F238E27FC236}">
                  <a16:creationId xmlns:a16="http://schemas.microsoft.com/office/drawing/2014/main" id="{BBBDAF3F-5CC9-AF5B-25F8-B500ACEF1AB0}"/>
                </a:ext>
              </a:extLst>
            </p:cNvPr>
            <p:cNvSpPr>
              <a:spLocks noChangeArrowheads="1"/>
            </p:cNvSpPr>
            <p:nvPr/>
          </p:nvSpPr>
          <p:spPr bwMode="auto">
            <a:xfrm>
              <a:off x="2923" y="3294"/>
              <a:ext cx="2177" cy="212"/>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Y: 132 = $84</a:t>
              </a:r>
              <a:endParaRPr lang="en-US" altLang="fr-FR" sz="1600"/>
            </a:p>
          </p:txBody>
        </p:sp>
        <p:sp>
          <p:nvSpPr>
            <p:cNvPr id="16503" name="Rectangle 49">
              <a:extLst>
                <a:ext uri="{FF2B5EF4-FFF2-40B4-BE49-F238E27FC236}">
                  <a16:creationId xmlns:a16="http://schemas.microsoft.com/office/drawing/2014/main" id="{3394F58C-F78E-3776-D76D-4158616D7FD7}"/>
                </a:ext>
              </a:extLst>
            </p:cNvPr>
            <p:cNvSpPr>
              <a:spLocks noChangeArrowheads="1"/>
            </p:cNvSpPr>
            <p:nvPr/>
          </p:nvSpPr>
          <p:spPr bwMode="auto">
            <a:xfrm>
              <a:off x="2923" y="3506"/>
              <a:ext cx="2177" cy="226"/>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Tuile: $00</a:t>
              </a:r>
              <a:endParaRPr lang="en-US" altLang="fr-FR" sz="1600"/>
            </a:p>
          </p:txBody>
        </p:sp>
        <p:sp>
          <p:nvSpPr>
            <p:cNvPr id="16504" name="Rectangle 50">
              <a:extLst>
                <a:ext uri="{FF2B5EF4-FFF2-40B4-BE49-F238E27FC236}">
                  <a16:creationId xmlns:a16="http://schemas.microsoft.com/office/drawing/2014/main" id="{FE83AA27-5CDB-A4B1-5E67-310F97EE2611}"/>
                </a:ext>
              </a:extLst>
            </p:cNvPr>
            <p:cNvSpPr>
              <a:spLocks noChangeArrowheads="1"/>
            </p:cNvSpPr>
            <p:nvPr/>
          </p:nvSpPr>
          <p:spPr bwMode="auto">
            <a:xfrm>
              <a:off x="2923" y="3732"/>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Attributs: 0 0 0 0 0 0 0 0 = $00</a:t>
              </a:r>
              <a:endParaRPr lang="en-US" altLang="fr-FR" sz="1600"/>
            </a:p>
          </p:txBody>
        </p:sp>
        <p:sp>
          <p:nvSpPr>
            <p:cNvPr id="16505" name="Rectangle 51">
              <a:extLst>
                <a:ext uri="{FF2B5EF4-FFF2-40B4-BE49-F238E27FC236}">
                  <a16:creationId xmlns:a16="http://schemas.microsoft.com/office/drawing/2014/main" id="{DCFFD2C5-AF22-B6E7-81C8-0974F2A4F6B6}"/>
                </a:ext>
              </a:extLst>
            </p:cNvPr>
            <p:cNvSpPr>
              <a:spLocks noChangeArrowheads="1"/>
            </p:cNvSpPr>
            <p:nvPr/>
          </p:nvSpPr>
          <p:spPr bwMode="auto">
            <a:xfrm>
              <a:off x="2923" y="3943"/>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X: 112 = $70 </a:t>
              </a:r>
              <a:endParaRPr lang="en-US" altLang="fr-FR" sz="1600"/>
            </a:p>
          </p:txBody>
        </p:sp>
        <p:sp>
          <p:nvSpPr>
            <p:cNvPr id="16506" name="Line 52">
              <a:extLst>
                <a:ext uri="{FF2B5EF4-FFF2-40B4-BE49-F238E27FC236}">
                  <a16:creationId xmlns:a16="http://schemas.microsoft.com/office/drawing/2014/main" id="{BFD71505-9DF4-FA75-41E0-D23042DF6B3D}"/>
                </a:ext>
              </a:extLst>
            </p:cNvPr>
            <p:cNvSpPr>
              <a:spLocks noChangeShapeType="1"/>
            </p:cNvSpPr>
            <p:nvPr/>
          </p:nvSpPr>
          <p:spPr bwMode="auto">
            <a:xfrm>
              <a:off x="2923" y="329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07" name="Line 53">
              <a:extLst>
                <a:ext uri="{FF2B5EF4-FFF2-40B4-BE49-F238E27FC236}">
                  <a16:creationId xmlns:a16="http://schemas.microsoft.com/office/drawing/2014/main" id="{A131B87C-6421-9056-BBA5-80E8A7C75F70}"/>
                </a:ext>
              </a:extLst>
            </p:cNvPr>
            <p:cNvSpPr>
              <a:spLocks noChangeShapeType="1"/>
            </p:cNvSpPr>
            <p:nvPr/>
          </p:nvSpPr>
          <p:spPr bwMode="auto">
            <a:xfrm>
              <a:off x="2923" y="415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08" name="Line 54">
              <a:extLst>
                <a:ext uri="{FF2B5EF4-FFF2-40B4-BE49-F238E27FC236}">
                  <a16:creationId xmlns:a16="http://schemas.microsoft.com/office/drawing/2014/main" id="{16761C32-A9C7-EA95-C6C3-C355291AD1E0}"/>
                </a:ext>
              </a:extLst>
            </p:cNvPr>
            <p:cNvSpPr>
              <a:spLocks noChangeShapeType="1"/>
            </p:cNvSpPr>
            <p:nvPr/>
          </p:nvSpPr>
          <p:spPr bwMode="auto">
            <a:xfrm>
              <a:off x="2923"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09" name="Line 55">
              <a:extLst>
                <a:ext uri="{FF2B5EF4-FFF2-40B4-BE49-F238E27FC236}">
                  <a16:creationId xmlns:a16="http://schemas.microsoft.com/office/drawing/2014/main" id="{6CFFE4B7-68C3-7EE7-63ED-40460CDE0811}"/>
                </a:ext>
              </a:extLst>
            </p:cNvPr>
            <p:cNvSpPr>
              <a:spLocks noChangeShapeType="1"/>
            </p:cNvSpPr>
            <p:nvPr/>
          </p:nvSpPr>
          <p:spPr bwMode="auto">
            <a:xfrm>
              <a:off x="5100"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10" name="Line 56">
              <a:extLst>
                <a:ext uri="{FF2B5EF4-FFF2-40B4-BE49-F238E27FC236}">
                  <a16:creationId xmlns:a16="http://schemas.microsoft.com/office/drawing/2014/main" id="{73BA81C3-9CEC-D8CE-BADE-DAD49319E54F}"/>
                </a:ext>
              </a:extLst>
            </p:cNvPr>
            <p:cNvSpPr>
              <a:spLocks noChangeShapeType="1"/>
            </p:cNvSpPr>
            <p:nvPr/>
          </p:nvSpPr>
          <p:spPr bwMode="auto">
            <a:xfrm>
              <a:off x="2923" y="3943"/>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11" name="Line 57">
              <a:extLst>
                <a:ext uri="{FF2B5EF4-FFF2-40B4-BE49-F238E27FC236}">
                  <a16:creationId xmlns:a16="http://schemas.microsoft.com/office/drawing/2014/main" id="{13B75972-6653-65B1-F06F-91D5FD6228AF}"/>
                </a:ext>
              </a:extLst>
            </p:cNvPr>
            <p:cNvSpPr>
              <a:spLocks noChangeShapeType="1"/>
            </p:cNvSpPr>
            <p:nvPr/>
          </p:nvSpPr>
          <p:spPr bwMode="auto">
            <a:xfrm>
              <a:off x="2923" y="3732"/>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12" name="Line 58">
              <a:extLst>
                <a:ext uri="{FF2B5EF4-FFF2-40B4-BE49-F238E27FC236}">
                  <a16:creationId xmlns:a16="http://schemas.microsoft.com/office/drawing/2014/main" id="{E99A8300-E1EE-DB7B-B684-EB7F45D16A5E}"/>
                </a:ext>
              </a:extLst>
            </p:cNvPr>
            <p:cNvSpPr>
              <a:spLocks noChangeShapeType="1"/>
            </p:cNvSpPr>
            <p:nvPr/>
          </p:nvSpPr>
          <p:spPr bwMode="auto">
            <a:xfrm>
              <a:off x="2923" y="3506"/>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513" name="Text Box 59">
              <a:extLst>
                <a:ext uri="{FF2B5EF4-FFF2-40B4-BE49-F238E27FC236}">
                  <a16:creationId xmlns:a16="http://schemas.microsoft.com/office/drawing/2014/main" id="{FA769404-6A4B-ABAF-583A-EBB6B3A8CC40}"/>
                </a:ext>
              </a:extLst>
            </p:cNvPr>
            <p:cNvSpPr txBox="1">
              <a:spLocks noChangeArrowheads="1"/>
            </p:cNvSpPr>
            <p:nvPr/>
          </p:nvSpPr>
          <p:spPr bwMode="auto">
            <a:xfrm>
              <a:off x="5101" y="3929"/>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3</a:t>
              </a:r>
              <a:endParaRPr lang="en-US" altLang="fr-FR" sz="1600">
                <a:solidFill>
                  <a:srgbClr val="FF9900"/>
                </a:solidFill>
              </a:endParaRPr>
            </a:p>
          </p:txBody>
        </p:sp>
        <p:sp>
          <p:nvSpPr>
            <p:cNvPr id="16514" name="Text Box 60">
              <a:extLst>
                <a:ext uri="{FF2B5EF4-FFF2-40B4-BE49-F238E27FC236}">
                  <a16:creationId xmlns:a16="http://schemas.microsoft.com/office/drawing/2014/main" id="{8B4DFE7E-FCE0-50DC-DB7C-FF70DCFB8928}"/>
                </a:ext>
              </a:extLst>
            </p:cNvPr>
            <p:cNvSpPr txBox="1">
              <a:spLocks noChangeArrowheads="1"/>
            </p:cNvSpPr>
            <p:nvPr/>
          </p:nvSpPr>
          <p:spPr bwMode="auto">
            <a:xfrm>
              <a:off x="5101" y="329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0</a:t>
              </a:r>
              <a:endParaRPr lang="en-US" altLang="fr-FR" sz="1600">
                <a:solidFill>
                  <a:srgbClr val="FF9900"/>
                </a:solidFill>
              </a:endParaRPr>
            </a:p>
          </p:txBody>
        </p:sp>
        <p:sp>
          <p:nvSpPr>
            <p:cNvPr id="16515" name="Text Box 61">
              <a:extLst>
                <a:ext uri="{FF2B5EF4-FFF2-40B4-BE49-F238E27FC236}">
                  <a16:creationId xmlns:a16="http://schemas.microsoft.com/office/drawing/2014/main" id="{589EBAF2-E642-25AE-C76B-2F5B19F60C92}"/>
                </a:ext>
              </a:extLst>
            </p:cNvPr>
            <p:cNvSpPr txBox="1">
              <a:spLocks noChangeArrowheads="1"/>
            </p:cNvSpPr>
            <p:nvPr/>
          </p:nvSpPr>
          <p:spPr bwMode="auto">
            <a:xfrm>
              <a:off x="5101" y="3521"/>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1</a:t>
              </a:r>
              <a:endParaRPr lang="en-US" altLang="fr-FR" sz="1600">
                <a:solidFill>
                  <a:srgbClr val="FF9900"/>
                </a:solidFill>
              </a:endParaRPr>
            </a:p>
          </p:txBody>
        </p:sp>
        <p:sp>
          <p:nvSpPr>
            <p:cNvPr id="16516" name="Text Box 62">
              <a:extLst>
                <a:ext uri="{FF2B5EF4-FFF2-40B4-BE49-F238E27FC236}">
                  <a16:creationId xmlns:a16="http://schemas.microsoft.com/office/drawing/2014/main" id="{3D90EFB5-A9B5-6A24-C6B1-5194E7B1CE38}"/>
                </a:ext>
              </a:extLst>
            </p:cNvPr>
            <p:cNvSpPr txBox="1">
              <a:spLocks noChangeArrowheads="1"/>
            </p:cNvSpPr>
            <p:nvPr/>
          </p:nvSpPr>
          <p:spPr bwMode="auto">
            <a:xfrm>
              <a:off x="5099" y="3702"/>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2</a:t>
              </a:r>
              <a:endParaRPr lang="en-US" altLang="fr-FR" sz="1600">
                <a:solidFill>
                  <a:srgbClr val="FF9900"/>
                </a:solidFill>
              </a:endParaRPr>
            </a:p>
          </p:txBody>
        </p:sp>
      </p:grpSp>
      <p:grpSp>
        <p:nvGrpSpPr>
          <p:cNvPr id="7" name="Group 63">
            <a:extLst>
              <a:ext uri="{FF2B5EF4-FFF2-40B4-BE49-F238E27FC236}">
                <a16:creationId xmlns:a16="http://schemas.microsoft.com/office/drawing/2014/main" id="{F79B57EE-1A39-EF0C-489E-34573DB5D4A6}"/>
              </a:ext>
            </a:extLst>
          </p:cNvPr>
          <p:cNvGrpSpPr>
            <a:grpSpLocks/>
          </p:cNvGrpSpPr>
          <p:nvPr/>
        </p:nvGrpSpPr>
        <p:grpSpPr bwMode="auto">
          <a:xfrm>
            <a:off x="4640263" y="9332913"/>
            <a:ext cx="4252912" cy="1798637"/>
            <a:chOff x="2923" y="3021"/>
            <a:chExt cx="2679" cy="1133"/>
          </a:xfrm>
        </p:grpSpPr>
        <p:sp>
          <p:nvSpPr>
            <p:cNvPr id="16485" name="Text Box 64">
              <a:extLst>
                <a:ext uri="{FF2B5EF4-FFF2-40B4-BE49-F238E27FC236}">
                  <a16:creationId xmlns:a16="http://schemas.microsoft.com/office/drawing/2014/main" id="{78433772-709C-74D4-2E24-309DF2A3ECFB}"/>
                </a:ext>
              </a:extLst>
            </p:cNvPr>
            <p:cNvSpPr txBox="1">
              <a:spLocks noChangeArrowheads="1"/>
            </p:cNvSpPr>
            <p:nvPr/>
          </p:nvSpPr>
          <p:spPr bwMode="auto">
            <a:xfrm>
              <a:off x="3351" y="3021"/>
              <a:ext cx="1389"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FF99"/>
                  </a:solidFill>
                </a:rPr>
                <a:t>Définition du sprite #7:</a:t>
              </a:r>
            </a:p>
          </p:txBody>
        </p:sp>
        <p:sp>
          <p:nvSpPr>
            <p:cNvPr id="16486" name="Rectangle 65">
              <a:extLst>
                <a:ext uri="{FF2B5EF4-FFF2-40B4-BE49-F238E27FC236}">
                  <a16:creationId xmlns:a16="http://schemas.microsoft.com/office/drawing/2014/main" id="{FF2B1C0D-F81C-664F-9A5F-DDCB14C0F16C}"/>
                </a:ext>
              </a:extLst>
            </p:cNvPr>
            <p:cNvSpPr>
              <a:spLocks noChangeArrowheads="1"/>
            </p:cNvSpPr>
            <p:nvPr/>
          </p:nvSpPr>
          <p:spPr bwMode="auto">
            <a:xfrm>
              <a:off x="2923" y="3294"/>
              <a:ext cx="2177" cy="212"/>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Y: 132 + 24 = 156 ($9C)</a:t>
              </a:r>
              <a:endParaRPr lang="en-US" altLang="fr-FR" sz="1600"/>
            </a:p>
          </p:txBody>
        </p:sp>
        <p:sp>
          <p:nvSpPr>
            <p:cNvPr id="16487" name="Rectangle 66">
              <a:extLst>
                <a:ext uri="{FF2B5EF4-FFF2-40B4-BE49-F238E27FC236}">
                  <a16:creationId xmlns:a16="http://schemas.microsoft.com/office/drawing/2014/main" id="{5B48F172-AA34-5C7F-B2E0-A11F5AD72E4E}"/>
                </a:ext>
              </a:extLst>
            </p:cNvPr>
            <p:cNvSpPr>
              <a:spLocks noChangeArrowheads="1"/>
            </p:cNvSpPr>
            <p:nvPr/>
          </p:nvSpPr>
          <p:spPr bwMode="auto">
            <a:xfrm>
              <a:off x="2923" y="3506"/>
              <a:ext cx="2177" cy="226"/>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Tuile: $4B</a:t>
              </a:r>
              <a:endParaRPr lang="en-US" altLang="fr-FR" sz="1600"/>
            </a:p>
          </p:txBody>
        </p:sp>
        <p:sp>
          <p:nvSpPr>
            <p:cNvPr id="16488" name="Rectangle 67">
              <a:extLst>
                <a:ext uri="{FF2B5EF4-FFF2-40B4-BE49-F238E27FC236}">
                  <a16:creationId xmlns:a16="http://schemas.microsoft.com/office/drawing/2014/main" id="{4C205618-5C9F-75E2-13DE-B01EDF1C85F3}"/>
                </a:ext>
              </a:extLst>
            </p:cNvPr>
            <p:cNvSpPr>
              <a:spLocks noChangeArrowheads="1"/>
            </p:cNvSpPr>
            <p:nvPr/>
          </p:nvSpPr>
          <p:spPr bwMode="auto">
            <a:xfrm>
              <a:off x="2923" y="3732"/>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Attributs: 0 1 0 0 0 0 0 0 = $40</a:t>
              </a:r>
              <a:endParaRPr lang="en-US" altLang="fr-FR" sz="1600"/>
            </a:p>
          </p:txBody>
        </p:sp>
        <p:sp>
          <p:nvSpPr>
            <p:cNvPr id="16489" name="Rectangle 68">
              <a:extLst>
                <a:ext uri="{FF2B5EF4-FFF2-40B4-BE49-F238E27FC236}">
                  <a16:creationId xmlns:a16="http://schemas.microsoft.com/office/drawing/2014/main" id="{E363001F-677A-4091-85B8-4E14D5240DA3}"/>
                </a:ext>
              </a:extLst>
            </p:cNvPr>
            <p:cNvSpPr>
              <a:spLocks noChangeArrowheads="1"/>
            </p:cNvSpPr>
            <p:nvPr/>
          </p:nvSpPr>
          <p:spPr bwMode="auto">
            <a:xfrm>
              <a:off x="2923" y="3943"/>
              <a:ext cx="2177" cy="211"/>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X: 112 + 8 = 120 ($78)</a:t>
              </a:r>
              <a:endParaRPr lang="en-US" altLang="fr-FR" sz="1600"/>
            </a:p>
          </p:txBody>
        </p:sp>
        <p:sp>
          <p:nvSpPr>
            <p:cNvPr id="16490" name="Line 69">
              <a:extLst>
                <a:ext uri="{FF2B5EF4-FFF2-40B4-BE49-F238E27FC236}">
                  <a16:creationId xmlns:a16="http://schemas.microsoft.com/office/drawing/2014/main" id="{107A444C-BDA6-E07F-9B3B-04F49B55AD11}"/>
                </a:ext>
              </a:extLst>
            </p:cNvPr>
            <p:cNvSpPr>
              <a:spLocks noChangeShapeType="1"/>
            </p:cNvSpPr>
            <p:nvPr/>
          </p:nvSpPr>
          <p:spPr bwMode="auto">
            <a:xfrm>
              <a:off x="2923" y="329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1" name="Line 70">
              <a:extLst>
                <a:ext uri="{FF2B5EF4-FFF2-40B4-BE49-F238E27FC236}">
                  <a16:creationId xmlns:a16="http://schemas.microsoft.com/office/drawing/2014/main" id="{0BEEBD53-6C0A-873C-6506-9B159F6839CE}"/>
                </a:ext>
              </a:extLst>
            </p:cNvPr>
            <p:cNvSpPr>
              <a:spLocks noChangeShapeType="1"/>
            </p:cNvSpPr>
            <p:nvPr/>
          </p:nvSpPr>
          <p:spPr bwMode="auto">
            <a:xfrm>
              <a:off x="2923" y="4154"/>
              <a:ext cx="2177"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2" name="Line 71">
              <a:extLst>
                <a:ext uri="{FF2B5EF4-FFF2-40B4-BE49-F238E27FC236}">
                  <a16:creationId xmlns:a16="http://schemas.microsoft.com/office/drawing/2014/main" id="{CEA7989D-FFF7-00E4-7B58-5D3FF06C5C85}"/>
                </a:ext>
              </a:extLst>
            </p:cNvPr>
            <p:cNvSpPr>
              <a:spLocks noChangeShapeType="1"/>
            </p:cNvSpPr>
            <p:nvPr/>
          </p:nvSpPr>
          <p:spPr bwMode="auto">
            <a:xfrm>
              <a:off x="2923"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3" name="Line 72">
              <a:extLst>
                <a:ext uri="{FF2B5EF4-FFF2-40B4-BE49-F238E27FC236}">
                  <a16:creationId xmlns:a16="http://schemas.microsoft.com/office/drawing/2014/main" id="{BFE15F2E-A1EB-6432-C1B0-6A712AC79736}"/>
                </a:ext>
              </a:extLst>
            </p:cNvPr>
            <p:cNvSpPr>
              <a:spLocks noChangeShapeType="1"/>
            </p:cNvSpPr>
            <p:nvPr/>
          </p:nvSpPr>
          <p:spPr bwMode="auto">
            <a:xfrm>
              <a:off x="5100" y="3294"/>
              <a:ext cx="0" cy="86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4" name="Line 73">
              <a:extLst>
                <a:ext uri="{FF2B5EF4-FFF2-40B4-BE49-F238E27FC236}">
                  <a16:creationId xmlns:a16="http://schemas.microsoft.com/office/drawing/2014/main" id="{6A136276-E681-0904-67F7-C98C7E0D6987}"/>
                </a:ext>
              </a:extLst>
            </p:cNvPr>
            <p:cNvSpPr>
              <a:spLocks noChangeShapeType="1"/>
            </p:cNvSpPr>
            <p:nvPr/>
          </p:nvSpPr>
          <p:spPr bwMode="auto">
            <a:xfrm>
              <a:off x="2923" y="3943"/>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5" name="Line 74">
              <a:extLst>
                <a:ext uri="{FF2B5EF4-FFF2-40B4-BE49-F238E27FC236}">
                  <a16:creationId xmlns:a16="http://schemas.microsoft.com/office/drawing/2014/main" id="{69BD0EF7-9992-DF0A-E724-AA41CE88D2CD}"/>
                </a:ext>
              </a:extLst>
            </p:cNvPr>
            <p:cNvSpPr>
              <a:spLocks noChangeShapeType="1"/>
            </p:cNvSpPr>
            <p:nvPr/>
          </p:nvSpPr>
          <p:spPr bwMode="auto">
            <a:xfrm>
              <a:off x="2923" y="3732"/>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6" name="Line 75">
              <a:extLst>
                <a:ext uri="{FF2B5EF4-FFF2-40B4-BE49-F238E27FC236}">
                  <a16:creationId xmlns:a16="http://schemas.microsoft.com/office/drawing/2014/main" id="{8C92C21D-EB95-3D2E-F8EB-9F86065E0BBA}"/>
                </a:ext>
              </a:extLst>
            </p:cNvPr>
            <p:cNvSpPr>
              <a:spLocks noChangeShapeType="1"/>
            </p:cNvSpPr>
            <p:nvPr/>
          </p:nvSpPr>
          <p:spPr bwMode="auto">
            <a:xfrm>
              <a:off x="2923" y="3506"/>
              <a:ext cx="2177"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97" name="Text Box 76">
              <a:extLst>
                <a:ext uri="{FF2B5EF4-FFF2-40B4-BE49-F238E27FC236}">
                  <a16:creationId xmlns:a16="http://schemas.microsoft.com/office/drawing/2014/main" id="{1AA22FB0-C750-AAA3-438F-364F07F0344D}"/>
                </a:ext>
              </a:extLst>
            </p:cNvPr>
            <p:cNvSpPr txBox="1">
              <a:spLocks noChangeArrowheads="1"/>
            </p:cNvSpPr>
            <p:nvPr/>
          </p:nvSpPr>
          <p:spPr bwMode="auto">
            <a:xfrm>
              <a:off x="5101" y="3929"/>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3</a:t>
              </a:r>
              <a:endParaRPr lang="en-US" altLang="fr-FR" sz="1600">
                <a:solidFill>
                  <a:srgbClr val="FF9900"/>
                </a:solidFill>
              </a:endParaRPr>
            </a:p>
          </p:txBody>
        </p:sp>
        <p:sp>
          <p:nvSpPr>
            <p:cNvPr id="16498" name="Text Box 77">
              <a:extLst>
                <a:ext uri="{FF2B5EF4-FFF2-40B4-BE49-F238E27FC236}">
                  <a16:creationId xmlns:a16="http://schemas.microsoft.com/office/drawing/2014/main" id="{B7084D78-33E7-8FFE-0D95-82E02AB6BE49}"/>
                </a:ext>
              </a:extLst>
            </p:cNvPr>
            <p:cNvSpPr txBox="1">
              <a:spLocks noChangeArrowheads="1"/>
            </p:cNvSpPr>
            <p:nvPr/>
          </p:nvSpPr>
          <p:spPr bwMode="auto">
            <a:xfrm>
              <a:off x="5101" y="3294"/>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0</a:t>
              </a:r>
              <a:endParaRPr lang="en-US" altLang="fr-FR" sz="1600">
                <a:solidFill>
                  <a:srgbClr val="FF9900"/>
                </a:solidFill>
              </a:endParaRPr>
            </a:p>
          </p:txBody>
        </p:sp>
        <p:sp>
          <p:nvSpPr>
            <p:cNvPr id="16499" name="Text Box 78">
              <a:extLst>
                <a:ext uri="{FF2B5EF4-FFF2-40B4-BE49-F238E27FC236}">
                  <a16:creationId xmlns:a16="http://schemas.microsoft.com/office/drawing/2014/main" id="{72612DA7-32F8-A3EA-34DF-A1DF3D7EFE31}"/>
                </a:ext>
              </a:extLst>
            </p:cNvPr>
            <p:cNvSpPr txBox="1">
              <a:spLocks noChangeArrowheads="1"/>
            </p:cNvSpPr>
            <p:nvPr/>
          </p:nvSpPr>
          <p:spPr bwMode="auto">
            <a:xfrm>
              <a:off x="5101" y="3521"/>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1</a:t>
              </a:r>
              <a:endParaRPr lang="en-US" altLang="fr-FR" sz="1600">
                <a:solidFill>
                  <a:srgbClr val="FF9900"/>
                </a:solidFill>
              </a:endParaRPr>
            </a:p>
          </p:txBody>
        </p:sp>
        <p:sp>
          <p:nvSpPr>
            <p:cNvPr id="16500" name="Text Box 79">
              <a:extLst>
                <a:ext uri="{FF2B5EF4-FFF2-40B4-BE49-F238E27FC236}">
                  <a16:creationId xmlns:a16="http://schemas.microsoft.com/office/drawing/2014/main" id="{7D2AF815-8264-F708-9869-91933C28EC45}"/>
                </a:ext>
              </a:extLst>
            </p:cNvPr>
            <p:cNvSpPr txBox="1">
              <a:spLocks noChangeArrowheads="1"/>
            </p:cNvSpPr>
            <p:nvPr/>
          </p:nvSpPr>
          <p:spPr bwMode="auto">
            <a:xfrm>
              <a:off x="5099" y="3702"/>
              <a:ext cx="501"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solidFill>
                    <a:srgbClr val="FF9900"/>
                  </a:solidFill>
                </a:rPr>
                <a:t>octet 2</a:t>
              </a:r>
              <a:endParaRPr lang="en-US" altLang="fr-FR" sz="1600">
                <a:solidFill>
                  <a:srgbClr val="FF9900"/>
                </a:solidFill>
              </a:endParaRPr>
            </a:p>
          </p:txBody>
        </p:sp>
      </p:grpSp>
      <p:grpSp>
        <p:nvGrpSpPr>
          <p:cNvPr id="8" name="Group 80">
            <a:extLst>
              <a:ext uri="{FF2B5EF4-FFF2-40B4-BE49-F238E27FC236}">
                <a16:creationId xmlns:a16="http://schemas.microsoft.com/office/drawing/2014/main" id="{5795C4DE-0DDE-DCD2-DC28-972017AE68F4}"/>
              </a:ext>
            </a:extLst>
          </p:cNvPr>
          <p:cNvGrpSpPr>
            <a:grpSpLocks/>
          </p:cNvGrpSpPr>
          <p:nvPr/>
        </p:nvGrpSpPr>
        <p:grpSpPr bwMode="auto">
          <a:xfrm>
            <a:off x="684213" y="1557338"/>
            <a:ext cx="2663825" cy="2303462"/>
            <a:chOff x="431" y="981"/>
            <a:chExt cx="1678" cy="1451"/>
          </a:xfrm>
        </p:grpSpPr>
        <p:sp>
          <p:nvSpPr>
            <p:cNvPr id="16481" name="Line 81">
              <a:extLst>
                <a:ext uri="{FF2B5EF4-FFF2-40B4-BE49-F238E27FC236}">
                  <a16:creationId xmlns:a16="http://schemas.microsoft.com/office/drawing/2014/main" id="{E1542D48-7C7E-0830-8364-4678D77FC805}"/>
                </a:ext>
              </a:extLst>
            </p:cNvPr>
            <p:cNvSpPr>
              <a:spLocks noChangeShapeType="1"/>
            </p:cNvSpPr>
            <p:nvPr/>
          </p:nvSpPr>
          <p:spPr bwMode="auto">
            <a:xfrm>
              <a:off x="431" y="1752"/>
              <a:ext cx="1678" cy="0"/>
            </a:xfrm>
            <a:prstGeom prst="line">
              <a:avLst/>
            </a:prstGeom>
            <a:noFill/>
            <a:ln w="9525">
              <a:solidFill>
                <a:srgbClr val="FFFF99"/>
              </a:solidFill>
              <a:prstDash val="dash"/>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82" name="Line 82">
              <a:extLst>
                <a:ext uri="{FF2B5EF4-FFF2-40B4-BE49-F238E27FC236}">
                  <a16:creationId xmlns:a16="http://schemas.microsoft.com/office/drawing/2014/main" id="{97F93B2D-FE9E-8958-6DDD-09AA5D2D904C}"/>
                </a:ext>
              </a:extLst>
            </p:cNvPr>
            <p:cNvSpPr>
              <a:spLocks noChangeShapeType="1"/>
            </p:cNvSpPr>
            <p:nvPr/>
          </p:nvSpPr>
          <p:spPr bwMode="auto">
            <a:xfrm flipV="1">
              <a:off x="1066" y="981"/>
              <a:ext cx="0" cy="1451"/>
            </a:xfrm>
            <a:prstGeom prst="line">
              <a:avLst/>
            </a:prstGeom>
            <a:noFill/>
            <a:ln w="9525">
              <a:solidFill>
                <a:srgbClr val="FFFF99"/>
              </a:solidFill>
              <a:prstDash val="dash"/>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83" name="Text Box 83">
              <a:extLst>
                <a:ext uri="{FF2B5EF4-FFF2-40B4-BE49-F238E27FC236}">
                  <a16:creationId xmlns:a16="http://schemas.microsoft.com/office/drawing/2014/main" id="{86B2CE47-24CD-AFBF-DE1A-0909EDAA208A}"/>
                </a:ext>
              </a:extLst>
            </p:cNvPr>
            <p:cNvSpPr txBox="1">
              <a:spLocks noChangeArrowheads="1"/>
            </p:cNvSpPr>
            <p:nvPr/>
          </p:nvSpPr>
          <p:spPr bwMode="auto">
            <a:xfrm>
              <a:off x="567" y="1525"/>
              <a:ext cx="4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000">
                  <a:solidFill>
                    <a:srgbClr val="FFFF99"/>
                  </a:solidFill>
                </a:rPr>
                <a:t>(112,132)</a:t>
              </a:r>
              <a:endParaRPr lang="en-US" altLang="fr-FR" sz="1000">
                <a:solidFill>
                  <a:srgbClr val="FFFF99"/>
                </a:solidFill>
              </a:endParaRPr>
            </a:p>
          </p:txBody>
        </p:sp>
        <p:sp>
          <p:nvSpPr>
            <p:cNvPr id="16484" name="Line 84">
              <a:extLst>
                <a:ext uri="{FF2B5EF4-FFF2-40B4-BE49-F238E27FC236}">
                  <a16:creationId xmlns:a16="http://schemas.microsoft.com/office/drawing/2014/main" id="{7C34813D-C46A-2500-FED3-4885F0E778FC}"/>
                </a:ext>
              </a:extLst>
            </p:cNvPr>
            <p:cNvSpPr>
              <a:spLocks noChangeShapeType="1"/>
            </p:cNvSpPr>
            <p:nvPr/>
          </p:nvSpPr>
          <p:spPr bwMode="auto">
            <a:xfrm>
              <a:off x="839" y="1661"/>
              <a:ext cx="181" cy="45"/>
            </a:xfrm>
            <a:prstGeom prst="line">
              <a:avLst/>
            </a:prstGeom>
            <a:noFill/>
            <a:ln w="9525">
              <a:solidFill>
                <a:srgbClr val="FFFF99"/>
              </a:solidFill>
              <a:round/>
              <a:headEnd/>
              <a:tailEnd type="triangle"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9" name="Group 85">
            <a:extLst>
              <a:ext uri="{FF2B5EF4-FFF2-40B4-BE49-F238E27FC236}">
                <a16:creationId xmlns:a16="http://schemas.microsoft.com/office/drawing/2014/main" id="{87C1681E-2AF1-2A03-A427-2DA972BFCAF8}"/>
              </a:ext>
            </a:extLst>
          </p:cNvPr>
          <p:cNvGrpSpPr>
            <a:grpSpLocks/>
          </p:cNvGrpSpPr>
          <p:nvPr/>
        </p:nvGrpSpPr>
        <p:grpSpPr bwMode="auto">
          <a:xfrm>
            <a:off x="3132138" y="1484313"/>
            <a:ext cx="1295400" cy="2520950"/>
            <a:chOff x="1973" y="935"/>
            <a:chExt cx="816" cy="1588"/>
          </a:xfrm>
        </p:grpSpPr>
        <p:sp>
          <p:nvSpPr>
            <p:cNvPr id="16479" name="Oval 86">
              <a:extLst>
                <a:ext uri="{FF2B5EF4-FFF2-40B4-BE49-F238E27FC236}">
                  <a16:creationId xmlns:a16="http://schemas.microsoft.com/office/drawing/2014/main" id="{2F17F0A7-4A03-ACA6-CAF5-E6B3BB2FF5EA}"/>
                </a:ext>
              </a:extLst>
            </p:cNvPr>
            <p:cNvSpPr>
              <a:spLocks noChangeArrowheads="1"/>
            </p:cNvSpPr>
            <p:nvPr/>
          </p:nvSpPr>
          <p:spPr bwMode="auto">
            <a:xfrm>
              <a:off x="2653" y="935"/>
              <a:ext cx="136" cy="91"/>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80" name="Line 87">
              <a:extLst>
                <a:ext uri="{FF2B5EF4-FFF2-40B4-BE49-F238E27FC236}">
                  <a16:creationId xmlns:a16="http://schemas.microsoft.com/office/drawing/2014/main" id="{3CB724E8-1C41-053E-39EB-CC4F4E45BC41}"/>
                </a:ext>
              </a:extLst>
            </p:cNvPr>
            <p:cNvSpPr>
              <a:spLocks noChangeShapeType="1"/>
            </p:cNvSpPr>
            <p:nvPr/>
          </p:nvSpPr>
          <p:spPr bwMode="auto">
            <a:xfrm flipH="1">
              <a:off x="1973" y="1026"/>
              <a:ext cx="726" cy="1497"/>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10" name="Group 88">
            <a:extLst>
              <a:ext uri="{FF2B5EF4-FFF2-40B4-BE49-F238E27FC236}">
                <a16:creationId xmlns:a16="http://schemas.microsoft.com/office/drawing/2014/main" id="{85AE4EE1-DA97-5CFD-2BBF-68453CB3411F}"/>
              </a:ext>
            </a:extLst>
          </p:cNvPr>
          <p:cNvGrpSpPr>
            <a:grpSpLocks/>
          </p:cNvGrpSpPr>
          <p:nvPr/>
        </p:nvGrpSpPr>
        <p:grpSpPr bwMode="auto">
          <a:xfrm>
            <a:off x="4356100" y="1628775"/>
            <a:ext cx="2303463" cy="4105275"/>
            <a:chOff x="2744" y="1026"/>
            <a:chExt cx="1451" cy="2586"/>
          </a:xfrm>
        </p:grpSpPr>
        <p:sp>
          <p:nvSpPr>
            <p:cNvPr id="16477" name="Oval 89">
              <a:extLst>
                <a:ext uri="{FF2B5EF4-FFF2-40B4-BE49-F238E27FC236}">
                  <a16:creationId xmlns:a16="http://schemas.microsoft.com/office/drawing/2014/main" id="{AEAC6AB3-B1C1-A28B-0A15-FB9D8730991B}"/>
                </a:ext>
              </a:extLst>
            </p:cNvPr>
            <p:cNvSpPr>
              <a:spLocks noChangeArrowheads="1"/>
            </p:cNvSpPr>
            <p:nvPr/>
          </p:nvSpPr>
          <p:spPr bwMode="auto">
            <a:xfrm>
              <a:off x="3923" y="3430"/>
              <a:ext cx="272" cy="182"/>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78" name="Line 90">
              <a:extLst>
                <a:ext uri="{FF2B5EF4-FFF2-40B4-BE49-F238E27FC236}">
                  <a16:creationId xmlns:a16="http://schemas.microsoft.com/office/drawing/2014/main" id="{31332359-D50D-2461-6155-7F1F9EDAC71D}"/>
                </a:ext>
              </a:extLst>
            </p:cNvPr>
            <p:cNvSpPr>
              <a:spLocks noChangeShapeType="1"/>
            </p:cNvSpPr>
            <p:nvPr/>
          </p:nvSpPr>
          <p:spPr bwMode="auto">
            <a:xfrm flipH="1" flipV="1">
              <a:off x="2744" y="1026"/>
              <a:ext cx="1270" cy="2404"/>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pic>
        <p:nvPicPr>
          <p:cNvPr id="72795" name="Picture 91" descr="mario4">
            <a:extLst>
              <a:ext uri="{FF2B5EF4-FFF2-40B4-BE49-F238E27FC236}">
                <a16:creationId xmlns:a16="http://schemas.microsoft.com/office/drawing/2014/main" id="{4F2CE1C7-CDE5-95C6-EB6C-0AD648521D5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4005263"/>
            <a:ext cx="3873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92">
            <a:extLst>
              <a:ext uri="{FF2B5EF4-FFF2-40B4-BE49-F238E27FC236}">
                <a16:creationId xmlns:a16="http://schemas.microsoft.com/office/drawing/2014/main" id="{E095BD6A-D896-E1B9-49F5-5834EEC68B05}"/>
              </a:ext>
            </a:extLst>
          </p:cNvPr>
          <p:cNvGrpSpPr>
            <a:grpSpLocks/>
          </p:cNvGrpSpPr>
          <p:nvPr/>
        </p:nvGrpSpPr>
        <p:grpSpPr bwMode="auto">
          <a:xfrm>
            <a:off x="7956550" y="3068638"/>
            <a:ext cx="1187450" cy="1681162"/>
            <a:chOff x="5012" y="1933"/>
            <a:chExt cx="748" cy="1059"/>
          </a:xfrm>
        </p:grpSpPr>
        <p:sp>
          <p:nvSpPr>
            <p:cNvPr id="16473" name="Text Box 93">
              <a:extLst>
                <a:ext uri="{FF2B5EF4-FFF2-40B4-BE49-F238E27FC236}">
                  <a16:creationId xmlns:a16="http://schemas.microsoft.com/office/drawing/2014/main" id="{1B45A970-153C-0BED-8499-77AE2EC49B9A}"/>
                </a:ext>
              </a:extLst>
            </p:cNvPr>
            <p:cNvSpPr txBox="1">
              <a:spLocks noChangeArrowheads="1"/>
            </p:cNvSpPr>
            <p:nvPr/>
          </p:nvSpPr>
          <p:spPr bwMode="auto">
            <a:xfrm>
              <a:off x="5055" y="1933"/>
              <a:ext cx="7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Palettes</a:t>
              </a:r>
            </a:p>
            <a:p>
              <a:pPr algn="ctr" eaLnBrk="1" hangingPunct="1">
                <a:spcBef>
                  <a:spcPct val="0"/>
                </a:spcBef>
                <a:buFontTx/>
                <a:buNone/>
              </a:pPr>
              <a:r>
                <a:rPr lang="fr-CA" altLang="fr-FR" sz="1200">
                  <a:solidFill>
                    <a:srgbClr val="FFFF99"/>
                  </a:solidFill>
                </a:rPr>
                <a:t> d’arrière-plan</a:t>
              </a:r>
              <a:endParaRPr lang="en-US" altLang="fr-FR" sz="1200">
                <a:solidFill>
                  <a:srgbClr val="FFFF99"/>
                </a:solidFill>
              </a:endParaRPr>
            </a:p>
          </p:txBody>
        </p:sp>
        <p:sp>
          <p:nvSpPr>
            <p:cNvPr id="16474" name="Text Box 94">
              <a:extLst>
                <a:ext uri="{FF2B5EF4-FFF2-40B4-BE49-F238E27FC236}">
                  <a16:creationId xmlns:a16="http://schemas.microsoft.com/office/drawing/2014/main" id="{66103757-F172-99D1-7DBF-9481847672D4}"/>
                </a:ext>
              </a:extLst>
            </p:cNvPr>
            <p:cNvSpPr txBox="1">
              <a:spLocks noChangeArrowheads="1"/>
            </p:cNvSpPr>
            <p:nvPr/>
          </p:nvSpPr>
          <p:spPr bwMode="auto">
            <a:xfrm>
              <a:off x="5202" y="2704"/>
              <a:ext cx="55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Palettes</a:t>
              </a:r>
            </a:p>
            <a:p>
              <a:pPr algn="ctr" eaLnBrk="1" hangingPunct="1">
                <a:spcBef>
                  <a:spcPct val="0"/>
                </a:spcBef>
                <a:buFontTx/>
                <a:buNone/>
              </a:pPr>
              <a:r>
                <a:rPr lang="fr-CA" altLang="fr-FR" sz="1200">
                  <a:solidFill>
                    <a:srgbClr val="FFFF99"/>
                  </a:solidFill>
                </a:rPr>
                <a:t> de sprites</a:t>
              </a:r>
              <a:endParaRPr lang="en-US" altLang="fr-FR" sz="1200">
                <a:solidFill>
                  <a:srgbClr val="FFFF99"/>
                </a:solidFill>
              </a:endParaRPr>
            </a:p>
          </p:txBody>
        </p:sp>
        <p:sp>
          <p:nvSpPr>
            <p:cNvPr id="16475" name="Line 95">
              <a:extLst>
                <a:ext uri="{FF2B5EF4-FFF2-40B4-BE49-F238E27FC236}">
                  <a16:creationId xmlns:a16="http://schemas.microsoft.com/office/drawing/2014/main" id="{77662739-7C8C-3C64-D9B2-3087DEB84DB8}"/>
                </a:ext>
              </a:extLst>
            </p:cNvPr>
            <p:cNvSpPr>
              <a:spLocks noChangeShapeType="1"/>
            </p:cNvSpPr>
            <p:nvPr/>
          </p:nvSpPr>
          <p:spPr bwMode="auto">
            <a:xfrm flipH="1" flipV="1">
              <a:off x="5012" y="2523"/>
              <a:ext cx="363" cy="181"/>
            </a:xfrm>
            <a:prstGeom prst="line">
              <a:avLst/>
            </a:prstGeom>
            <a:noFill/>
            <a:ln w="9525">
              <a:solidFill>
                <a:srgbClr val="FFFF99"/>
              </a:solidFill>
              <a:round/>
              <a:headEnd/>
              <a:tailEnd type="triangle" w="med" len="med"/>
            </a:ln>
            <a:extLst>
              <a:ext uri="{909E8E84-426E-40DD-AFC4-6F175D3DCCD1}">
                <a14:hiddenFill xmlns:a14="http://schemas.microsoft.com/office/drawing/2010/main">
                  <a:noFill/>
                </a14:hiddenFill>
              </a:ext>
            </a:extLst>
          </p:spPr>
          <p:txBody>
            <a:bodyPr anchor="ctr"/>
            <a:lstStyle/>
            <a:p>
              <a:endParaRPr lang="fr-CA"/>
            </a:p>
          </p:txBody>
        </p:sp>
        <p:sp>
          <p:nvSpPr>
            <p:cNvPr id="16476" name="Line 96">
              <a:extLst>
                <a:ext uri="{FF2B5EF4-FFF2-40B4-BE49-F238E27FC236}">
                  <a16:creationId xmlns:a16="http://schemas.microsoft.com/office/drawing/2014/main" id="{93446D08-8C59-476F-BA0E-82DA5E20D48B}"/>
                </a:ext>
              </a:extLst>
            </p:cNvPr>
            <p:cNvSpPr>
              <a:spLocks noChangeShapeType="1"/>
            </p:cNvSpPr>
            <p:nvPr/>
          </p:nvSpPr>
          <p:spPr bwMode="auto">
            <a:xfrm flipH="1">
              <a:off x="5012" y="2205"/>
              <a:ext cx="363" cy="182"/>
            </a:xfrm>
            <a:prstGeom prst="line">
              <a:avLst/>
            </a:prstGeom>
            <a:noFill/>
            <a:ln w="9525">
              <a:solidFill>
                <a:srgbClr val="FFFF99"/>
              </a:solidFill>
              <a:round/>
              <a:headEnd/>
              <a:tailEnd type="triangle"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12" name="Group 97">
            <a:extLst>
              <a:ext uri="{FF2B5EF4-FFF2-40B4-BE49-F238E27FC236}">
                <a16:creationId xmlns:a16="http://schemas.microsoft.com/office/drawing/2014/main" id="{74E80591-3F67-48C2-9660-B45DA97F9C14}"/>
              </a:ext>
            </a:extLst>
          </p:cNvPr>
          <p:cNvGrpSpPr>
            <a:grpSpLocks/>
          </p:cNvGrpSpPr>
          <p:nvPr/>
        </p:nvGrpSpPr>
        <p:grpSpPr bwMode="auto">
          <a:xfrm>
            <a:off x="4356100" y="4221163"/>
            <a:ext cx="3529013" cy="274637"/>
            <a:chOff x="2744" y="2659"/>
            <a:chExt cx="2223" cy="173"/>
          </a:xfrm>
        </p:grpSpPr>
        <p:sp>
          <p:nvSpPr>
            <p:cNvPr id="16465" name="Line 98">
              <a:extLst>
                <a:ext uri="{FF2B5EF4-FFF2-40B4-BE49-F238E27FC236}">
                  <a16:creationId xmlns:a16="http://schemas.microsoft.com/office/drawing/2014/main" id="{3031EAEB-070A-380D-3C1C-2BB1486E5B36}"/>
                </a:ext>
              </a:extLst>
            </p:cNvPr>
            <p:cNvSpPr>
              <a:spLocks noChangeShapeType="1"/>
            </p:cNvSpPr>
            <p:nvPr/>
          </p:nvSpPr>
          <p:spPr bwMode="auto">
            <a:xfrm>
              <a:off x="2744" y="2659"/>
              <a:ext cx="45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6" name="Line 99">
              <a:extLst>
                <a:ext uri="{FF2B5EF4-FFF2-40B4-BE49-F238E27FC236}">
                  <a16:creationId xmlns:a16="http://schemas.microsoft.com/office/drawing/2014/main" id="{A150A6DA-50BD-47CA-4C50-86E0ADCF7D57}"/>
                </a:ext>
              </a:extLst>
            </p:cNvPr>
            <p:cNvSpPr>
              <a:spLocks noChangeShapeType="1"/>
            </p:cNvSpPr>
            <p:nvPr/>
          </p:nvSpPr>
          <p:spPr bwMode="auto">
            <a:xfrm>
              <a:off x="3334" y="2659"/>
              <a:ext cx="45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7" name="Line 100">
              <a:extLst>
                <a:ext uri="{FF2B5EF4-FFF2-40B4-BE49-F238E27FC236}">
                  <a16:creationId xmlns:a16="http://schemas.microsoft.com/office/drawing/2014/main" id="{5DA21384-546D-42BD-E6E4-7D750FEDCAC9}"/>
                </a:ext>
              </a:extLst>
            </p:cNvPr>
            <p:cNvSpPr>
              <a:spLocks noChangeShapeType="1"/>
            </p:cNvSpPr>
            <p:nvPr/>
          </p:nvSpPr>
          <p:spPr bwMode="auto">
            <a:xfrm>
              <a:off x="3878" y="2659"/>
              <a:ext cx="45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8" name="Line 101">
              <a:extLst>
                <a:ext uri="{FF2B5EF4-FFF2-40B4-BE49-F238E27FC236}">
                  <a16:creationId xmlns:a16="http://schemas.microsoft.com/office/drawing/2014/main" id="{C91A33C9-0BE1-96C3-BFD9-AD39B5C2495E}"/>
                </a:ext>
              </a:extLst>
            </p:cNvPr>
            <p:cNvSpPr>
              <a:spLocks noChangeShapeType="1"/>
            </p:cNvSpPr>
            <p:nvPr/>
          </p:nvSpPr>
          <p:spPr bwMode="auto">
            <a:xfrm>
              <a:off x="4468" y="2659"/>
              <a:ext cx="45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9" name="Text Box 102">
              <a:extLst>
                <a:ext uri="{FF2B5EF4-FFF2-40B4-BE49-F238E27FC236}">
                  <a16:creationId xmlns:a16="http://schemas.microsoft.com/office/drawing/2014/main" id="{6C9FD6D9-DC76-71B3-5C7F-A1B9344AEBD8}"/>
                </a:ext>
              </a:extLst>
            </p:cNvPr>
            <p:cNvSpPr txBox="1">
              <a:spLocks noChangeArrowheads="1"/>
            </p:cNvSpPr>
            <p:nvPr/>
          </p:nvSpPr>
          <p:spPr bwMode="auto">
            <a:xfrm>
              <a:off x="2749" y="2659"/>
              <a:ext cx="4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 0</a:t>
              </a:r>
              <a:endParaRPr lang="en-US" altLang="fr-FR" sz="1200">
                <a:solidFill>
                  <a:srgbClr val="FFFF99"/>
                </a:solidFill>
              </a:endParaRPr>
            </a:p>
          </p:txBody>
        </p:sp>
        <p:sp>
          <p:nvSpPr>
            <p:cNvPr id="16470" name="Text Box 103">
              <a:extLst>
                <a:ext uri="{FF2B5EF4-FFF2-40B4-BE49-F238E27FC236}">
                  <a16:creationId xmlns:a16="http://schemas.microsoft.com/office/drawing/2014/main" id="{52722343-EB0F-E662-F933-1E54407DBB02}"/>
                </a:ext>
              </a:extLst>
            </p:cNvPr>
            <p:cNvSpPr txBox="1">
              <a:spLocks noChangeArrowheads="1"/>
            </p:cNvSpPr>
            <p:nvPr/>
          </p:nvSpPr>
          <p:spPr bwMode="auto">
            <a:xfrm>
              <a:off x="3339" y="2659"/>
              <a:ext cx="4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 1</a:t>
              </a:r>
              <a:endParaRPr lang="en-US" altLang="fr-FR" sz="1200">
                <a:solidFill>
                  <a:srgbClr val="FFFF99"/>
                </a:solidFill>
              </a:endParaRPr>
            </a:p>
          </p:txBody>
        </p:sp>
        <p:sp>
          <p:nvSpPr>
            <p:cNvPr id="16471" name="Text Box 104">
              <a:extLst>
                <a:ext uri="{FF2B5EF4-FFF2-40B4-BE49-F238E27FC236}">
                  <a16:creationId xmlns:a16="http://schemas.microsoft.com/office/drawing/2014/main" id="{9F70C359-5040-BD37-7B3F-3CCA8D66DF50}"/>
                </a:ext>
              </a:extLst>
            </p:cNvPr>
            <p:cNvSpPr txBox="1">
              <a:spLocks noChangeArrowheads="1"/>
            </p:cNvSpPr>
            <p:nvPr/>
          </p:nvSpPr>
          <p:spPr bwMode="auto">
            <a:xfrm>
              <a:off x="3878" y="2659"/>
              <a:ext cx="4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 2</a:t>
              </a:r>
              <a:endParaRPr lang="en-US" altLang="fr-FR" sz="1200">
                <a:solidFill>
                  <a:srgbClr val="FFFF99"/>
                </a:solidFill>
              </a:endParaRPr>
            </a:p>
          </p:txBody>
        </p:sp>
        <p:sp>
          <p:nvSpPr>
            <p:cNvPr id="16472" name="Text Box 105">
              <a:extLst>
                <a:ext uri="{FF2B5EF4-FFF2-40B4-BE49-F238E27FC236}">
                  <a16:creationId xmlns:a16="http://schemas.microsoft.com/office/drawing/2014/main" id="{3543F462-A023-1CB9-C028-4DE0D55ECC7F}"/>
                </a:ext>
              </a:extLst>
            </p:cNvPr>
            <p:cNvSpPr txBox="1">
              <a:spLocks noChangeArrowheads="1"/>
            </p:cNvSpPr>
            <p:nvPr/>
          </p:nvSpPr>
          <p:spPr bwMode="auto">
            <a:xfrm>
              <a:off x="4473" y="2659"/>
              <a:ext cx="49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Palette 3</a:t>
              </a:r>
              <a:endParaRPr lang="en-US" altLang="fr-FR" sz="1200">
                <a:solidFill>
                  <a:srgbClr val="FFFF99"/>
                </a:solidFill>
              </a:endParaRPr>
            </a:p>
          </p:txBody>
        </p:sp>
      </p:grpSp>
      <p:grpSp>
        <p:nvGrpSpPr>
          <p:cNvPr id="13" name="Group 106">
            <a:extLst>
              <a:ext uri="{FF2B5EF4-FFF2-40B4-BE49-F238E27FC236}">
                <a16:creationId xmlns:a16="http://schemas.microsoft.com/office/drawing/2014/main" id="{C586D23C-779B-FED0-44D8-29ED7F4C2120}"/>
              </a:ext>
            </a:extLst>
          </p:cNvPr>
          <p:cNvGrpSpPr>
            <a:grpSpLocks/>
          </p:cNvGrpSpPr>
          <p:nvPr/>
        </p:nvGrpSpPr>
        <p:grpSpPr bwMode="auto">
          <a:xfrm>
            <a:off x="4211638" y="908050"/>
            <a:ext cx="3744912" cy="457200"/>
            <a:chOff x="2653" y="572"/>
            <a:chExt cx="2359" cy="288"/>
          </a:xfrm>
        </p:grpSpPr>
        <p:sp>
          <p:nvSpPr>
            <p:cNvPr id="16461" name="Line 107">
              <a:extLst>
                <a:ext uri="{FF2B5EF4-FFF2-40B4-BE49-F238E27FC236}">
                  <a16:creationId xmlns:a16="http://schemas.microsoft.com/office/drawing/2014/main" id="{374F35FD-3651-9D67-5458-05F5A0D6BB9B}"/>
                </a:ext>
              </a:extLst>
            </p:cNvPr>
            <p:cNvSpPr>
              <a:spLocks noChangeShapeType="1"/>
            </p:cNvSpPr>
            <p:nvPr/>
          </p:nvSpPr>
          <p:spPr bwMode="auto">
            <a:xfrm>
              <a:off x="2653" y="845"/>
              <a:ext cx="113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2" name="Text Box 108">
              <a:extLst>
                <a:ext uri="{FF2B5EF4-FFF2-40B4-BE49-F238E27FC236}">
                  <a16:creationId xmlns:a16="http://schemas.microsoft.com/office/drawing/2014/main" id="{9D7F89D9-B905-FE4A-F916-5B550ED7CCFC}"/>
                </a:ext>
              </a:extLst>
            </p:cNvPr>
            <p:cNvSpPr txBox="1">
              <a:spLocks noChangeArrowheads="1"/>
            </p:cNvSpPr>
            <p:nvPr/>
          </p:nvSpPr>
          <p:spPr bwMode="auto">
            <a:xfrm>
              <a:off x="2763" y="572"/>
              <a:ext cx="10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Table de schémas 0 </a:t>
              </a:r>
            </a:p>
            <a:p>
              <a:pPr algn="ctr" eaLnBrk="1" hangingPunct="1">
                <a:spcBef>
                  <a:spcPct val="0"/>
                </a:spcBef>
                <a:buFontTx/>
                <a:buNone/>
              </a:pPr>
              <a:r>
                <a:rPr lang="fr-CA" altLang="fr-FR" sz="1200">
                  <a:solidFill>
                    <a:srgbClr val="FFFF99"/>
                  </a:solidFill>
                </a:rPr>
                <a:t>(sprites)</a:t>
              </a:r>
              <a:endParaRPr lang="en-US" altLang="fr-FR" sz="1200">
                <a:solidFill>
                  <a:srgbClr val="FFFF99"/>
                </a:solidFill>
              </a:endParaRPr>
            </a:p>
          </p:txBody>
        </p:sp>
        <p:sp>
          <p:nvSpPr>
            <p:cNvPr id="16463" name="Line 109">
              <a:extLst>
                <a:ext uri="{FF2B5EF4-FFF2-40B4-BE49-F238E27FC236}">
                  <a16:creationId xmlns:a16="http://schemas.microsoft.com/office/drawing/2014/main" id="{236B3B80-C14A-B9AB-E1CD-1F9545F3D929}"/>
                </a:ext>
              </a:extLst>
            </p:cNvPr>
            <p:cNvSpPr>
              <a:spLocks noChangeShapeType="1"/>
            </p:cNvSpPr>
            <p:nvPr/>
          </p:nvSpPr>
          <p:spPr bwMode="auto">
            <a:xfrm>
              <a:off x="3878" y="845"/>
              <a:ext cx="1134" cy="0"/>
            </a:xfrm>
            <a:prstGeom prst="line">
              <a:avLst/>
            </a:prstGeom>
            <a:noFill/>
            <a:ln w="9525">
              <a:solidFill>
                <a:srgbClr val="FFFF99"/>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6464" name="Text Box 110">
              <a:extLst>
                <a:ext uri="{FF2B5EF4-FFF2-40B4-BE49-F238E27FC236}">
                  <a16:creationId xmlns:a16="http://schemas.microsoft.com/office/drawing/2014/main" id="{85B121D6-6A2C-A10C-00F6-6C3C67C6A8B2}"/>
                </a:ext>
              </a:extLst>
            </p:cNvPr>
            <p:cNvSpPr txBox="1">
              <a:spLocks noChangeArrowheads="1"/>
            </p:cNvSpPr>
            <p:nvPr/>
          </p:nvSpPr>
          <p:spPr bwMode="auto">
            <a:xfrm>
              <a:off x="3988" y="572"/>
              <a:ext cx="100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Table de schémas 1 </a:t>
              </a:r>
            </a:p>
            <a:p>
              <a:pPr algn="ctr" eaLnBrk="1" hangingPunct="1">
                <a:spcBef>
                  <a:spcPct val="0"/>
                </a:spcBef>
                <a:buFontTx/>
                <a:buNone/>
              </a:pPr>
              <a:r>
                <a:rPr lang="fr-CA" altLang="fr-FR" sz="1200">
                  <a:solidFill>
                    <a:srgbClr val="FFFF99"/>
                  </a:solidFill>
                </a:rPr>
                <a:t>(arrière-plan)</a:t>
              </a:r>
              <a:endParaRPr lang="en-US" altLang="fr-FR" sz="1200">
                <a:solidFill>
                  <a:srgbClr val="FFFF99"/>
                </a:solidFill>
              </a:endParaRPr>
            </a:p>
          </p:txBody>
        </p:sp>
      </p:grpSp>
      <p:grpSp>
        <p:nvGrpSpPr>
          <p:cNvPr id="14" name="Group 111">
            <a:extLst>
              <a:ext uri="{FF2B5EF4-FFF2-40B4-BE49-F238E27FC236}">
                <a16:creationId xmlns:a16="http://schemas.microsoft.com/office/drawing/2014/main" id="{DE04C5E3-2222-930A-B62D-A8DA60515163}"/>
              </a:ext>
            </a:extLst>
          </p:cNvPr>
          <p:cNvGrpSpPr>
            <a:grpSpLocks/>
          </p:cNvGrpSpPr>
          <p:nvPr/>
        </p:nvGrpSpPr>
        <p:grpSpPr bwMode="auto">
          <a:xfrm>
            <a:off x="4787900" y="4437063"/>
            <a:ext cx="2232025" cy="1655762"/>
            <a:chOff x="3016" y="2795"/>
            <a:chExt cx="1406" cy="1043"/>
          </a:xfrm>
        </p:grpSpPr>
        <p:sp>
          <p:nvSpPr>
            <p:cNvPr id="16458" name="Oval 112">
              <a:extLst>
                <a:ext uri="{FF2B5EF4-FFF2-40B4-BE49-F238E27FC236}">
                  <a16:creationId xmlns:a16="http://schemas.microsoft.com/office/drawing/2014/main" id="{40623785-325B-7ADC-BAD7-A93891B4F1C2}"/>
                </a:ext>
              </a:extLst>
            </p:cNvPr>
            <p:cNvSpPr>
              <a:spLocks noChangeArrowheads="1"/>
            </p:cNvSpPr>
            <p:nvPr/>
          </p:nvSpPr>
          <p:spPr bwMode="auto">
            <a:xfrm>
              <a:off x="4195" y="3656"/>
              <a:ext cx="227" cy="182"/>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59" name="Line 113">
              <a:extLst>
                <a:ext uri="{FF2B5EF4-FFF2-40B4-BE49-F238E27FC236}">
                  <a16:creationId xmlns:a16="http://schemas.microsoft.com/office/drawing/2014/main" id="{CA560441-F268-7A44-58E9-FBE2DD7E1223}"/>
                </a:ext>
              </a:extLst>
            </p:cNvPr>
            <p:cNvSpPr>
              <a:spLocks noChangeShapeType="1"/>
            </p:cNvSpPr>
            <p:nvPr/>
          </p:nvSpPr>
          <p:spPr bwMode="auto">
            <a:xfrm flipH="1" flipV="1">
              <a:off x="3016" y="2795"/>
              <a:ext cx="544" cy="862"/>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460" name="Line 114">
              <a:extLst>
                <a:ext uri="{FF2B5EF4-FFF2-40B4-BE49-F238E27FC236}">
                  <a16:creationId xmlns:a16="http://schemas.microsoft.com/office/drawing/2014/main" id="{480F12B6-7754-9274-B2B3-D0E7803303C5}"/>
                </a:ext>
              </a:extLst>
            </p:cNvPr>
            <p:cNvSpPr>
              <a:spLocks noChangeShapeType="1"/>
            </p:cNvSpPr>
            <p:nvPr/>
          </p:nvSpPr>
          <p:spPr bwMode="auto">
            <a:xfrm>
              <a:off x="3560" y="3657"/>
              <a:ext cx="635" cy="45"/>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nchor="ctr"/>
            <a:lstStyle/>
            <a:p>
              <a:endParaRPr lang="fr-CA"/>
            </a:p>
          </p:txBody>
        </p:sp>
      </p:grpSp>
      <p:pic>
        <p:nvPicPr>
          <p:cNvPr id="72819" name="Picture 115" descr="palette0">
            <a:extLst>
              <a:ext uri="{FF2B5EF4-FFF2-40B4-BE49-F238E27FC236}">
                <a16:creationId xmlns:a16="http://schemas.microsoft.com/office/drawing/2014/main" id="{55C3A91A-6ED5-752B-4395-F7F9432FA13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27313" y="4868863"/>
            <a:ext cx="93662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820" name="Text Box 116">
            <a:extLst>
              <a:ext uri="{FF2B5EF4-FFF2-40B4-BE49-F238E27FC236}">
                <a16:creationId xmlns:a16="http://schemas.microsoft.com/office/drawing/2014/main" id="{46F4A148-6435-8A3D-013F-676C498069ED}"/>
              </a:ext>
            </a:extLst>
          </p:cNvPr>
          <p:cNvSpPr txBox="1">
            <a:spLocks noChangeArrowheads="1"/>
          </p:cNvSpPr>
          <p:nvPr/>
        </p:nvSpPr>
        <p:spPr bwMode="auto">
          <a:xfrm>
            <a:off x="2944813" y="4430713"/>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a:t>
            </a:r>
            <a:endParaRPr lang="en-US" altLang="fr-FR" sz="2000">
              <a:solidFill>
                <a:srgbClr val="FFFF99"/>
              </a:solidFill>
            </a:endParaRPr>
          </a:p>
        </p:txBody>
      </p:sp>
      <p:grpSp>
        <p:nvGrpSpPr>
          <p:cNvPr id="15" name="Group 117">
            <a:extLst>
              <a:ext uri="{FF2B5EF4-FFF2-40B4-BE49-F238E27FC236}">
                <a16:creationId xmlns:a16="http://schemas.microsoft.com/office/drawing/2014/main" id="{7DD1E1A7-814D-EE1F-B73B-CC56CAFBA724}"/>
              </a:ext>
            </a:extLst>
          </p:cNvPr>
          <p:cNvGrpSpPr>
            <a:grpSpLocks/>
          </p:cNvGrpSpPr>
          <p:nvPr/>
        </p:nvGrpSpPr>
        <p:grpSpPr bwMode="auto">
          <a:xfrm>
            <a:off x="3563938" y="3789363"/>
            <a:ext cx="1728787" cy="1079500"/>
            <a:chOff x="2245" y="2387"/>
            <a:chExt cx="1089" cy="680"/>
          </a:xfrm>
        </p:grpSpPr>
        <p:sp>
          <p:nvSpPr>
            <p:cNvPr id="16456" name="Line 118">
              <a:extLst>
                <a:ext uri="{FF2B5EF4-FFF2-40B4-BE49-F238E27FC236}">
                  <a16:creationId xmlns:a16="http://schemas.microsoft.com/office/drawing/2014/main" id="{97AF7D32-C9E0-4840-994F-B2C11C119A42}"/>
                </a:ext>
              </a:extLst>
            </p:cNvPr>
            <p:cNvSpPr>
              <a:spLocks noChangeShapeType="1"/>
            </p:cNvSpPr>
            <p:nvPr/>
          </p:nvSpPr>
          <p:spPr bwMode="auto">
            <a:xfrm flipH="1">
              <a:off x="2245" y="2523"/>
              <a:ext cx="363" cy="544"/>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457" name="Oval 119">
              <a:extLst>
                <a:ext uri="{FF2B5EF4-FFF2-40B4-BE49-F238E27FC236}">
                  <a16:creationId xmlns:a16="http://schemas.microsoft.com/office/drawing/2014/main" id="{8D518906-12D3-FBF6-E36B-48817C8D2D35}"/>
                </a:ext>
              </a:extLst>
            </p:cNvPr>
            <p:cNvSpPr>
              <a:spLocks noChangeArrowheads="1"/>
            </p:cNvSpPr>
            <p:nvPr/>
          </p:nvSpPr>
          <p:spPr bwMode="auto">
            <a:xfrm>
              <a:off x="2608" y="2387"/>
              <a:ext cx="726" cy="227"/>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grpSp>
      <p:sp>
        <p:nvSpPr>
          <p:cNvPr id="72824" name="Text Box 120">
            <a:extLst>
              <a:ext uri="{FF2B5EF4-FFF2-40B4-BE49-F238E27FC236}">
                <a16:creationId xmlns:a16="http://schemas.microsoft.com/office/drawing/2014/main" id="{632DC427-5753-2B01-29A0-8835749B83F0}"/>
              </a:ext>
            </a:extLst>
          </p:cNvPr>
          <p:cNvSpPr txBox="1">
            <a:spLocks noChangeArrowheads="1"/>
          </p:cNvSpPr>
          <p:nvPr/>
        </p:nvSpPr>
        <p:spPr bwMode="auto">
          <a:xfrm>
            <a:off x="2944813" y="5119688"/>
            <a:ext cx="331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a:t>
            </a:r>
            <a:endParaRPr lang="en-US" altLang="fr-FR" sz="2000">
              <a:solidFill>
                <a:srgbClr val="FFFF99"/>
              </a:solidFill>
            </a:endParaRPr>
          </a:p>
        </p:txBody>
      </p:sp>
      <p:pic>
        <p:nvPicPr>
          <p:cNvPr id="72825" name="Picture 121" descr="mario5">
            <a:extLst>
              <a:ext uri="{FF2B5EF4-FFF2-40B4-BE49-F238E27FC236}">
                <a16:creationId xmlns:a16="http://schemas.microsoft.com/office/drawing/2014/main" id="{75F2CD32-A4C9-30E2-736D-CF2CC4D20A9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6238" y="5518150"/>
            <a:ext cx="40322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Group 122">
            <a:extLst>
              <a:ext uri="{FF2B5EF4-FFF2-40B4-BE49-F238E27FC236}">
                <a16:creationId xmlns:a16="http://schemas.microsoft.com/office/drawing/2014/main" id="{407DE3AA-7665-74A1-1EB1-115D6F689C27}"/>
              </a:ext>
            </a:extLst>
          </p:cNvPr>
          <p:cNvGrpSpPr>
            <a:grpSpLocks/>
          </p:cNvGrpSpPr>
          <p:nvPr/>
        </p:nvGrpSpPr>
        <p:grpSpPr bwMode="auto">
          <a:xfrm>
            <a:off x="539750" y="4005263"/>
            <a:ext cx="1893888" cy="2592387"/>
            <a:chOff x="152" y="2614"/>
            <a:chExt cx="1193" cy="1633"/>
          </a:xfrm>
        </p:grpSpPr>
        <p:sp>
          <p:nvSpPr>
            <p:cNvPr id="16437" name="Rectangle 123">
              <a:extLst>
                <a:ext uri="{FF2B5EF4-FFF2-40B4-BE49-F238E27FC236}">
                  <a16:creationId xmlns:a16="http://schemas.microsoft.com/office/drawing/2014/main" id="{FAA695BE-2970-37A9-2477-5ABD77446998}"/>
                </a:ext>
              </a:extLst>
            </p:cNvPr>
            <p:cNvSpPr>
              <a:spLocks noChangeArrowheads="1"/>
            </p:cNvSpPr>
            <p:nvPr/>
          </p:nvSpPr>
          <p:spPr bwMode="auto">
            <a:xfrm>
              <a:off x="431" y="3906"/>
              <a:ext cx="914" cy="2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Sprite #63</a:t>
              </a:r>
              <a:endParaRPr lang="en-US" altLang="fr-FR" sz="1600"/>
            </a:p>
          </p:txBody>
        </p:sp>
        <p:sp>
          <p:nvSpPr>
            <p:cNvPr id="16438" name="Rectangle 124">
              <a:extLst>
                <a:ext uri="{FF2B5EF4-FFF2-40B4-BE49-F238E27FC236}">
                  <a16:creationId xmlns:a16="http://schemas.microsoft.com/office/drawing/2014/main" id="{0D6168BD-57CA-F984-D214-C56883415370}"/>
                </a:ext>
              </a:extLst>
            </p:cNvPr>
            <p:cNvSpPr>
              <a:spLocks noChangeArrowheads="1"/>
            </p:cNvSpPr>
            <p:nvPr/>
          </p:nvSpPr>
          <p:spPr bwMode="auto">
            <a:xfrm>
              <a:off x="431" y="2976"/>
              <a:ext cx="914" cy="249"/>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Sprite #0</a:t>
              </a:r>
              <a:endParaRPr lang="en-US" altLang="fr-FR" sz="1600"/>
            </a:p>
          </p:txBody>
        </p:sp>
        <p:sp>
          <p:nvSpPr>
            <p:cNvPr id="16439" name="Rectangle 125">
              <a:extLst>
                <a:ext uri="{FF2B5EF4-FFF2-40B4-BE49-F238E27FC236}">
                  <a16:creationId xmlns:a16="http://schemas.microsoft.com/office/drawing/2014/main" id="{2730E546-CADB-2FCE-2D2C-5894C65F83FB}"/>
                </a:ext>
              </a:extLst>
            </p:cNvPr>
            <p:cNvSpPr>
              <a:spLocks noChangeArrowheads="1"/>
            </p:cNvSpPr>
            <p:nvPr/>
          </p:nvSpPr>
          <p:spPr bwMode="auto">
            <a:xfrm>
              <a:off x="431" y="3225"/>
              <a:ext cx="914" cy="250"/>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Sprite #1</a:t>
              </a:r>
              <a:endParaRPr lang="en-US" altLang="fr-FR" sz="1600"/>
            </a:p>
          </p:txBody>
        </p:sp>
        <p:sp>
          <p:nvSpPr>
            <p:cNvPr id="16440" name="Rectangle 126">
              <a:extLst>
                <a:ext uri="{FF2B5EF4-FFF2-40B4-BE49-F238E27FC236}">
                  <a16:creationId xmlns:a16="http://schemas.microsoft.com/office/drawing/2014/main" id="{B6258428-6549-D51B-4F68-A432F1A5BFDF}"/>
                </a:ext>
              </a:extLst>
            </p:cNvPr>
            <p:cNvSpPr>
              <a:spLocks noChangeArrowheads="1"/>
            </p:cNvSpPr>
            <p:nvPr/>
          </p:nvSpPr>
          <p:spPr bwMode="auto">
            <a:xfrm>
              <a:off x="431" y="3657"/>
              <a:ext cx="914" cy="249"/>
            </a:xfrm>
            <a:prstGeom prst="rect">
              <a:avLst/>
            </a:prstGeom>
            <a:solidFill>
              <a:schemeClr val="accent1"/>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buFontTx/>
                <a:buNone/>
              </a:pPr>
              <a:r>
                <a:rPr lang="fr-CA" altLang="fr-FR" sz="1600"/>
                <a:t>Sprite #62</a:t>
              </a:r>
              <a:endParaRPr lang="en-US" altLang="fr-FR" sz="1600"/>
            </a:p>
          </p:txBody>
        </p:sp>
        <p:sp>
          <p:nvSpPr>
            <p:cNvPr id="16441" name="Line 127">
              <a:extLst>
                <a:ext uri="{FF2B5EF4-FFF2-40B4-BE49-F238E27FC236}">
                  <a16:creationId xmlns:a16="http://schemas.microsoft.com/office/drawing/2014/main" id="{5404DA92-357A-78BE-56F1-2CDEF78ABB35}"/>
                </a:ext>
              </a:extLst>
            </p:cNvPr>
            <p:cNvSpPr>
              <a:spLocks noChangeShapeType="1"/>
            </p:cNvSpPr>
            <p:nvPr/>
          </p:nvSpPr>
          <p:spPr bwMode="auto">
            <a:xfrm>
              <a:off x="431" y="2976"/>
              <a:ext cx="91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42" name="Line 128">
              <a:extLst>
                <a:ext uri="{FF2B5EF4-FFF2-40B4-BE49-F238E27FC236}">
                  <a16:creationId xmlns:a16="http://schemas.microsoft.com/office/drawing/2014/main" id="{DC953B61-8C7A-C2E9-CB83-FB5EA6E6732E}"/>
                </a:ext>
              </a:extLst>
            </p:cNvPr>
            <p:cNvSpPr>
              <a:spLocks noChangeShapeType="1"/>
            </p:cNvSpPr>
            <p:nvPr/>
          </p:nvSpPr>
          <p:spPr bwMode="auto">
            <a:xfrm>
              <a:off x="431" y="3906"/>
              <a:ext cx="91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43" name="Line 129">
              <a:extLst>
                <a:ext uri="{FF2B5EF4-FFF2-40B4-BE49-F238E27FC236}">
                  <a16:creationId xmlns:a16="http://schemas.microsoft.com/office/drawing/2014/main" id="{13E43844-0FE3-0392-9943-865A87259F68}"/>
                </a:ext>
              </a:extLst>
            </p:cNvPr>
            <p:cNvSpPr>
              <a:spLocks noChangeShapeType="1"/>
            </p:cNvSpPr>
            <p:nvPr/>
          </p:nvSpPr>
          <p:spPr bwMode="auto">
            <a:xfrm>
              <a:off x="431" y="4156"/>
              <a:ext cx="914"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44" name="Line 130">
              <a:extLst>
                <a:ext uri="{FF2B5EF4-FFF2-40B4-BE49-F238E27FC236}">
                  <a16:creationId xmlns:a16="http://schemas.microsoft.com/office/drawing/2014/main" id="{62207F06-D30F-5DFD-1A8F-802448E42E54}"/>
                </a:ext>
              </a:extLst>
            </p:cNvPr>
            <p:cNvSpPr>
              <a:spLocks noChangeShapeType="1"/>
            </p:cNvSpPr>
            <p:nvPr/>
          </p:nvSpPr>
          <p:spPr bwMode="auto">
            <a:xfrm>
              <a:off x="431" y="3475"/>
              <a:ext cx="91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45" name="Line 131">
              <a:extLst>
                <a:ext uri="{FF2B5EF4-FFF2-40B4-BE49-F238E27FC236}">
                  <a16:creationId xmlns:a16="http://schemas.microsoft.com/office/drawing/2014/main" id="{5F7D5B0B-BFFF-3FD8-D04C-470C7F11E560}"/>
                </a:ext>
              </a:extLst>
            </p:cNvPr>
            <p:cNvSpPr>
              <a:spLocks noChangeShapeType="1"/>
            </p:cNvSpPr>
            <p:nvPr/>
          </p:nvSpPr>
          <p:spPr bwMode="auto">
            <a:xfrm>
              <a:off x="431" y="3225"/>
              <a:ext cx="91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lstStyle/>
            <a:p>
              <a:endParaRPr lang="fr-CA"/>
            </a:p>
          </p:txBody>
        </p:sp>
        <p:sp>
          <p:nvSpPr>
            <p:cNvPr id="16446" name="Text Box 132">
              <a:extLst>
                <a:ext uri="{FF2B5EF4-FFF2-40B4-BE49-F238E27FC236}">
                  <a16:creationId xmlns:a16="http://schemas.microsoft.com/office/drawing/2014/main" id="{D85B818E-C530-44A9-7627-F7FC419001EE}"/>
                </a:ext>
              </a:extLst>
            </p:cNvPr>
            <p:cNvSpPr txBox="1">
              <a:spLocks noChangeArrowheads="1"/>
            </p:cNvSpPr>
            <p:nvPr/>
          </p:nvSpPr>
          <p:spPr bwMode="auto">
            <a:xfrm>
              <a:off x="494" y="2614"/>
              <a:ext cx="753" cy="384"/>
            </a:xfrm>
            <a:prstGeom prst="rect">
              <a:avLst/>
            </a:prstGeom>
            <a:solidFill>
              <a:schemeClr val="accent1"/>
            </a:solidFill>
            <a:ln w="28575" algn="ctr">
              <a:solidFill>
                <a:schemeClr val="tx1"/>
              </a:solidFill>
              <a:miter lim="800000"/>
              <a:headEnd/>
              <a:tailEnd/>
            </a:ln>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a:t>Mémoire </a:t>
              </a:r>
            </a:p>
            <a:p>
              <a:pPr algn="ctr" eaLnBrk="1" hangingPunct="1">
                <a:spcBef>
                  <a:spcPct val="0"/>
                </a:spcBef>
                <a:buFontTx/>
                <a:buNone/>
              </a:pPr>
              <a:r>
                <a:rPr lang="fr-CA" altLang="fr-FR" sz="1600"/>
                <a:t>des sprites</a:t>
              </a:r>
              <a:endParaRPr lang="en-US" altLang="fr-FR" sz="1600"/>
            </a:p>
          </p:txBody>
        </p:sp>
        <p:sp>
          <p:nvSpPr>
            <p:cNvPr id="16447" name="Text Box 133">
              <a:extLst>
                <a:ext uri="{FF2B5EF4-FFF2-40B4-BE49-F238E27FC236}">
                  <a16:creationId xmlns:a16="http://schemas.microsoft.com/office/drawing/2014/main" id="{AAA779E4-2B81-E2E6-9065-8077AF720BEE}"/>
                </a:ext>
              </a:extLst>
            </p:cNvPr>
            <p:cNvSpPr txBox="1">
              <a:spLocks noChangeArrowheads="1"/>
            </p:cNvSpPr>
            <p:nvPr/>
          </p:nvSpPr>
          <p:spPr bwMode="auto">
            <a:xfrm>
              <a:off x="643" y="3339"/>
              <a:ext cx="4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800">
                  <a:solidFill>
                    <a:srgbClr val="FFFF99"/>
                  </a:solidFill>
                </a:rPr>
                <a:t>…</a:t>
              </a:r>
              <a:endParaRPr lang="en-US" altLang="fr-FR" sz="2800">
                <a:solidFill>
                  <a:srgbClr val="FFFF99"/>
                </a:solidFill>
              </a:endParaRPr>
            </a:p>
          </p:txBody>
        </p:sp>
        <p:sp>
          <p:nvSpPr>
            <p:cNvPr id="16448" name="Text Box 134">
              <a:extLst>
                <a:ext uri="{FF2B5EF4-FFF2-40B4-BE49-F238E27FC236}">
                  <a16:creationId xmlns:a16="http://schemas.microsoft.com/office/drawing/2014/main" id="{682B0604-BE93-BAA4-7EC9-CC12408EB1BC}"/>
                </a:ext>
              </a:extLst>
            </p:cNvPr>
            <p:cNvSpPr txBox="1">
              <a:spLocks noChangeArrowheads="1"/>
            </p:cNvSpPr>
            <p:nvPr/>
          </p:nvSpPr>
          <p:spPr bwMode="auto">
            <a:xfrm>
              <a:off x="158" y="2886"/>
              <a:ext cx="2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$00</a:t>
              </a:r>
              <a:endParaRPr lang="en-US" altLang="fr-FR" sz="1200">
                <a:solidFill>
                  <a:srgbClr val="FF9900"/>
                </a:solidFill>
              </a:endParaRPr>
            </a:p>
          </p:txBody>
        </p:sp>
        <p:sp>
          <p:nvSpPr>
            <p:cNvPr id="16449" name="Text Box 135">
              <a:extLst>
                <a:ext uri="{FF2B5EF4-FFF2-40B4-BE49-F238E27FC236}">
                  <a16:creationId xmlns:a16="http://schemas.microsoft.com/office/drawing/2014/main" id="{9BCCCB3A-7A71-9550-A6BC-9193BA9638C0}"/>
                </a:ext>
              </a:extLst>
            </p:cNvPr>
            <p:cNvSpPr txBox="1">
              <a:spLocks noChangeArrowheads="1"/>
            </p:cNvSpPr>
            <p:nvPr/>
          </p:nvSpPr>
          <p:spPr bwMode="auto">
            <a:xfrm>
              <a:off x="158" y="3121"/>
              <a:ext cx="2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$03</a:t>
              </a:r>
              <a:endParaRPr lang="en-US" altLang="fr-FR" sz="1200">
                <a:solidFill>
                  <a:srgbClr val="FF9900"/>
                </a:solidFill>
              </a:endParaRPr>
            </a:p>
          </p:txBody>
        </p:sp>
        <p:sp>
          <p:nvSpPr>
            <p:cNvPr id="16450" name="Text Box 136">
              <a:extLst>
                <a:ext uri="{FF2B5EF4-FFF2-40B4-BE49-F238E27FC236}">
                  <a16:creationId xmlns:a16="http://schemas.microsoft.com/office/drawing/2014/main" id="{08D12229-5208-565D-3A40-B8F69923F383}"/>
                </a:ext>
              </a:extLst>
            </p:cNvPr>
            <p:cNvSpPr txBox="1">
              <a:spLocks noChangeArrowheads="1"/>
            </p:cNvSpPr>
            <p:nvPr/>
          </p:nvSpPr>
          <p:spPr bwMode="auto">
            <a:xfrm>
              <a:off x="158" y="3212"/>
              <a:ext cx="2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$04</a:t>
              </a:r>
              <a:endParaRPr lang="en-US" altLang="fr-FR" sz="1200">
                <a:solidFill>
                  <a:srgbClr val="FF9900"/>
                </a:solidFill>
              </a:endParaRPr>
            </a:p>
          </p:txBody>
        </p:sp>
        <p:sp>
          <p:nvSpPr>
            <p:cNvPr id="16451" name="Text Box 137">
              <a:extLst>
                <a:ext uri="{FF2B5EF4-FFF2-40B4-BE49-F238E27FC236}">
                  <a16:creationId xmlns:a16="http://schemas.microsoft.com/office/drawing/2014/main" id="{D1A09450-854D-328C-9212-9DF49645FFC0}"/>
                </a:ext>
              </a:extLst>
            </p:cNvPr>
            <p:cNvSpPr txBox="1">
              <a:spLocks noChangeArrowheads="1"/>
            </p:cNvSpPr>
            <p:nvPr/>
          </p:nvSpPr>
          <p:spPr bwMode="auto">
            <a:xfrm>
              <a:off x="158" y="3385"/>
              <a:ext cx="275"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$07</a:t>
              </a:r>
              <a:endParaRPr lang="en-US" altLang="fr-FR" sz="1200">
                <a:solidFill>
                  <a:srgbClr val="FF9900"/>
                </a:solidFill>
              </a:endParaRPr>
            </a:p>
          </p:txBody>
        </p:sp>
        <p:sp>
          <p:nvSpPr>
            <p:cNvPr id="16452" name="Text Box 138">
              <a:extLst>
                <a:ext uri="{FF2B5EF4-FFF2-40B4-BE49-F238E27FC236}">
                  <a16:creationId xmlns:a16="http://schemas.microsoft.com/office/drawing/2014/main" id="{00BE0EB4-4FEF-CB84-FBC0-75C9E03690B1}"/>
                </a:ext>
              </a:extLst>
            </p:cNvPr>
            <p:cNvSpPr txBox="1">
              <a:spLocks noChangeArrowheads="1"/>
            </p:cNvSpPr>
            <p:nvPr/>
          </p:nvSpPr>
          <p:spPr bwMode="auto">
            <a:xfrm>
              <a:off x="152" y="4074"/>
              <a:ext cx="28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$FF</a:t>
              </a:r>
              <a:endParaRPr lang="en-US" altLang="fr-FR" sz="1200">
                <a:solidFill>
                  <a:srgbClr val="FF9900"/>
                </a:solidFill>
              </a:endParaRPr>
            </a:p>
          </p:txBody>
        </p:sp>
        <p:sp>
          <p:nvSpPr>
            <p:cNvPr id="16453" name="Text Box 139">
              <a:extLst>
                <a:ext uri="{FF2B5EF4-FFF2-40B4-BE49-F238E27FC236}">
                  <a16:creationId xmlns:a16="http://schemas.microsoft.com/office/drawing/2014/main" id="{30774C4C-A729-81AE-C2F4-D875A11222D6}"/>
                </a:ext>
              </a:extLst>
            </p:cNvPr>
            <p:cNvSpPr txBox="1">
              <a:spLocks noChangeArrowheads="1"/>
            </p:cNvSpPr>
            <p:nvPr/>
          </p:nvSpPr>
          <p:spPr bwMode="auto">
            <a:xfrm>
              <a:off x="153" y="3847"/>
              <a:ext cx="29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$FC</a:t>
              </a:r>
              <a:endParaRPr lang="en-US" altLang="fr-FR" sz="1200">
                <a:solidFill>
                  <a:srgbClr val="FF9900"/>
                </a:solidFill>
              </a:endParaRPr>
            </a:p>
          </p:txBody>
        </p:sp>
        <p:sp>
          <p:nvSpPr>
            <p:cNvPr id="16454" name="Text Box 140">
              <a:extLst>
                <a:ext uri="{FF2B5EF4-FFF2-40B4-BE49-F238E27FC236}">
                  <a16:creationId xmlns:a16="http://schemas.microsoft.com/office/drawing/2014/main" id="{A17901E8-D60F-B7D5-A2F7-BD8C6A689790}"/>
                </a:ext>
              </a:extLst>
            </p:cNvPr>
            <p:cNvSpPr txBox="1">
              <a:spLocks noChangeArrowheads="1"/>
            </p:cNvSpPr>
            <p:nvPr/>
          </p:nvSpPr>
          <p:spPr bwMode="auto">
            <a:xfrm>
              <a:off x="155" y="3748"/>
              <a:ext cx="29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$FB</a:t>
              </a:r>
              <a:endParaRPr lang="en-US" altLang="fr-FR" sz="1200">
                <a:solidFill>
                  <a:srgbClr val="FF9900"/>
                </a:solidFill>
              </a:endParaRPr>
            </a:p>
          </p:txBody>
        </p:sp>
        <p:sp>
          <p:nvSpPr>
            <p:cNvPr id="16455" name="Text Box 141">
              <a:extLst>
                <a:ext uri="{FF2B5EF4-FFF2-40B4-BE49-F238E27FC236}">
                  <a16:creationId xmlns:a16="http://schemas.microsoft.com/office/drawing/2014/main" id="{3A42648E-44CE-8EF1-2F1E-7547423C56FC}"/>
                </a:ext>
              </a:extLst>
            </p:cNvPr>
            <p:cNvSpPr txBox="1">
              <a:spLocks noChangeArrowheads="1"/>
            </p:cNvSpPr>
            <p:nvPr/>
          </p:nvSpPr>
          <p:spPr bwMode="auto">
            <a:xfrm>
              <a:off x="164" y="3575"/>
              <a:ext cx="281"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9900"/>
                  </a:solidFill>
                </a:rPr>
                <a:t>$F8</a:t>
              </a:r>
              <a:endParaRPr lang="en-US" altLang="fr-FR" sz="1200">
                <a:solidFill>
                  <a:srgbClr val="FF9900"/>
                </a:solidFill>
              </a:endParaRPr>
            </a:p>
          </p:txBody>
        </p:sp>
      </p:grpSp>
      <p:grpSp>
        <p:nvGrpSpPr>
          <p:cNvPr id="17" name="Group 142">
            <a:extLst>
              <a:ext uri="{FF2B5EF4-FFF2-40B4-BE49-F238E27FC236}">
                <a16:creationId xmlns:a16="http://schemas.microsoft.com/office/drawing/2014/main" id="{9445B31C-33DB-D5BC-7936-C7710F361564}"/>
              </a:ext>
            </a:extLst>
          </p:cNvPr>
          <p:cNvGrpSpPr>
            <a:grpSpLocks/>
          </p:cNvGrpSpPr>
          <p:nvPr/>
        </p:nvGrpSpPr>
        <p:grpSpPr bwMode="auto">
          <a:xfrm>
            <a:off x="2411413" y="4797425"/>
            <a:ext cx="2160587" cy="1655763"/>
            <a:chOff x="1519" y="3022"/>
            <a:chExt cx="1361" cy="1043"/>
          </a:xfrm>
        </p:grpSpPr>
        <p:sp>
          <p:nvSpPr>
            <p:cNvPr id="16435" name="Line 143">
              <a:extLst>
                <a:ext uri="{FF2B5EF4-FFF2-40B4-BE49-F238E27FC236}">
                  <a16:creationId xmlns:a16="http://schemas.microsoft.com/office/drawing/2014/main" id="{2457D412-DA38-C675-1B96-76BC15DB9CF1}"/>
                </a:ext>
              </a:extLst>
            </p:cNvPr>
            <p:cNvSpPr>
              <a:spLocks noChangeShapeType="1"/>
            </p:cNvSpPr>
            <p:nvPr/>
          </p:nvSpPr>
          <p:spPr bwMode="auto">
            <a:xfrm>
              <a:off x="1519" y="3022"/>
              <a:ext cx="1316" cy="590"/>
            </a:xfrm>
            <a:prstGeom prst="line">
              <a:avLst/>
            </a:prstGeom>
            <a:noFill/>
            <a:ln w="38100">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436" name="Line 144">
              <a:extLst>
                <a:ext uri="{FF2B5EF4-FFF2-40B4-BE49-F238E27FC236}">
                  <a16:creationId xmlns:a16="http://schemas.microsoft.com/office/drawing/2014/main" id="{3526481E-B0F4-F194-5B85-96B3301CD51B}"/>
                </a:ext>
              </a:extLst>
            </p:cNvPr>
            <p:cNvSpPr>
              <a:spLocks noChangeShapeType="1"/>
            </p:cNvSpPr>
            <p:nvPr/>
          </p:nvSpPr>
          <p:spPr bwMode="auto">
            <a:xfrm>
              <a:off x="2880" y="3203"/>
              <a:ext cx="0" cy="862"/>
            </a:xfrm>
            <a:prstGeom prst="line">
              <a:avLst/>
            </a:prstGeom>
            <a:noFill/>
            <a:ln w="38100">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grpSp>
      <p:sp>
        <p:nvSpPr>
          <p:cNvPr id="72849" name="Text Box 145">
            <a:extLst>
              <a:ext uri="{FF2B5EF4-FFF2-40B4-BE49-F238E27FC236}">
                <a16:creationId xmlns:a16="http://schemas.microsoft.com/office/drawing/2014/main" id="{A2A6CD70-70E3-AC70-5965-6A71B79F149E}"/>
              </a:ext>
            </a:extLst>
          </p:cNvPr>
          <p:cNvSpPr txBox="1">
            <a:spLocks noChangeArrowheads="1"/>
          </p:cNvSpPr>
          <p:nvPr/>
        </p:nvSpPr>
        <p:spPr bwMode="auto">
          <a:xfrm>
            <a:off x="1420813" y="836613"/>
            <a:ext cx="8477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9900"/>
                </a:solidFill>
              </a:rPr>
              <a:t>Écran</a:t>
            </a:r>
            <a:endParaRPr lang="en-US" altLang="fr-FR" sz="2000">
              <a:solidFill>
                <a:srgbClr val="FF9900"/>
              </a:solidFill>
            </a:endParaRPr>
          </a:p>
        </p:txBody>
      </p:sp>
      <p:sp>
        <p:nvSpPr>
          <p:cNvPr id="72850" name="Text Box 146">
            <a:extLst>
              <a:ext uri="{FF2B5EF4-FFF2-40B4-BE49-F238E27FC236}">
                <a16:creationId xmlns:a16="http://schemas.microsoft.com/office/drawing/2014/main" id="{49DAC28E-FBC3-2C14-4106-5ACBD5D5E55A}"/>
              </a:ext>
            </a:extLst>
          </p:cNvPr>
          <p:cNvSpPr txBox="1">
            <a:spLocks noChangeArrowheads="1"/>
          </p:cNvSpPr>
          <p:nvPr/>
        </p:nvSpPr>
        <p:spPr bwMode="auto">
          <a:xfrm>
            <a:off x="5099050" y="871538"/>
            <a:ext cx="18494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9900"/>
                </a:solidFill>
              </a:rPr>
              <a:t>Mémoire vidéo</a:t>
            </a:r>
            <a:endParaRPr lang="en-US" altLang="fr-FR" sz="2000">
              <a:solidFill>
                <a:srgbClr val="FF9900"/>
              </a:solidFill>
            </a:endParaRPr>
          </a:p>
        </p:txBody>
      </p:sp>
      <p:sp>
        <p:nvSpPr>
          <p:cNvPr id="72851" name="Rectangle 147">
            <a:extLst>
              <a:ext uri="{FF2B5EF4-FFF2-40B4-BE49-F238E27FC236}">
                <a16:creationId xmlns:a16="http://schemas.microsoft.com/office/drawing/2014/main" id="{7F47B39B-94CC-AE9E-D71D-F3571E0B6F9B}"/>
              </a:ext>
            </a:extLst>
          </p:cNvPr>
          <p:cNvSpPr>
            <a:spLocks noChangeArrowheads="1"/>
          </p:cNvSpPr>
          <p:nvPr/>
        </p:nvSpPr>
        <p:spPr bwMode="auto">
          <a:xfrm>
            <a:off x="611188" y="-161925"/>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Manipulation des sprites</a:t>
            </a:r>
          </a:p>
        </p:txBody>
      </p:sp>
      <p:grpSp>
        <p:nvGrpSpPr>
          <p:cNvPr id="18" name="Group 148">
            <a:extLst>
              <a:ext uri="{FF2B5EF4-FFF2-40B4-BE49-F238E27FC236}">
                <a16:creationId xmlns:a16="http://schemas.microsoft.com/office/drawing/2014/main" id="{87CDB1FA-CD8B-1FA3-15D3-E60BC9F920B3}"/>
              </a:ext>
            </a:extLst>
          </p:cNvPr>
          <p:cNvGrpSpPr>
            <a:grpSpLocks/>
          </p:cNvGrpSpPr>
          <p:nvPr/>
        </p:nvGrpSpPr>
        <p:grpSpPr bwMode="auto">
          <a:xfrm>
            <a:off x="-66675" y="4170363"/>
            <a:ext cx="1038225" cy="274637"/>
            <a:chOff x="-42" y="2627"/>
            <a:chExt cx="654" cy="173"/>
          </a:xfrm>
        </p:grpSpPr>
        <p:sp>
          <p:nvSpPr>
            <p:cNvPr id="16433" name="Text Box 149">
              <a:extLst>
                <a:ext uri="{FF2B5EF4-FFF2-40B4-BE49-F238E27FC236}">
                  <a16:creationId xmlns:a16="http://schemas.microsoft.com/office/drawing/2014/main" id="{0D49C203-32E2-588C-F5D7-5F7DBFDC4D89}"/>
                </a:ext>
              </a:extLst>
            </p:cNvPr>
            <p:cNvSpPr txBox="1">
              <a:spLocks noChangeArrowheads="1"/>
            </p:cNvSpPr>
            <p:nvPr/>
          </p:nvSpPr>
          <p:spPr bwMode="auto">
            <a:xfrm>
              <a:off x="-42" y="2627"/>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Sprite #0</a:t>
              </a:r>
              <a:endParaRPr lang="en-US" altLang="fr-FR" sz="1200">
                <a:solidFill>
                  <a:srgbClr val="FFFF99"/>
                </a:solidFill>
              </a:endParaRPr>
            </a:p>
          </p:txBody>
        </p:sp>
        <p:sp>
          <p:nvSpPr>
            <p:cNvPr id="16434" name="Line 150">
              <a:extLst>
                <a:ext uri="{FF2B5EF4-FFF2-40B4-BE49-F238E27FC236}">
                  <a16:creationId xmlns:a16="http://schemas.microsoft.com/office/drawing/2014/main" id="{040B8EFB-6F25-1EFA-61EC-BFC200073BFC}"/>
                </a:ext>
              </a:extLst>
            </p:cNvPr>
            <p:cNvSpPr>
              <a:spLocks noChangeShapeType="1"/>
            </p:cNvSpPr>
            <p:nvPr/>
          </p:nvSpPr>
          <p:spPr bwMode="auto">
            <a:xfrm>
              <a:off x="431" y="2704"/>
              <a:ext cx="181" cy="46"/>
            </a:xfrm>
            <a:prstGeom prst="line">
              <a:avLst/>
            </a:prstGeom>
            <a:noFill/>
            <a:ln w="19050">
              <a:solidFill>
                <a:srgbClr val="FFFF99"/>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19" name="Group 151">
            <a:extLst>
              <a:ext uri="{FF2B5EF4-FFF2-40B4-BE49-F238E27FC236}">
                <a16:creationId xmlns:a16="http://schemas.microsoft.com/office/drawing/2014/main" id="{1A61AD0C-FE54-A0C3-F2D8-FE84E4FCD4BE}"/>
              </a:ext>
            </a:extLst>
          </p:cNvPr>
          <p:cNvGrpSpPr>
            <a:grpSpLocks/>
          </p:cNvGrpSpPr>
          <p:nvPr/>
        </p:nvGrpSpPr>
        <p:grpSpPr bwMode="auto">
          <a:xfrm>
            <a:off x="971550" y="5949950"/>
            <a:ext cx="792163" cy="706438"/>
            <a:chOff x="612" y="3748"/>
            <a:chExt cx="499" cy="445"/>
          </a:xfrm>
        </p:grpSpPr>
        <p:sp>
          <p:nvSpPr>
            <p:cNvPr id="16431" name="Text Box 152">
              <a:extLst>
                <a:ext uri="{FF2B5EF4-FFF2-40B4-BE49-F238E27FC236}">
                  <a16:creationId xmlns:a16="http://schemas.microsoft.com/office/drawing/2014/main" id="{D7FFD07A-5B41-118C-8065-7214FECDED76}"/>
                </a:ext>
              </a:extLst>
            </p:cNvPr>
            <p:cNvSpPr txBox="1">
              <a:spLocks noChangeArrowheads="1"/>
            </p:cNvSpPr>
            <p:nvPr/>
          </p:nvSpPr>
          <p:spPr bwMode="auto">
            <a:xfrm>
              <a:off x="612" y="4020"/>
              <a:ext cx="49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200">
                  <a:solidFill>
                    <a:srgbClr val="FFFF99"/>
                  </a:solidFill>
                </a:rPr>
                <a:t>Sprite #7</a:t>
              </a:r>
              <a:endParaRPr lang="en-US" altLang="fr-FR" sz="1200">
                <a:solidFill>
                  <a:srgbClr val="FFFF99"/>
                </a:solidFill>
              </a:endParaRPr>
            </a:p>
          </p:txBody>
        </p:sp>
        <p:sp>
          <p:nvSpPr>
            <p:cNvPr id="16432" name="Line 153">
              <a:extLst>
                <a:ext uri="{FF2B5EF4-FFF2-40B4-BE49-F238E27FC236}">
                  <a16:creationId xmlns:a16="http://schemas.microsoft.com/office/drawing/2014/main" id="{42223338-AE20-887B-297C-712339544D1B}"/>
                </a:ext>
              </a:extLst>
            </p:cNvPr>
            <p:cNvSpPr>
              <a:spLocks noChangeShapeType="1"/>
            </p:cNvSpPr>
            <p:nvPr/>
          </p:nvSpPr>
          <p:spPr bwMode="auto">
            <a:xfrm flipV="1">
              <a:off x="930" y="3748"/>
              <a:ext cx="45" cy="272"/>
            </a:xfrm>
            <a:prstGeom prst="line">
              <a:avLst/>
            </a:prstGeom>
            <a:noFill/>
            <a:ln w="19050">
              <a:solidFill>
                <a:srgbClr val="FFFF99"/>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20" name="Group 154">
            <a:extLst>
              <a:ext uri="{FF2B5EF4-FFF2-40B4-BE49-F238E27FC236}">
                <a16:creationId xmlns:a16="http://schemas.microsoft.com/office/drawing/2014/main" id="{A758A4F3-4B30-CE9B-10F6-A9137EECEE7A}"/>
              </a:ext>
            </a:extLst>
          </p:cNvPr>
          <p:cNvGrpSpPr>
            <a:grpSpLocks/>
          </p:cNvGrpSpPr>
          <p:nvPr/>
        </p:nvGrpSpPr>
        <p:grpSpPr bwMode="auto">
          <a:xfrm>
            <a:off x="1187450" y="2565400"/>
            <a:ext cx="3455988" cy="3671888"/>
            <a:chOff x="748" y="1616"/>
            <a:chExt cx="2177" cy="2313"/>
          </a:xfrm>
        </p:grpSpPr>
        <p:sp>
          <p:nvSpPr>
            <p:cNvPr id="16429" name="Line 155">
              <a:extLst>
                <a:ext uri="{FF2B5EF4-FFF2-40B4-BE49-F238E27FC236}">
                  <a16:creationId xmlns:a16="http://schemas.microsoft.com/office/drawing/2014/main" id="{41ED219E-5F51-50F7-AE5F-3B3B8AD91B64}"/>
                </a:ext>
              </a:extLst>
            </p:cNvPr>
            <p:cNvSpPr>
              <a:spLocks noChangeShapeType="1"/>
            </p:cNvSpPr>
            <p:nvPr/>
          </p:nvSpPr>
          <p:spPr bwMode="auto">
            <a:xfrm>
              <a:off x="748" y="1661"/>
              <a:ext cx="2177" cy="2268"/>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6430" name="Line 156">
              <a:extLst>
                <a:ext uri="{FF2B5EF4-FFF2-40B4-BE49-F238E27FC236}">
                  <a16:creationId xmlns:a16="http://schemas.microsoft.com/office/drawing/2014/main" id="{9EF37726-63A6-4868-AC82-894930747302}"/>
                </a:ext>
              </a:extLst>
            </p:cNvPr>
            <p:cNvSpPr>
              <a:spLocks noChangeShapeType="1"/>
            </p:cNvSpPr>
            <p:nvPr/>
          </p:nvSpPr>
          <p:spPr bwMode="auto">
            <a:xfrm>
              <a:off x="975" y="1616"/>
              <a:ext cx="1950" cy="1723"/>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21" name="Group 157">
            <a:extLst>
              <a:ext uri="{FF2B5EF4-FFF2-40B4-BE49-F238E27FC236}">
                <a16:creationId xmlns:a16="http://schemas.microsoft.com/office/drawing/2014/main" id="{DE93E72D-6FB9-0D6E-8088-FB7FCEED4195}"/>
              </a:ext>
            </a:extLst>
          </p:cNvPr>
          <p:cNvGrpSpPr>
            <a:grpSpLocks/>
          </p:cNvGrpSpPr>
          <p:nvPr/>
        </p:nvGrpSpPr>
        <p:grpSpPr bwMode="auto">
          <a:xfrm>
            <a:off x="5580063" y="2060575"/>
            <a:ext cx="1223962" cy="3673475"/>
            <a:chOff x="3515" y="1298"/>
            <a:chExt cx="771" cy="2314"/>
          </a:xfrm>
        </p:grpSpPr>
        <p:sp>
          <p:nvSpPr>
            <p:cNvPr id="16427" name="Oval 158">
              <a:extLst>
                <a:ext uri="{FF2B5EF4-FFF2-40B4-BE49-F238E27FC236}">
                  <a16:creationId xmlns:a16="http://schemas.microsoft.com/office/drawing/2014/main" id="{9B17DC08-4B95-CDE7-7C99-2C155F7BEF1B}"/>
                </a:ext>
              </a:extLst>
            </p:cNvPr>
            <p:cNvSpPr>
              <a:spLocks noChangeArrowheads="1"/>
            </p:cNvSpPr>
            <p:nvPr/>
          </p:nvSpPr>
          <p:spPr bwMode="auto">
            <a:xfrm>
              <a:off x="4014" y="3430"/>
              <a:ext cx="272" cy="182"/>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28" name="Line 159">
              <a:extLst>
                <a:ext uri="{FF2B5EF4-FFF2-40B4-BE49-F238E27FC236}">
                  <a16:creationId xmlns:a16="http://schemas.microsoft.com/office/drawing/2014/main" id="{BA83256A-2AAB-81FF-C6A9-89BD1D29ADED}"/>
                </a:ext>
              </a:extLst>
            </p:cNvPr>
            <p:cNvSpPr>
              <a:spLocks noChangeShapeType="1"/>
            </p:cNvSpPr>
            <p:nvPr/>
          </p:nvSpPr>
          <p:spPr bwMode="auto">
            <a:xfrm flipH="1" flipV="1">
              <a:off x="3515" y="1298"/>
              <a:ext cx="590" cy="2132"/>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grpSp>
        <p:nvGrpSpPr>
          <p:cNvPr id="22" name="Group 160">
            <a:extLst>
              <a:ext uri="{FF2B5EF4-FFF2-40B4-BE49-F238E27FC236}">
                <a16:creationId xmlns:a16="http://schemas.microsoft.com/office/drawing/2014/main" id="{C82932D4-D54A-1362-E7DF-C28A681F67DA}"/>
              </a:ext>
            </a:extLst>
          </p:cNvPr>
          <p:cNvGrpSpPr>
            <a:grpSpLocks/>
          </p:cNvGrpSpPr>
          <p:nvPr/>
        </p:nvGrpSpPr>
        <p:grpSpPr bwMode="auto">
          <a:xfrm>
            <a:off x="3132138" y="1916113"/>
            <a:ext cx="2517775" cy="2089150"/>
            <a:chOff x="1973" y="1207"/>
            <a:chExt cx="1586" cy="1316"/>
          </a:xfrm>
        </p:grpSpPr>
        <p:sp>
          <p:nvSpPr>
            <p:cNvPr id="16425" name="Oval 161">
              <a:extLst>
                <a:ext uri="{FF2B5EF4-FFF2-40B4-BE49-F238E27FC236}">
                  <a16:creationId xmlns:a16="http://schemas.microsoft.com/office/drawing/2014/main" id="{E2905CDD-ABBD-03CB-F94E-00EF12A816D1}"/>
                </a:ext>
              </a:extLst>
            </p:cNvPr>
            <p:cNvSpPr>
              <a:spLocks noChangeArrowheads="1"/>
            </p:cNvSpPr>
            <p:nvPr/>
          </p:nvSpPr>
          <p:spPr bwMode="auto">
            <a:xfrm>
              <a:off x="3424" y="1207"/>
              <a:ext cx="135" cy="91"/>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26" name="Line 162">
              <a:extLst>
                <a:ext uri="{FF2B5EF4-FFF2-40B4-BE49-F238E27FC236}">
                  <a16:creationId xmlns:a16="http://schemas.microsoft.com/office/drawing/2014/main" id="{84EE5F6F-E556-FACF-6DC2-075CC96D25BF}"/>
                </a:ext>
              </a:extLst>
            </p:cNvPr>
            <p:cNvSpPr>
              <a:spLocks noChangeShapeType="1"/>
            </p:cNvSpPr>
            <p:nvPr/>
          </p:nvSpPr>
          <p:spPr bwMode="auto">
            <a:xfrm flipH="1">
              <a:off x="1973" y="1253"/>
              <a:ext cx="1451" cy="1270"/>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pic>
        <p:nvPicPr>
          <p:cNvPr id="72867" name="Picture 163" descr="mario7">
            <a:extLst>
              <a:ext uri="{FF2B5EF4-FFF2-40B4-BE49-F238E27FC236}">
                <a16:creationId xmlns:a16="http://schemas.microsoft.com/office/drawing/2014/main" id="{851422B8-BBF5-EB30-8EA1-D89C32F2E89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16238" y="4005263"/>
            <a:ext cx="433387"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868" name="Picture 164" descr="mario6">
            <a:extLst>
              <a:ext uri="{FF2B5EF4-FFF2-40B4-BE49-F238E27FC236}">
                <a16:creationId xmlns:a16="http://schemas.microsoft.com/office/drawing/2014/main" id="{5939E9F5-E24E-9798-A34C-E7360D5C3BC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5516563"/>
            <a:ext cx="4159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3" name="Group 165">
            <a:extLst>
              <a:ext uri="{FF2B5EF4-FFF2-40B4-BE49-F238E27FC236}">
                <a16:creationId xmlns:a16="http://schemas.microsoft.com/office/drawing/2014/main" id="{B31DEC8C-F79C-5A1B-CFB6-4BAD96DFAA16}"/>
              </a:ext>
            </a:extLst>
          </p:cNvPr>
          <p:cNvGrpSpPr>
            <a:grpSpLocks/>
          </p:cNvGrpSpPr>
          <p:nvPr/>
        </p:nvGrpSpPr>
        <p:grpSpPr bwMode="auto">
          <a:xfrm>
            <a:off x="3492500" y="5807075"/>
            <a:ext cx="2663825" cy="358775"/>
            <a:chOff x="2109" y="3612"/>
            <a:chExt cx="1678" cy="226"/>
          </a:xfrm>
        </p:grpSpPr>
        <p:sp>
          <p:nvSpPr>
            <p:cNvPr id="16423" name="Oval 166">
              <a:extLst>
                <a:ext uri="{FF2B5EF4-FFF2-40B4-BE49-F238E27FC236}">
                  <a16:creationId xmlns:a16="http://schemas.microsoft.com/office/drawing/2014/main" id="{DA72E49B-E59E-9791-310D-6B16BDA02E63}"/>
                </a:ext>
              </a:extLst>
            </p:cNvPr>
            <p:cNvSpPr>
              <a:spLocks noChangeArrowheads="1"/>
            </p:cNvSpPr>
            <p:nvPr/>
          </p:nvSpPr>
          <p:spPr bwMode="auto">
            <a:xfrm>
              <a:off x="3651" y="3656"/>
              <a:ext cx="136" cy="182"/>
            </a:xfrm>
            <a:prstGeom prst="ellipse">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endParaRPr lang="en-CA" altLang="fr-FR" sz="4400">
                <a:solidFill>
                  <a:srgbClr val="FFFF99"/>
                </a:solidFill>
              </a:endParaRPr>
            </a:p>
          </p:txBody>
        </p:sp>
        <p:sp>
          <p:nvSpPr>
            <p:cNvPr id="16424" name="Line 167">
              <a:extLst>
                <a:ext uri="{FF2B5EF4-FFF2-40B4-BE49-F238E27FC236}">
                  <a16:creationId xmlns:a16="http://schemas.microsoft.com/office/drawing/2014/main" id="{A7CF9A4C-3E45-DA9F-1ACE-4BE82B89E7D5}"/>
                </a:ext>
              </a:extLst>
            </p:cNvPr>
            <p:cNvSpPr>
              <a:spLocks noChangeShapeType="1"/>
            </p:cNvSpPr>
            <p:nvPr/>
          </p:nvSpPr>
          <p:spPr bwMode="auto">
            <a:xfrm flipH="1" flipV="1">
              <a:off x="2109" y="3612"/>
              <a:ext cx="1542" cy="135"/>
            </a:xfrm>
            <a:prstGeom prst="line">
              <a:avLst/>
            </a:prstGeom>
            <a:noFill/>
            <a:ln w="28575">
              <a:solidFill>
                <a:srgbClr val="FF33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grpSp>
      <p:pic>
        <p:nvPicPr>
          <p:cNvPr id="72872" name="Picture 168" descr="mario8">
            <a:extLst>
              <a:ext uri="{FF2B5EF4-FFF2-40B4-BE49-F238E27FC236}">
                <a16:creationId xmlns:a16="http://schemas.microsoft.com/office/drawing/2014/main" id="{DC48402F-B645-5700-FCB8-0509F86C632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16238" y="5516563"/>
            <a:ext cx="4032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2"/>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21"/>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72868"/>
                                        </p:tgtEl>
                                        <p:attrNameLst>
                                          <p:attrName>style.visibility</p:attrName>
                                        </p:attrNameLst>
                                      </p:cBhvr>
                                      <p:to>
                                        <p:strVal val="hidden"/>
                                      </p:to>
                                    </p:set>
                                  </p:childTnLst>
                                </p:cTn>
                              </p:par>
                              <p:par>
                                <p:cTn id="13" presetID="1" presetClass="exit" presetSubtype="0" fill="hold" nodeType="withEffect">
                                  <p:stCondLst>
                                    <p:cond delay="0"/>
                                  </p:stCondLst>
                                  <p:childTnLst>
                                    <p:set>
                                      <p:cBhvr>
                                        <p:cTn id="14" dur="1" fill="hold">
                                          <p:stCondLst>
                                            <p:cond delay="0"/>
                                          </p:stCondLst>
                                        </p:cTn>
                                        <p:tgtEl>
                                          <p:spTgt spid="9"/>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72867"/>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4"/>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72819"/>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72795"/>
                                        </p:tgtEl>
                                        <p:attrNameLst>
                                          <p:attrName>style.visibility</p:attrName>
                                        </p:attrNameLst>
                                      </p:cBhvr>
                                      <p:to>
                                        <p:strVal val="hidden"/>
                                      </p:to>
                                    </p:set>
                                  </p:childTnLst>
                                </p:cTn>
                              </p:par>
                              <p:par>
                                <p:cTn id="27" presetID="1" presetClass="exit" presetSubtype="0" fill="hold" grpId="0" nodeType="withEffect">
                                  <p:stCondLst>
                                    <p:cond delay="0"/>
                                  </p:stCondLst>
                                  <p:childTnLst>
                                    <p:set>
                                      <p:cBhvr>
                                        <p:cTn id="28" dur="1" fill="hold">
                                          <p:stCondLst>
                                            <p:cond delay="0"/>
                                          </p:stCondLst>
                                        </p:cTn>
                                        <p:tgtEl>
                                          <p:spTgt spid="72820"/>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72824"/>
                                        </p:tgtEl>
                                        <p:attrNameLst>
                                          <p:attrName>style.visibility</p:attrName>
                                        </p:attrNameLst>
                                      </p:cBhvr>
                                      <p:to>
                                        <p:strVal val="hidden"/>
                                      </p:to>
                                    </p:set>
                                  </p:childTnLst>
                                </p:cTn>
                              </p:par>
                              <p:par>
                                <p:cTn id="31" presetID="1" presetClass="exit" presetSubtype="0" fill="hold" nodeType="withEffect">
                                  <p:stCondLst>
                                    <p:cond delay="0"/>
                                  </p:stCondLst>
                                  <p:childTnLst>
                                    <p:set>
                                      <p:cBhvr>
                                        <p:cTn id="32" dur="1" fill="hold">
                                          <p:stCondLst>
                                            <p:cond delay="0"/>
                                          </p:stCondLst>
                                        </p:cTn>
                                        <p:tgtEl>
                                          <p:spTgt spid="72825"/>
                                        </p:tgtEl>
                                        <p:attrNameLst>
                                          <p:attrName>style.visibility</p:attrName>
                                        </p:attrNameLst>
                                      </p:cBhvr>
                                      <p:to>
                                        <p:strVal val="hidden"/>
                                      </p:to>
                                    </p:set>
                                  </p:childTnLst>
                                </p:cTn>
                              </p:par>
                              <p:par>
                                <p:cTn id="33" presetID="1" presetClass="exit" presetSubtype="0" fill="hold"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par>
                                <p:cTn id="35" presetID="1" presetClass="exit" presetSubtype="0" fill="hold" nodeType="withEffect">
                                  <p:stCondLst>
                                    <p:cond delay="0"/>
                                  </p:stCondLst>
                                  <p:childTnLst>
                                    <p:set>
                                      <p:cBhvr>
                                        <p:cTn id="36" dur="1" fill="hold">
                                          <p:stCondLst>
                                            <p:cond delay="0"/>
                                          </p:stCondLst>
                                        </p:cTn>
                                        <p:tgtEl>
                                          <p:spTgt spid="72707"/>
                                        </p:tgtEl>
                                        <p:attrNameLst>
                                          <p:attrName>style.visibility</p:attrName>
                                        </p:attrNameLst>
                                      </p:cBhvr>
                                      <p:to>
                                        <p:strVal val="hidden"/>
                                      </p:to>
                                    </p:set>
                                  </p:childTnLst>
                                </p:cTn>
                              </p:par>
                              <p:par>
                                <p:cTn id="37" presetID="1" presetClass="exit" presetSubtype="0" fill="hold" nodeType="withEffect">
                                  <p:stCondLst>
                                    <p:cond delay="0"/>
                                  </p:stCondLst>
                                  <p:childTnLst>
                                    <p:set>
                                      <p:cBhvr>
                                        <p:cTn id="38" dur="1" fill="hold">
                                          <p:stCondLst>
                                            <p:cond delay="0"/>
                                          </p:stCondLst>
                                        </p:cTn>
                                        <p:tgtEl>
                                          <p:spTgt spid="13"/>
                                        </p:tgtEl>
                                        <p:attrNameLst>
                                          <p:attrName>style.visibility</p:attrName>
                                        </p:attrNameLst>
                                      </p:cBhvr>
                                      <p:to>
                                        <p:strVal val="hidden"/>
                                      </p:to>
                                    </p:set>
                                  </p:childTnLst>
                                </p:cTn>
                              </p:par>
                              <p:par>
                                <p:cTn id="39" presetID="1" presetClass="exit" presetSubtype="0" fill="hold" nodeType="withEffect">
                                  <p:stCondLst>
                                    <p:cond delay="0"/>
                                  </p:stCondLst>
                                  <p:childTnLst>
                                    <p:set>
                                      <p:cBhvr>
                                        <p:cTn id="40" dur="1" fill="hold">
                                          <p:stCondLst>
                                            <p:cond delay="0"/>
                                          </p:stCondLst>
                                        </p:cTn>
                                        <p:tgtEl>
                                          <p:spTgt spid="19"/>
                                        </p:tgtEl>
                                        <p:attrNameLst>
                                          <p:attrName>style.visibility</p:attrName>
                                        </p:attrNameLst>
                                      </p:cBhvr>
                                      <p:to>
                                        <p:strVal val="hidden"/>
                                      </p:to>
                                    </p:set>
                                  </p:childTnLst>
                                </p:cTn>
                              </p:par>
                              <p:par>
                                <p:cTn id="41" presetID="1" presetClass="exit" presetSubtype="0" fill="hold" nodeType="withEffect">
                                  <p:stCondLst>
                                    <p:cond delay="0"/>
                                  </p:stCondLst>
                                  <p:childTnLst>
                                    <p:set>
                                      <p:cBhvr>
                                        <p:cTn id="42" dur="1" fill="hold">
                                          <p:stCondLst>
                                            <p:cond delay="0"/>
                                          </p:stCondLst>
                                        </p:cTn>
                                        <p:tgtEl>
                                          <p:spTgt spid="16"/>
                                        </p:tgtEl>
                                        <p:attrNameLst>
                                          <p:attrName>style.visibility</p:attrName>
                                        </p:attrNameLst>
                                      </p:cBhvr>
                                      <p:to>
                                        <p:strVal val="hidden"/>
                                      </p:to>
                                    </p:set>
                                  </p:childTnLst>
                                </p:cTn>
                              </p:par>
                              <p:par>
                                <p:cTn id="43" presetID="1" presetClass="exit" presetSubtype="0" fill="hold" nodeType="withEffect">
                                  <p:stCondLst>
                                    <p:cond delay="0"/>
                                  </p:stCondLst>
                                  <p:childTnLst>
                                    <p:set>
                                      <p:cBhvr>
                                        <p:cTn id="44" dur="1" fill="hold">
                                          <p:stCondLst>
                                            <p:cond delay="0"/>
                                          </p:stCondLst>
                                        </p:cTn>
                                        <p:tgtEl>
                                          <p:spTgt spid="3"/>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9"/>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72872"/>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72851"/>
                                        </p:tgtEl>
                                        <p:attrNameLst>
                                          <p:attrName>style.visibility</p:attrName>
                                        </p:attrNameLst>
                                      </p:cBhvr>
                                      <p:to>
                                        <p:strVal val="hidden"/>
                                      </p:to>
                                    </p:set>
                                  </p:childTnLst>
                                </p:cTn>
                              </p:par>
                              <p:par>
                                <p:cTn id="51" presetID="1" presetClass="exit" presetSubtype="0" fill="hold" nodeType="withEffect">
                                  <p:stCondLst>
                                    <p:cond delay="0"/>
                                  </p:stCondLst>
                                  <p:childTnLst>
                                    <p:set>
                                      <p:cBhvr>
                                        <p:cTn id="52" dur="1" fill="hold">
                                          <p:stCondLst>
                                            <p:cond delay="0"/>
                                          </p:stCondLst>
                                        </p:cTn>
                                        <p:tgtEl>
                                          <p:spTgt spid="20"/>
                                        </p:tgtEl>
                                        <p:attrNameLst>
                                          <p:attrName>style.visibility</p:attrName>
                                        </p:attrNameLst>
                                      </p:cBhvr>
                                      <p:to>
                                        <p:strVal val="hidden"/>
                                      </p:to>
                                    </p:set>
                                  </p:childTnLst>
                                </p:cTn>
                              </p:par>
                              <p:par>
                                <p:cTn id="53" presetID="1" presetClass="exit" presetSubtype="0" fill="hold" nodeType="withEffect">
                                  <p:stCondLst>
                                    <p:cond delay="0"/>
                                  </p:stCondLst>
                                  <p:childTnLst>
                                    <p:set>
                                      <p:cBhvr>
                                        <p:cTn id="54" dur="1" fill="hold">
                                          <p:stCondLst>
                                            <p:cond delay="0"/>
                                          </p:stCondLst>
                                        </p:cTn>
                                        <p:tgtEl>
                                          <p:spTgt spid="11"/>
                                        </p:tgtEl>
                                        <p:attrNameLst>
                                          <p:attrName>style.visibility</p:attrName>
                                        </p:attrNameLst>
                                      </p:cBhvr>
                                      <p:to>
                                        <p:strVal val="hidden"/>
                                      </p:to>
                                    </p:set>
                                  </p:childTnLst>
                                </p:cTn>
                              </p:par>
                              <p:par>
                                <p:cTn id="55" presetID="1" presetClass="exit" presetSubtype="0" fill="hold" nodeType="withEffect">
                                  <p:stCondLst>
                                    <p:cond delay="0"/>
                                  </p:stCondLst>
                                  <p:childTnLst>
                                    <p:set>
                                      <p:cBhvr>
                                        <p:cTn id="56" dur="1" fill="hold">
                                          <p:stCondLst>
                                            <p:cond delay="0"/>
                                          </p:stCondLst>
                                        </p:cTn>
                                        <p:tgtEl>
                                          <p:spTgt spid="17"/>
                                        </p:tgtEl>
                                        <p:attrNameLst>
                                          <p:attrName>style.visibility</p:attrName>
                                        </p:attrNameLst>
                                      </p:cBhvr>
                                      <p:to>
                                        <p:strVal val="hidden"/>
                                      </p:to>
                                    </p:set>
                                  </p:childTnLst>
                                </p:cTn>
                              </p:par>
                              <p:par>
                                <p:cTn id="57" presetID="1" presetClass="exit" presetSubtype="0" fill="hold" nodeType="withEffect">
                                  <p:stCondLst>
                                    <p:cond delay="0"/>
                                  </p:stCondLst>
                                  <p:childTnLst>
                                    <p:set>
                                      <p:cBhvr>
                                        <p:cTn id="58" dur="1" fill="hold">
                                          <p:stCondLst>
                                            <p:cond delay="0"/>
                                          </p:stCondLst>
                                        </p:cTn>
                                        <p:tgtEl>
                                          <p:spTgt spid="12"/>
                                        </p:tgtEl>
                                        <p:attrNameLst>
                                          <p:attrName>style.visibility</p:attrName>
                                        </p:attrNameLst>
                                      </p:cBhvr>
                                      <p:to>
                                        <p:strVal val="hidden"/>
                                      </p:to>
                                    </p:set>
                                  </p:childTnLst>
                                </p:cTn>
                              </p:par>
                              <p:par>
                                <p:cTn id="59" presetID="1" presetClass="exit" presetSubtype="0" fill="hold" nodeType="withEffect">
                                  <p:stCondLst>
                                    <p:cond delay="0"/>
                                  </p:stCondLst>
                                  <p:childTnLst>
                                    <p:set>
                                      <p:cBhvr>
                                        <p:cTn id="60" dur="1" fill="hold">
                                          <p:stCondLst>
                                            <p:cond delay="0"/>
                                          </p:stCondLst>
                                        </p:cTn>
                                        <p:tgtEl>
                                          <p:spTgt spid="4"/>
                                        </p:tgtEl>
                                        <p:attrNameLst>
                                          <p:attrName>style.visibility</p:attrName>
                                        </p:attrNameLst>
                                      </p:cBhvr>
                                      <p:to>
                                        <p:strVal val="hidden"/>
                                      </p:to>
                                    </p:se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xit" presetSubtype="0" fill="hold" grpId="0" nodeType="clickEffect">
                                  <p:stCondLst>
                                    <p:cond delay="0"/>
                                  </p:stCondLst>
                                  <p:childTnLst>
                                    <p:set>
                                      <p:cBhvr>
                                        <p:cTn id="64" dur="1" fill="hold">
                                          <p:stCondLst>
                                            <p:cond delay="0"/>
                                          </p:stCondLst>
                                        </p:cTn>
                                        <p:tgtEl>
                                          <p:spTgt spid="72850"/>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7"/>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6"/>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3"/>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2"/>
                                        </p:tgtEl>
                                        <p:attrNameLst>
                                          <p:attrName>style.visibility</p:attrName>
                                        </p:attrNameLst>
                                      </p:cBhvr>
                                      <p:to>
                                        <p:strVal val="visible"/>
                                      </p:to>
                                    </p:set>
                                  </p:childTnLst>
                                </p:cTn>
                              </p:par>
                              <p:par>
                                <p:cTn id="79" presetID="1" presetClass="exit" presetSubtype="0" fill="hold" grpId="0" nodeType="withEffect">
                                  <p:stCondLst>
                                    <p:cond delay="0"/>
                                  </p:stCondLst>
                                  <p:childTnLst>
                                    <p:set>
                                      <p:cBhvr>
                                        <p:cTn id="80" dur="1" fill="hold">
                                          <p:stCondLst>
                                            <p:cond delay="0"/>
                                          </p:stCondLst>
                                        </p:cTn>
                                        <p:tgtEl>
                                          <p:spTgt spid="72849"/>
                                        </p:tgtEl>
                                        <p:attrNameLst>
                                          <p:attrName>style.visibility</p:attrName>
                                        </p:attrNameLst>
                                      </p:cBhvr>
                                      <p:to>
                                        <p:strVal val="hidden"/>
                                      </p:to>
                                    </p:set>
                                  </p:childTnLst>
                                </p:cTn>
                              </p:par>
                              <p:par>
                                <p:cTn id="81" presetID="1" presetClass="entr" presetSubtype="0" fill="hold" grpId="1" nodeType="withEffect">
                                  <p:stCondLst>
                                    <p:cond delay="0"/>
                                  </p:stCondLst>
                                  <p:childTnLst>
                                    <p:set>
                                      <p:cBhvr>
                                        <p:cTn id="82" dur="1" fill="hold">
                                          <p:stCondLst>
                                            <p:cond delay="0"/>
                                          </p:stCondLst>
                                        </p:cTn>
                                        <p:tgtEl>
                                          <p:spTgt spid="72851"/>
                                        </p:tgtEl>
                                        <p:attrNameLst>
                                          <p:attrName>style.visibility</p:attrName>
                                        </p:attrNameLst>
                                      </p:cBhvr>
                                      <p:to>
                                        <p:strVal val="visible"/>
                                      </p:to>
                                    </p:set>
                                  </p:childTnLst>
                                </p:cTn>
                              </p:par>
                              <p:par>
                                <p:cTn id="83" presetID="1" presetClass="exit" presetSubtype="0" fill="hold" grpId="0" nodeType="withEffect">
                                  <p:stCondLst>
                                    <p:cond delay="0"/>
                                  </p:stCondLst>
                                  <p:childTnLst>
                                    <p:set>
                                      <p:cBhvr>
                                        <p:cTn id="84" dur="1" fill="hold">
                                          <p:stCondLst>
                                            <p:cond delay="0"/>
                                          </p:stCondLst>
                                        </p:cTn>
                                        <p:tgtEl>
                                          <p:spTgt spid="72709"/>
                                        </p:tgtEl>
                                        <p:attrNameLst>
                                          <p:attrName>style.visibility</p:attrName>
                                        </p:attrNameLst>
                                      </p:cBhvr>
                                      <p:to>
                                        <p:strVal val="hidden"/>
                                      </p:to>
                                    </p:set>
                                  </p:childTnLst>
                                </p:cTn>
                              </p:par>
                            </p:childTnLst>
                          </p:cTn>
                        </p:par>
                      </p:childTnLst>
                    </p:cTn>
                  </p:par>
                  <p:par>
                    <p:cTn id="85" fill="hold" nodeType="clickPar">
                      <p:stCondLst>
                        <p:cond delay="indefinite"/>
                      </p:stCondLst>
                      <p:childTnLst>
                        <p:par>
                          <p:cTn id="86" fill="hold" nodeType="withGroup">
                            <p:stCondLst>
                              <p:cond delay="0"/>
                            </p:stCondLst>
                            <p:childTnLst>
                              <p:par>
                                <p:cTn id="87" presetID="0" presetClass="path" presetSubtype="0" accel="50000" decel="50000" fill="hold" nodeType="clickEffect">
                                  <p:stCondLst>
                                    <p:cond delay="0"/>
                                  </p:stCondLst>
                                  <p:childTnLst>
                                    <p:animMotion origin="layout" path="M 5E-6 1.48148E-6 L 0.00191 -0.43496 " pathEditMode="relative" rAng="0" ptsTypes="AA">
                                      <p:cBhvr>
                                        <p:cTn id="88" dur="2000" fill="hold"/>
                                        <p:tgtEl>
                                          <p:spTgt spid="5"/>
                                        </p:tgtEl>
                                        <p:attrNameLst>
                                          <p:attrName>ppt_x</p:attrName>
                                          <p:attrName>ppt_y</p:attrName>
                                        </p:attrNameLst>
                                      </p:cBhvr>
                                      <p:rCtr x="87" y="-21759"/>
                                    </p:animMotion>
                                  </p:childTnLst>
                                </p:cTn>
                              </p:par>
                              <p:par>
                                <p:cTn id="89" presetID="1" presetClass="exit" presetSubtype="0" fill="hold" nodeType="withEffect">
                                  <p:stCondLst>
                                    <p:cond delay="0"/>
                                  </p:stCondLst>
                                  <p:childTnLst>
                                    <p:set>
                                      <p:cBhvr>
                                        <p:cTn id="90" dur="1" fill="hold">
                                          <p:stCondLst>
                                            <p:cond delay="0"/>
                                          </p:stCondLst>
                                        </p:cTn>
                                        <p:tgtEl>
                                          <p:spTgt spid="16"/>
                                        </p:tgtEl>
                                        <p:attrNameLst>
                                          <p:attrName>style.visibility</p:attrName>
                                        </p:attrNameLst>
                                      </p:cBhvr>
                                      <p:to>
                                        <p:strVal val="hidden"/>
                                      </p:to>
                                    </p:set>
                                  </p:childTnLst>
                                </p:cTn>
                              </p:par>
                              <p:par>
                                <p:cTn id="91" presetID="1" presetClass="exit" presetSubtype="0" fill="hold" nodeType="withEffect">
                                  <p:stCondLst>
                                    <p:cond delay="0"/>
                                  </p:stCondLst>
                                  <p:childTnLst>
                                    <p:set>
                                      <p:cBhvr>
                                        <p:cTn id="92" dur="1" fill="hold">
                                          <p:stCondLst>
                                            <p:cond delay="0"/>
                                          </p:stCondLst>
                                        </p:cTn>
                                        <p:tgtEl>
                                          <p:spTgt spid="17"/>
                                        </p:tgtEl>
                                        <p:attrNameLst>
                                          <p:attrName>style.visibility</p:attrName>
                                        </p:attrNameLst>
                                      </p:cBhvr>
                                      <p:to>
                                        <p:strVal val="hidden"/>
                                      </p:to>
                                    </p:set>
                                  </p:childTnLst>
                                </p:cTn>
                              </p:par>
                              <p:par>
                                <p:cTn id="93" presetID="0" presetClass="path" presetSubtype="0" accel="50000" decel="50000" fill="hold" nodeType="withEffect">
                                  <p:stCondLst>
                                    <p:cond delay="0"/>
                                  </p:stCondLst>
                                  <p:childTnLst>
                                    <p:animMotion origin="layout" path="M 2.22222E-6 -7.40741E-7 L 0.61805 0.00556 " pathEditMode="relative" rAng="0" ptsTypes="AA">
                                      <p:cBhvr>
                                        <p:cTn id="94" dur="2000" fill="hold"/>
                                        <p:tgtEl>
                                          <p:spTgt spid="4"/>
                                        </p:tgtEl>
                                        <p:attrNameLst>
                                          <p:attrName>ppt_x</p:attrName>
                                          <p:attrName>ppt_y</p:attrName>
                                        </p:attrNameLst>
                                      </p:cBhvr>
                                      <p:rCtr x="30903" y="278"/>
                                    </p:animMotion>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xit" presetSubtype="0" fill="hold" nodeType="clickEffect">
                                  <p:stCondLst>
                                    <p:cond delay="0"/>
                                  </p:stCondLst>
                                  <p:childTnLst>
                                    <p:set>
                                      <p:cBhvr>
                                        <p:cTn id="98" dur="1" fill="hold">
                                          <p:stCondLst>
                                            <p:cond delay="0"/>
                                          </p:stCondLst>
                                        </p:cTn>
                                        <p:tgtEl>
                                          <p:spTgt spid="5"/>
                                        </p:tgtEl>
                                        <p:attrNameLst>
                                          <p:attrName>style.visibility</p:attrName>
                                        </p:attrNameLst>
                                      </p:cBhvr>
                                      <p:to>
                                        <p:strVal val="hidden"/>
                                      </p:to>
                                    </p:set>
                                  </p:childTnLst>
                                </p:cTn>
                              </p:par>
                              <p:par>
                                <p:cTn id="99" presetID="10" presetClass="entr" presetSubtype="0" fill="hold" nodeType="withEffect">
                                  <p:stCondLst>
                                    <p:cond delay="0"/>
                                  </p:stCondLst>
                                  <p:childTnLst>
                                    <p:set>
                                      <p:cBhvr>
                                        <p:cTn id="100" dur="1" fill="hold">
                                          <p:stCondLst>
                                            <p:cond delay="0"/>
                                          </p:stCondLst>
                                        </p:cTn>
                                        <p:tgtEl>
                                          <p:spTgt spid="72707"/>
                                        </p:tgtEl>
                                        <p:attrNameLst>
                                          <p:attrName>style.visibility</p:attrName>
                                        </p:attrNameLst>
                                      </p:cBhvr>
                                      <p:to>
                                        <p:strVal val="visible"/>
                                      </p:to>
                                    </p:set>
                                    <p:animEffect transition="in" filter="fade">
                                      <p:cBhvr>
                                        <p:cTn id="101" dur="2000"/>
                                        <p:tgtEl>
                                          <p:spTgt spid="72707"/>
                                        </p:tgtEl>
                                      </p:cBhvr>
                                    </p:animEffect>
                                  </p:childTnLst>
                                </p:cTn>
                              </p:par>
                              <p:par>
                                <p:cTn id="102" presetID="22" presetClass="entr" presetSubtype="4" fill="hold" nodeType="withEffect">
                                  <p:stCondLst>
                                    <p:cond delay="0"/>
                                  </p:stCondLst>
                                  <p:childTnLst>
                                    <p:set>
                                      <p:cBhvr>
                                        <p:cTn id="103" dur="1" fill="hold">
                                          <p:stCondLst>
                                            <p:cond delay="0"/>
                                          </p:stCondLst>
                                        </p:cTn>
                                        <p:tgtEl>
                                          <p:spTgt spid="2"/>
                                        </p:tgtEl>
                                        <p:attrNameLst>
                                          <p:attrName>style.visibility</p:attrName>
                                        </p:attrNameLst>
                                      </p:cBhvr>
                                      <p:to>
                                        <p:strVal val="visible"/>
                                      </p:to>
                                    </p:set>
                                    <p:animEffect transition="in" filter="wipe(down)">
                                      <p:cBhvr>
                                        <p:cTn id="104" dur="500"/>
                                        <p:tgtEl>
                                          <p:spTgt spid="2"/>
                                        </p:tgtEl>
                                      </p:cBhvr>
                                    </p:animEffect>
                                  </p:childTnLst>
                                </p:cTn>
                              </p:par>
                              <p:par>
                                <p:cTn id="105" presetID="1" presetClass="entr" presetSubtype="0" fill="hold" nodeType="withEffect">
                                  <p:stCondLst>
                                    <p:cond delay="0"/>
                                  </p:stCondLst>
                                  <p:childTnLst>
                                    <p:set>
                                      <p:cBhvr>
                                        <p:cTn id="106" dur="1" fill="hold">
                                          <p:stCondLst>
                                            <p:cond delay="0"/>
                                          </p:stCondLst>
                                        </p:cTn>
                                        <p:tgtEl>
                                          <p:spTgt spid="18"/>
                                        </p:tgtEl>
                                        <p:attrNameLst>
                                          <p:attrName>style.visibility</p:attrName>
                                        </p:attrNameLst>
                                      </p:cBhvr>
                                      <p:to>
                                        <p:strVal val="visible"/>
                                      </p:to>
                                    </p:set>
                                  </p:childTnLst>
                                </p:cTn>
                              </p:par>
                              <p:par>
                                <p:cTn id="107" presetID="1" presetClass="entr" presetSubtype="0" fill="hold" nodeType="withEffect">
                                  <p:stCondLst>
                                    <p:cond delay="0"/>
                                  </p:stCondLst>
                                  <p:childTnLst>
                                    <p:set>
                                      <p:cBhvr>
                                        <p:cTn id="108" dur="1" fill="hold">
                                          <p:stCondLst>
                                            <p:cond delay="0"/>
                                          </p:stCondLst>
                                        </p:cTn>
                                        <p:tgtEl>
                                          <p:spTgt spid="19"/>
                                        </p:tgtEl>
                                        <p:attrNameLst>
                                          <p:attrName>style.visibility</p:attrName>
                                        </p:attrNameLst>
                                      </p:cBhvr>
                                      <p:to>
                                        <p:strVal val="visible"/>
                                      </p:to>
                                    </p:set>
                                  </p:childTnLst>
                                </p:cTn>
                              </p:par>
                              <p:par>
                                <p:cTn id="109" presetID="0" presetClass="path" presetSubtype="0" accel="50000" decel="50000" fill="hold" nodeType="withEffect">
                                  <p:stCondLst>
                                    <p:cond delay="0"/>
                                  </p:stCondLst>
                                  <p:childTnLst>
                                    <p:animMotion origin="layout" path="M 0.00034 -0.02106 L 0.00034 -0.36759 " pathEditMode="relative" rAng="0" ptsTypes="AA">
                                      <p:cBhvr>
                                        <p:cTn id="110" dur="2000" fill="hold"/>
                                        <p:tgtEl>
                                          <p:spTgt spid="6"/>
                                        </p:tgtEl>
                                        <p:attrNameLst>
                                          <p:attrName>ppt_x</p:attrName>
                                          <p:attrName>ppt_y</p:attrName>
                                        </p:attrNameLst>
                                      </p:cBhvr>
                                      <p:rCtr x="0" y="-17338"/>
                                    </p:animMotion>
                                  </p:childTnLst>
                                </p:cTn>
                              </p:par>
                              <p:par>
                                <p:cTn id="111" presetID="0" presetClass="path" presetSubtype="0" accel="50000" decel="50000" fill="hold" nodeType="withEffect">
                                  <p:stCondLst>
                                    <p:cond delay="0"/>
                                  </p:stCondLst>
                                  <p:childTnLst>
                                    <p:animMotion origin="layout" path="M 3.33333E-6 2.22222E-6 L 3.33333E-6 -0.3044 " pathEditMode="relative" ptsTypes="AA">
                                      <p:cBhvr>
                                        <p:cTn id="112" dur="2000" fill="hold"/>
                                        <p:tgtEl>
                                          <p:spTgt spid="7"/>
                                        </p:tgtEl>
                                        <p:attrNameLst>
                                          <p:attrName>ppt_x</p:attrName>
                                          <p:attrName>ppt_y</p:attrName>
                                        </p:attrNameLst>
                                      </p:cBhvr>
                                    </p:animMotion>
                                  </p:childTnLst>
                                </p:cTn>
                              </p:par>
                            </p:childTnLst>
                          </p:cTn>
                        </p:par>
                      </p:childTnLst>
                    </p:cTn>
                  </p:par>
                  <p:par>
                    <p:cTn id="113" fill="hold" nodeType="clickPar">
                      <p:stCondLst>
                        <p:cond delay="indefinite"/>
                      </p:stCondLst>
                      <p:childTnLst>
                        <p:par>
                          <p:cTn id="114" fill="hold" nodeType="withGroup">
                            <p:stCondLst>
                              <p:cond delay="0"/>
                            </p:stCondLst>
                            <p:childTnLst>
                              <p:par>
                                <p:cTn id="115" presetID="1" presetClass="entr" presetSubtype="0" fill="hold" nodeType="clickEffect">
                                  <p:stCondLst>
                                    <p:cond delay="0"/>
                                  </p:stCondLst>
                                  <p:childTnLst>
                                    <p:set>
                                      <p:cBhvr>
                                        <p:cTn id="116" dur="1" fill="hold">
                                          <p:stCondLst>
                                            <p:cond delay="0"/>
                                          </p:stCondLst>
                                        </p:cTn>
                                        <p:tgtEl>
                                          <p:spTgt spid="8"/>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2"/>
                                        </p:tgtEl>
                                        <p:attrNameLst>
                                          <p:attrName>style.visibility</p:attrName>
                                        </p:attrNameLst>
                                      </p:cBhvr>
                                      <p:to>
                                        <p:strVal val="hidden"/>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22" presetClass="entr" presetSubtype="1" fill="hold" nodeType="clickEffect">
                                  <p:stCondLst>
                                    <p:cond delay="0"/>
                                  </p:stCondLst>
                                  <p:childTnLst>
                                    <p:set>
                                      <p:cBhvr>
                                        <p:cTn id="122" dur="1" fill="hold">
                                          <p:stCondLst>
                                            <p:cond delay="0"/>
                                          </p:stCondLst>
                                        </p:cTn>
                                        <p:tgtEl>
                                          <p:spTgt spid="20"/>
                                        </p:tgtEl>
                                        <p:attrNameLst>
                                          <p:attrName>style.visibility</p:attrName>
                                        </p:attrNameLst>
                                      </p:cBhvr>
                                      <p:to>
                                        <p:strVal val="visible"/>
                                      </p:to>
                                    </p:set>
                                    <p:animEffect transition="in" filter="wipe(up)">
                                      <p:cBhvr>
                                        <p:cTn id="123" dur="500"/>
                                        <p:tgtEl>
                                          <p:spTgt spid="20"/>
                                        </p:tgtEl>
                                      </p:cBhvr>
                                    </p:animEffec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 presetClass="exit" presetSubtype="0" fill="hold" nodeType="clickEffect">
                                  <p:stCondLst>
                                    <p:cond delay="0"/>
                                  </p:stCondLst>
                                  <p:childTnLst>
                                    <p:set>
                                      <p:cBhvr>
                                        <p:cTn id="127" dur="1" fill="hold">
                                          <p:stCondLst>
                                            <p:cond delay="0"/>
                                          </p:stCondLst>
                                        </p:cTn>
                                        <p:tgtEl>
                                          <p:spTgt spid="20"/>
                                        </p:tgtEl>
                                        <p:attrNameLst>
                                          <p:attrName>style.visibility</p:attrName>
                                        </p:attrNameLst>
                                      </p:cBhvr>
                                      <p:to>
                                        <p:strVal val="hidden"/>
                                      </p:to>
                                    </p:se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4" fill="hold" nodeType="clickEffect">
                                  <p:stCondLst>
                                    <p:cond delay="0"/>
                                  </p:stCondLst>
                                  <p:childTnLst>
                                    <p:set>
                                      <p:cBhvr>
                                        <p:cTn id="131" dur="1" fill="hold">
                                          <p:stCondLst>
                                            <p:cond delay="0"/>
                                          </p:stCondLst>
                                        </p:cTn>
                                        <p:tgtEl>
                                          <p:spTgt spid="10"/>
                                        </p:tgtEl>
                                        <p:attrNameLst>
                                          <p:attrName>style.visibility</p:attrName>
                                        </p:attrNameLst>
                                      </p:cBhvr>
                                      <p:to>
                                        <p:strVal val="visible"/>
                                      </p:to>
                                    </p:set>
                                    <p:animEffect transition="in" filter="wipe(down)">
                                      <p:cBhvr>
                                        <p:cTn id="132" dur="500"/>
                                        <p:tgtEl>
                                          <p:spTgt spid="10"/>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2" fill="hold" nodeType="clickEffect">
                                  <p:stCondLst>
                                    <p:cond delay="0"/>
                                  </p:stCondLst>
                                  <p:childTnLst>
                                    <p:set>
                                      <p:cBhvr>
                                        <p:cTn id="136" dur="1" fill="hold">
                                          <p:stCondLst>
                                            <p:cond delay="0"/>
                                          </p:stCondLst>
                                        </p:cTn>
                                        <p:tgtEl>
                                          <p:spTgt spid="14"/>
                                        </p:tgtEl>
                                        <p:attrNameLst>
                                          <p:attrName>style.visibility</p:attrName>
                                        </p:attrNameLst>
                                      </p:cBhvr>
                                      <p:to>
                                        <p:strVal val="visible"/>
                                      </p:to>
                                    </p:set>
                                    <p:animEffect transition="in" filter="wipe(right)">
                                      <p:cBhvr>
                                        <p:cTn id="137" dur="500"/>
                                        <p:tgtEl>
                                          <p:spTgt spid="14"/>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1" fill="hold" nodeType="clickEffect">
                                  <p:stCondLst>
                                    <p:cond delay="0"/>
                                  </p:stCondLst>
                                  <p:childTnLst>
                                    <p:set>
                                      <p:cBhvr>
                                        <p:cTn id="141" dur="1" fill="hold">
                                          <p:stCondLst>
                                            <p:cond delay="0"/>
                                          </p:stCondLst>
                                        </p:cTn>
                                        <p:tgtEl>
                                          <p:spTgt spid="9"/>
                                        </p:tgtEl>
                                        <p:attrNameLst>
                                          <p:attrName>style.visibility</p:attrName>
                                        </p:attrNameLst>
                                      </p:cBhvr>
                                      <p:to>
                                        <p:strVal val="visible"/>
                                      </p:to>
                                    </p:set>
                                    <p:animEffect transition="in" filter="wipe(up)">
                                      <p:cBhvr>
                                        <p:cTn id="142" dur="500"/>
                                        <p:tgtEl>
                                          <p:spTgt spid="9"/>
                                        </p:tgtEl>
                                      </p:cBhvr>
                                    </p:animEffect>
                                  </p:childTnLst>
                                </p:cTn>
                              </p:par>
                              <p:par>
                                <p:cTn id="143" presetID="10" presetClass="entr" presetSubtype="0" fill="hold" nodeType="withEffect">
                                  <p:stCondLst>
                                    <p:cond delay="0"/>
                                  </p:stCondLst>
                                  <p:childTnLst>
                                    <p:set>
                                      <p:cBhvr>
                                        <p:cTn id="144" dur="1" fill="hold">
                                          <p:stCondLst>
                                            <p:cond delay="0"/>
                                          </p:stCondLst>
                                        </p:cTn>
                                        <p:tgtEl>
                                          <p:spTgt spid="72795"/>
                                        </p:tgtEl>
                                        <p:attrNameLst>
                                          <p:attrName>style.visibility</p:attrName>
                                        </p:attrNameLst>
                                      </p:cBhvr>
                                      <p:to>
                                        <p:strVal val="visible"/>
                                      </p:to>
                                    </p:set>
                                    <p:animEffect transition="in" filter="fade">
                                      <p:cBhvr>
                                        <p:cTn id="145" dur="2000"/>
                                        <p:tgtEl>
                                          <p:spTgt spid="72795"/>
                                        </p:tgtEl>
                                      </p:cBhvr>
                                    </p:animEffect>
                                  </p:childTnLst>
                                </p:cTn>
                              </p:par>
                            </p:childTnLst>
                          </p:cTn>
                        </p:par>
                      </p:childTnLst>
                    </p:cTn>
                  </p:par>
                  <p:par>
                    <p:cTn id="146" fill="hold" nodeType="clickPar">
                      <p:stCondLst>
                        <p:cond delay="indefinite"/>
                      </p:stCondLst>
                      <p:childTnLst>
                        <p:par>
                          <p:cTn id="147" fill="hold" nodeType="withGroup">
                            <p:stCondLst>
                              <p:cond delay="0"/>
                            </p:stCondLst>
                            <p:childTnLst>
                              <p:par>
                                <p:cTn id="148" presetID="22" presetClass="entr" presetSubtype="2" fill="hold" nodeType="clickEffect">
                                  <p:stCondLst>
                                    <p:cond delay="0"/>
                                  </p:stCondLst>
                                  <p:childTnLst>
                                    <p:set>
                                      <p:cBhvr>
                                        <p:cTn id="149" dur="1" fill="hold">
                                          <p:stCondLst>
                                            <p:cond delay="0"/>
                                          </p:stCondLst>
                                        </p:cTn>
                                        <p:tgtEl>
                                          <p:spTgt spid="15"/>
                                        </p:tgtEl>
                                        <p:attrNameLst>
                                          <p:attrName>style.visibility</p:attrName>
                                        </p:attrNameLst>
                                      </p:cBhvr>
                                      <p:to>
                                        <p:strVal val="visible"/>
                                      </p:to>
                                    </p:set>
                                    <p:animEffect transition="in" filter="wipe(right)">
                                      <p:cBhvr>
                                        <p:cTn id="150" dur="500"/>
                                        <p:tgtEl>
                                          <p:spTgt spid="15"/>
                                        </p:tgtEl>
                                      </p:cBhvr>
                                    </p:animEffect>
                                  </p:childTnLst>
                                </p:cTn>
                              </p:par>
                              <p:par>
                                <p:cTn id="151" presetID="10" presetClass="entr" presetSubtype="0" fill="hold" nodeType="withEffect">
                                  <p:stCondLst>
                                    <p:cond delay="0"/>
                                  </p:stCondLst>
                                  <p:childTnLst>
                                    <p:set>
                                      <p:cBhvr>
                                        <p:cTn id="152" dur="1" fill="hold">
                                          <p:stCondLst>
                                            <p:cond delay="0"/>
                                          </p:stCondLst>
                                        </p:cTn>
                                        <p:tgtEl>
                                          <p:spTgt spid="72819"/>
                                        </p:tgtEl>
                                        <p:attrNameLst>
                                          <p:attrName>style.visibility</p:attrName>
                                        </p:attrNameLst>
                                      </p:cBhvr>
                                      <p:to>
                                        <p:strVal val="visible"/>
                                      </p:to>
                                    </p:set>
                                    <p:animEffect transition="in" filter="fade">
                                      <p:cBhvr>
                                        <p:cTn id="153" dur="2000"/>
                                        <p:tgtEl>
                                          <p:spTgt spid="72819"/>
                                        </p:tgtEl>
                                      </p:cBhvr>
                                    </p:animEffect>
                                  </p:childTnLst>
                                </p:cTn>
                              </p:par>
                              <p:par>
                                <p:cTn id="154" presetID="1" presetClass="entr" presetSubtype="0" fill="hold" grpId="1" nodeType="withEffect">
                                  <p:stCondLst>
                                    <p:cond delay="0"/>
                                  </p:stCondLst>
                                  <p:childTnLst>
                                    <p:set>
                                      <p:cBhvr>
                                        <p:cTn id="155" dur="1" fill="hold">
                                          <p:stCondLst>
                                            <p:cond delay="0"/>
                                          </p:stCondLst>
                                        </p:cTn>
                                        <p:tgtEl>
                                          <p:spTgt spid="72820"/>
                                        </p:tgtEl>
                                        <p:attrNameLst>
                                          <p:attrName>style.visibility</p:attrName>
                                        </p:attrNameLst>
                                      </p:cBhvr>
                                      <p:to>
                                        <p:strVal val="visible"/>
                                      </p:to>
                                    </p:set>
                                  </p:childTnLst>
                                </p:cTn>
                              </p:par>
                            </p:childTnLst>
                          </p:cTn>
                        </p:par>
                      </p:childTnLst>
                    </p:cTn>
                  </p:par>
                  <p:par>
                    <p:cTn id="156" fill="hold" nodeType="clickPar">
                      <p:stCondLst>
                        <p:cond delay="indefinite"/>
                      </p:stCondLst>
                      <p:childTnLst>
                        <p:par>
                          <p:cTn id="157" fill="hold" nodeType="withGroup">
                            <p:stCondLst>
                              <p:cond delay="0"/>
                            </p:stCondLst>
                            <p:childTnLst>
                              <p:par>
                                <p:cTn id="158" presetID="1" presetClass="entr" presetSubtype="0" fill="hold" grpId="1" nodeType="clickEffect">
                                  <p:stCondLst>
                                    <p:cond delay="0"/>
                                  </p:stCondLst>
                                  <p:childTnLst>
                                    <p:set>
                                      <p:cBhvr>
                                        <p:cTn id="159" dur="1" fill="hold">
                                          <p:stCondLst>
                                            <p:cond delay="0"/>
                                          </p:stCondLst>
                                        </p:cTn>
                                        <p:tgtEl>
                                          <p:spTgt spid="72824"/>
                                        </p:tgtEl>
                                        <p:attrNameLst>
                                          <p:attrName>style.visibility</p:attrName>
                                        </p:attrNameLst>
                                      </p:cBhvr>
                                      <p:to>
                                        <p:strVal val="visible"/>
                                      </p:to>
                                    </p:set>
                                  </p:childTnLst>
                                </p:cTn>
                              </p:par>
                              <p:par>
                                <p:cTn id="160" presetID="10" presetClass="entr" presetSubtype="0" fill="hold" nodeType="withEffect">
                                  <p:stCondLst>
                                    <p:cond delay="0"/>
                                  </p:stCondLst>
                                  <p:childTnLst>
                                    <p:set>
                                      <p:cBhvr>
                                        <p:cTn id="161" dur="1" fill="hold">
                                          <p:stCondLst>
                                            <p:cond delay="0"/>
                                          </p:stCondLst>
                                        </p:cTn>
                                        <p:tgtEl>
                                          <p:spTgt spid="72825"/>
                                        </p:tgtEl>
                                        <p:attrNameLst>
                                          <p:attrName>style.visibility</p:attrName>
                                        </p:attrNameLst>
                                      </p:cBhvr>
                                      <p:to>
                                        <p:strVal val="visible"/>
                                      </p:to>
                                    </p:set>
                                    <p:animEffect transition="in" filter="fade">
                                      <p:cBhvr>
                                        <p:cTn id="162" dur="2000"/>
                                        <p:tgtEl>
                                          <p:spTgt spid="72825"/>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0" presetClass="path" presetSubtype="0" accel="50000" decel="50000" fill="hold" nodeType="clickEffect">
                                  <p:stCondLst>
                                    <p:cond delay="0"/>
                                  </p:stCondLst>
                                  <p:childTnLst>
                                    <p:animMotion origin="layout" path="M -2.22222E-6 -1.11111E-6 L -0.21111 -0.18912 " pathEditMode="relative" rAng="0" ptsTypes="AA">
                                      <p:cBhvr>
                                        <p:cTn id="166" dur="2000" fill="hold"/>
                                        <p:tgtEl>
                                          <p:spTgt spid="72825"/>
                                        </p:tgtEl>
                                        <p:attrNameLst>
                                          <p:attrName>ppt_x</p:attrName>
                                          <p:attrName>ppt_y</p:attrName>
                                        </p:attrNameLst>
                                      </p:cBhvr>
                                      <p:rCtr x="-10556" y="-9468"/>
                                    </p:animMotion>
                                  </p:childTnLst>
                                </p:cTn>
                              </p:par>
                            </p:childTnLst>
                          </p:cTn>
                        </p:par>
                      </p:childTnLst>
                    </p:cTn>
                  </p:par>
                  <p:par>
                    <p:cTn id="167" fill="hold" nodeType="clickPar">
                      <p:stCondLst>
                        <p:cond delay="indefinite"/>
                      </p:stCondLst>
                      <p:childTnLst>
                        <p:par>
                          <p:cTn id="168" fill="hold" nodeType="withGroup">
                            <p:stCondLst>
                              <p:cond delay="0"/>
                            </p:stCondLst>
                            <p:childTnLst>
                              <p:par>
                                <p:cTn id="169" presetID="2" presetClass="exit" presetSubtype="4" fill="hold" nodeType="clickEffect">
                                  <p:stCondLst>
                                    <p:cond delay="0"/>
                                  </p:stCondLst>
                                  <p:childTnLst>
                                    <p:anim calcmode="lin" valueType="num">
                                      <p:cBhvr additive="base">
                                        <p:cTn id="170" dur="500"/>
                                        <p:tgtEl>
                                          <p:spTgt spid="6"/>
                                        </p:tgtEl>
                                        <p:attrNameLst>
                                          <p:attrName>ppt_x</p:attrName>
                                        </p:attrNameLst>
                                      </p:cBhvr>
                                      <p:tavLst>
                                        <p:tav tm="0">
                                          <p:val>
                                            <p:strVal val="ppt_x"/>
                                          </p:val>
                                        </p:tav>
                                        <p:tav tm="100000">
                                          <p:val>
                                            <p:strVal val="ppt_x"/>
                                          </p:val>
                                        </p:tav>
                                      </p:tavLst>
                                    </p:anim>
                                    <p:anim calcmode="lin" valueType="num">
                                      <p:cBhvr additive="base">
                                        <p:cTn id="171" dur="500"/>
                                        <p:tgtEl>
                                          <p:spTgt spid="6"/>
                                        </p:tgtEl>
                                        <p:attrNameLst>
                                          <p:attrName>ppt_y</p:attrName>
                                        </p:attrNameLst>
                                      </p:cBhvr>
                                      <p:tavLst>
                                        <p:tav tm="0">
                                          <p:val>
                                            <p:strVal val="ppt_y"/>
                                          </p:val>
                                        </p:tav>
                                        <p:tav tm="100000">
                                          <p:val>
                                            <p:strVal val="1+ppt_h/2"/>
                                          </p:val>
                                        </p:tav>
                                      </p:tavLst>
                                    </p:anim>
                                    <p:set>
                                      <p:cBhvr>
                                        <p:cTn id="172" dur="1" fill="hold">
                                          <p:stCondLst>
                                            <p:cond delay="499"/>
                                          </p:stCondLst>
                                        </p:cTn>
                                        <p:tgtEl>
                                          <p:spTgt spid="6"/>
                                        </p:tgtEl>
                                        <p:attrNameLst>
                                          <p:attrName>style.visibility</p:attrName>
                                        </p:attrNameLst>
                                      </p:cBhvr>
                                      <p:to>
                                        <p:strVal val="hidden"/>
                                      </p:to>
                                    </p:set>
                                  </p:childTnLst>
                                </p:cTn>
                              </p:par>
                              <p:par>
                                <p:cTn id="173" presetID="1" presetClass="exit" presetSubtype="0" fill="hold" nodeType="withEffect">
                                  <p:stCondLst>
                                    <p:cond delay="0"/>
                                  </p:stCondLst>
                                  <p:childTnLst>
                                    <p:set>
                                      <p:cBhvr>
                                        <p:cTn id="174" dur="1" fill="hold">
                                          <p:stCondLst>
                                            <p:cond delay="0"/>
                                          </p:stCondLst>
                                        </p:cTn>
                                        <p:tgtEl>
                                          <p:spTgt spid="10"/>
                                        </p:tgtEl>
                                        <p:attrNameLst>
                                          <p:attrName>style.visibility</p:attrName>
                                        </p:attrNameLst>
                                      </p:cBhvr>
                                      <p:to>
                                        <p:strVal val="hidden"/>
                                      </p:to>
                                    </p:set>
                                  </p:childTnLst>
                                </p:cTn>
                              </p:par>
                              <p:par>
                                <p:cTn id="175" presetID="1" presetClass="exit" presetSubtype="0" fill="hold" nodeType="withEffect">
                                  <p:stCondLst>
                                    <p:cond delay="0"/>
                                  </p:stCondLst>
                                  <p:childTnLst>
                                    <p:set>
                                      <p:cBhvr>
                                        <p:cTn id="176" dur="1" fill="hold">
                                          <p:stCondLst>
                                            <p:cond delay="0"/>
                                          </p:stCondLst>
                                        </p:cTn>
                                        <p:tgtEl>
                                          <p:spTgt spid="9"/>
                                        </p:tgtEl>
                                        <p:attrNameLst>
                                          <p:attrName>style.visibility</p:attrName>
                                        </p:attrNameLst>
                                      </p:cBhvr>
                                      <p:to>
                                        <p:strVal val="hidden"/>
                                      </p:to>
                                    </p:set>
                                  </p:childTnLst>
                                </p:cTn>
                              </p:par>
                              <p:par>
                                <p:cTn id="177" presetID="1" presetClass="exit" presetSubtype="0" fill="hold" nodeType="withEffect">
                                  <p:stCondLst>
                                    <p:cond delay="0"/>
                                  </p:stCondLst>
                                  <p:childTnLst>
                                    <p:set>
                                      <p:cBhvr>
                                        <p:cTn id="178" dur="1" fill="hold">
                                          <p:stCondLst>
                                            <p:cond delay="0"/>
                                          </p:stCondLst>
                                        </p:cTn>
                                        <p:tgtEl>
                                          <p:spTgt spid="15"/>
                                        </p:tgtEl>
                                        <p:attrNameLst>
                                          <p:attrName>style.visibility</p:attrName>
                                        </p:attrNameLst>
                                      </p:cBhvr>
                                      <p:to>
                                        <p:strVal val="hidden"/>
                                      </p:to>
                                    </p:set>
                                  </p:childTnLst>
                                </p:cTn>
                              </p:par>
                              <p:par>
                                <p:cTn id="179" presetID="1" presetClass="exit" presetSubtype="0" fill="hold" nodeType="withEffect">
                                  <p:stCondLst>
                                    <p:cond delay="0"/>
                                  </p:stCondLst>
                                  <p:childTnLst>
                                    <p:set>
                                      <p:cBhvr>
                                        <p:cTn id="180" dur="1" fill="hold">
                                          <p:stCondLst>
                                            <p:cond delay="0"/>
                                          </p:stCondLst>
                                        </p:cTn>
                                        <p:tgtEl>
                                          <p:spTgt spid="72795"/>
                                        </p:tgtEl>
                                        <p:attrNameLst>
                                          <p:attrName>style.visibility</p:attrName>
                                        </p:attrNameLst>
                                      </p:cBhvr>
                                      <p:to>
                                        <p:strVal val="hidden"/>
                                      </p:to>
                                    </p:set>
                                  </p:childTnLst>
                                </p:cTn>
                              </p:par>
                              <p:par>
                                <p:cTn id="181" presetID="1" presetClass="exit" presetSubtype="0" fill="hold" nodeType="withEffect">
                                  <p:stCondLst>
                                    <p:cond delay="0"/>
                                  </p:stCondLst>
                                  <p:childTnLst>
                                    <p:set>
                                      <p:cBhvr>
                                        <p:cTn id="182" dur="1" fill="hold">
                                          <p:stCondLst>
                                            <p:cond delay="0"/>
                                          </p:stCondLst>
                                        </p:cTn>
                                        <p:tgtEl>
                                          <p:spTgt spid="72819"/>
                                        </p:tgtEl>
                                        <p:attrNameLst>
                                          <p:attrName>style.visibility</p:attrName>
                                        </p:attrNameLst>
                                      </p:cBhvr>
                                      <p:to>
                                        <p:strVal val="hidden"/>
                                      </p:to>
                                    </p:set>
                                  </p:childTnLst>
                                </p:cTn>
                              </p:par>
                              <p:par>
                                <p:cTn id="183" presetID="1" presetClass="exit" presetSubtype="0" fill="hold" nodeType="withEffect">
                                  <p:stCondLst>
                                    <p:cond delay="0"/>
                                  </p:stCondLst>
                                  <p:childTnLst>
                                    <p:set>
                                      <p:cBhvr>
                                        <p:cTn id="184" dur="1" fill="hold">
                                          <p:stCondLst>
                                            <p:cond delay="0"/>
                                          </p:stCondLst>
                                        </p:cTn>
                                        <p:tgtEl>
                                          <p:spTgt spid="72825"/>
                                        </p:tgtEl>
                                        <p:attrNameLst>
                                          <p:attrName>style.visibility</p:attrName>
                                        </p:attrNameLst>
                                      </p:cBhvr>
                                      <p:to>
                                        <p:strVal val="hidden"/>
                                      </p:to>
                                    </p:set>
                                  </p:childTnLst>
                                </p:cTn>
                              </p:par>
                              <p:par>
                                <p:cTn id="185" presetID="1" presetClass="exit" presetSubtype="0" fill="hold" grpId="2" nodeType="withEffect">
                                  <p:stCondLst>
                                    <p:cond delay="0"/>
                                  </p:stCondLst>
                                  <p:childTnLst>
                                    <p:set>
                                      <p:cBhvr>
                                        <p:cTn id="186" dur="1" fill="hold">
                                          <p:stCondLst>
                                            <p:cond delay="0"/>
                                          </p:stCondLst>
                                        </p:cTn>
                                        <p:tgtEl>
                                          <p:spTgt spid="72820"/>
                                        </p:tgtEl>
                                        <p:attrNameLst>
                                          <p:attrName>style.visibility</p:attrName>
                                        </p:attrNameLst>
                                      </p:cBhvr>
                                      <p:to>
                                        <p:strVal val="hidden"/>
                                      </p:to>
                                    </p:set>
                                  </p:childTnLst>
                                </p:cTn>
                              </p:par>
                              <p:par>
                                <p:cTn id="187" presetID="1" presetClass="exit" presetSubtype="0" fill="hold" grpId="2" nodeType="withEffect">
                                  <p:stCondLst>
                                    <p:cond delay="0"/>
                                  </p:stCondLst>
                                  <p:childTnLst>
                                    <p:set>
                                      <p:cBhvr>
                                        <p:cTn id="188" dur="1" fill="hold">
                                          <p:stCondLst>
                                            <p:cond delay="0"/>
                                          </p:stCondLst>
                                        </p:cTn>
                                        <p:tgtEl>
                                          <p:spTgt spid="72824"/>
                                        </p:tgtEl>
                                        <p:attrNameLst>
                                          <p:attrName>style.visibility</p:attrName>
                                        </p:attrNameLst>
                                      </p:cBhvr>
                                      <p:to>
                                        <p:strVal val="hidden"/>
                                      </p:to>
                                    </p:set>
                                  </p:childTnLst>
                                </p:cTn>
                              </p:par>
                              <p:par>
                                <p:cTn id="189" presetID="1" presetClass="exit" presetSubtype="0" fill="hold" nodeType="withEffect">
                                  <p:stCondLst>
                                    <p:cond delay="0"/>
                                  </p:stCondLst>
                                  <p:childTnLst>
                                    <p:set>
                                      <p:cBhvr>
                                        <p:cTn id="190" dur="1" fill="hold">
                                          <p:stCondLst>
                                            <p:cond delay="0"/>
                                          </p:stCondLst>
                                        </p:cTn>
                                        <p:tgtEl>
                                          <p:spTgt spid="14"/>
                                        </p:tgtEl>
                                        <p:attrNameLst>
                                          <p:attrName>style.visibility</p:attrName>
                                        </p:attrNameLst>
                                      </p:cBhvr>
                                      <p:to>
                                        <p:strVal val="hidden"/>
                                      </p:to>
                                    </p:set>
                                  </p:childTnLst>
                                </p:cTn>
                              </p:par>
                              <p:par>
                                <p:cTn id="191" presetID="0" presetClass="path" presetSubtype="0" accel="50000" decel="50000" fill="hold" nodeType="withEffect">
                                  <p:stCondLst>
                                    <p:cond delay="0"/>
                                  </p:stCondLst>
                                  <p:childTnLst>
                                    <p:animMotion origin="layout" path="M -5.55556E-7 -0.3044 L -0.00365 -0.67685 " pathEditMode="relative" rAng="0" ptsTypes="AA">
                                      <p:cBhvr>
                                        <p:cTn id="192" dur="2000" fill="hold"/>
                                        <p:tgtEl>
                                          <p:spTgt spid="7"/>
                                        </p:tgtEl>
                                        <p:attrNameLst>
                                          <p:attrName>ppt_x</p:attrName>
                                          <p:attrName>ppt_y</p:attrName>
                                        </p:attrNameLst>
                                      </p:cBhvr>
                                      <p:rCtr x="-191" y="-18634"/>
                                    </p:animMotion>
                                  </p:childTnLst>
                                </p:cTn>
                              </p:par>
                            </p:childTnLst>
                          </p:cTn>
                        </p:par>
                      </p:childTnLst>
                    </p:cTn>
                  </p:par>
                  <p:par>
                    <p:cTn id="193" fill="hold" nodeType="clickPar">
                      <p:stCondLst>
                        <p:cond delay="indefinite"/>
                      </p:stCondLst>
                      <p:childTnLst>
                        <p:par>
                          <p:cTn id="194" fill="hold" nodeType="withGroup">
                            <p:stCondLst>
                              <p:cond delay="0"/>
                            </p:stCondLst>
                            <p:childTnLst>
                              <p:par>
                                <p:cTn id="195" presetID="22" presetClass="entr" presetSubtype="4" fill="hold" nodeType="clickEffect">
                                  <p:stCondLst>
                                    <p:cond delay="0"/>
                                  </p:stCondLst>
                                  <p:childTnLst>
                                    <p:set>
                                      <p:cBhvr>
                                        <p:cTn id="196" dur="1" fill="hold">
                                          <p:stCondLst>
                                            <p:cond delay="0"/>
                                          </p:stCondLst>
                                        </p:cTn>
                                        <p:tgtEl>
                                          <p:spTgt spid="21"/>
                                        </p:tgtEl>
                                        <p:attrNameLst>
                                          <p:attrName>style.visibility</p:attrName>
                                        </p:attrNameLst>
                                      </p:cBhvr>
                                      <p:to>
                                        <p:strVal val="visible"/>
                                      </p:to>
                                    </p:set>
                                    <p:animEffect transition="in" filter="wipe(down)">
                                      <p:cBhvr>
                                        <p:cTn id="197" dur="500"/>
                                        <p:tgtEl>
                                          <p:spTgt spid="21"/>
                                        </p:tgtEl>
                                      </p:cBhvr>
                                    </p:animEffec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22" presetClass="entr" presetSubtype="1" fill="hold" nodeType="clickEffect">
                                  <p:stCondLst>
                                    <p:cond delay="0"/>
                                  </p:stCondLst>
                                  <p:childTnLst>
                                    <p:set>
                                      <p:cBhvr>
                                        <p:cTn id="201" dur="1" fill="hold">
                                          <p:stCondLst>
                                            <p:cond delay="0"/>
                                          </p:stCondLst>
                                        </p:cTn>
                                        <p:tgtEl>
                                          <p:spTgt spid="22"/>
                                        </p:tgtEl>
                                        <p:attrNameLst>
                                          <p:attrName>style.visibility</p:attrName>
                                        </p:attrNameLst>
                                      </p:cBhvr>
                                      <p:to>
                                        <p:strVal val="visible"/>
                                      </p:to>
                                    </p:set>
                                    <p:animEffect transition="in" filter="wipe(up)">
                                      <p:cBhvr>
                                        <p:cTn id="202" dur="500"/>
                                        <p:tgtEl>
                                          <p:spTgt spid="22"/>
                                        </p:tgtEl>
                                      </p:cBhvr>
                                    </p:animEffect>
                                  </p:childTnLst>
                                </p:cTn>
                              </p:par>
                              <p:par>
                                <p:cTn id="203" presetID="10" presetClass="entr" presetSubtype="0" fill="hold" nodeType="withEffect">
                                  <p:stCondLst>
                                    <p:cond delay="0"/>
                                  </p:stCondLst>
                                  <p:childTnLst>
                                    <p:set>
                                      <p:cBhvr>
                                        <p:cTn id="204" dur="1" fill="hold">
                                          <p:stCondLst>
                                            <p:cond delay="0"/>
                                          </p:stCondLst>
                                        </p:cTn>
                                        <p:tgtEl>
                                          <p:spTgt spid="72867"/>
                                        </p:tgtEl>
                                        <p:attrNameLst>
                                          <p:attrName>style.visibility</p:attrName>
                                        </p:attrNameLst>
                                      </p:cBhvr>
                                      <p:to>
                                        <p:strVal val="visible"/>
                                      </p:to>
                                    </p:set>
                                    <p:animEffect transition="in" filter="fade">
                                      <p:cBhvr>
                                        <p:cTn id="205" dur="2000"/>
                                        <p:tgtEl>
                                          <p:spTgt spid="72867"/>
                                        </p:tgtEl>
                                      </p:cBhvr>
                                    </p:animEffec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 presetClass="entr" presetSubtype="0" fill="hold" grpId="3" nodeType="clickEffect">
                                  <p:stCondLst>
                                    <p:cond delay="0"/>
                                  </p:stCondLst>
                                  <p:childTnLst>
                                    <p:set>
                                      <p:cBhvr>
                                        <p:cTn id="209" dur="1" fill="hold">
                                          <p:stCondLst>
                                            <p:cond delay="0"/>
                                          </p:stCondLst>
                                        </p:cTn>
                                        <p:tgtEl>
                                          <p:spTgt spid="72820"/>
                                        </p:tgtEl>
                                        <p:attrNameLst>
                                          <p:attrName>style.visibility</p:attrName>
                                        </p:attrNameLst>
                                      </p:cBhvr>
                                      <p:to>
                                        <p:strVal val="visibl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nodeType="clickEffect">
                                  <p:stCondLst>
                                    <p:cond delay="0"/>
                                  </p:stCondLst>
                                  <p:childTnLst>
                                    <p:set>
                                      <p:cBhvr>
                                        <p:cTn id="213" dur="1" fill="hold">
                                          <p:stCondLst>
                                            <p:cond delay="0"/>
                                          </p:stCondLst>
                                        </p:cTn>
                                        <p:tgtEl>
                                          <p:spTgt spid="15"/>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0" presetClass="entr" presetSubtype="0" fill="hold" nodeType="clickEffect">
                                  <p:stCondLst>
                                    <p:cond delay="0"/>
                                  </p:stCondLst>
                                  <p:childTnLst>
                                    <p:set>
                                      <p:cBhvr>
                                        <p:cTn id="217" dur="1" fill="hold">
                                          <p:stCondLst>
                                            <p:cond delay="0"/>
                                          </p:stCondLst>
                                        </p:cTn>
                                        <p:tgtEl>
                                          <p:spTgt spid="72819"/>
                                        </p:tgtEl>
                                        <p:attrNameLst>
                                          <p:attrName>style.visibility</p:attrName>
                                        </p:attrNameLst>
                                      </p:cBhvr>
                                      <p:to>
                                        <p:strVal val="visible"/>
                                      </p:to>
                                    </p:set>
                                    <p:animEffect transition="in" filter="fade">
                                      <p:cBhvr>
                                        <p:cTn id="218" dur="2000"/>
                                        <p:tgtEl>
                                          <p:spTgt spid="72819"/>
                                        </p:tgtEl>
                                      </p:cBhvr>
                                    </p:animEffect>
                                  </p:childTnLst>
                                </p:cTn>
                              </p:par>
                            </p:childTnLst>
                          </p:cTn>
                        </p:par>
                      </p:childTnLst>
                    </p:cTn>
                  </p:par>
                  <p:par>
                    <p:cTn id="219" fill="hold" nodeType="clickPar">
                      <p:stCondLst>
                        <p:cond delay="indefinite"/>
                      </p:stCondLst>
                      <p:childTnLst>
                        <p:par>
                          <p:cTn id="220" fill="hold" nodeType="withGroup">
                            <p:stCondLst>
                              <p:cond delay="0"/>
                            </p:stCondLst>
                            <p:childTnLst>
                              <p:par>
                                <p:cTn id="221" presetID="1" presetClass="entr" presetSubtype="0" fill="hold" grpId="3" nodeType="clickEffect">
                                  <p:stCondLst>
                                    <p:cond delay="0"/>
                                  </p:stCondLst>
                                  <p:childTnLst>
                                    <p:set>
                                      <p:cBhvr>
                                        <p:cTn id="222" dur="1" fill="hold">
                                          <p:stCondLst>
                                            <p:cond delay="0"/>
                                          </p:stCondLst>
                                        </p:cTn>
                                        <p:tgtEl>
                                          <p:spTgt spid="72824"/>
                                        </p:tgtEl>
                                        <p:attrNameLst>
                                          <p:attrName>style.visibility</p:attrName>
                                        </p:attrNameLst>
                                      </p:cBhvr>
                                      <p:to>
                                        <p:strVal val="visible"/>
                                      </p:to>
                                    </p:set>
                                  </p:childTnLst>
                                </p:cTn>
                              </p:par>
                            </p:childTnLst>
                          </p:cTn>
                        </p:par>
                      </p:childTnLst>
                    </p:cTn>
                  </p:par>
                  <p:par>
                    <p:cTn id="223" fill="hold" nodeType="clickPar">
                      <p:stCondLst>
                        <p:cond delay="indefinite"/>
                      </p:stCondLst>
                      <p:childTnLst>
                        <p:par>
                          <p:cTn id="224" fill="hold" nodeType="withGroup">
                            <p:stCondLst>
                              <p:cond delay="0"/>
                            </p:stCondLst>
                            <p:childTnLst>
                              <p:par>
                                <p:cTn id="225" presetID="1" presetClass="entr" presetSubtype="0" fill="hold" nodeType="clickEffect">
                                  <p:stCondLst>
                                    <p:cond delay="0"/>
                                  </p:stCondLst>
                                  <p:childTnLst>
                                    <p:set>
                                      <p:cBhvr>
                                        <p:cTn id="226" dur="1" fill="hold">
                                          <p:stCondLst>
                                            <p:cond delay="0"/>
                                          </p:stCondLst>
                                        </p:cTn>
                                        <p:tgtEl>
                                          <p:spTgt spid="72868"/>
                                        </p:tgtEl>
                                        <p:attrNameLst>
                                          <p:attrName>style.visibility</p:attrName>
                                        </p:attrNameLst>
                                      </p:cBhvr>
                                      <p:to>
                                        <p:strVal val="visible"/>
                                      </p:to>
                                    </p:se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2" presetClass="entr" presetSubtype="4" fill="hold" nodeType="clickEffect">
                                  <p:stCondLst>
                                    <p:cond delay="0"/>
                                  </p:stCondLst>
                                  <p:childTnLst>
                                    <p:set>
                                      <p:cBhvr>
                                        <p:cTn id="230" dur="1" fill="hold">
                                          <p:stCondLst>
                                            <p:cond delay="0"/>
                                          </p:stCondLst>
                                        </p:cTn>
                                        <p:tgtEl>
                                          <p:spTgt spid="23"/>
                                        </p:tgtEl>
                                        <p:attrNameLst>
                                          <p:attrName>style.visibility</p:attrName>
                                        </p:attrNameLst>
                                      </p:cBhvr>
                                      <p:to>
                                        <p:strVal val="visible"/>
                                      </p:to>
                                    </p:set>
                                    <p:animEffect transition="in" filter="wipe(down)">
                                      <p:cBhvr>
                                        <p:cTn id="231" dur="500"/>
                                        <p:tgtEl>
                                          <p:spTgt spid="23"/>
                                        </p:tgtEl>
                                      </p:cBhvr>
                                    </p:animEffect>
                                  </p:childTnLst>
                                </p:cTn>
                              </p:par>
                            </p:childTnLst>
                          </p:cTn>
                        </p:par>
                      </p:childTnLst>
                    </p:cTn>
                  </p:par>
                  <p:par>
                    <p:cTn id="232" fill="hold" nodeType="clickPar">
                      <p:stCondLst>
                        <p:cond delay="indefinite"/>
                      </p:stCondLst>
                      <p:childTnLst>
                        <p:par>
                          <p:cTn id="233" fill="hold" nodeType="withGroup">
                            <p:stCondLst>
                              <p:cond delay="0"/>
                            </p:stCondLst>
                            <p:childTnLst>
                              <p:par>
                                <p:cTn id="234" presetID="10" presetClass="exit" presetSubtype="0" fill="hold" nodeType="clickEffect">
                                  <p:stCondLst>
                                    <p:cond delay="0"/>
                                  </p:stCondLst>
                                  <p:childTnLst>
                                    <p:animEffect transition="out" filter="fade">
                                      <p:cBhvr>
                                        <p:cTn id="235" dur="2000"/>
                                        <p:tgtEl>
                                          <p:spTgt spid="72868"/>
                                        </p:tgtEl>
                                      </p:cBhvr>
                                    </p:animEffect>
                                    <p:set>
                                      <p:cBhvr>
                                        <p:cTn id="236" dur="1" fill="hold">
                                          <p:stCondLst>
                                            <p:cond delay="1999"/>
                                          </p:stCondLst>
                                        </p:cTn>
                                        <p:tgtEl>
                                          <p:spTgt spid="72868"/>
                                        </p:tgtEl>
                                        <p:attrNameLst>
                                          <p:attrName>style.visibility</p:attrName>
                                        </p:attrNameLst>
                                      </p:cBhvr>
                                      <p:to>
                                        <p:strVal val="hidden"/>
                                      </p:to>
                                    </p:set>
                                  </p:childTnLst>
                                </p:cTn>
                              </p:par>
                              <p:par>
                                <p:cTn id="237" presetID="10" presetClass="entr" presetSubtype="0" fill="hold" nodeType="withEffect">
                                  <p:stCondLst>
                                    <p:cond delay="0"/>
                                  </p:stCondLst>
                                  <p:childTnLst>
                                    <p:set>
                                      <p:cBhvr>
                                        <p:cTn id="238" dur="1" fill="hold">
                                          <p:stCondLst>
                                            <p:cond delay="0"/>
                                          </p:stCondLst>
                                        </p:cTn>
                                        <p:tgtEl>
                                          <p:spTgt spid="72872"/>
                                        </p:tgtEl>
                                        <p:attrNameLst>
                                          <p:attrName>style.visibility</p:attrName>
                                        </p:attrNameLst>
                                      </p:cBhvr>
                                      <p:to>
                                        <p:strVal val="visible"/>
                                      </p:to>
                                    </p:set>
                                    <p:animEffect transition="in" filter="fade">
                                      <p:cBhvr>
                                        <p:cTn id="239" dur="2000"/>
                                        <p:tgtEl>
                                          <p:spTgt spid="72872"/>
                                        </p:tgtEl>
                                      </p:cBhvr>
                                    </p:animEffect>
                                  </p:childTnLst>
                                </p:cTn>
                              </p:par>
                            </p:childTnLst>
                          </p:cTn>
                        </p:par>
                      </p:childTnLst>
                    </p:cTn>
                  </p:par>
                  <p:par>
                    <p:cTn id="240" fill="hold" nodeType="clickPar">
                      <p:stCondLst>
                        <p:cond delay="indefinite"/>
                      </p:stCondLst>
                      <p:childTnLst>
                        <p:par>
                          <p:cTn id="241" fill="hold" nodeType="withGroup">
                            <p:stCondLst>
                              <p:cond delay="0"/>
                            </p:stCondLst>
                            <p:childTnLst>
                              <p:par>
                                <p:cTn id="242" presetID="0" presetClass="path" presetSubtype="0" accel="50000" decel="50000" fill="hold" nodeType="clickEffect">
                                  <p:stCondLst>
                                    <p:cond delay="0"/>
                                  </p:stCondLst>
                                  <p:childTnLst>
                                    <p:animMotion origin="layout" path="M -2.22222E-6 3.7037E-7 L -0.1717 -0.01042 " pathEditMode="relative" rAng="0" ptsTypes="AA">
                                      <p:cBhvr>
                                        <p:cTn id="243" dur="2000" fill="hold"/>
                                        <p:tgtEl>
                                          <p:spTgt spid="72872"/>
                                        </p:tgtEl>
                                        <p:attrNameLst>
                                          <p:attrName>ppt_x</p:attrName>
                                          <p:attrName>ppt_y</p:attrName>
                                        </p:attrNameLst>
                                      </p:cBhvr>
                                      <p:rCtr x="-8594" y="-53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9" grpId="0"/>
      <p:bldP spid="72820" grpId="0"/>
      <p:bldP spid="72820" grpId="1"/>
      <p:bldP spid="72820" grpId="2"/>
      <p:bldP spid="72820" grpId="3"/>
      <p:bldP spid="72824" grpId="0"/>
      <p:bldP spid="72824" grpId="1"/>
      <p:bldP spid="72824" grpId="2"/>
      <p:bldP spid="72824" grpId="3"/>
      <p:bldP spid="72849" grpId="0"/>
      <p:bldP spid="72850" grpId="0"/>
      <p:bldP spid="72851" grpId="0"/>
      <p:bldP spid="72851" grpId="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4B7FE643-631C-7E2C-9443-1B692B65F6C3}"/>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17411" name="Text Box 3">
            <a:extLst>
              <a:ext uri="{FF2B5EF4-FFF2-40B4-BE49-F238E27FC236}">
                <a16:creationId xmlns:a16="http://schemas.microsoft.com/office/drawing/2014/main" id="{BFFE6172-2201-7770-CF09-A27DA1514560}"/>
              </a:ext>
            </a:extLst>
          </p:cNvPr>
          <p:cNvSpPr txBox="1">
            <a:spLocks noChangeArrowheads="1"/>
          </p:cNvSpPr>
          <p:nvPr/>
        </p:nvSpPr>
        <p:spPr bwMode="auto">
          <a:xfrm>
            <a:off x="3375025" y="908050"/>
            <a:ext cx="2328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a:t>
            </a:r>
            <a:endParaRPr lang="en-US" altLang="fr-FR" sz="1600" u="sng">
              <a:solidFill>
                <a:srgbClr val="FF9900"/>
              </a:solidFill>
            </a:endParaRPr>
          </a:p>
        </p:txBody>
      </p:sp>
      <p:pic>
        <p:nvPicPr>
          <p:cNvPr id="17412" name="Picture 4" descr="21">
            <a:extLst>
              <a:ext uri="{FF2B5EF4-FFF2-40B4-BE49-F238E27FC236}">
                <a16:creationId xmlns:a16="http://schemas.microsoft.com/office/drawing/2014/main" id="{632E1B09-43FE-3EBA-B90D-07E4593ABC6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Picture 5" descr="21">
            <a:extLst>
              <a:ext uri="{FF2B5EF4-FFF2-40B4-BE49-F238E27FC236}">
                <a16:creationId xmlns:a16="http://schemas.microsoft.com/office/drawing/2014/main" id="{2012AB57-CE51-FFF0-F4F4-387C2A1DAA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4" name="Text Box 6">
            <a:extLst>
              <a:ext uri="{FF2B5EF4-FFF2-40B4-BE49-F238E27FC236}">
                <a16:creationId xmlns:a16="http://schemas.microsoft.com/office/drawing/2014/main" id="{B71C6753-FB2C-C12C-B5EC-5B3DC6F8FDAA}"/>
              </a:ext>
            </a:extLst>
          </p:cNvPr>
          <p:cNvSpPr txBox="1">
            <a:spLocks noChangeArrowheads="1"/>
          </p:cNvSpPr>
          <p:nvPr/>
        </p:nvSpPr>
        <p:spPr bwMode="auto">
          <a:xfrm>
            <a:off x="358775" y="1268413"/>
            <a:ext cx="8785225" cy="589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000">
                <a:solidFill>
                  <a:srgbClr val="FFFF99"/>
                </a:solidFill>
              </a:rPr>
              <a:t>Généralement, les registres d’un contrôleur d’entrées / sorties ont plusieurs fonctions différentes:</a:t>
            </a:r>
          </a:p>
          <a:p>
            <a:pPr lvl="1" eaLnBrk="1" hangingPunct="1">
              <a:spcBef>
                <a:spcPct val="0"/>
              </a:spcBef>
              <a:buFont typeface="Wingdings" panose="05000000000000000000" pitchFamily="2" charset="2"/>
              <a:buChar char="§"/>
            </a:pPr>
            <a:r>
              <a:rPr lang="fr-CA" altLang="fr-FR" sz="1600">
                <a:solidFill>
                  <a:schemeClr val="accent1"/>
                </a:solidFill>
              </a:rPr>
              <a:t>Les registres de </a:t>
            </a:r>
            <a:r>
              <a:rPr lang="fr-CA" altLang="fr-FR" sz="1600" i="1">
                <a:solidFill>
                  <a:srgbClr val="FF9900"/>
                </a:solidFill>
              </a:rPr>
              <a:t>contrôle</a:t>
            </a:r>
            <a:r>
              <a:rPr lang="fr-CA" altLang="fr-FR" sz="1600">
                <a:solidFill>
                  <a:schemeClr val="accent1"/>
                </a:solidFill>
              </a:rPr>
              <a:t> servent à envoyer des commandes au contrôleur et manipuler son comportement en changeant certains états internes.</a:t>
            </a:r>
          </a:p>
          <a:p>
            <a:pPr lvl="1" eaLnBrk="1" hangingPunct="1">
              <a:spcBef>
                <a:spcPct val="0"/>
              </a:spcBef>
              <a:buFont typeface="Wingdings" panose="05000000000000000000" pitchFamily="2" charset="2"/>
              <a:buChar char="§"/>
            </a:pPr>
            <a:r>
              <a:rPr lang="fr-CA" altLang="fr-FR" sz="1600">
                <a:solidFill>
                  <a:schemeClr val="accent1"/>
                </a:solidFill>
              </a:rPr>
              <a:t>Les registres d’</a:t>
            </a:r>
            <a:r>
              <a:rPr lang="fr-CA" altLang="fr-FR" sz="1600" i="1">
                <a:solidFill>
                  <a:srgbClr val="FF9900"/>
                </a:solidFill>
              </a:rPr>
              <a:t>état</a:t>
            </a:r>
            <a:r>
              <a:rPr lang="fr-CA" altLang="fr-FR" sz="1600">
                <a:solidFill>
                  <a:schemeClr val="accent1"/>
                </a:solidFill>
              </a:rPr>
              <a:t> servent à présenter des données sur l’état actuel d’un contrôleur.</a:t>
            </a:r>
          </a:p>
          <a:p>
            <a:pPr lvl="1" eaLnBrk="1" hangingPunct="1">
              <a:spcBef>
                <a:spcPct val="0"/>
              </a:spcBef>
              <a:buFont typeface="Wingdings" panose="05000000000000000000" pitchFamily="2" charset="2"/>
              <a:buChar char="§"/>
            </a:pPr>
            <a:r>
              <a:rPr lang="fr-CA" altLang="fr-FR" sz="1600">
                <a:solidFill>
                  <a:schemeClr val="accent1"/>
                </a:solidFill>
              </a:rPr>
              <a:t>Les registres de </a:t>
            </a:r>
            <a:r>
              <a:rPr lang="fr-CA" altLang="fr-FR" sz="1600" i="1">
                <a:solidFill>
                  <a:srgbClr val="FF9900"/>
                </a:solidFill>
              </a:rPr>
              <a:t>données</a:t>
            </a:r>
            <a:r>
              <a:rPr lang="fr-CA" altLang="fr-FR" sz="1600">
                <a:solidFill>
                  <a:schemeClr val="accent1"/>
                </a:solidFill>
              </a:rPr>
              <a:t> servent à lire ou écrire des données dans diverses mémoires internes au contrôleur.</a:t>
            </a:r>
          </a:p>
          <a:p>
            <a:pPr lvl="1" eaLnBrk="1" hangingPunct="1">
              <a:spcBef>
                <a:spcPct val="0"/>
              </a:spcBef>
              <a:buFont typeface="Wingdings" panose="05000000000000000000" pitchFamily="2" charset="2"/>
              <a:buChar char="§"/>
            </a:pPr>
            <a:r>
              <a:rPr lang="fr-CA" altLang="fr-FR" sz="1600">
                <a:solidFill>
                  <a:schemeClr val="accent1"/>
                </a:solidFill>
              </a:rPr>
              <a:t>Les registres d’</a:t>
            </a:r>
            <a:r>
              <a:rPr lang="fr-CA" altLang="fr-FR" sz="1600" i="1">
                <a:solidFill>
                  <a:srgbClr val="FF9900"/>
                </a:solidFill>
              </a:rPr>
              <a:t>index</a:t>
            </a:r>
            <a:r>
              <a:rPr lang="fr-CA" altLang="fr-FR" sz="1600">
                <a:solidFill>
                  <a:schemeClr val="accent1"/>
                </a:solidFill>
              </a:rPr>
              <a:t> servent à indiquer à quel endroit les registres de données vont toucher la mémoire.</a:t>
            </a:r>
          </a:p>
          <a:p>
            <a:pPr lvl="1" eaLnBrk="1" hangingPunct="1">
              <a:spcBef>
                <a:spcPct val="0"/>
              </a:spcBef>
              <a:buFont typeface="Wingdings" panose="05000000000000000000" pitchFamily="2" charset="2"/>
              <a:buChar char="§"/>
            </a:pPr>
            <a:endParaRPr lang="fr-CA" altLang="fr-FR" sz="2000">
              <a:solidFill>
                <a:srgbClr val="FFFF99"/>
              </a:solidFill>
            </a:endParaRPr>
          </a:p>
          <a:p>
            <a:pPr eaLnBrk="1" hangingPunct="1">
              <a:spcBef>
                <a:spcPct val="0"/>
              </a:spcBef>
              <a:buFont typeface="Wingdings" panose="05000000000000000000" pitchFamily="2" charset="2"/>
              <a:buChar char="§"/>
            </a:pPr>
            <a:r>
              <a:rPr lang="fr-CA" altLang="fr-FR" sz="2000">
                <a:solidFill>
                  <a:srgbClr val="FFFF99"/>
                </a:solidFill>
              </a:rPr>
              <a:t>L’ensemble des registres du processeur d’images du NES est associé aux cellules mémoire entre $2000 et $2007 inclusivement.</a:t>
            </a:r>
          </a:p>
          <a:p>
            <a:pPr lvl="1" eaLnBrk="1" hangingPunct="1">
              <a:spcBef>
                <a:spcPct val="0"/>
              </a:spcBef>
              <a:buFont typeface="Wingdings" panose="05000000000000000000" pitchFamily="2" charset="2"/>
              <a:buChar char="§"/>
            </a:pPr>
            <a:r>
              <a:rPr lang="fr-CA" altLang="fr-FR" sz="1600">
                <a:solidFill>
                  <a:schemeClr val="accent1"/>
                </a:solidFill>
              </a:rPr>
              <a:t>$2000 et $2001 sont des registres de </a:t>
            </a:r>
            <a:r>
              <a:rPr lang="fr-CA" altLang="fr-FR" sz="1600">
                <a:solidFill>
                  <a:srgbClr val="FF9900"/>
                </a:solidFill>
              </a:rPr>
              <a:t>contrôle</a:t>
            </a:r>
            <a:r>
              <a:rPr lang="fr-CA" altLang="fr-FR" sz="1600">
                <a:solidFill>
                  <a:schemeClr val="accent1"/>
                </a:solidFill>
              </a:rPr>
              <a:t> qui permettent d’influencer divers aspects du comportement du processeur d’images.</a:t>
            </a:r>
          </a:p>
          <a:p>
            <a:pPr lvl="1" eaLnBrk="1" hangingPunct="1">
              <a:spcBef>
                <a:spcPct val="0"/>
              </a:spcBef>
              <a:buFont typeface="Wingdings" panose="05000000000000000000" pitchFamily="2" charset="2"/>
              <a:buChar char="§"/>
            </a:pPr>
            <a:r>
              <a:rPr lang="fr-CA" altLang="fr-FR" sz="1600">
                <a:solidFill>
                  <a:schemeClr val="accent1"/>
                </a:solidFill>
              </a:rPr>
              <a:t>$2002 et un registre d’</a:t>
            </a:r>
            <a:r>
              <a:rPr lang="fr-CA" altLang="fr-FR" sz="1600">
                <a:solidFill>
                  <a:srgbClr val="FF9900"/>
                </a:solidFill>
              </a:rPr>
              <a:t>état</a:t>
            </a:r>
            <a:r>
              <a:rPr lang="fr-CA" altLang="fr-FR" sz="1600" b="1">
                <a:solidFill>
                  <a:schemeClr val="accent1"/>
                </a:solidFill>
              </a:rPr>
              <a:t> </a:t>
            </a:r>
            <a:r>
              <a:rPr lang="fr-CA" altLang="fr-FR" sz="1600">
                <a:solidFill>
                  <a:schemeClr val="accent1"/>
                </a:solidFill>
              </a:rPr>
              <a:t>qui permet d’obtenir de l’information sur le processeur d’images et son état actuel.</a:t>
            </a:r>
          </a:p>
          <a:p>
            <a:pPr lvl="1" eaLnBrk="1" hangingPunct="1">
              <a:spcBef>
                <a:spcPct val="0"/>
              </a:spcBef>
              <a:buFont typeface="Wingdings" panose="05000000000000000000" pitchFamily="2" charset="2"/>
              <a:buChar char="§"/>
            </a:pPr>
            <a:r>
              <a:rPr lang="fr-CA" altLang="fr-FR" sz="1600">
                <a:solidFill>
                  <a:schemeClr val="accent1"/>
                </a:solidFill>
              </a:rPr>
              <a:t>$2003 et $2004 sont un registre d’</a:t>
            </a:r>
            <a:r>
              <a:rPr lang="fr-CA" altLang="fr-FR" sz="1600">
                <a:solidFill>
                  <a:srgbClr val="FF9900"/>
                </a:solidFill>
              </a:rPr>
              <a:t>index</a:t>
            </a:r>
            <a:r>
              <a:rPr lang="fr-CA" altLang="fr-FR" sz="1600">
                <a:solidFill>
                  <a:schemeClr val="accent1"/>
                </a:solidFill>
              </a:rPr>
              <a:t> et un registre de </a:t>
            </a:r>
            <a:r>
              <a:rPr lang="fr-CA" altLang="fr-FR" sz="1600">
                <a:solidFill>
                  <a:srgbClr val="FF9900"/>
                </a:solidFill>
              </a:rPr>
              <a:t>données</a:t>
            </a:r>
            <a:r>
              <a:rPr lang="fr-CA" altLang="fr-FR" sz="1600">
                <a:solidFill>
                  <a:schemeClr val="accent1"/>
                </a:solidFill>
              </a:rPr>
              <a:t> permettant d’écrire dans la mémoire des sprites (SPR-RAM).</a:t>
            </a:r>
          </a:p>
          <a:p>
            <a:pPr lvl="1" eaLnBrk="1" hangingPunct="1">
              <a:spcBef>
                <a:spcPct val="0"/>
              </a:spcBef>
              <a:buFont typeface="Wingdings" panose="05000000000000000000" pitchFamily="2" charset="2"/>
              <a:buChar char="§"/>
            </a:pPr>
            <a:r>
              <a:rPr lang="fr-CA" altLang="fr-FR" sz="1600">
                <a:solidFill>
                  <a:schemeClr val="accent1"/>
                </a:solidFill>
              </a:rPr>
              <a:t>$2005 est le registre </a:t>
            </a:r>
            <a:r>
              <a:rPr lang="fr-CA" altLang="fr-FR" sz="1600">
                <a:solidFill>
                  <a:srgbClr val="FF9900"/>
                </a:solidFill>
              </a:rPr>
              <a:t>données</a:t>
            </a:r>
            <a:r>
              <a:rPr lang="fr-CA" altLang="fr-FR" sz="1600">
                <a:solidFill>
                  <a:schemeClr val="accent1"/>
                </a:solidFill>
              </a:rPr>
              <a:t> qui contrôle le défilement.</a:t>
            </a:r>
          </a:p>
          <a:p>
            <a:pPr lvl="1" eaLnBrk="1" hangingPunct="1">
              <a:spcBef>
                <a:spcPct val="0"/>
              </a:spcBef>
              <a:buFont typeface="Wingdings" panose="05000000000000000000" pitchFamily="2" charset="2"/>
              <a:buChar char="§"/>
            </a:pPr>
            <a:r>
              <a:rPr lang="fr-CA" altLang="fr-FR" sz="1600">
                <a:solidFill>
                  <a:schemeClr val="accent1"/>
                </a:solidFill>
              </a:rPr>
              <a:t>$2006 et $2007 sont un registre d’</a:t>
            </a:r>
            <a:r>
              <a:rPr lang="fr-CA" altLang="fr-FR" sz="1600">
                <a:solidFill>
                  <a:srgbClr val="FF9900"/>
                </a:solidFill>
              </a:rPr>
              <a:t>index</a:t>
            </a:r>
            <a:r>
              <a:rPr lang="fr-CA" altLang="fr-FR" sz="1600">
                <a:solidFill>
                  <a:schemeClr val="accent1"/>
                </a:solidFill>
              </a:rPr>
              <a:t> et un registre de </a:t>
            </a:r>
            <a:r>
              <a:rPr lang="fr-CA" altLang="fr-FR" sz="1600">
                <a:solidFill>
                  <a:srgbClr val="FF9900"/>
                </a:solidFill>
              </a:rPr>
              <a:t>données</a:t>
            </a:r>
            <a:r>
              <a:rPr lang="fr-CA" altLang="fr-FR" sz="1600">
                <a:solidFill>
                  <a:schemeClr val="accent1"/>
                </a:solidFill>
              </a:rPr>
              <a:t> permettant d’écrire dans la mémoire vidéo.</a:t>
            </a:r>
          </a:p>
          <a:p>
            <a:pPr lvl="1" eaLnBrk="1" hangingPunct="1">
              <a:spcBef>
                <a:spcPct val="0"/>
              </a:spcBef>
              <a:buFont typeface="Wingdings" panose="05000000000000000000" pitchFamily="2" charset="2"/>
              <a:buChar char="§"/>
            </a:pPr>
            <a:endParaRPr lang="en-US" altLang="fr-FR" sz="2400">
              <a:solidFill>
                <a:srgbClr val="FFFF9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8434" name="Text Box 2">
            <a:extLst>
              <a:ext uri="{FF2B5EF4-FFF2-40B4-BE49-F238E27FC236}">
                <a16:creationId xmlns:a16="http://schemas.microsoft.com/office/drawing/2014/main" id="{939D6B77-27BD-A5C0-1B42-F975304E30C8}"/>
              </a:ext>
            </a:extLst>
          </p:cNvPr>
          <p:cNvSpPr txBox="1">
            <a:spLocks noChangeArrowheads="1"/>
          </p:cNvSpPr>
          <p:nvPr/>
        </p:nvSpPr>
        <p:spPr bwMode="auto">
          <a:xfrm>
            <a:off x="5508625" y="4578350"/>
            <a:ext cx="2351088"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Incrémentation d’index lors </a:t>
            </a:r>
          </a:p>
          <a:p>
            <a:pPr algn="ctr" eaLnBrk="1" hangingPunct="1">
              <a:spcBef>
                <a:spcPct val="0"/>
              </a:spcBef>
              <a:buFontTx/>
              <a:buNone/>
            </a:pPr>
            <a:r>
              <a:rPr lang="fr-CA" altLang="fr-FR" sz="1400">
                <a:solidFill>
                  <a:srgbClr val="FFFF99"/>
                </a:solidFill>
              </a:rPr>
              <a:t>d’écritures dans $2007</a:t>
            </a:r>
          </a:p>
          <a:p>
            <a:pPr algn="ctr" eaLnBrk="1" hangingPunct="1">
              <a:spcBef>
                <a:spcPct val="0"/>
              </a:spcBef>
              <a:buFontTx/>
              <a:buNone/>
            </a:pPr>
            <a:r>
              <a:rPr lang="fr-CA" altLang="fr-FR" sz="1400">
                <a:solidFill>
                  <a:srgbClr val="FFFF99"/>
                </a:solidFill>
              </a:rPr>
              <a:t>0 = +1</a:t>
            </a:r>
          </a:p>
          <a:p>
            <a:pPr algn="ctr" eaLnBrk="1" hangingPunct="1">
              <a:spcBef>
                <a:spcPct val="0"/>
              </a:spcBef>
              <a:buFontTx/>
              <a:buNone/>
            </a:pPr>
            <a:r>
              <a:rPr lang="fr-CA" altLang="fr-FR" sz="1400">
                <a:solidFill>
                  <a:srgbClr val="FFFF99"/>
                </a:solidFill>
              </a:rPr>
              <a:t>1 = +32</a:t>
            </a:r>
            <a:endParaRPr lang="en-US" altLang="fr-FR" sz="1400">
              <a:solidFill>
                <a:srgbClr val="FFFF99"/>
              </a:solidFill>
            </a:endParaRPr>
          </a:p>
        </p:txBody>
      </p:sp>
      <p:sp>
        <p:nvSpPr>
          <p:cNvPr id="18435" name="Text Box 3">
            <a:extLst>
              <a:ext uri="{FF2B5EF4-FFF2-40B4-BE49-F238E27FC236}">
                <a16:creationId xmlns:a16="http://schemas.microsoft.com/office/drawing/2014/main" id="{E5615718-C6D6-DB78-A0BE-693321DEA020}"/>
              </a:ext>
            </a:extLst>
          </p:cNvPr>
          <p:cNvSpPr txBox="1">
            <a:spLocks noChangeArrowheads="1"/>
          </p:cNvSpPr>
          <p:nvPr/>
        </p:nvSpPr>
        <p:spPr bwMode="auto">
          <a:xfrm>
            <a:off x="49213" y="3619500"/>
            <a:ext cx="2362200"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Interruption NMI sur VBlank</a:t>
            </a:r>
          </a:p>
          <a:p>
            <a:pPr algn="ctr" eaLnBrk="1" hangingPunct="1">
              <a:spcBef>
                <a:spcPct val="0"/>
              </a:spcBef>
              <a:buFontTx/>
              <a:buNone/>
            </a:pPr>
            <a:r>
              <a:rPr lang="fr-CA" altLang="fr-FR" sz="1400">
                <a:solidFill>
                  <a:srgbClr val="FFFF99"/>
                </a:solidFill>
              </a:rPr>
              <a:t>activée ou non </a:t>
            </a:r>
            <a:endParaRPr lang="en-US" altLang="fr-FR" sz="1400">
              <a:solidFill>
                <a:srgbClr val="FFFF99"/>
              </a:solidFill>
            </a:endParaRPr>
          </a:p>
        </p:txBody>
      </p:sp>
      <p:sp>
        <p:nvSpPr>
          <p:cNvPr id="18436" name="Line 4">
            <a:extLst>
              <a:ext uri="{FF2B5EF4-FFF2-40B4-BE49-F238E27FC236}">
                <a16:creationId xmlns:a16="http://schemas.microsoft.com/office/drawing/2014/main" id="{F0EA5B07-A5B2-FE5F-4614-75DAD7539973}"/>
              </a:ext>
            </a:extLst>
          </p:cNvPr>
          <p:cNvSpPr>
            <a:spLocks noChangeShapeType="1"/>
          </p:cNvSpPr>
          <p:nvPr/>
        </p:nvSpPr>
        <p:spPr bwMode="auto">
          <a:xfrm flipV="1">
            <a:off x="1042988" y="2994025"/>
            <a:ext cx="1079500" cy="5746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37" name="Text Box 5">
            <a:extLst>
              <a:ext uri="{FF2B5EF4-FFF2-40B4-BE49-F238E27FC236}">
                <a16:creationId xmlns:a16="http://schemas.microsoft.com/office/drawing/2014/main" id="{D837B06F-B7EB-F52A-6DDD-6AC3BFFC3F56}"/>
              </a:ext>
            </a:extLst>
          </p:cNvPr>
          <p:cNvSpPr txBox="1">
            <a:spLocks noChangeArrowheads="1"/>
          </p:cNvSpPr>
          <p:nvPr/>
        </p:nvSpPr>
        <p:spPr bwMode="auto">
          <a:xfrm>
            <a:off x="2366963" y="4051300"/>
            <a:ext cx="183832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Grandeur des sprites</a:t>
            </a:r>
          </a:p>
          <a:p>
            <a:pPr algn="ctr" eaLnBrk="1" hangingPunct="1">
              <a:spcBef>
                <a:spcPct val="0"/>
              </a:spcBef>
              <a:buFontTx/>
              <a:buNone/>
            </a:pPr>
            <a:r>
              <a:rPr lang="fr-CA" altLang="fr-FR" sz="1400">
                <a:solidFill>
                  <a:srgbClr val="FFFF99"/>
                </a:solidFill>
              </a:rPr>
              <a:t>0 = 8x8</a:t>
            </a:r>
          </a:p>
          <a:p>
            <a:pPr algn="ctr" eaLnBrk="1" hangingPunct="1">
              <a:spcBef>
                <a:spcPct val="0"/>
              </a:spcBef>
              <a:buFontTx/>
              <a:buNone/>
            </a:pPr>
            <a:r>
              <a:rPr lang="fr-CA" altLang="fr-FR" sz="1400">
                <a:solidFill>
                  <a:srgbClr val="FFFF99"/>
                </a:solidFill>
              </a:rPr>
              <a:t>1 = 8x16</a:t>
            </a:r>
            <a:endParaRPr lang="en-US" altLang="fr-FR" sz="1400">
              <a:solidFill>
                <a:srgbClr val="FFFF99"/>
              </a:solidFill>
            </a:endParaRPr>
          </a:p>
        </p:txBody>
      </p:sp>
      <p:sp>
        <p:nvSpPr>
          <p:cNvPr id="18438" name="Line 6">
            <a:extLst>
              <a:ext uri="{FF2B5EF4-FFF2-40B4-BE49-F238E27FC236}">
                <a16:creationId xmlns:a16="http://schemas.microsoft.com/office/drawing/2014/main" id="{BD11C965-7377-9D9F-91D3-E9A66433E14D}"/>
              </a:ext>
            </a:extLst>
          </p:cNvPr>
          <p:cNvSpPr>
            <a:spLocks noChangeShapeType="1"/>
          </p:cNvSpPr>
          <p:nvPr/>
        </p:nvSpPr>
        <p:spPr bwMode="auto">
          <a:xfrm flipV="1">
            <a:off x="3348038" y="2994025"/>
            <a:ext cx="287337" cy="10080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39" name="Line 7">
            <a:extLst>
              <a:ext uri="{FF2B5EF4-FFF2-40B4-BE49-F238E27FC236}">
                <a16:creationId xmlns:a16="http://schemas.microsoft.com/office/drawing/2014/main" id="{89A475D1-C448-C257-C1B6-5A042ABD9384}"/>
              </a:ext>
            </a:extLst>
          </p:cNvPr>
          <p:cNvSpPr>
            <a:spLocks noChangeShapeType="1"/>
          </p:cNvSpPr>
          <p:nvPr/>
        </p:nvSpPr>
        <p:spPr bwMode="auto">
          <a:xfrm flipH="1" flipV="1">
            <a:off x="5795963" y="2994025"/>
            <a:ext cx="792162" cy="15843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40" name="Text Box 8">
            <a:extLst>
              <a:ext uri="{FF2B5EF4-FFF2-40B4-BE49-F238E27FC236}">
                <a16:creationId xmlns:a16="http://schemas.microsoft.com/office/drawing/2014/main" id="{56F2BD40-3550-7BD8-9FDF-CBCE0C2C842E}"/>
              </a:ext>
            </a:extLst>
          </p:cNvPr>
          <p:cNvSpPr txBox="1">
            <a:spLocks noChangeArrowheads="1"/>
          </p:cNvSpPr>
          <p:nvPr/>
        </p:nvSpPr>
        <p:spPr bwMode="auto">
          <a:xfrm>
            <a:off x="1633538" y="4433888"/>
            <a:ext cx="1033462"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Bit inutilisé</a:t>
            </a:r>
          </a:p>
          <a:p>
            <a:pPr algn="ctr" eaLnBrk="1" hangingPunct="1">
              <a:spcBef>
                <a:spcPct val="0"/>
              </a:spcBef>
              <a:buFontTx/>
              <a:buNone/>
            </a:pPr>
            <a:r>
              <a:rPr lang="fr-CA" altLang="fr-FR" sz="1400">
                <a:solidFill>
                  <a:srgbClr val="FFFF99"/>
                </a:solidFill>
              </a:rPr>
              <a:t> (fixé à 0)</a:t>
            </a:r>
            <a:endParaRPr lang="en-US" altLang="fr-FR" sz="1400">
              <a:solidFill>
                <a:srgbClr val="FFFF99"/>
              </a:solidFill>
            </a:endParaRPr>
          </a:p>
        </p:txBody>
      </p:sp>
      <p:sp>
        <p:nvSpPr>
          <p:cNvPr id="18441" name="Line 9">
            <a:extLst>
              <a:ext uri="{FF2B5EF4-FFF2-40B4-BE49-F238E27FC236}">
                <a16:creationId xmlns:a16="http://schemas.microsoft.com/office/drawing/2014/main" id="{B2DC0D20-5F85-7DCF-9F63-9EE49B1E9225}"/>
              </a:ext>
            </a:extLst>
          </p:cNvPr>
          <p:cNvSpPr>
            <a:spLocks noChangeShapeType="1"/>
          </p:cNvSpPr>
          <p:nvPr/>
        </p:nvSpPr>
        <p:spPr bwMode="auto">
          <a:xfrm flipV="1">
            <a:off x="2268538" y="2922588"/>
            <a:ext cx="574675" cy="13684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42" name="Text Box 10">
            <a:extLst>
              <a:ext uri="{FF2B5EF4-FFF2-40B4-BE49-F238E27FC236}">
                <a16:creationId xmlns:a16="http://schemas.microsoft.com/office/drawing/2014/main" id="{9503F8AF-0C61-A995-A73C-A707701C9EC9}"/>
              </a:ext>
            </a:extLst>
          </p:cNvPr>
          <p:cNvSpPr txBox="1">
            <a:spLocks noChangeArrowheads="1"/>
          </p:cNvSpPr>
          <p:nvPr/>
        </p:nvSpPr>
        <p:spPr bwMode="auto">
          <a:xfrm>
            <a:off x="6565900" y="3930650"/>
            <a:ext cx="2459038"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Numéro de la table de noms </a:t>
            </a:r>
          </a:p>
          <a:p>
            <a:pPr algn="ctr" eaLnBrk="1" hangingPunct="1">
              <a:spcBef>
                <a:spcPct val="0"/>
              </a:spcBef>
              <a:buFontTx/>
              <a:buNone/>
            </a:pPr>
            <a:r>
              <a:rPr lang="fr-CA" altLang="fr-FR" sz="1400">
                <a:solidFill>
                  <a:srgbClr val="FFFF99"/>
                </a:solidFill>
              </a:rPr>
              <a:t>affichée (2 bits)</a:t>
            </a:r>
            <a:endParaRPr lang="en-US" altLang="fr-FR" sz="1400">
              <a:solidFill>
                <a:srgbClr val="FFFF99"/>
              </a:solidFill>
            </a:endParaRPr>
          </a:p>
        </p:txBody>
      </p:sp>
      <p:sp>
        <p:nvSpPr>
          <p:cNvPr id="18443" name="Line 11">
            <a:extLst>
              <a:ext uri="{FF2B5EF4-FFF2-40B4-BE49-F238E27FC236}">
                <a16:creationId xmlns:a16="http://schemas.microsoft.com/office/drawing/2014/main" id="{04ADF140-9A3F-172F-7579-C5B751DF6350}"/>
              </a:ext>
            </a:extLst>
          </p:cNvPr>
          <p:cNvSpPr>
            <a:spLocks noChangeShapeType="1"/>
          </p:cNvSpPr>
          <p:nvPr/>
        </p:nvSpPr>
        <p:spPr bwMode="auto">
          <a:xfrm flipH="1" flipV="1">
            <a:off x="7092950" y="3138488"/>
            <a:ext cx="358775" cy="719137"/>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44" name="Line 12">
            <a:extLst>
              <a:ext uri="{FF2B5EF4-FFF2-40B4-BE49-F238E27FC236}">
                <a16:creationId xmlns:a16="http://schemas.microsoft.com/office/drawing/2014/main" id="{EADA939D-F667-C501-F258-3B02935B5F46}"/>
              </a:ext>
            </a:extLst>
          </p:cNvPr>
          <p:cNvSpPr>
            <a:spLocks noChangeShapeType="1"/>
          </p:cNvSpPr>
          <p:nvPr/>
        </p:nvSpPr>
        <p:spPr bwMode="auto">
          <a:xfrm>
            <a:off x="6300788" y="3065463"/>
            <a:ext cx="1366837" cy="0"/>
          </a:xfrm>
          <a:prstGeom prst="line">
            <a:avLst/>
          </a:prstGeom>
          <a:noFill/>
          <a:ln w="28575">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8445" name="Text Box 13">
            <a:extLst>
              <a:ext uri="{FF2B5EF4-FFF2-40B4-BE49-F238E27FC236}">
                <a16:creationId xmlns:a16="http://schemas.microsoft.com/office/drawing/2014/main" id="{69DC6A8A-15C7-376D-B051-C562D7B94738}"/>
              </a:ext>
            </a:extLst>
          </p:cNvPr>
          <p:cNvSpPr txBox="1">
            <a:spLocks noChangeArrowheads="1"/>
          </p:cNvSpPr>
          <p:nvPr/>
        </p:nvSpPr>
        <p:spPr bwMode="auto">
          <a:xfrm>
            <a:off x="3155950" y="1698625"/>
            <a:ext cx="28082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$2000</a:t>
            </a:r>
          </a:p>
          <a:p>
            <a:pPr algn="ctr" eaLnBrk="1" hangingPunct="1">
              <a:spcBef>
                <a:spcPct val="0"/>
              </a:spcBef>
              <a:buFontTx/>
              <a:buNone/>
            </a:pPr>
            <a:r>
              <a:rPr lang="fr-CA" altLang="fr-FR" sz="2000">
                <a:solidFill>
                  <a:srgbClr val="FFFF99"/>
                </a:solidFill>
              </a:rPr>
              <a:t>Registre de contrôle #1</a:t>
            </a:r>
            <a:endParaRPr lang="en-US" altLang="fr-FR" sz="2000">
              <a:solidFill>
                <a:srgbClr val="FFFF99"/>
              </a:solidFill>
            </a:endParaRPr>
          </a:p>
        </p:txBody>
      </p:sp>
      <p:sp>
        <p:nvSpPr>
          <p:cNvPr id="18446" name="Rectangle 14">
            <a:extLst>
              <a:ext uri="{FF2B5EF4-FFF2-40B4-BE49-F238E27FC236}">
                <a16:creationId xmlns:a16="http://schemas.microsoft.com/office/drawing/2014/main" id="{E6FEC26F-25DB-2CE3-D5A5-34C76A91F68F}"/>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18447" name="Text Box 15">
            <a:extLst>
              <a:ext uri="{FF2B5EF4-FFF2-40B4-BE49-F238E27FC236}">
                <a16:creationId xmlns:a16="http://schemas.microsoft.com/office/drawing/2014/main" id="{F9AC52FF-68C7-C341-22A1-031664785C89}"/>
              </a:ext>
            </a:extLst>
          </p:cNvPr>
          <p:cNvSpPr txBox="1">
            <a:spLocks noChangeArrowheads="1"/>
          </p:cNvSpPr>
          <p:nvPr/>
        </p:nvSpPr>
        <p:spPr bwMode="auto">
          <a:xfrm>
            <a:off x="3643313" y="908050"/>
            <a:ext cx="1797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Registres du PPU</a:t>
            </a:r>
            <a:endParaRPr lang="en-US" altLang="fr-FR" sz="1600" u="sng">
              <a:solidFill>
                <a:srgbClr val="FF9900"/>
              </a:solidFill>
            </a:endParaRPr>
          </a:p>
        </p:txBody>
      </p:sp>
      <p:pic>
        <p:nvPicPr>
          <p:cNvPr id="18448" name="Picture 16" descr="21">
            <a:extLst>
              <a:ext uri="{FF2B5EF4-FFF2-40B4-BE49-F238E27FC236}">
                <a16:creationId xmlns:a16="http://schemas.microsoft.com/office/drawing/2014/main" id="{50015A4D-B0AC-8C8B-5021-53EB11042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9" name="Picture 17" descr="21">
            <a:extLst>
              <a:ext uri="{FF2B5EF4-FFF2-40B4-BE49-F238E27FC236}">
                <a16:creationId xmlns:a16="http://schemas.microsoft.com/office/drawing/2014/main" id="{7D6ADC43-C8E4-40FC-3422-29B945F97E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4770" name="Group 18">
            <a:extLst>
              <a:ext uri="{FF2B5EF4-FFF2-40B4-BE49-F238E27FC236}">
                <a16:creationId xmlns:a16="http://schemas.microsoft.com/office/drawing/2014/main" id="{2DA1EE4A-F04F-D0C8-D278-044DD17CA2B9}"/>
              </a:ext>
            </a:extLst>
          </p:cNvPr>
          <p:cNvGraphicFramePr>
            <a:graphicFrameLocks noGrp="1"/>
          </p:cNvGraphicFramePr>
          <p:nvPr/>
        </p:nvGraphicFramePr>
        <p:xfrm>
          <a:off x="1692275" y="2417763"/>
          <a:ext cx="6026150" cy="517525"/>
        </p:xfrm>
        <a:graphic>
          <a:graphicData uri="http://schemas.openxmlformats.org/drawingml/2006/table">
            <a:tbl>
              <a:tblPr/>
              <a:tblGrid>
                <a:gridCol w="754063">
                  <a:extLst>
                    <a:ext uri="{9D8B030D-6E8A-4147-A177-3AD203B41FA5}">
                      <a16:colId xmlns:a16="http://schemas.microsoft.com/office/drawing/2014/main" val="20000"/>
                    </a:ext>
                  </a:extLst>
                </a:gridCol>
                <a:gridCol w="754062">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52475">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52475">
                  <a:extLst>
                    <a:ext uri="{9D8B030D-6E8A-4147-A177-3AD203B41FA5}">
                      <a16:colId xmlns:a16="http://schemas.microsoft.com/office/drawing/2014/main" val="20005"/>
                    </a:ext>
                  </a:extLst>
                </a:gridCol>
                <a:gridCol w="754063">
                  <a:extLst>
                    <a:ext uri="{9D8B030D-6E8A-4147-A177-3AD203B41FA5}">
                      <a16:colId xmlns:a16="http://schemas.microsoft.com/office/drawing/2014/main" val="20006"/>
                    </a:ext>
                  </a:extLst>
                </a:gridCol>
                <a:gridCol w="754062">
                  <a:extLst>
                    <a:ext uri="{9D8B030D-6E8A-4147-A177-3AD203B41FA5}">
                      <a16:colId xmlns:a16="http://schemas.microsoft.com/office/drawing/2014/main" val="20007"/>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int</a:t>
                      </a:r>
                      <a:endParaRPr kumimoji="0" lang="en-US" sz="2800" b="0" i="0" u="none" strike="noStrike" cap="none" normalizeH="0" baseline="0">
                        <a:ln>
                          <a:noFill/>
                        </a:ln>
                        <a:solidFill>
                          <a:schemeClr val="tx1"/>
                        </a:solidFill>
                        <a:effectLst/>
                        <a:latin typeface="Arial" charset="0"/>
                      </a:endParaRP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0</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ss</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bp</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sp</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inc</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nt</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nt</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18470" name="Line 38">
            <a:extLst>
              <a:ext uri="{FF2B5EF4-FFF2-40B4-BE49-F238E27FC236}">
                <a16:creationId xmlns:a16="http://schemas.microsoft.com/office/drawing/2014/main" id="{5C7D7683-2332-405F-486B-639316AA3489}"/>
              </a:ext>
            </a:extLst>
          </p:cNvPr>
          <p:cNvSpPr>
            <a:spLocks noChangeShapeType="1"/>
          </p:cNvSpPr>
          <p:nvPr/>
        </p:nvSpPr>
        <p:spPr bwMode="auto">
          <a:xfrm flipV="1">
            <a:off x="4067175" y="3209925"/>
            <a:ext cx="288925" cy="18716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71" name="Text Box 39">
            <a:extLst>
              <a:ext uri="{FF2B5EF4-FFF2-40B4-BE49-F238E27FC236}">
                <a16:creationId xmlns:a16="http://schemas.microsoft.com/office/drawing/2014/main" id="{A39E8BB6-A46B-73F4-27B5-98788718E0C0}"/>
              </a:ext>
            </a:extLst>
          </p:cNvPr>
          <p:cNvSpPr txBox="1">
            <a:spLocks noChangeArrowheads="1"/>
          </p:cNvSpPr>
          <p:nvPr/>
        </p:nvSpPr>
        <p:spPr bwMode="auto">
          <a:xfrm>
            <a:off x="2459038" y="5143500"/>
            <a:ext cx="2547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Numéro de table de schémas </a:t>
            </a:r>
          </a:p>
          <a:p>
            <a:pPr algn="ctr" eaLnBrk="1" hangingPunct="1">
              <a:spcBef>
                <a:spcPct val="0"/>
              </a:spcBef>
              <a:buFontTx/>
              <a:buNone/>
            </a:pPr>
            <a:r>
              <a:rPr lang="fr-CA" altLang="fr-FR" sz="1400">
                <a:solidFill>
                  <a:srgbClr val="FFFF99"/>
                </a:solidFill>
              </a:rPr>
              <a:t>pour l’arrière-plan</a:t>
            </a:r>
            <a:endParaRPr lang="en-US" altLang="fr-FR" sz="1400">
              <a:solidFill>
                <a:srgbClr val="FFFF99"/>
              </a:solidFill>
            </a:endParaRPr>
          </a:p>
        </p:txBody>
      </p:sp>
      <p:sp>
        <p:nvSpPr>
          <p:cNvPr id="18472" name="Line 40">
            <a:extLst>
              <a:ext uri="{FF2B5EF4-FFF2-40B4-BE49-F238E27FC236}">
                <a16:creationId xmlns:a16="http://schemas.microsoft.com/office/drawing/2014/main" id="{2978A609-AF00-5E1D-6850-7D2A10E8C6EF}"/>
              </a:ext>
            </a:extLst>
          </p:cNvPr>
          <p:cNvSpPr>
            <a:spLocks noChangeShapeType="1"/>
          </p:cNvSpPr>
          <p:nvPr/>
        </p:nvSpPr>
        <p:spPr bwMode="auto">
          <a:xfrm flipH="1" flipV="1">
            <a:off x="5149850" y="2994025"/>
            <a:ext cx="358775" cy="25955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8473" name="Text Box 41">
            <a:extLst>
              <a:ext uri="{FF2B5EF4-FFF2-40B4-BE49-F238E27FC236}">
                <a16:creationId xmlns:a16="http://schemas.microsoft.com/office/drawing/2014/main" id="{13959031-0814-5BC8-FE1E-535239B80A9D}"/>
              </a:ext>
            </a:extLst>
          </p:cNvPr>
          <p:cNvSpPr txBox="1">
            <a:spLocks noChangeArrowheads="1"/>
          </p:cNvSpPr>
          <p:nvPr/>
        </p:nvSpPr>
        <p:spPr bwMode="auto">
          <a:xfrm>
            <a:off x="4427538" y="5648325"/>
            <a:ext cx="2547937"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Numéro de table de schémas </a:t>
            </a:r>
          </a:p>
          <a:p>
            <a:pPr algn="ctr" eaLnBrk="1" hangingPunct="1">
              <a:spcBef>
                <a:spcPct val="0"/>
              </a:spcBef>
              <a:buFontTx/>
              <a:buNone/>
            </a:pPr>
            <a:r>
              <a:rPr lang="fr-CA" altLang="fr-FR" sz="1400">
                <a:solidFill>
                  <a:srgbClr val="FFFF99"/>
                </a:solidFill>
              </a:rPr>
              <a:t>pour les sprites</a:t>
            </a:r>
            <a:endParaRPr lang="en-US" altLang="fr-FR" sz="1400">
              <a:solidFill>
                <a:srgbClr val="FFFF9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9458" name="Text Box 2">
            <a:extLst>
              <a:ext uri="{FF2B5EF4-FFF2-40B4-BE49-F238E27FC236}">
                <a16:creationId xmlns:a16="http://schemas.microsoft.com/office/drawing/2014/main" id="{A0E3B68D-4D87-A934-3433-BBB412606A2B}"/>
              </a:ext>
            </a:extLst>
          </p:cNvPr>
          <p:cNvSpPr txBox="1">
            <a:spLocks noChangeArrowheads="1"/>
          </p:cNvSpPr>
          <p:nvPr/>
        </p:nvSpPr>
        <p:spPr bwMode="auto">
          <a:xfrm>
            <a:off x="7518400" y="4652963"/>
            <a:ext cx="15176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Type d’affichage</a:t>
            </a:r>
          </a:p>
          <a:p>
            <a:pPr algn="ctr" eaLnBrk="1" hangingPunct="1">
              <a:spcBef>
                <a:spcPct val="0"/>
              </a:spcBef>
              <a:buFontTx/>
              <a:buNone/>
            </a:pPr>
            <a:r>
              <a:rPr lang="fr-CA" altLang="fr-FR" sz="1400">
                <a:solidFill>
                  <a:srgbClr val="FFFF99"/>
                </a:solidFill>
              </a:rPr>
              <a:t>0 = couleur</a:t>
            </a:r>
          </a:p>
          <a:p>
            <a:pPr algn="ctr" eaLnBrk="1" hangingPunct="1">
              <a:spcBef>
                <a:spcPct val="0"/>
              </a:spcBef>
              <a:buFontTx/>
              <a:buNone/>
            </a:pPr>
            <a:r>
              <a:rPr lang="fr-CA" altLang="fr-FR" sz="1400">
                <a:solidFill>
                  <a:srgbClr val="FFFF99"/>
                </a:solidFill>
              </a:rPr>
              <a:t>1 = monochrome</a:t>
            </a:r>
            <a:endParaRPr lang="en-US" altLang="fr-FR" sz="1400">
              <a:solidFill>
                <a:srgbClr val="FFFF99"/>
              </a:solidFill>
            </a:endParaRPr>
          </a:p>
        </p:txBody>
      </p:sp>
      <p:sp>
        <p:nvSpPr>
          <p:cNvPr id="19459" name="Text Box 3">
            <a:extLst>
              <a:ext uri="{FF2B5EF4-FFF2-40B4-BE49-F238E27FC236}">
                <a16:creationId xmlns:a16="http://schemas.microsoft.com/office/drawing/2014/main" id="{81E3FD7F-8477-C22D-8FC8-F83BB55321AA}"/>
              </a:ext>
            </a:extLst>
          </p:cNvPr>
          <p:cNvSpPr txBox="1">
            <a:spLocks noChangeArrowheads="1"/>
          </p:cNvSpPr>
          <p:nvPr/>
        </p:nvSpPr>
        <p:spPr bwMode="auto">
          <a:xfrm>
            <a:off x="720725" y="4652963"/>
            <a:ext cx="17430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Visibilité des sprites</a:t>
            </a:r>
          </a:p>
          <a:p>
            <a:pPr algn="ctr" eaLnBrk="1" hangingPunct="1">
              <a:spcBef>
                <a:spcPct val="0"/>
              </a:spcBef>
              <a:buFontTx/>
              <a:buNone/>
            </a:pPr>
            <a:r>
              <a:rPr lang="fr-CA" altLang="fr-FR" sz="1400">
                <a:solidFill>
                  <a:srgbClr val="FFFF99"/>
                </a:solidFill>
              </a:rPr>
              <a:t>0 = invisibles</a:t>
            </a:r>
          </a:p>
          <a:p>
            <a:pPr algn="ctr" eaLnBrk="1" hangingPunct="1">
              <a:spcBef>
                <a:spcPct val="0"/>
              </a:spcBef>
              <a:buFontTx/>
              <a:buNone/>
            </a:pPr>
            <a:r>
              <a:rPr lang="fr-CA" altLang="fr-FR" sz="1400">
                <a:solidFill>
                  <a:srgbClr val="FFFF99"/>
                </a:solidFill>
              </a:rPr>
              <a:t>1 = visibles</a:t>
            </a:r>
            <a:endParaRPr lang="en-US" altLang="fr-FR" sz="1400">
              <a:solidFill>
                <a:srgbClr val="FFFF99"/>
              </a:solidFill>
            </a:endParaRPr>
          </a:p>
        </p:txBody>
      </p:sp>
      <p:sp>
        <p:nvSpPr>
          <p:cNvPr id="19460" name="Line 4">
            <a:extLst>
              <a:ext uri="{FF2B5EF4-FFF2-40B4-BE49-F238E27FC236}">
                <a16:creationId xmlns:a16="http://schemas.microsoft.com/office/drawing/2014/main" id="{892132ED-0E94-AA30-5731-7C0079CC1796}"/>
              </a:ext>
            </a:extLst>
          </p:cNvPr>
          <p:cNvSpPr>
            <a:spLocks noChangeShapeType="1"/>
          </p:cNvSpPr>
          <p:nvPr/>
        </p:nvSpPr>
        <p:spPr bwMode="auto">
          <a:xfrm flipV="1">
            <a:off x="1908175" y="2997200"/>
            <a:ext cx="2590800" cy="15843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61" name="Text Box 5">
            <a:extLst>
              <a:ext uri="{FF2B5EF4-FFF2-40B4-BE49-F238E27FC236}">
                <a16:creationId xmlns:a16="http://schemas.microsoft.com/office/drawing/2014/main" id="{732C91D7-9920-FD50-124D-EBCB22B6F9E0}"/>
              </a:ext>
            </a:extLst>
          </p:cNvPr>
          <p:cNvSpPr txBox="1">
            <a:spLocks noChangeArrowheads="1"/>
          </p:cNvSpPr>
          <p:nvPr/>
        </p:nvSpPr>
        <p:spPr bwMode="auto">
          <a:xfrm>
            <a:off x="6300788" y="5516563"/>
            <a:ext cx="20351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Cacher l’arrière-plan </a:t>
            </a:r>
          </a:p>
          <a:p>
            <a:pPr algn="ctr" eaLnBrk="1" hangingPunct="1">
              <a:spcBef>
                <a:spcPct val="0"/>
              </a:spcBef>
              <a:buFontTx/>
              <a:buNone/>
            </a:pPr>
            <a:r>
              <a:rPr lang="fr-CA" altLang="fr-FR" sz="1400">
                <a:solidFill>
                  <a:srgbClr val="FFFF99"/>
                </a:solidFill>
              </a:rPr>
              <a:t>sur la première colonne</a:t>
            </a:r>
          </a:p>
          <a:p>
            <a:pPr algn="ctr" eaLnBrk="1" hangingPunct="1">
              <a:spcBef>
                <a:spcPct val="0"/>
              </a:spcBef>
              <a:buFontTx/>
              <a:buNone/>
            </a:pPr>
            <a:r>
              <a:rPr lang="fr-CA" altLang="fr-FR" sz="1400">
                <a:solidFill>
                  <a:srgbClr val="FFFF99"/>
                </a:solidFill>
              </a:rPr>
              <a:t>0 = oui</a:t>
            </a:r>
          </a:p>
          <a:p>
            <a:pPr algn="ctr" eaLnBrk="1" hangingPunct="1">
              <a:spcBef>
                <a:spcPct val="0"/>
              </a:spcBef>
              <a:buFontTx/>
              <a:buNone/>
            </a:pPr>
            <a:r>
              <a:rPr lang="fr-CA" altLang="fr-FR" sz="1400">
                <a:solidFill>
                  <a:srgbClr val="FFFF99"/>
                </a:solidFill>
              </a:rPr>
              <a:t>1 = non</a:t>
            </a:r>
            <a:endParaRPr lang="en-US" altLang="fr-FR" sz="1400">
              <a:solidFill>
                <a:srgbClr val="FFFF99"/>
              </a:solidFill>
            </a:endParaRPr>
          </a:p>
        </p:txBody>
      </p:sp>
      <p:sp>
        <p:nvSpPr>
          <p:cNvPr id="19462" name="Line 6">
            <a:extLst>
              <a:ext uri="{FF2B5EF4-FFF2-40B4-BE49-F238E27FC236}">
                <a16:creationId xmlns:a16="http://schemas.microsoft.com/office/drawing/2014/main" id="{9E5FF8A2-7799-FACE-0855-1887DE118811}"/>
              </a:ext>
            </a:extLst>
          </p:cNvPr>
          <p:cNvSpPr>
            <a:spLocks noChangeShapeType="1"/>
          </p:cNvSpPr>
          <p:nvPr/>
        </p:nvSpPr>
        <p:spPr bwMode="auto">
          <a:xfrm flipV="1">
            <a:off x="5148263" y="2997200"/>
            <a:ext cx="863600" cy="25193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63" name="Line 7">
            <a:extLst>
              <a:ext uri="{FF2B5EF4-FFF2-40B4-BE49-F238E27FC236}">
                <a16:creationId xmlns:a16="http://schemas.microsoft.com/office/drawing/2014/main" id="{F51751C5-0F8C-C9C0-1ED8-2330487AED9A}"/>
              </a:ext>
            </a:extLst>
          </p:cNvPr>
          <p:cNvSpPr>
            <a:spLocks noChangeShapeType="1"/>
          </p:cNvSpPr>
          <p:nvPr/>
        </p:nvSpPr>
        <p:spPr bwMode="auto">
          <a:xfrm flipH="1" flipV="1">
            <a:off x="7524750" y="2997200"/>
            <a:ext cx="792163" cy="158432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64" name="Text Box 8">
            <a:extLst>
              <a:ext uri="{FF2B5EF4-FFF2-40B4-BE49-F238E27FC236}">
                <a16:creationId xmlns:a16="http://schemas.microsoft.com/office/drawing/2014/main" id="{C8EBEC4E-2CAD-5B67-B168-FD96EF3E4D29}"/>
              </a:ext>
            </a:extLst>
          </p:cNvPr>
          <p:cNvSpPr txBox="1">
            <a:spLocks noChangeArrowheads="1"/>
          </p:cNvSpPr>
          <p:nvPr/>
        </p:nvSpPr>
        <p:spPr bwMode="auto">
          <a:xfrm>
            <a:off x="0" y="3500438"/>
            <a:ext cx="19669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Couleur du fond </a:t>
            </a:r>
          </a:p>
          <a:p>
            <a:pPr algn="ctr" eaLnBrk="1" hangingPunct="1">
              <a:spcBef>
                <a:spcPct val="0"/>
              </a:spcBef>
              <a:buFontTx/>
              <a:buNone/>
            </a:pPr>
            <a:r>
              <a:rPr lang="fr-CA" altLang="fr-FR" sz="1400">
                <a:solidFill>
                  <a:srgbClr val="FFFF99"/>
                </a:solidFill>
              </a:rPr>
              <a:t>d’écran ou intensité </a:t>
            </a:r>
          </a:p>
          <a:p>
            <a:pPr algn="ctr" eaLnBrk="1" hangingPunct="1">
              <a:spcBef>
                <a:spcPct val="0"/>
              </a:spcBef>
              <a:buFontTx/>
              <a:buNone/>
            </a:pPr>
            <a:r>
              <a:rPr lang="fr-CA" altLang="fr-FR" sz="1400">
                <a:solidFill>
                  <a:srgbClr val="FFFF99"/>
                </a:solidFill>
              </a:rPr>
              <a:t>des couleurs primaires</a:t>
            </a:r>
            <a:endParaRPr lang="en-US" altLang="fr-FR" sz="1400">
              <a:solidFill>
                <a:srgbClr val="FFFF99"/>
              </a:solidFill>
            </a:endParaRPr>
          </a:p>
        </p:txBody>
      </p:sp>
      <p:sp>
        <p:nvSpPr>
          <p:cNvPr id="19465" name="Line 9">
            <a:extLst>
              <a:ext uri="{FF2B5EF4-FFF2-40B4-BE49-F238E27FC236}">
                <a16:creationId xmlns:a16="http://schemas.microsoft.com/office/drawing/2014/main" id="{004E2B8C-4B58-661B-6FFE-6250CEB97235}"/>
              </a:ext>
            </a:extLst>
          </p:cNvPr>
          <p:cNvSpPr>
            <a:spLocks noChangeShapeType="1"/>
          </p:cNvSpPr>
          <p:nvPr/>
        </p:nvSpPr>
        <p:spPr bwMode="auto">
          <a:xfrm flipV="1">
            <a:off x="1835150" y="3138488"/>
            <a:ext cx="1225550" cy="577850"/>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66" name="Line 10">
            <a:extLst>
              <a:ext uri="{FF2B5EF4-FFF2-40B4-BE49-F238E27FC236}">
                <a16:creationId xmlns:a16="http://schemas.microsoft.com/office/drawing/2014/main" id="{6CA91CAD-1258-AB9D-4EF3-33B40A967539}"/>
              </a:ext>
            </a:extLst>
          </p:cNvPr>
          <p:cNvSpPr>
            <a:spLocks noChangeShapeType="1"/>
          </p:cNvSpPr>
          <p:nvPr/>
        </p:nvSpPr>
        <p:spPr bwMode="auto">
          <a:xfrm flipV="1">
            <a:off x="1979613" y="3068638"/>
            <a:ext cx="1871662" cy="0"/>
          </a:xfrm>
          <a:prstGeom prst="line">
            <a:avLst/>
          </a:prstGeom>
          <a:noFill/>
          <a:ln w="28575">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19467" name="Text Box 11">
            <a:extLst>
              <a:ext uri="{FF2B5EF4-FFF2-40B4-BE49-F238E27FC236}">
                <a16:creationId xmlns:a16="http://schemas.microsoft.com/office/drawing/2014/main" id="{76B648FD-CE2E-E753-ED4E-57837D9FC1CB}"/>
              </a:ext>
            </a:extLst>
          </p:cNvPr>
          <p:cNvSpPr txBox="1">
            <a:spLocks noChangeArrowheads="1"/>
          </p:cNvSpPr>
          <p:nvPr/>
        </p:nvSpPr>
        <p:spPr bwMode="auto">
          <a:xfrm>
            <a:off x="3348038" y="1698625"/>
            <a:ext cx="2808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$2001</a:t>
            </a:r>
          </a:p>
          <a:p>
            <a:pPr algn="ctr" eaLnBrk="1" hangingPunct="1">
              <a:spcBef>
                <a:spcPct val="0"/>
              </a:spcBef>
              <a:buFontTx/>
              <a:buNone/>
            </a:pPr>
            <a:r>
              <a:rPr lang="fr-CA" altLang="fr-FR" sz="2000">
                <a:solidFill>
                  <a:srgbClr val="FFFF99"/>
                </a:solidFill>
              </a:rPr>
              <a:t>Registre de contrôle #2</a:t>
            </a:r>
            <a:endParaRPr lang="en-US" altLang="fr-FR" sz="2000">
              <a:solidFill>
                <a:srgbClr val="FFFF99"/>
              </a:solidFill>
            </a:endParaRPr>
          </a:p>
        </p:txBody>
      </p:sp>
      <p:sp>
        <p:nvSpPr>
          <p:cNvPr id="19468" name="Rectangle 12">
            <a:extLst>
              <a:ext uri="{FF2B5EF4-FFF2-40B4-BE49-F238E27FC236}">
                <a16:creationId xmlns:a16="http://schemas.microsoft.com/office/drawing/2014/main" id="{4DF22E47-1836-EC54-DF83-7F88D01FEE06}"/>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19469" name="Text Box 13">
            <a:extLst>
              <a:ext uri="{FF2B5EF4-FFF2-40B4-BE49-F238E27FC236}">
                <a16:creationId xmlns:a16="http://schemas.microsoft.com/office/drawing/2014/main" id="{392F2D0B-D66F-853D-0681-110264106BF7}"/>
              </a:ext>
            </a:extLst>
          </p:cNvPr>
          <p:cNvSpPr txBox="1">
            <a:spLocks noChangeArrowheads="1"/>
          </p:cNvSpPr>
          <p:nvPr/>
        </p:nvSpPr>
        <p:spPr bwMode="auto">
          <a:xfrm>
            <a:off x="3643313" y="908050"/>
            <a:ext cx="1797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Registres du PPU</a:t>
            </a:r>
            <a:endParaRPr lang="en-US" altLang="fr-FR" sz="1600" u="sng">
              <a:solidFill>
                <a:srgbClr val="FF9900"/>
              </a:solidFill>
            </a:endParaRPr>
          </a:p>
        </p:txBody>
      </p:sp>
      <p:pic>
        <p:nvPicPr>
          <p:cNvPr id="19470" name="Picture 14" descr="21">
            <a:extLst>
              <a:ext uri="{FF2B5EF4-FFF2-40B4-BE49-F238E27FC236}">
                <a16:creationId xmlns:a16="http://schemas.microsoft.com/office/drawing/2014/main" id="{735D98A2-BC84-46F3-1EBE-493AAF433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71" name="Picture 15" descr="21">
            <a:extLst>
              <a:ext uri="{FF2B5EF4-FFF2-40B4-BE49-F238E27FC236}">
                <a16:creationId xmlns:a16="http://schemas.microsoft.com/office/drawing/2014/main" id="{55C263B3-EE99-59ED-B3EF-6E7BBF1BCA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5792" name="Group 16">
            <a:extLst>
              <a:ext uri="{FF2B5EF4-FFF2-40B4-BE49-F238E27FC236}">
                <a16:creationId xmlns:a16="http://schemas.microsoft.com/office/drawing/2014/main" id="{3D752B00-7512-ACB3-4381-15564C4FBB38}"/>
              </a:ext>
            </a:extLst>
          </p:cNvPr>
          <p:cNvGraphicFramePr>
            <a:graphicFrameLocks noGrp="1"/>
          </p:cNvGraphicFramePr>
          <p:nvPr/>
        </p:nvGraphicFramePr>
        <p:xfrm>
          <a:off x="1692275" y="2417763"/>
          <a:ext cx="6264275" cy="517525"/>
        </p:xfrm>
        <a:graphic>
          <a:graphicData uri="http://schemas.openxmlformats.org/drawingml/2006/table">
            <a:tbl>
              <a:tblPr/>
              <a:tblGrid>
                <a:gridCol w="784225">
                  <a:extLst>
                    <a:ext uri="{9D8B030D-6E8A-4147-A177-3AD203B41FA5}">
                      <a16:colId xmlns:a16="http://schemas.microsoft.com/office/drawing/2014/main" val="20000"/>
                    </a:ext>
                  </a:extLst>
                </a:gridCol>
                <a:gridCol w="784225">
                  <a:extLst>
                    <a:ext uri="{9D8B030D-6E8A-4147-A177-3AD203B41FA5}">
                      <a16:colId xmlns:a16="http://schemas.microsoft.com/office/drawing/2014/main" val="20001"/>
                    </a:ext>
                  </a:extLst>
                </a:gridCol>
                <a:gridCol w="781050">
                  <a:extLst>
                    <a:ext uri="{9D8B030D-6E8A-4147-A177-3AD203B41FA5}">
                      <a16:colId xmlns:a16="http://schemas.microsoft.com/office/drawing/2014/main" val="20002"/>
                    </a:ext>
                  </a:extLst>
                </a:gridCol>
                <a:gridCol w="782638">
                  <a:extLst>
                    <a:ext uri="{9D8B030D-6E8A-4147-A177-3AD203B41FA5}">
                      <a16:colId xmlns:a16="http://schemas.microsoft.com/office/drawing/2014/main" val="20003"/>
                    </a:ext>
                  </a:extLst>
                </a:gridCol>
                <a:gridCol w="782637">
                  <a:extLst>
                    <a:ext uri="{9D8B030D-6E8A-4147-A177-3AD203B41FA5}">
                      <a16:colId xmlns:a16="http://schemas.microsoft.com/office/drawing/2014/main" val="20004"/>
                    </a:ext>
                  </a:extLst>
                </a:gridCol>
                <a:gridCol w="781050">
                  <a:extLst>
                    <a:ext uri="{9D8B030D-6E8A-4147-A177-3AD203B41FA5}">
                      <a16:colId xmlns:a16="http://schemas.microsoft.com/office/drawing/2014/main" val="20005"/>
                    </a:ext>
                  </a:extLst>
                </a:gridCol>
                <a:gridCol w="784225">
                  <a:extLst>
                    <a:ext uri="{9D8B030D-6E8A-4147-A177-3AD203B41FA5}">
                      <a16:colId xmlns:a16="http://schemas.microsoft.com/office/drawing/2014/main" val="20006"/>
                    </a:ext>
                  </a:extLst>
                </a:gridCol>
                <a:gridCol w="784225">
                  <a:extLst>
                    <a:ext uri="{9D8B030D-6E8A-4147-A177-3AD203B41FA5}">
                      <a16:colId xmlns:a16="http://schemas.microsoft.com/office/drawing/2014/main" val="20007"/>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col</a:t>
                      </a:r>
                      <a:endParaRPr kumimoji="0" lang="en-US" sz="2800" b="0" i="0" u="none" strike="noStrike" cap="none" normalizeH="0" baseline="0">
                        <a:ln>
                          <a:noFill/>
                        </a:ln>
                        <a:solidFill>
                          <a:schemeClr val="tx1"/>
                        </a:solidFill>
                        <a:effectLst/>
                        <a:latin typeface="Arial" charset="0"/>
                      </a:endParaRP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col</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col</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spv</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bgv</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spc</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bgc</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typ</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19492" name="Line 36">
            <a:extLst>
              <a:ext uri="{FF2B5EF4-FFF2-40B4-BE49-F238E27FC236}">
                <a16:creationId xmlns:a16="http://schemas.microsoft.com/office/drawing/2014/main" id="{D2451EC2-D9EA-22A7-A5C9-9769286448A8}"/>
              </a:ext>
            </a:extLst>
          </p:cNvPr>
          <p:cNvSpPr>
            <a:spLocks noChangeShapeType="1"/>
          </p:cNvSpPr>
          <p:nvPr/>
        </p:nvSpPr>
        <p:spPr bwMode="auto">
          <a:xfrm flipH="1" flipV="1">
            <a:off x="6877050" y="2997200"/>
            <a:ext cx="287338" cy="25193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93" name="Text Box 37">
            <a:extLst>
              <a:ext uri="{FF2B5EF4-FFF2-40B4-BE49-F238E27FC236}">
                <a16:creationId xmlns:a16="http://schemas.microsoft.com/office/drawing/2014/main" id="{E174DCC2-A22A-36DE-6B01-8061B9D4949F}"/>
              </a:ext>
            </a:extLst>
          </p:cNvPr>
          <p:cNvSpPr txBox="1">
            <a:spLocks noChangeArrowheads="1"/>
          </p:cNvSpPr>
          <p:nvPr/>
        </p:nvSpPr>
        <p:spPr bwMode="auto">
          <a:xfrm>
            <a:off x="4211638" y="5516563"/>
            <a:ext cx="2084387"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Cacher les sprites</a:t>
            </a:r>
          </a:p>
          <a:p>
            <a:pPr algn="ctr" eaLnBrk="1" hangingPunct="1">
              <a:spcBef>
                <a:spcPct val="0"/>
              </a:spcBef>
              <a:buFontTx/>
              <a:buNone/>
            </a:pPr>
            <a:r>
              <a:rPr lang="fr-CA" altLang="fr-FR" sz="1400">
                <a:solidFill>
                  <a:srgbClr val="FFFF99"/>
                </a:solidFill>
              </a:rPr>
              <a:t>sur la première colonne </a:t>
            </a:r>
          </a:p>
          <a:p>
            <a:pPr algn="ctr" eaLnBrk="1" hangingPunct="1">
              <a:spcBef>
                <a:spcPct val="0"/>
              </a:spcBef>
              <a:buFontTx/>
              <a:buNone/>
            </a:pPr>
            <a:r>
              <a:rPr lang="fr-CA" altLang="fr-FR" sz="1400">
                <a:solidFill>
                  <a:srgbClr val="FFFF99"/>
                </a:solidFill>
              </a:rPr>
              <a:t>0 = oui</a:t>
            </a:r>
          </a:p>
          <a:p>
            <a:pPr algn="ctr" eaLnBrk="1" hangingPunct="1">
              <a:spcBef>
                <a:spcPct val="0"/>
              </a:spcBef>
              <a:buFontTx/>
              <a:buNone/>
            </a:pPr>
            <a:r>
              <a:rPr lang="fr-CA" altLang="fr-FR" sz="1400">
                <a:solidFill>
                  <a:srgbClr val="FFFF99"/>
                </a:solidFill>
              </a:rPr>
              <a:t>1 = non</a:t>
            </a:r>
          </a:p>
        </p:txBody>
      </p:sp>
      <p:sp>
        <p:nvSpPr>
          <p:cNvPr id="19494" name="Line 38">
            <a:extLst>
              <a:ext uri="{FF2B5EF4-FFF2-40B4-BE49-F238E27FC236}">
                <a16:creationId xmlns:a16="http://schemas.microsoft.com/office/drawing/2014/main" id="{54E17522-02E1-70B0-9265-86E35ADB2188}"/>
              </a:ext>
            </a:extLst>
          </p:cNvPr>
          <p:cNvSpPr>
            <a:spLocks noChangeShapeType="1"/>
          </p:cNvSpPr>
          <p:nvPr/>
        </p:nvSpPr>
        <p:spPr bwMode="auto">
          <a:xfrm flipV="1">
            <a:off x="3635375" y="2994025"/>
            <a:ext cx="1514475" cy="19478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19495" name="Text Box 39">
            <a:extLst>
              <a:ext uri="{FF2B5EF4-FFF2-40B4-BE49-F238E27FC236}">
                <a16:creationId xmlns:a16="http://schemas.microsoft.com/office/drawing/2014/main" id="{1BEC00F0-753E-5D8C-372F-6E74E4305441}"/>
              </a:ext>
            </a:extLst>
          </p:cNvPr>
          <p:cNvSpPr txBox="1">
            <a:spLocks noChangeArrowheads="1"/>
          </p:cNvSpPr>
          <p:nvPr/>
        </p:nvSpPr>
        <p:spPr bwMode="auto">
          <a:xfrm>
            <a:off x="2555875" y="5013325"/>
            <a:ext cx="2116138"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Visibilité de l’arrière-plan</a:t>
            </a:r>
          </a:p>
          <a:p>
            <a:pPr algn="ctr" eaLnBrk="1" hangingPunct="1">
              <a:spcBef>
                <a:spcPct val="0"/>
              </a:spcBef>
              <a:buFontTx/>
              <a:buNone/>
            </a:pPr>
            <a:r>
              <a:rPr lang="fr-CA" altLang="fr-FR" sz="1400">
                <a:solidFill>
                  <a:srgbClr val="FFFF99"/>
                </a:solidFill>
              </a:rPr>
              <a:t>0 = invisible</a:t>
            </a:r>
          </a:p>
          <a:p>
            <a:pPr algn="ctr" eaLnBrk="1" hangingPunct="1">
              <a:spcBef>
                <a:spcPct val="0"/>
              </a:spcBef>
              <a:buFontTx/>
              <a:buNone/>
            </a:pPr>
            <a:r>
              <a:rPr lang="fr-CA" altLang="fr-FR" sz="1400">
                <a:solidFill>
                  <a:srgbClr val="FFFF99"/>
                </a:solidFill>
              </a:rPr>
              <a:t>1 = visible</a:t>
            </a:r>
            <a:endParaRPr lang="en-US" altLang="fr-FR" sz="1400">
              <a:solidFill>
                <a:srgbClr val="FFFF9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0482" name="Text Box 5">
            <a:extLst>
              <a:ext uri="{FF2B5EF4-FFF2-40B4-BE49-F238E27FC236}">
                <a16:creationId xmlns:a16="http://schemas.microsoft.com/office/drawing/2014/main" id="{52603909-5F33-3D34-2F11-ED9F697A89D1}"/>
              </a:ext>
            </a:extLst>
          </p:cNvPr>
          <p:cNvSpPr txBox="1">
            <a:spLocks noChangeArrowheads="1"/>
          </p:cNvSpPr>
          <p:nvPr/>
        </p:nvSpPr>
        <p:spPr bwMode="auto">
          <a:xfrm>
            <a:off x="179388" y="3287713"/>
            <a:ext cx="14763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VBlank en cours</a:t>
            </a:r>
          </a:p>
          <a:p>
            <a:pPr algn="ctr" eaLnBrk="1" hangingPunct="1">
              <a:spcBef>
                <a:spcPct val="0"/>
              </a:spcBef>
              <a:buFontTx/>
              <a:buNone/>
            </a:pPr>
            <a:r>
              <a:rPr lang="fr-CA" altLang="fr-FR" sz="1400">
                <a:solidFill>
                  <a:srgbClr val="FFFF99"/>
                </a:solidFill>
              </a:rPr>
              <a:t>0 = non</a:t>
            </a:r>
          </a:p>
          <a:p>
            <a:pPr algn="ctr" eaLnBrk="1" hangingPunct="1">
              <a:spcBef>
                <a:spcPct val="0"/>
              </a:spcBef>
              <a:buFontTx/>
              <a:buNone/>
            </a:pPr>
            <a:r>
              <a:rPr lang="fr-CA" altLang="fr-FR" sz="1400">
                <a:solidFill>
                  <a:srgbClr val="FFFF99"/>
                </a:solidFill>
              </a:rPr>
              <a:t>1 = oui</a:t>
            </a:r>
            <a:endParaRPr lang="en-US" altLang="fr-FR" sz="1400">
              <a:solidFill>
                <a:srgbClr val="FFFF99"/>
              </a:solidFill>
            </a:endParaRPr>
          </a:p>
        </p:txBody>
      </p:sp>
      <p:sp>
        <p:nvSpPr>
          <p:cNvPr id="20483" name="Line 6">
            <a:extLst>
              <a:ext uri="{FF2B5EF4-FFF2-40B4-BE49-F238E27FC236}">
                <a16:creationId xmlns:a16="http://schemas.microsoft.com/office/drawing/2014/main" id="{D1D3E624-8DA2-9D58-7C7D-A515DE134866}"/>
              </a:ext>
            </a:extLst>
          </p:cNvPr>
          <p:cNvSpPr>
            <a:spLocks noChangeShapeType="1"/>
          </p:cNvSpPr>
          <p:nvPr/>
        </p:nvSpPr>
        <p:spPr bwMode="auto">
          <a:xfrm flipV="1">
            <a:off x="1042988" y="2708275"/>
            <a:ext cx="1079500" cy="5746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20484" name="Text Box 7">
            <a:extLst>
              <a:ext uri="{FF2B5EF4-FFF2-40B4-BE49-F238E27FC236}">
                <a16:creationId xmlns:a16="http://schemas.microsoft.com/office/drawing/2014/main" id="{C17D5573-5A4F-8751-16BB-B6EF3312D821}"/>
              </a:ext>
            </a:extLst>
          </p:cNvPr>
          <p:cNvSpPr txBox="1">
            <a:spLocks noChangeArrowheads="1"/>
          </p:cNvSpPr>
          <p:nvPr/>
        </p:nvSpPr>
        <p:spPr bwMode="auto">
          <a:xfrm>
            <a:off x="3419475" y="4872038"/>
            <a:ext cx="17494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Dépassement du </a:t>
            </a:r>
          </a:p>
          <a:p>
            <a:pPr algn="ctr" eaLnBrk="1" hangingPunct="1">
              <a:spcBef>
                <a:spcPct val="0"/>
              </a:spcBef>
              <a:buFontTx/>
              <a:buNone/>
            </a:pPr>
            <a:r>
              <a:rPr lang="fr-CA" altLang="fr-FR" sz="1400">
                <a:solidFill>
                  <a:srgbClr val="FFFF99"/>
                </a:solidFill>
              </a:rPr>
              <a:t>nombre maximal de</a:t>
            </a:r>
          </a:p>
          <a:p>
            <a:pPr algn="ctr" eaLnBrk="1" hangingPunct="1">
              <a:spcBef>
                <a:spcPct val="0"/>
              </a:spcBef>
              <a:buFontTx/>
              <a:buNone/>
            </a:pPr>
            <a:r>
              <a:rPr lang="fr-CA" altLang="fr-FR" sz="1400">
                <a:solidFill>
                  <a:srgbClr val="FFFF99"/>
                </a:solidFill>
              </a:rPr>
              <a:t> sprites par ligne (8)</a:t>
            </a:r>
          </a:p>
          <a:p>
            <a:pPr algn="ctr" eaLnBrk="1" hangingPunct="1">
              <a:spcBef>
                <a:spcPct val="0"/>
              </a:spcBef>
              <a:buFontTx/>
              <a:buNone/>
            </a:pPr>
            <a:r>
              <a:rPr lang="fr-CA" altLang="fr-FR" sz="1400">
                <a:solidFill>
                  <a:srgbClr val="FFFF99"/>
                </a:solidFill>
              </a:rPr>
              <a:t>0 = non</a:t>
            </a:r>
          </a:p>
          <a:p>
            <a:pPr algn="ctr" eaLnBrk="1" hangingPunct="1">
              <a:spcBef>
                <a:spcPct val="0"/>
              </a:spcBef>
              <a:buFontTx/>
              <a:buNone/>
            </a:pPr>
            <a:r>
              <a:rPr lang="fr-CA" altLang="fr-FR" sz="1400">
                <a:solidFill>
                  <a:srgbClr val="FFFF99"/>
                </a:solidFill>
              </a:rPr>
              <a:t>1 = oui</a:t>
            </a:r>
            <a:endParaRPr lang="en-US" altLang="fr-FR" sz="1400">
              <a:solidFill>
                <a:srgbClr val="FFFF99"/>
              </a:solidFill>
            </a:endParaRPr>
          </a:p>
        </p:txBody>
      </p:sp>
      <p:sp>
        <p:nvSpPr>
          <p:cNvPr id="20485" name="Line 8">
            <a:extLst>
              <a:ext uri="{FF2B5EF4-FFF2-40B4-BE49-F238E27FC236}">
                <a16:creationId xmlns:a16="http://schemas.microsoft.com/office/drawing/2014/main" id="{95C970D4-66CF-4509-7A60-2C3EFC5BFF2B}"/>
              </a:ext>
            </a:extLst>
          </p:cNvPr>
          <p:cNvSpPr>
            <a:spLocks noChangeShapeType="1"/>
          </p:cNvSpPr>
          <p:nvPr/>
        </p:nvSpPr>
        <p:spPr bwMode="auto">
          <a:xfrm flipH="1" flipV="1">
            <a:off x="3635375" y="2708275"/>
            <a:ext cx="504825" cy="209073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20486" name="Text Box 10">
            <a:extLst>
              <a:ext uri="{FF2B5EF4-FFF2-40B4-BE49-F238E27FC236}">
                <a16:creationId xmlns:a16="http://schemas.microsoft.com/office/drawing/2014/main" id="{FC136FC4-2D0E-7732-5848-EBE799284174}"/>
              </a:ext>
            </a:extLst>
          </p:cNvPr>
          <p:cNvSpPr txBox="1">
            <a:spLocks noChangeArrowheads="1"/>
          </p:cNvSpPr>
          <p:nvPr/>
        </p:nvSpPr>
        <p:spPr bwMode="auto">
          <a:xfrm>
            <a:off x="1042988" y="4583113"/>
            <a:ext cx="1965325" cy="1155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Le sprite #0 touche</a:t>
            </a:r>
          </a:p>
          <a:p>
            <a:pPr algn="ctr" eaLnBrk="1" hangingPunct="1">
              <a:spcBef>
                <a:spcPct val="0"/>
              </a:spcBef>
              <a:buFontTx/>
              <a:buNone/>
            </a:pPr>
            <a:r>
              <a:rPr lang="fr-CA" altLang="fr-FR" sz="1400">
                <a:solidFill>
                  <a:srgbClr val="FFFF99"/>
                </a:solidFill>
              </a:rPr>
              <a:t>à un élément d’arrière-</a:t>
            </a:r>
          </a:p>
          <a:p>
            <a:pPr algn="ctr" eaLnBrk="1" hangingPunct="1">
              <a:spcBef>
                <a:spcPct val="0"/>
              </a:spcBef>
              <a:buFontTx/>
              <a:buNone/>
            </a:pPr>
            <a:r>
              <a:rPr lang="fr-CA" altLang="fr-FR" sz="1400">
                <a:solidFill>
                  <a:srgbClr val="FFFF99"/>
                </a:solidFill>
              </a:rPr>
              <a:t>plan non transparent</a:t>
            </a:r>
          </a:p>
          <a:p>
            <a:pPr algn="ctr" eaLnBrk="1" hangingPunct="1">
              <a:spcBef>
                <a:spcPct val="0"/>
              </a:spcBef>
              <a:buFontTx/>
              <a:buNone/>
            </a:pPr>
            <a:r>
              <a:rPr lang="fr-CA" altLang="fr-FR" sz="1400">
                <a:solidFill>
                  <a:srgbClr val="FFFF99"/>
                </a:solidFill>
              </a:rPr>
              <a:t>0 = non</a:t>
            </a:r>
          </a:p>
          <a:p>
            <a:pPr algn="ctr" eaLnBrk="1" hangingPunct="1">
              <a:spcBef>
                <a:spcPct val="0"/>
              </a:spcBef>
              <a:buFontTx/>
              <a:buNone/>
            </a:pPr>
            <a:r>
              <a:rPr lang="fr-CA" altLang="fr-FR" sz="1400">
                <a:solidFill>
                  <a:srgbClr val="FFFF99"/>
                </a:solidFill>
              </a:rPr>
              <a:t>1 = oui</a:t>
            </a:r>
            <a:endParaRPr lang="en-US" altLang="fr-FR" sz="1400">
              <a:solidFill>
                <a:srgbClr val="FFFF99"/>
              </a:solidFill>
            </a:endParaRPr>
          </a:p>
        </p:txBody>
      </p:sp>
      <p:sp>
        <p:nvSpPr>
          <p:cNvPr id="20487" name="Line 11">
            <a:extLst>
              <a:ext uri="{FF2B5EF4-FFF2-40B4-BE49-F238E27FC236}">
                <a16:creationId xmlns:a16="http://schemas.microsoft.com/office/drawing/2014/main" id="{53453879-1BA4-A678-9271-C6198DAFC543}"/>
              </a:ext>
            </a:extLst>
          </p:cNvPr>
          <p:cNvSpPr>
            <a:spLocks noChangeShapeType="1"/>
          </p:cNvSpPr>
          <p:nvPr/>
        </p:nvSpPr>
        <p:spPr bwMode="auto">
          <a:xfrm flipV="1">
            <a:off x="1979613" y="2636838"/>
            <a:ext cx="863600" cy="1946275"/>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20488" name="Line 13">
            <a:extLst>
              <a:ext uri="{FF2B5EF4-FFF2-40B4-BE49-F238E27FC236}">
                <a16:creationId xmlns:a16="http://schemas.microsoft.com/office/drawing/2014/main" id="{B74F9D80-7952-2FE2-8106-30EB0A21AB9F}"/>
              </a:ext>
            </a:extLst>
          </p:cNvPr>
          <p:cNvSpPr>
            <a:spLocks noChangeShapeType="1"/>
          </p:cNvSpPr>
          <p:nvPr/>
        </p:nvSpPr>
        <p:spPr bwMode="auto">
          <a:xfrm flipH="1" flipV="1">
            <a:off x="6300788" y="2927350"/>
            <a:ext cx="358775" cy="719138"/>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20489" name="Line 14">
            <a:extLst>
              <a:ext uri="{FF2B5EF4-FFF2-40B4-BE49-F238E27FC236}">
                <a16:creationId xmlns:a16="http://schemas.microsoft.com/office/drawing/2014/main" id="{53D6C0C1-1FC1-D72A-D503-8FCE496D5248}"/>
              </a:ext>
            </a:extLst>
          </p:cNvPr>
          <p:cNvSpPr>
            <a:spLocks noChangeShapeType="1"/>
          </p:cNvSpPr>
          <p:nvPr/>
        </p:nvSpPr>
        <p:spPr bwMode="auto">
          <a:xfrm flipV="1">
            <a:off x="5076825" y="2779713"/>
            <a:ext cx="2590800" cy="3175"/>
          </a:xfrm>
          <a:prstGeom prst="line">
            <a:avLst/>
          </a:prstGeom>
          <a:noFill/>
          <a:ln w="28575">
            <a:solidFill>
              <a:srgbClr val="FF9900"/>
            </a:solidFill>
            <a:round/>
            <a:headEnd type="diamond" w="med" len="med"/>
            <a:tailEnd type="diamond" w="med" len="med"/>
          </a:ln>
          <a:extLst>
            <a:ext uri="{909E8E84-426E-40DD-AFC4-6F175D3DCCD1}">
              <a14:hiddenFill xmlns:a14="http://schemas.microsoft.com/office/drawing/2010/main">
                <a:noFill/>
              </a14:hiddenFill>
            </a:ext>
          </a:extLst>
        </p:spPr>
        <p:txBody>
          <a:bodyPr anchor="ctr"/>
          <a:lstStyle/>
          <a:p>
            <a:endParaRPr lang="fr-CA"/>
          </a:p>
        </p:txBody>
      </p:sp>
      <p:sp>
        <p:nvSpPr>
          <p:cNvPr id="20490" name="Text Box 15">
            <a:extLst>
              <a:ext uri="{FF2B5EF4-FFF2-40B4-BE49-F238E27FC236}">
                <a16:creationId xmlns:a16="http://schemas.microsoft.com/office/drawing/2014/main" id="{959CA393-2D80-9166-2061-3D01D5651E41}"/>
              </a:ext>
            </a:extLst>
          </p:cNvPr>
          <p:cNvSpPr txBox="1">
            <a:spLocks noChangeArrowheads="1"/>
          </p:cNvSpPr>
          <p:nvPr/>
        </p:nvSpPr>
        <p:spPr bwMode="auto">
          <a:xfrm>
            <a:off x="3652838" y="1412875"/>
            <a:ext cx="182086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$2002</a:t>
            </a:r>
          </a:p>
          <a:p>
            <a:pPr algn="ctr" eaLnBrk="1" hangingPunct="1">
              <a:spcBef>
                <a:spcPct val="0"/>
              </a:spcBef>
              <a:buFontTx/>
              <a:buNone/>
            </a:pPr>
            <a:r>
              <a:rPr lang="fr-CA" altLang="fr-FR" sz="2000">
                <a:solidFill>
                  <a:srgbClr val="FFFF99"/>
                </a:solidFill>
              </a:rPr>
              <a:t>Registre d’état</a:t>
            </a:r>
            <a:endParaRPr lang="en-US" altLang="fr-FR" sz="2000">
              <a:solidFill>
                <a:srgbClr val="FFFF99"/>
              </a:solidFill>
            </a:endParaRPr>
          </a:p>
        </p:txBody>
      </p:sp>
      <p:sp>
        <p:nvSpPr>
          <p:cNvPr id="20491" name="Rectangle 16">
            <a:extLst>
              <a:ext uri="{FF2B5EF4-FFF2-40B4-BE49-F238E27FC236}">
                <a16:creationId xmlns:a16="http://schemas.microsoft.com/office/drawing/2014/main" id="{037A6B99-4199-0709-AA35-19F50D230497}"/>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0492" name="Text Box 17">
            <a:extLst>
              <a:ext uri="{FF2B5EF4-FFF2-40B4-BE49-F238E27FC236}">
                <a16:creationId xmlns:a16="http://schemas.microsoft.com/office/drawing/2014/main" id="{749CAA74-0C5F-70D4-01E9-B333E134264E}"/>
              </a:ext>
            </a:extLst>
          </p:cNvPr>
          <p:cNvSpPr txBox="1">
            <a:spLocks noChangeArrowheads="1"/>
          </p:cNvSpPr>
          <p:nvPr/>
        </p:nvSpPr>
        <p:spPr bwMode="auto">
          <a:xfrm>
            <a:off x="3643313" y="908050"/>
            <a:ext cx="17970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Registres du PPU</a:t>
            </a:r>
            <a:endParaRPr lang="en-US" altLang="fr-FR" sz="1600" u="sng">
              <a:solidFill>
                <a:srgbClr val="FF9900"/>
              </a:solidFill>
            </a:endParaRPr>
          </a:p>
        </p:txBody>
      </p:sp>
      <p:pic>
        <p:nvPicPr>
          <p:cNvPr id="20493" name="Picture 18" descr="21">
            <a:extLst>
              <a:ext uri="{FF2B5EF4-FFF2-40B4-BE49-F238E27FC236}">
                <a16:creationId xmlns:a16="http://schemas.microsoft.com/office/drawing/2014/main" id="{CEF29D7B-8B1D-AD39-5A5B-8CD11EBE2D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94" name="Picture 19" descr="21">
            <a:extLst>
              <a:ext uri="{FF2B5EF4-FFF2-40B4-BE49-F238E27FC236}">
                <a16:creationId xmlns:a16="http://schemas.microsoft.com/office/drawing/2014/main" id="{E32F4AB5-56F9-05BA-FE5D-70BEEB587A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6820" name="Group 20">
            <a:extLst>
              <a:ext uri="{FF2B5EF4-FFF2-40B4-BE49-F238E27FC236}">
                <a16:creationId xmlns:a16="http://schemas.microsoft.com/office/drawing/2014/main" id="{F943C386-E819-CE74-884E-28F9C05C81BA}"/>
              </a:ext>
            </a:extLst>
          </p:cNvPr>
          <p:cNvGraphicFramePr>
            <a:graphicFrameLocks noGrp="1"/>
          </p:cNvGraphicFramePr>
          <p:nvPr/>
        </p:nvGraphicFramePr>
        <p:xfrm>
          <a:off x="1692275" y="2132013"/>
          <a:ext cx="6026150" cy="517525"/>
        </p:xfrm>
        <a:graphic>
          <a:graphicData uri="http://schemas.openxmlformats.org/drawingml/2006/table">
            <a:tbl>
              <a:tblPr/>
              <a:tblGrid>
                <a:gridCol w="754063">
                  <a:extLst>
                    <a:ext uri="{9D8B030D-6E8A-4147-A177-3AD203B41FA5}">
                      <a16:colId xmlns:a16="http://schemas.microsoft.com/office/drawing/2014/main" val="20000"/>
                    </a:ext>
                  </a:extLst>
                </a:gridCol>
                <a:gridCol w="754062">
                  <a:extLst>
                    <a:ext uri="{9D8B030D-6E8A-4147-A177-3AD203B41FA5}">
                      <a16:colId xmlns:a16="http://schemas.microsoft.com/office/drawing/2014/main" val="20001"/>
                    </a:ext>
                  </a:extLst>
                </a:gridCol>
                <a:gridCol w="752475">
                  <a:extLst>
                    <a:ext uri="{9D8B030D-6E8A-4147-A177-3AD203B41FA5}">
                      <a16:colId xmlns:a16="http://schemas.microsoft.com/office/drawing/2014/main" val="20002"/>
                    </a:ext>
                  </a:extLst>
                </a:gridCol>
                <a:gridCol w="752475">
                  <a:extLst>
                    <a:ext uri="{9D8B030D-6E8A-4147-A177-3AD203B41FA5}">
                      <a16:colId xmlns:a16="http://schemas.microsoft.com/office/drawing/2014/main" val="20003"/>
                    </a:ext>
                  </a:extLst>
                </a:gridCol>
                <a:gridCol w="752475">
                  <a:extLst>
                    <a:ext uri="{9D8B030D-6E8A-4147-A177-3AD203B41FA5}">
                      <a16:colId xmlns:a16="http://schemas.microsoft.com/office/drawing/2014/main" val="20004"/>
                    </a:ext>
                  </a:extLst>
                </a:gridCol>
                <a:gridCol w="752475">
                  <a:extLst>
                    <a:ext uri="{9D8B030D-6E8A-4147-A177-3AD203B41FA5}">
                      <a16:colId xmlns:a16="http://schemas.microsoft.com/office/drawing/2014/main" val="20005"/>
                    </a:ext>
                  </a:extLst>
                </a:gridCol>
                <a:gridCol w="754063">
                  <a:extLst>
                    <a:ext uri="{9D8B030D-6E8A-4147-A177-3AD203B41FA5}">
                      <a16:colId xmlns:a16="http://schemas.microsoft.com/office/drawing/2014/main" val="20006"/>
                    </a:ext>
                  </a:extLst>
                </a:gridCol>
                <a:gridCol w="754062">
                  <a:extLst>
                    <a:ext uri="{9D8B030D-6E8A-4147-A177-3AD203B41FA5}">
                      <a16:colId xmlns:a16="http://schemas.microsoft.com/office/drawing/2014/main" val="20007"/>
                    </a:ext>
                  </a:extLst>
                </a:gridCol>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vb</a:t>
                      </a:r>
                      <a:endParaRPr kumimoji="0" lang="en-US" sz="2800" b="0" i="0" u="none" strike="noStrike" cap="none" normalizeH="0" baseline="0">
                        <a:ln>
                          <a:noFill/>
                        </a:ln>
                        <a:solidFill>
                          <a:schemeClr val="tx1"/>
                        </a:solidFill>
                        <a:effectLst/>
                        <a:latin typeface="Arial" charset="0"/>
                      </a:endParaRPr>
                    </a:p>
                  </a:txBody>
                  <a:tcPr marT="45618" marB="45618"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hit</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sv</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vrw</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_</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_</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_</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fr-CA" sz="2800" b="0" i="0" u="none" strike="noStrike" cap="none" normalizeH="0" baseline="0">
                          <a:ln>
                            <a:noFill/>
                          </a:ln>
                          <a:solidFill>
                            <a:schemeClr val="tx1"/>
                          </a:solidFill>
                          <a:effectLst/>
                          <a:latin typeface="Arial" charset="0"/>
                        </a:rPr>
                        <a:t>_</a:t>
                      </a:r>
                      <a:endParaRPr kumimoji="0" lang="en-US" sz="2800" b="0" i="0" u="none" strike="noStrike" cap="none" normalizeH="0" baseline="0">
                        <a:ln>
                          <a:noFill/>
                        </a:ln>
                        <a:solidFill>
                          <a:schemeClr val="tx1"/>
                        </a:solidFill>
                        <a:effectLst/>
                        <a:latin typeface="Arial" charset="0"/>
                      </a:endParaRPr>
                    </a:p>
                  </a:txBody>
                  <a:tcPr marT="45618" marB="45618"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bl>
          </a:graphicData>
        </a:graphic>
      </p:graphicFrame>
      <p:sp>
        <p:nvSpPr>
          <p:cNvPr id="20515" name="Line 40">
            <a:extLst>
              <a:ext uri="{FF2B5EF4-FFF2-40B4-BE49-F238E27FC236}">
                <a16:creationId xmlns:a16="http://schemas.microsoft.com/office/drawing/2014/main" id="{6D3AB4B1-8E95-5BBD-EC24-3F8B5708A5E4}"/>
              </a:ext>
            </a:extLst>
          </p:cNvPr>
          <p:cNvSpPr>
            <a:spLocks noChangeShapeType="1"/>
          </p:cNvSpPr>
          <p:nvPr/>
        </p:nvSpPr>
        <p:spPr bwMode="auto">
          <a:xfrm flipH="1" flipV="1">
            <a:off x="4356100" y="2711450"/>
            <a:ext cx="1655763" cy="1871663"/>
          </a:xfrm>
          <a:prstGeom prst="line">
            <a:avLst/>
          </a:prstGeom>
          <a:noFill/>
          <a:ln w="28575">
            <a:solidFill>
              <a:srgbClr val="FF9900"/>
            </a:solidFill>
            <a:round/>
            <a:headEnd/>
            <a:tailEnd type="arrow" w="med" len="med"/>
          </a:ln>
          <a:extLst>
            <a:ext uri="{909E8E84-426E-40DD-AFC4-6F175D3DCCD1}">
              <a14:hiddenFill xmlns:a14="http://schemas.microsoft.com/office/drawing/2010/main">
                <a:noFill/>
              </a14:hiddenFill>
            </a:ext>
          </a:extLst>
        </p:spPr>
        <p:txBody>
          <a:bodyPr anchor="ctr"/>
          <a:lstStyle/>
          <a:p>
            <a:endParaRPr lang="fr-CA"/>
          </a:p>
        </p:txBody>
      </p:sp>
      <p:sp>
        <p:nvSpPr>
          <p:cNvPr id="20516" name="Text Box 41">
            <a:extLst>
              <a:ext uri="{FF2B5EF4-FFF2-40B4-BE49-F238E27FC236}">
                <a16:creationId xmlns:a16="http://schemas.microsoft.com/office/drawing/2014/main" id="{80691BF6-DA2D-18F1-252B-78605F4B5FFD}"/>
              </a:ext>
            </a:extLst>
          </p:cNvPr>
          <p:cNvSpPr txBox="1">
            <a:spLocks noChangeArrowheads="1"/>
          </p:cNvSpPr>
          <p:nvPr/>
        </p:nvSpPr>
        <p:spPr bwMode="auto">
          <a:xfrm>
            <a:off x="5364163" y="4656138"/>
            <a:ext cx="2243137"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Écritures dans la mémoire</a:t>
            </a:r>
          </a:p>
          <a:p>
            <a:pPr algn="ctr" eaLnBrk="1" hangingPunct="1">
              <a:spcBef>
                <a:spcPct val="0"/>
              </a:spcBef>
              <a:buFontTx/>
              <a:buNone/>
            </a:pPr>
            <a:r>
              <a:rPr lang="fr-CA" altLang="fr-FR" sz="1400">
                <a:solidFill>
                  <a:srgbClr val="FFFF99"/>
                </a:solidFill>
              </a:rPr>
              <a:t>vidéo respectées</a:t>
            </a:r>
          </a:p>
          <a:p>
            <a:pPr algn="ctr" eaLnBrk="1" hangingPunct="1">
              <a:spcBef>
                <a:spcPct val="0"/>
              </a:spcBef>
              <a:buFontTx/>
              <a:buNone/>
            </a:pPr>
            <a:r>
              <a:rPr lang="fr-CA" altLang="fr-FR" sz="1400">
                <a:solidFill>
                  <a:srgbClr val="FFFF99"/>
                </a:solidFill>
              </a:rPr>
              <a:t>0 = respectées</a:t>
            </a:r>
          </a:p>
          <a:p>
            <a:pPr algn="ctr" eaLnBrk="1" hangingPunct="1">
              <a:spcBef>
                <a:spcPct val="0"/>
              </a:spcBef>
              <a:buFontTx/>
              <a:buNone/>
            </a:pPr>
            <a:r>
              <a:rPr lang="fr-CA" altLang="fr-FR" sz="1400">
                <a:solidFill>
                  <a:srgbClr val="FFFF99"/>
                </a:solidFill>
              </a:rPr>
              <a:t>1 = ignorées</a:t>
            </a:r>
            <a:endParaRPr lang="en-US" altLang="fr-FR" sz="1400">
              <a:solidFill>
                <a:srgbClr val="FFFF99"/>
              </a:solidFill>
            </a:endParaRPr>
          </a:p>
        </p:txBody>
      </p:sp>
      <p:sp>
        <p:nvSpPr>
          <p:cNvPr id="20517" name="Text Box 43">
            <a:extLst>
              <a:ext uri="{FF2B5EF4-FFF2-40B4-BE49-F238E27FC236}">
                <a16:creationId xmlns:a16="http://schemas.microsoft.com/office/drawing/2014/main" id="{2DD7FD37-AD78-67BE-482B-64DFA6AD30B2}"/>
              </a:ext>
            </a:extLst>
          </p:cNvPr>
          <p:cNvSpPr txBox="1">
            <a:spLocks noChangeArrowheads="1"/>
          </p:cNvSpPr>
          <p:nvPr/>
        </p:nvSpPr>
        <p:spPr bwMode="auto">
          <a:xfrm>
            <a:off x="6084888" y="3719513"/>
            <a:ext cx="12112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400">
                <a:solidFill>
                  <a:srgbClr val="FFFF99"/>
                </a:solidFill>
              </a:rPr>
              <a:t>Bits inutilisés</a:t>
            </a:r>
            <a:endParaRPr lang="en-US" altLang="fr-FR" sz="1400">
              <a:solidFill>
                <a:srgbClr val="FFFF99"/>
              </a:solidFill>
            </a:endParaRPr>
          </a:p>
        </p:txBody>
      </p:sp>
      <p:sp>
        <p:nvSpPr>
          <p:cNvPr id="20518" name="Text Box 44">
            <a:extLst>
              <a:ext uri="{FF2B5EF4-FFF2-40B4-BE49-F238E27FC236}">
                <a16:creationId xmlns:a16="http://schemas.microsoft.com/office/drawing/2014/main" id="{CC23CB15-F7F9-3A30-0C13-1484DD835F15}"/>
              </a:ext>
            </a:extLst>
          </p:cNvPr>
          <p:cNvSpPr txBox="1">
            <a:spLocks noChangeArrowheads="1"/>
          </p:cNvSpPr>
          <p:nvPr/>
        </p:nvSpPr>
        <p:spPr bwMode="auto">
          <a:xfrm>
            <a:off x="84138" y="5921375"/>
            <a:ext cx="86487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fr-CA" altLang="fr-FR" sz="1600">
                <a:solidFill>
                  <a:srgbClr val="FFFF99"/>
                </a:solidFill>
              </a:rPr>
              <a:t>*Notes:	</a:t>
            </a:r>
          </a:p>
          <a:p>
            <a:pPr eaLnBrk="1" hangingPunct="1">
              <a:spcBef>
                <a:spcPct val="0"/>
              </a:spcBef>
              <a:buFontTx/>
              <a:buNone/>
            </a:pPr>
            <a:r>
              <a:rPr lang="fr-CA" altLang="fr-FR" sz="1600">
                <a:solidFill>
                  <a:srgbClr val="FFFF99"/>
                </a:solidFill>
              </a:rPr>
              <a:t>-Le bit </a:t>
            </a:r>
            <a:r>
              <a:rPr lang="fr-CA" altLang="fr-FR" sz="1600">
                <a:solidFill>
                  <a:srgbClr val="FF9900"/>
                </a:solidFill>
              </a:rPr>
              <a:t>vb</a:t>
            </a:r>
            <a:r>
              <a:rPr lang="fr-CA" altLang="fr-FR" sz="1600">
                <a:solidFill>
                  <a:srgbClr val="FFFF99"/>
                </a:solidFill>
              </a:rPr>
              <a:t> est remis à zéro après chaque lecture</a:t>
            </a:r>
          </a:p>
          <a:p>
            <a:pPr eaLnBrk="1" hangingPunct="1">
              <a:spcBef>
                <a:spcPct val="0"/>
              </a:spcBef>
              <a:buFontTx/>
              <a:buNone/>
            </a:pPr>
            <a:r>
              <a:rPr lang="fr-CA" altLang="fr-FR" sz="1600">
                <a:solidFill>
                  <a:srgbClr val="FFFF99"/>
                </a:solidFill>
              </a:rPr>
              <a:t>-La lecture de ce registre peut </a:t>
            </a:r>
            <a:r>
              <a:rPr lang="fr-CA" altLang="fr-FR" sz="1600">
                <a:solidFill>
                  <a:srgbClr val="FF9900"/>
                </a:solidFill>
              </a:rPr>
              <a:t>interférer</a:t>
            </a:r>
            <a:r>
              <a:rPr lang="fr-CA" altLang="fr-FR" sz="1600">
                <a:solidFill>
                  <a:srgbClr val="FFFF99"/>
                </a:solidFill>
              </a:rPr>
              <a:t> avec les écritures consécutives dans $2005 et $2006.</a:t>
            </a:r>
            <a:endParaRPr lang="en-US" altLang="fr-FR" sz="1600">
              <a:solidFill>
                <a:srgbClr val="FFFF9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1506" name="Rectangle 4">
            <a:extLst>
              <a:ext uri="{FF2B5EF4-FFF2-40B4-BE49-F238E27FC236}">
                <a16:creationId xmlns:a16="http://schemas.microsoft.com/office/drawing/2014/main" id="{EC8741EF-7D6A-BFEF-F4CC-BB5F5152F4CA}"/>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1507" name="Text Box 5">
            <a:extLst>
              <a:ext uri="{FF2B5EF4-FFF2-40B4-BE49-F238E27FC236}">
                <a16:creationId xmlns:a16="http://schemas.microsoft.com/office/drawing/2014/main" id="{160DA68A-4FFB-569F-2A2E-AE1248BEDCD2}"/>
              </a:ext>
            </a:extLst>
          </p:cNvPr>
          <p:cNvSpPr txBox="1">
            <a:spLocks noChangeArrowheads="1"/>
          </p:cNvSpPr>
          <p:nvPr/>
        </p:nvSpPr>
        <p:spPr bwMode="auto">
          <a:xfrm>
            <a:off x="3375025" y="908050"/>
            <a:ext cx="2328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a:t>
            </a:r>
            <a:endParaRPr lang="en-US" altLang="fr-FR" sz="1600" u="sng">
              <a:solidFill>
                <a:srgbClr val="FF9900"/>
              </a:solidFill>
            </a:endParaRPr>
          </a:p>
        </p:txBody>
      </p:sp>
      <p:pic>
        <p:nvPicPr>
          <p:cNvPr id="21508" name="Picture 6" descr="21">
            <a:extLst>
              <a:ext uri="{FF2B5EF4-FFF2-40B4-BE49-F238E27FC236}">
                <a16:creationId xmlns:a16="http://schemas.microsoft.com/office/drawing/2014/main" id="{2EEE0519-BF48-CDB7-5A70-23BECAD35D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7" descr="21">
            <a:extLst>
              <a:ext uri="{FF2B5EF4-FFF2-40B4-BE49-F238E27FC236}">
                <a16:creationId xmlns:a16="http://schemas.microsoft.com/office/drawing/2014/main" id="{1886030C-6382-141D-E15A-916D11B0C4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10" name="Text Box 8">
            <a:extLst>
              <a:ext uri="{FF2B5EF4-FFF2-40B4-BE49-F238E27FC236}">
                <a16:creationId xmlns:a16="http://schemas.microsoft.com/office/drawing/2014/main" id="{9575C2C7-7D05-A38E-7227-1693B1801DBE}"/>
              </a:ext>
            </a:extLst>
          </p:cNvPr>
          <p:cNvSpPr txBox="1">
            <a:spLocks noChangeArrowheads="1"/>
          </p:cNvSpPr>
          <p:nvPr/>
        </p:nvSpPr>
        <p:spPr bwMode="auto">
          <a:xfrm>
            <a:off x="358775" y="1268413"/>
            <a:ext cx="8785225"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000">
                <a:solidFill>
                  <a:srgbClr val="FFFF99"/>
                </a:solidFill>
              </a:rPr>
              <a:t>Généralement, pour se synchroniser avec un contrôleur d’entrées / sorties, il existe deux méthodes:</a:t>
            </a:r>
          </a:p>
          <a:p>
            <a:pPr lvl="1" eaLnBrk="1" hangingPunct="1">
              <a:spcBef>
                <a:spcPct val="0"/>
              </a:spcBef>
              <a:buFont typeface="Wingdings" panose="05000000000000000000" pitchFamily="2" charset="2"/>
              <a:buChar char="§"/>
            </a:pPr>
            <a:r>
              <a:rPr lang="fr-CA" altLang="fr-FR" sz="1600">
                <a:solidFill>
                  <a:schemeClr val="folHlink"/>
                </a:solidFill>
              </a:rPr>
              <a:t>Par </a:t>
            </a:r>
            <a:r>
              <a:rPr lang="fr-CA" altLang="fr-FR" sz="1600" i="1">
                <a:solidFill>
                  <a:srgbClr val="FF9900"/>
                </a:solidFill>
              </a:rPr>
              <a:t>interrogation de bits d’états</a:t>
            </a:r>
            <a:r>
              <a:rPr lang="fr-CA" altLang="fr-FR" sz="1600">
                <a:solidFill>
                  <a:schemeClr val="folHlink"/>
                </a:solidFill>
              </a:rPr>
              <a:t>, où on lit les états du contrôleur jusqu’à ce qu’un des états change et donne lieu à certains calculs du côté de notre programme.  Cette technique est aussi nommée </a:t>
            </a:r>
            <a:r>
              <a:rPr lang="fr-CA" altLang="fr-FR" sz="1600" i="1">
                <a:solidFill>
                  <a:srgbClr val="FF9900"/>
                </a:solidFill>
              </a:rPr>
              <a:t>attente active</a:t>
            </a:r>
            <a:r>
              <a:rPr lang="fr-CA" altLang="fr-FR" sz="1600">
                <a:solidFill>
                  <a:schemeClr val="folHlink"/>
                </a:solidFill>
              </a:rPr>
              <a:t>.</a:t>
            </a:r>
          </a:p>
          <a:p>
            <a:pPr lvl="1" eaLnBrk="1" hangingPunct="1">
              <a:spcBef>
                <a:spcPct val="0"/>
              </a:spcBef>
              <a:buFont typeface="Wingdings" panose="05000000000000000000" pitchFamily="2" charset="2"/>
              <a:buChar char="§"/>
            </a:pPr>
            <a:r>
              <a:rPr lang="fr-CA" altLang="fr-FR" sz="1600">
                <a:solidFill>
                  <a:schemeClr val="folHlink"/>
                </a:solidFill>
              </a:rPr>
              <a:t>Par</a:t>
            </a:r>
            <a:r>
              <a:rPr lang="fr-CA" altLang="fr-FR" sz="1600" i="1">
                <a:solidFill>
                  <a:srgbClr val="FF9900"/>
                </a:solidFill>
              </a:rPr>
              <a:t> interruptions</a:t>
            </a:r>
            <a:r>
              <a:rPr lang="fr-CA" altLang="fr-FR" sz="1600">
                <a:solidFill>
                  <a:schemeClr val="folHlink"/>
                </a:solidFill>
              </a:rPr>
              <a:t>, où on attend que le déroulement normal du programme soit interrompu par un signal d’interruption provenant du contrôleur, ce qui va provoquer l’exécution d’une section de code spécialisée nommée </a:t>
            </a:r>
            <a:r>
              <a:rPr lang="fr-CA" altLang="fr-FR" sz="1600" i="1">
                <a:solidFill>
                  <a:srgbClr val="FF9900"/>
                </a:solidFill>
              </a:rPr>
              <a:t>routine d’interruption</a:t>
            </a:r>
            <a:r>
              <a:rPr lang="fr-CA" altLang="fr-FR" sz="1600">
                <a:solidFill>
                  <a:schemeClr val="folHlink"/>
                </a:solidFill>
              </a:rPr>
              <a:t> pour gérer la situation  </a:t>
            </a:r>
            <a:r>
              <a:rPr lang="fr-CA" altLang="fr-FR" sz="1600">
                <a:solidFill>
                  <a:srgbClr val="FF9900"/>
                </a:solidFill>
              </a:rPr>
              <a:t>[chapitre 12].</a:t>
            </a:r>
            <a:endParaRPr lang="fr-CA" altLang="fr-FR" sz="2000">
              <a:solidFill>
                <a:schemeClr val="folHlink"/>
              </a:solidFill>
            </a:endParaRPr>
          </a:p>
          <a:p>
            <a:pPr eaLnBrk="1" hangingPunct="1">
              <a:spcBef>
                <a:spcPct val="0"/>
              </a:spcBef>
              <a:buFont typeface="Wingdings" panose="05000000000000000000" pitchFamily="2" charset="2"/>
              <a:buChar char="§"/>
            </a:pPr>
            <a:r>
              <a:rPr lang="fr-CA" altLang="fr-FR" sz="2000">
                <a:solidFill>
                  <a:srgbClr val="FFFF99"/>
                </a:solidFill>
              </a:rPr>
              <a:t>L’élément de synchronisation le plus important sur le NES est le « VBlank »</a:t>
            </a:r>
          </a:p>
          <a:p>
            <a:pPr lvl="1" eaLnBrk="1" hangingPunct="1">
              <a:spcBef>
                <a:spcPct val="0"/>
              </a:spcBef>
              <a:buFont typeface="Wingdings" panose="05000000000000000000" pitchFamily="2" charset="2"/>
              <a:buChar char="§"/>
            </a:pPr>
            <a:r>
              <a:rPr lang="fr-CA" altLang="fr-FR" sz="1600">
                <a:solidFill>
                  <a:schemeClr val="folHlink"/>
                </a:solidFill>
              </a:rPr>
              <a:t>Le </a:t>
            </a:r>
            <a:r>
              <a:rPr lang="fr-CA" altLang="fr-FR" sz="1600" i="1">
                <a:solidFill>
                  <a:srgbClr val="FF9900"/>
                </a:solidFill>
              </a:rPr>
              <a:t>VBlank </a:t>
            </a:r>
            <a:r>
              <a:rPr lang="fr-CA" altLang="fr-FR" sz="1600">
                <a:solidFill>
                  <a:schemeClr val="folHlink"/>
                </a:solidFill>
              </a:rPr>
              <a:t>est la période d’inactivité du processeur d’images qui coïncide avec la remontée du canon à électrons de l’écran, lorsque celui-ci a fini de rafraîchir l’image.  </a:t>
            </a:r>
          </a:p>
          <a:p>
            <a:pPr lvl="1" eaLnBrk="1" hangingPunct="1">
              <a:spcBef>
                <a:spcPct val="0"/>
              </a:spcBef>
              <a:buFont typeface="Wingdings" panose="05000000000000000000" pitchFamily="2" charset="2"/>
              <a:buChar char="§"/>
            </a:pPr>
            <a:r>
              <a:rPr lang="fr-CA" altLang="fr-FR" sz="1600">
                <a:solidFill>
                  <a:schemeClr val="folHlink"/>
                </a:solidFill>
              </a:rPr>
              <a:t>Pour le standard NTSC, cette période arrive à tous les 1/60 secondes.</a:t>
            </a:r>
          </a:p>
          <a:p>
            <a:pPr lvl="1" eaLnBrk="1" hangingPunct="1">
              <a:spcBef>
                <a:spcPct val="0"/>
              </a:spcBef>
              <a:buFont typeface="Wingdings" panose="05000000000000000000" pitchFamily="2" charset="2"/>
              <a:buChar char="§"/>
            </a:pPr>
            <a:r>
              <a:rPr lang="fr-CA" altLang="fr-FR" sz="1600">
                <a:solidFill>
                  <a:schemeClr val="folHlink"/>
                </a:solidFill>
              </a:rPr>
              <a:t>Il est impératif que </a:t>
            </a:r>
            <a:r>
              <a:rPr lang="fr-CA" altLang="fr-FR" sz="1600">
                <a:solidFill>
                  <a:srgbClr val="FF9900"/>
                </a:solidFill>
              </a:rPr>
              <a:t>TOUTE</a:t>
            </a:r>
            <a:r>
              <a:rPr lang="fr-CA" altLang="fr-FR" sz="1600">
                <a:solidFill>
                  <a:schemeClr val="folHlink"/>
                </a:solidFill>
              </a:rPr>
              <a:t> écriture dans la mémoire vidéo et la mémoire des sprites se fasse durant le VBlank, au risque de faire dérailler l’affichage.</a:t>
            </a:r>
          </a:p>
          <a:p>
            <a:pPr eaLnBrk="1" hangingPunct="1">
              <a:spcBef>
                <a:spcPct val="0"/>
              </a:spcBef>
              <a:buFont typeface="Wingdings" panose="05000000000000000000" pitchFamily="2" charset="2"/>
              <a:buChar char="§"/>
            </a:pPr>
            <a:r>
              <a:rPr lang="fr-CA" altLang="fr-FR" sz="2000">
                <a:solidFill>
                  <a:srgbClr val="FFFF99"/>
                </a:solidFill>
              </a:rPr>
              <a:t>Les deux méthodes décrites plus haut peuvent être utilisées pour se synchroniser au VBlank.</a:t>
            </a:r>
          </a:p>
          <a:p>
            <a:pPr lvl="1" eaLnBrk="1" hangingPunct="1">
              <a:spcBef>
                <a:spcPct val="0"/>
              </a:spcBef>
              <a:buFont typeface="Wingdings" panose="05000000000000000000" pitchFamily="2" charset="2"/>
              <a:buChar char="§"/>
            </a:pPr>
            <a:r>
              <a:rPr lang="fr-CA" altLang="fr-FR" sz="1600">
                <a:solidFill>
                  <a:schemeClr val="folHlink"/>
                </a:solidFill>
              </a:rPr>
              <a:t>Par </a:t>
            </a:r>
            <a:r>
              <a:rPr lang="fr-CA" altLang="fr-FR" sz="1600">
                <a:solidFill>
                  <a:srgbClr val="FF9900"/>
                </a:solidFill>
              </a:rPr>
              <a:t>interrogation de bits d’état</a:t>
            </a:r>
            <a:r>
              <a:rPr lang="fr-CA" altLang="fr-FR" sz="1600">
                <a:solidFill>
                  <a:schemeClr val="folHlink"/>
                </a:solidFill>
              </a:rPr>
              <a:t> en lisant le bit 7 du </a:t>
            </a:r>
            <a:r>
              <a:rPr lang="fr-CA" altLang="fr-FR" sz="1600">
                <a:solidFill>
                  <a:srgbClr val="FF9900"/>
                </a:solidFill>
              </a:rPr>
              <a:t>registre d’état</a:t>
            </a:r>
            <a:r>
              <a:rPr lang="fr-CA" altLang="fr-FR" sz="1600">
                <a:solidFill>
                  <a:schemeClr val="folHlink"/>
                </a:solidFill>
              </a:rPr>
              <a:t> ($2002).</a:t>
            </a:r>
          </a:p>
          <a:p>
            <a:pPr lvl="1" eaLnBrk="1" hangingPunct="1">
              <a:spcBef>
                <a:spcPct val="0"/>
              </a:spcBef>
              <a:buFont typeface="Wingdings" panose="05000000000000000000" pitchFamily="2" charset="2"/>
              <a:buChar char="§"/>
            </a:pPr>
            <a:r>
              <a:rPr lang="fr-CA" altLang="fr-FR" sz="1600">
                <a:solidFill>
                  <a:schemeClr val="folHlink"/>
                </a:solidFill>
              </a:rPr>
              <a:t>Par </a:t>
            </a:r>
            <a:r>
              <a:rPr lang="fr-CA" altLang="fr-FR" sz="1600">
                <a:solidFill>
                  <a:srgbClr val="FF9900"/>
                </a:solidFill>
              </a:rPr>
              <a:t>interruption</a:t>
            </a:r>
            <a:r>
              <a:rPr lang="fr-CA" altLang="fr-FR" sz="1600">
                <a:solidFill>
                  <a:schemeClr val="folHlink"/>
                </a:solidFill>
              </a:rPr>
              <a:t> en activant les interruptions NMI avec le bit 7 du </a:t>
            </a:r>
            <a:r>
              <a:rPr lang="fr-CA" altLang="fr-FR" sz="1600">
                <a:solidFill>
                  <a:srgbClr val="FF9900"/>
                </a:solidFill>
              </a:rPr>
              <a:t>registre de commandes</a:t>
            </a:r>
            <a:r>
              <a:rPr lang="fr-CA" altLang="fr-FR" sz="1600">
                <a:solidFill>
                  <a:schemeClr val="folHlink"/>
                </a:solidFill>
              </a:rPr>
              <a:t> </a:t>
            </a:r>
            <a:r>
              <a:rPr lang="fr-CA" altLang="fr-FR" sz="1600">
                <a:solidFill>
                  <a:srgbClr val="FF9900"/>
                </a:solidFill>
              </a:rPr>
              <a:t>#1</a:t>
            </a:r>
            <a:r>
              <a:rPr lang="fr-CA" altLang="fr-FR" sz="1600">
                <a:solidFill>
                  <a:schemeClr val="folHlink"/>
                </a:solidFill>
              </a:rPr>
              <a:t> ($2000) et en codant une </a:t>
            </a:r>
            <a:r>
              <a:rPr lang="fr-CA" altLang="fr-FR" sz="1600" i="1">
                <a:solidFill>
                  <a:srgbClr val="FF9900"/>
                </a:solidFill>
              </a:rPr>
              <a:t>routine d’interruption</a:t>
            </a:r>
            <a:r>
              <a:rPr lang="fr-CA" altLang="fr-FR" sz="1600">
                <a:solidFill>
                  <a:schemeClr val="folHlink"/>
                </a:solidFill>
              </a:rPr>
              <a:t> pour gérer la situation </a:t>
            </a:r>
            <a:r>
              <a:rPr lang="fr-CA" altLang="fr-FR" sz="1600">
                <a:solidFill>
                  <a:srgbClr val="FF9900"/>
                </a:solidFill>
              </a:rPr>
              <a:t>[chapitre 12].</a:t>
            </a:r>
            <a:endParaRPr lang="en-US" altLang="fr-FR" sz="2400">
              <a:solidFill>
                <a:srgbClr val="FF9900"/>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2530" name="Rectangle 4">
            <a:extLst>
              <a:ext uri="{FF2B5EF4-FFF2-40B4-BE49-F238E27FC236}">
                <a16:creationId xmlns:a16="http://schemas.microsoft.com/office/drawing/2014/main" id="{EBC2C9FA-AC60-BC7B-F7FD-67EB88529E4A}"/>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2531" name="Text Box 5">
            <a:extLst>
              <a:ext uri="{FF2B5EF4-FFF2-40B4-BE49-F238E27FC236}">
                <a16:creationId xmlns:a16="http://schemas.microsoft.com/office/drawing/2014/main" id="{1317DE72-C229-C09C-F28C-E6DFB3B3F415}"/>
              </a:ext>
            </a:extLst>
          </p:cNvPr>
          <p:cNvSpPr txBox="1">
            <a:spLocks noChangeArrowheads="1"/>
          </p:cNvSpPr>
          <p:nvPr/>
        </p:nvSpPr>
        <p:spPr bwMode="auto">
          <a:xfrm>
            <a:off x="3375025" y="908050"/>
            <a:ext cx="23288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a:t>
            </a:r>
            <a:endParaRPr lang="en-US" altLang="fr-FR" sz="1600" u="sng">
              <a:solidFill>
                <a:srgbClr val="FF9900"/>
              </a:solidFill>
            </a:endParaRPr>
          </a:p>
        </p:txBody>
      </p:sp>
      <p:pic>
        <p:nvPicPr>
          <p:cNvPr id="22532" name="Picture 6" descr="21">
            <a:extLst>
              <a:ext uri="{FF2B5EF4-FFF2-40B4-BE49-F238E27FC236}">
                <a16:creationId xmlns:a16="http://schemas.microsoft.com/office/drawing/2014/main" id="{E750A33C-39C7-F6FE-3DB0-096C23A6C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3" name="Picture 7" descr="21">
            <a:extLst>
              <a:ext uri="{FF2B5EF4-FFF2-40B4-BE49-F238E27FC236}">
                <a16:creationId xmlns:a16="http://schemas.microsoft.com/office/drawing/2014/main" id="{646C08E6-C0D0-AB2C-E9BB-DDF44C659B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4" name="Text Box 8">
            <a:extLst>
              <a:ext uri="{FF2B5EF4-FFF2-40B4-BE49-F238E27FC236}">
                <a16:creationId xmlns:a16="http://schemas.microsoft.com/office/drawing/2014/main" id="{648ECE49-5E76-7B3A-FAA6-99610949A88C}"/>
              </a:ext>
            </a:extLst>
          </p:cNvPr>
          <p:cNvSpPr txBox="1">
            <a:spLocks noChangeArrowheads="1"/>
          </p:cNvSpPr>
          <p:nvPr/>
        </p:nvSpPr>
        <p:spPr bwMode="auto">
          <a:xfrm>
            <a:off x="358775" y="1268413"/>
            <a:ext cx="8785225" cy="540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 typeface="Wingdings" panose="05000000000000000000" pitchFamily="2" charset="2"/>
              <a:buChar char="§"/>
            </a:pPr>
            <a:r>
              <a:rPr lang="fr-CA" altLang="fr-FR" sz="2000">
                <a:solidFill>
                  <a:srgbClr val="FFFF99"/>
                </a:solidFill>
              </a:rPr>
              <a:t>Pour écrire dans la mémoire des sprites, on dispose de deux méthodes:</a:t>
            </a:r>
          </a:p>
          <a:p>
            <a:pPr lvl="1" eaLnBrk="1" hangingPunct="1">
              <a:spcBef>
                <a:spcPct val="0"/>
              </a:spcBef>
              <a:buFont typeface="Wingdings" panose="05000000000000000000" pitchFamily="2" charset="2"/>
              <a:buChar char="§"/>
            </a:pPr>
            <a:r>
              <a:rPr lang="fr-CA" altLang="fr-FR" sz="1600">
                <a:solidFill>
                  <a:schemeClr val="folHlink"/>
                </a:solidFill>
              </a:rPr>
              <a:t>On peut écrire le numéro d’octet à modifier (0 à 255) dans $2003 (le registre d’index pour la mémoire des sprites)  pour ensuite écrire la nouvelle valeur de cet octet dans $2004. Cette technique s’applique mieux à des petites modifications discrètes aux sprites.</a:t>
            </a:r>
          </a:p>
          <a:p>
            <a:pPr lvl="1" eaLnBrk="1" hangingPunct="1">
              <a:spcBef>
                <a:spcPct val="0"/>
              </a:spcBef>
              <a:buFont typeface="Wingdings" panose="05000000000000000000" pitchFamily="2" charset="2"/>
              <a:buChar char="§"/>
            </a:pPr>
            <a:r>
              <a:rPr lang="fr-CA" altLang="fr-FR" sz="1600">
                <a:solidFill>
                  <a:schemeClr val="accent1"/>
                </a:solidFill>
              </a:rPr>
              <a:t>On peut aussi écrire un numéro de segment de 256 octets de la mémoire RAM ($00 à $07, la RAM s’étendant de $0000 à $07FF) dans le registre $4014.  Cette opération a pour effet de copier les 256 octets choisis de la RAM à la mémoire des sprites d’un coup.  Cette technique se nomme </a:t>
            </a:r>
            <a:r>
              <a:rPr lang="fr-CA" altLang="fr-FR" sz="1600" i="1">
                <a:solidFill>
                  <a:srgbClr val="FF9900"/>
                </a:solidFill>
              </a:rPr>
              <a:t>accès direct à la mémoire</a:t>
            </a:r>
            <a:r>
              <a:rPr lang="fr-CA" altLang="fr-FR" sz="1600">
                <a:solidFill>
                  <a:schemeClr val="accent1"/>
                </a:solidFill>
              </a:rPr>
              <a:t> (DMA) et s’applique mieux à la modification d’un grand ensemble de sprites en même temps.</a:t>
            </a:r>
            <a:endParaRPr lang="fr-CA" altLang="fr-FR" sz="2000">
              <a:solidFill>
                <a:schemeClr val="accent1"/>
              </a:solidFill>
            </a:endParaRPr>
          </a:p>
          <a:p>
            <a:pPr eaLnBrk="1" hangingPunct="1">
              <a:spcBef>
                <a:spcPct val="0"/>
              </a:spcBef>
              <a:buFont typeface="Wingdings" panose="05000000000000000000" pitchFamily="2" charset="2"/>
              <a:buChar char="§"/>
            </a:pPr>
            <a:r>
              <a:rPr lang="fr-CA" altLang="fr-FR" sz="2000">
                <a:solidFill>
                  <a:srgbClr val="FFFF99"/>
                </a:solidFill>
              </a:rPr>
              <a:t>L’accès à la mémoire vidéo (tables de schémas, de noms et palettes) se fait toujours à l’aide de $2006 et $2007.</a:t>
            </a:r>
          </a:p>
          <a:p>
            <a:pPr lvl="1" eaLnBrk="1" hangingPunct="1">
              <a:spcBef>
                <a:spcPct val="0"/>
              </a:spcBef>
              <a:buFont typeface="Wingdings" panose="05000000000000000000" pitchFamily="2" charset="2"/>
              <a:buChar char="§"/>
            </a:pPr>
            <a:r>
              <a:rPr lang="fr-CA" altLang="fr-FR" sz="1600">
                <a:solidFill>
                  <a:schemeClr val="folHlink"/>
                </a:solidFill>
              </a:rPr>
              <a:t>$2006 est relié à un registre d’index de 16 bits.  Cet index représente l’adresse dans la mémoire vidéo à laquelle on veut lire ou écrire.  Pour modifier cette adresse, il faut faire </a:t>
            </a:r>
            <a:r>
              <a:rPr lang="fr-CA" altLang="fr-FR" sz="1600">
                <a:solidFill>
                  <a:srgbClr val="FF9900"/>
                </a:solidFill>
              </a:rPr>
              <a:t>deux</a:t>
            </a:r>
            <a:r>
              <a:rPr lang="fr-CA" altLang="fr-FR" sz="1600">
                <a:solidFill>
                  <a:schemeClr val="folHlink"/>
                </a:solidFill>
              </a:rPr>
              <a:t> écritures consécutives dans $2006, en commençant par </a:t>
            </a:r>
            <a:r>
              <a:rPr lang="fr-CA" altLang="fr-FR" sz="1600">
                <a:solidFill>
                  <a:srgbClr val="FF9900"/>
                </a:solidFill>
              </a:rPr>
              <a:t>l’octet le plus significatif</a:t>
            </a:r>
            <a:r>
              <a:rPr lang="fr-CA" altLang="fr-FR" sz="1600">
                <a:solidFill>
                  <a:schemeClr val="folHlink"/>
                </a:solidFill>
              </a:rPr>
              <a:t> de l’adresse.</a:t>
            </a:r>
          </a:p>
          <a:p>
            <a:pPr lvl="1" eaLnBrk="1" hangingPunct="1">
              <a:spcBef>
                <a:spcPct val="0"/>
              </a:spcBef>
              <a:buFont typeface="Wingdings" panose="05000000000000000000" pitchFamily="2" charset="2"/>
              <a:buChar char="§"/>
            </a:pPr>
            <a:r>
              <a:rPr lang="fr-CA" altLang="fr-FR" sz="1600">
                <a:solidFill>
                  <a:schemeClr val="accent1"/>
                </a:solidFill>
              </a:rPr>
              <a:t>Pour lire ou écrire un octet de la mémoire vidéo, il suffit de lire ou écrire à $2007.</a:t>
            </a:r>
          </a:p>
          <a:p>
            <a:pPr lvl="1" eaLnBrk="1" hangingPunct="1">
              <a:spcBef>
                <a:spcPct val="0"/>
              </a:spcBef>
              <a:buFont typeface="Wingdings" panose="05000000000000000000" pitchFamily="2" charset="2"/>
              <a:buChar char="§"/>
            </a:pPr>
            <a:r>
              <a:rPr lang="fr-CA" altLang="fr-FR" sz="1600">
                <a:solidFill>
                  <a:schemeClr val="folHlink"/>
                </a:solidFill>
              </a:rPr>
              <a:t>L’index ($2006) est </a:t>
            </a:r>
            <a:r>
              <a:rPr lang="fr-CA" altLang="fr-FR" sz="1600">
                <a:solidFill>
                  <a:srgbClr val="FF9900"/>
                </a:solidFill>
              </a:rPr>
              <a:t>automatiquement incrémenté</a:t>
            </a:r>
            <a:r>
              <a:rPr lang="fr-CA" altLang="fr-FR" sz="1600">
                <a:solidFill>
                  <a:schemeClr val="folHlink"/>
                </a:solidFill>
              </a:rPr>
              <a:t> à chaque lecture ou écriture dans $2007.  Cet index est incrémenté de 1 ou de 32 selon la valeur du bit 2 de $2000.</a:t>
            </a:r>
          </a:p>
          <a:p>
            <a:pPr lvl="1" eaLnBrk="1" hangingPunct="1">
              <a:spcBef>
                <a:spcPct val="0"/>
              </a:spcBef>
              <a:buFont typeface="Wingdings" panose="05000000000000000000" pitchFamily="2" charset="2"/>
              <a:buChar char="§"/>
            </a:pPr>
            <a:r>
              <a:rPr lang="fr-CA" altLang="fr-FR" sz="1600">
                <a:solidFill>
                  <a:schemeClr val="folHlink"/>
                </a:solidFill>
              </a:rPr>
              <a:t>La première </a:t>
            </a:r>
            <a:r>
              <a:rPr lang="fr-CA" altLang="fr-FR" sz="1600">
                <a:solidFill>
                  <a:srgbClr val="FF9900"/>
                </a:solidFill>
              </a:rPr>
              <a:t>lecture </a:t>
            </a:r>
            <a:r>
              <a:rPr lang="fr-CA" altLang="fr-FR" sz="1600">
                <a:solidFill>
                  <a:schemeClr val="folHlink"/>
                </a:solidFill>
              </a:rPr>
              <a:t>faite sur $2007 après un changement de l’adresse via $2006 (ne s’applique pas durant les auto-incréments entre les lectures) retourne toujours une donnée invalide.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F60E1B62-9391-4E4C-1622-505892D3A8A0}"/>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3555" name="Text Box 5">
            <a:extLst>
              <a:ext uri="{FF2B5EF4-FFF2-40B4-BE49-F238E27FC236}">
                <a16:creationId xmlns:a16="http://schemas.microsoft.com/office/drawing/2014/main" id="{14F7CADE-9AD3-29A7-415D-5BF7E9D28479}"/>
              </a:ext>
            </a:extLst>
          </p:cNvPr>
          <p:cNvSpPr txBox="1">
            <a:spLocks noChangeArrowheads="1"/>
          </p:cNvSpPr>
          <p:nvPr/>
        </p:nvSpPr>
        <p:spPr bwMode="auto">
          <a:xfrm>
            <a:off x="2938463" y="908050"/>
            <a:ext cx="320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 exemple</a:t>
            </a:r>
            <a:endParaRPr lang="en-US" altLang="fr-FR" sz="1600" u="sng">
              <a:solidFill>
                <a:srgbClr val="FF9900"/>
              </a:solidFill>
            </a:endParaRPr>
          </a:p>
        </p:txBody>
      </p:sp>
      <p:pic>
        <p:nvPicPr>
          <p:cNvPr id="23556" name="Picture 6" descr="21">
            <a:extLst>
              <a:ext uri="{FF2B5EF4-FFF2-40B4-BE49-F238E27FC236}">
                <a16:creationId xmlns:a16="http://schemas.microsoft.com/office/drawing/2014/main" id="{30D88D23-11E1-652E-E962-B3C2563384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7" descr="21">
            <a:extLst>
              <a:ext uri="{FF2B5EF4-FFF2-40B4-BE49-F238E27FC236}">
                <a16:creationId xmlns:a16="http://schemas.microsoft.com/office/drawing/2014/main" id="{8667A516-EC34-6664-B865-C7CAD43AA8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1" name="Text Box 9">
            <a:extLst>
              <a:ext uri="{FF2B5EF4-FFF2-40B4-BE49-F238E27FC236}">
                <a16:creationId xmlns:a16="http://schemas.microsoft.com/office/drawing/2014/main" id="{8250451D-C5AE-BF94-FE79-37572217009A}"/>
              </a:ext>
            </a:extLst>
          </p:cNvPr>
          <p:cNvSpPr txBox="1">
            <a:spLocks noChangeArrowheads="1"/>
          </p:cNvSpPr>
          <p:nvPr/>
        </p:nvSpPr>
        <p:spPr bwMode="auto">
          <a:xfrm>
            <a:off x="179388" y="1484313"/>
            <a:ext cx="8785225"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;Programme qui charge un personnage dans la mémoire des sprites</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.inesprg  1		;La cartouche contient un segment de PRG-ROM</a:t>
            </a:r>
          </a:p>
          <a:p>
            <a:pPr eaLnBrk="1" hangingPunct="1">
              <a:spcBef>
                <a:spcPct val="0"/>
              </a:spcBef>
              <a:buFontTx/>
              <a:buNone/>
            </a:pPr>
            <a:r>
              <a:rPr lang="en-US" altLang="fr-FR" sz="1200" b="1">
                <a:solidFill>
                  <a:srgbClr val="FFFF99"/>
                </a:solidFill>
              </a:rPr>
              <a:t> .ineschr  1		;La cartouche contient un segment de CHR-ROM</a:t>
            </a:r>
          </a:p>
          <a:p>
            <a:pPr eaLnBrk="1" hangingPunct="1">
              <a:spcBef>
                <a:spcPct val="0"/>
              </a:spcBef>
              <a:buFontTx/>
              <a:buNone/>
            </a:pPr>
            <a:r>
              <a:rPr lang="en-US" altLang="fr-FR" sz="1200" b="1">
                <a:solidFill>
                  <a:srgbClr val="FFFF99"/>
                </a:solidFill>
              </a:rPr>
              <a:t> .inesmir  0		;Le type de miroir des tables de nom est 0: horizontal</a:t>
            </a:r>
          </a:p>
          <a:p>
            <a:pPr eaLnBrk="1" hangingPunct="1">
              <a:spcBef>
                <a:spcPct val="0"/>
              </a:spcBef>
              <a:buFontTx/>
              <a:buNone/>
            </a:pPr>
            <a:r>
              <a:rPr lang="en-US" altLang="fr-FR" sz="1200" b="1">
                <a:solidFill>
                  <a:srgbClr val="FFFF99"/>
                </a:solidFill>
              </a:rPr>
              <a:t> .inesmap  0		;Type de MMU 0: aucun MMU</a:t>
            </a:r>
          </a:p>
          <a:p>
            <a:pPr eaLnBrk="1" hangingPunct="1">
              <a:spcBef>
                <a:spcPct val="0"/>
              </a:spcBef>
              <a:buFontTx/>
              <a:buNone/>
            </a:pPr>
            <a:endParaRPr lang="en-US" altLang="fr-FR" sz="1200" b="1">
              <a:solidFill>
                <a:srgbClr val="FFFF99"/>
              </a:solidFill>
            </a:endParaRP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;Memoire des sprites.  Le segment $700 - $7FF est entièrement dédié aux sprites.</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.bss</a:t>
            </a:r>
          </a:p>
          <a:p>
            <a:pPr eaLnBrk="1" hangingPunct="1">
              <a:spcBef>
                <a:spcPct val="0"/>
              </a:spcBef>
              <a:buFontTx/>
              <a:buNone/>
            </a:pPr>
            <a:r>
              <a:rPr lang="en-US" altLang="fr-FR" sz="1200" b="1">
                <a:solidFill>
                  <a:srgbClr val="FFFF99"/>
                </a:solidFill>
              </a:rPr>
              <a:t>	;Sprite #0: partie gauche de la tête de Mario</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MARIO.HEADLEFT.Y = $700		;Coordonnée Y</a:t>
            </a:r>
          </a:p>
          <a:p>
            <a:pPr eaLnBrk="1" hangingPunct="1">
              <a:spcBef>
                <a:spcPct val="0"/>
              </a:spcBef>
              <a:buFontTx/>
              <a:buNone/>
            </a:pPr>
            <a:r>
              <a:rPr lang="en-US" altLang="fr-FR" sz="1200" b="1">
                <a:solidFill>
                  <a:srgbClr val="FFFF99"/>
                </a:solidFill>
              </a:rPr>
              <a:t>	MARIO.HEADLEFT.T = $701		;Numéro de Tuile</a:t>
            </a:r>
          </a:p>
          <a:p>
            <a:pPr eaLnBrk="1" hangingPunct="1">
              <a:spcBef>
                <a:spcPct val="0"/>
              </a:spcBef>
              <a:buFontTx/>
              <a:buNone/>
            </a:pPr>
            <a:r>
              <a:rPr lang="en-US" altLang="fr-FR" sz="1200" b="1">
                <a:solidFill>
                  <a:srgbClr val="FFFF99"/>
                </a:solidFill>
              </a:rPr>
              <a:t>	MARIO.HEADLEFT.S = $702		;Attributs du Sprite</a:t>
            </a:r>
          </a:p>
          <a:p>
            <a:pPr eaLnBrk="1" hangingPunct="1">
              <a:spcBef>
                <a:spcPct val="0"/>
              </a:spcBef>
              <a:buFontTx/>
              <a:buNone/>
            </a:pPr>
            <a:r>
              <a:rPr lang="en-US" altLang="fr-FR" sz="1200" b="1">
                <a:solidFill>
                  <a:srgbClr val="FFFF99"/>
                </a:solidFill>
              </a:rPr>
              <a:t>	MARIO.HEADLEFT.X = $703		;Coordonnée X</a:t>
            </a:r>
          </a:p>
          <a:p>
            <a:pPr eaLnBrk="1" hangingPunct="1">
              <a:spcBef>
                <a:spcPct val="0"/>
              </a:spcBef>
              <a:buFontTx/>
              <a:buNone/>
            </a:pPr>
            <a:r>
              <a:rPr lang="fr-CA" altLang="fr-FR" sz="1200" b="1">
                <a:solidFill>
                  <a:srgbClr val="FFFF99"/>
                </a:solidFill>
              </a:rPr>
              <a:t>		...</a:t>
            </a:r>
            <a:endParaRPr lang="en-US" altLang="fr-FR" sz="1200" b="1">
              <a:solidFill>
                <a:srgbClr val="FFFF99"/>
              </a:solidFill>
            </a:endParaRP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MARIO.HEADRIGHT.Y = $704</a:t>
            </a: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MARIO.CHESTLEFT.Y = $708</a:t>
            </a:r>
          </a:p>
          <a:p>
            <a:pPr eaLnBrk="1" hangingPunct="1">
              <a:spcBef>
                <a:spcPct val="0"/>
              </a:spcBef>
              <a:buFontTx/>
              <a:buNone/>
            </a:pPr>
            <a:r>
              <a:rPr lang="en-US" altLang="fr-FR" sz="1200" b="1">
                <a:solidFill>
                  <a:srgbClr val="FFFF99"/>
                </a:solidFill>
              </a:rPr>
              <a:t>		...	</a:t>
            </a:r>
          </a:p>
          <a:p>
            <a:pPr eaLnBrk="1" hangingPunct="1">
              <a:spcBef>
                <a:spcPct val="0"/>
              </a:spcBef>
              <a:buFontTx/>
              <a:buNone/>
            </a:pPr>
            <a:r>
              <a:rPr lang="en-US" altLang="fr-FR" sz="1200" b="1">
                <a:solidFill>
                  <a:srgbClr val="FFFF99"/>
                </a:solidFill>
              </a:rPr>
              <a:t>	MARIO.CHESTRIGHT.Y = $70C</a:t>
            </a:r>
          </a:p>
          <a:p>
            <a:pPr eaLnBrk="1" hangingPunct="1">
              <a:spcBef>
                <a:spcPct val="0"/>
              </a:spcBef>
              <a:buFontTx/>
              <a:buNone/>
            </a:pPr>
            <a:r>
              <a:rPr lang="en-US" altLang="fr-FR" sz="1200" b="1">
                <a:solidFill>
                  <a:srgbClr val="FFFF99"/>
                </a:solidFill>
              </a:rPr>
              <a:t>		...	</a:t>
            </a: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MARIO.BELLYLEFT.Y = $710</a:t>
            </a:r>
          </a:p>
          <a:p>
            <a:pPr eaLnBrk="1" hangingPunct="1">
              <a:spcBef>
                <a:spcPct val="0"/>
              </a:spcBef>
              <a:buFontTx/>
              <a:buNone/>
            </a:pPr>
            <a:r>
              <a:rPr lang="en-US" altLang="fr-FR" sz="1200" b="1">
                <a:solidFill>
                  <a:srgbClr val="FFFF99"/>
                </a:solidFill>
              </a:rPr>
              <a:t>		...	</a:t>
            </a:r>
          </a:p>
        </p:txBody>
      </p:sp>
      <p:sp>
        <p:nvSpPr>
          <p:cNvPr id="79882" name="Text Box 10">
            <a:extLst>
              <a:ext uri="{FF2B5EF4-FFF2-40B4-BE49-F238E27FC236}">
                <a16:creationId xmlns:a16="http://schemas.microsoft.com/office/drawing/2014/main" id="{B14F71DD-BB26-CC67-2848-B666DD883301}"/>
              </a:ext>
            </a:extLst>
          </p:cNvPr>
          <p:cNvSpPr txBox="1">
            <a:spLocks noChangeArrowheads="1"/>
          </p:cNvSpPr>
          <p:nvPr/>
        </p:nvSpPr>
        <p:spPr bwMode="auto">
          <a:xfrm>
            <a:off x="179388" y="7100888"/>
            <a:ext cx="8785225" cy="249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MARIO.BELLYRIGHT.Y = $714</a:t>
            </a:r>
          </a:p>
          <a:p>
            <a:pPr eaLnBrk="1" hangingPunct="1">
              <a:spcBef>
                <a:spcPct val="0"/>
              </a:spcBef>
              <a:buFontTx/>
              <a:buNone/>
            </a:pPr>
            <a:r>
              <a:rPr lang="en-US" altLang="fr-FR" sz="1200" b="1">
                <a:solidFill>
                  <a:srgbClr val="FFFF99"/>
                </a:solidFill>
              </a:rPr>
              <a:t>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MARIO.FEETLEFT.Y = $718</a:t>
            </a:r>
          </a:p>
          <a:p>
            <a:pPr lvl="1" eaLnBrk="1" hangingPunct="1">
              <a:spcBef>
                <a:spcPct val="0"/>
              </a:spcBef>
              <a:buFontTx/>
              <a:buNone/>
            </a:pPr>
            <a:r>
              <a:rPr lang="en-US" altLang="fr-FR" sz="1200" b="1">
                <a:solidFill>
                  <a:srgbClr val="FFFF99"/>
                </a:solidFill>
              </a:rPr>
              <a:t>		...</a:t>
            </a:r>
          </a:p>
          <a:p>
            <a:pPr lvl="1"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;Sprite #7: partie droite des pieds de Mario</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MARIO.FEETRIGHT.Y = $71C</a:t>
            </a:r>
          </a:p>
          <a:p>
            <a:pPr eaLnBrk="1" hangingPunct="1">
              <a:spcBef>
                <a:spcPct val="0"/>
              </a:spcBef>
              <a:buFontTx/>
              <a:buNone/>
            </a:pPr>
            <a:r>
              <a:rPr lang="en-US" altLang="fr-FR" sz="1200" b="1">
                <a:solidFill>
                  <a:srgbClr val="FFFF99"/>
                </a:solidFill>
              </a:rPr>
              <a:t>	MARIO.FEETRIGHT.T = $71D</a:t>
            </a:r>
          </a:p>
          <a:p>
            <a:pPr eaLnBrk="1" hangingPunct="1">
              <a:spcBef>
                <a:spcPct val="0"/>
              </a:spcBef>
              <a:buFontTx/>
              <a:buNone/>
            </a:pPr>
            <a:r>
              <a:rPr lang="en-US" altLang="fr-FR" sz="1200" b="1">
                <a:solidFill>
                  <a:srgbClr val="FFFF99"/>
                </a:solidFill>
              </a:rPr>
              <a:t>	MARIO.FEETRIGHT.S = $71E</a:t>
            </a:r>
          </a:p>
          <a:p>
            <a:pPr eaLnBrk="1" hangingPunct="1">
              <a:spcBef>
                <a:spcPct val="0"/>
              </a:spcBef>
              <a:buFontTx/>
              <a:buNone/>
            </a:pPr>
            <a:r>
              <a:rPr lang="en-US" altLang="fr-FR" sz="1200" b="1">
                <a:solidFill>
                  <a:srgbClr val="FFFF99"/>
                </a:solidFill>
              </a:rPr>
              <a:t>	MARIO.FEETRIGHT.X = $71F</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881"/>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0 3.7037E-6 L 0 -0.77801 " pathEditMode="relative" rAng="0" ptsTypes="AA">
                                      <p:cBhvr>
                                        <p:cTn id="8" dur="2000" fill="hold"/>
                                        <p:tgtEl>
                                          <p:spTgt spid="79882"/>
                                        </p:tgtEl>
                                        <p:attrNameLst>
                                          <p:attrName>ppt_x</p:attrName>
                                          <p:attrName>ppt_y</p:attrName>
                                        </p:attrNameLst>
                                      </p:cBhvr>
                                      <p:rCtr x="0" y="-389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1" grpId="0"/>
      <p:bldP spid="7988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4578" name="Rectangle 4">
            <a:extLst>
              <a:ext uri="{FF2B5EF4-FFF2-40B4-BE49-F238E27FC236}">
                <a16:creationId xmlns:a16="http://schemas.microsoft.com/office/drawing/2014/main" id="{AFE9B4FF-C20E-7340-E84D-529FE3EEDD37}"/>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4579" name="Text Box 5">
            <a:extLst>
              <a:ext uri="{FF2B5EF4-FFF2-40B4-BE49-F238E27FC236}">
                <a16:creationId xmlns:a16="http://schemas.microsoft.com/office/drawing/2014/main" id="{7B3E9309-9BB1-9C89-8532-6CF4744F8E2A}"/>
              </a:ext>
            </a:extLst>
          </p:cNvPr>
          <p:cNvSpPr txBox="1">
            <a:spLocks noChangeArrowheads="1"/>
          </p:cNvSpPr>
          <p:nvPr/>
        </p:nvSpPr>
        <p:spPr bwMode="auto">
          <a:xfrm>
            <a:off x="2938463" y="908050"/>
            <a:ext cx="320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 exemple</a:t>
            </a:r>
            <a:endParaRPr lang="en-US" altLang="fr-FR" sz="1600" u="sng">
              <a:solidFill>
                <a:srgbClr val="FF9900"/>
              </a:solidFill>
            </a:endParaRPr>
          </a:p>
        </p:txBody>
      </p:sp>
      <p:pic>
        <p:nvPicPr>
          <p:cNvPr id="24580" name="Picture 6" descr="21">
            <a:extLst>
              <a:ext uri="{FF2B5EF4-FFF2-40B4-BE49-F238E27FC236}">
                <a16:creationId xmlns:a16="http://schemas.microsoft.com/office/drawing/2014/main" id="{80963026-E33E-264D-7028-D4467FCD2A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81" name="Picture 7" descr="21">
            <a:extLst>
              <a:ext uri="{FF2B5EF4-FFF2-40B4-BE49-F238E27FC236}">
                <a16:creationId xmlns:a16="http://schemas.microsoft.com/office/drawing/2014/main" id="{86A2F6E7-E04E-0400-9FCB-62D9C785FC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4" name="Text Box 8">
            <a:extLst>
              <a:ext uri="{FF2B5EF4-FFF2-40B4-BE49-F238E27FC236}">
                <a16:creationId xmlns:a16="http://schemas.microsoft.com/office/drawing/2014/main" id="{4030C1A6-93DB-22AA-095C-C937556A0973}"/>
              </a:ext>
            </a:extLst>
          </p:cNvPr>
          <p:cNvSpPr txBox="1">
            <a:spLocks noChangeArrowheads="1"/>
          </p:cNvSpPr>
          <p:nvPr/>
        </p:nvSpPr>
        <p:spPr bwMode="auto">
          <a:xfrm>
            <a:off x="179388" y="1484313"/>
            <a:ext cx="8785225" cy="397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 .code		;Segment de code</a:t>
            </a:r>
          </a:p>
          <a:p>
            <a:pPr eaLnBrk="1" hangingPunct="1">
              <a:spcBef>
                <a:spcPct val="0"/>
              </a:spcBef>
              <a:buFontTx/>
              <a:buNone/>
            </a:pPr>
            <a:r>
              <a:rPr lang="en-US" altLang="fr-FR" sz="1200" b="1">
                <a:solidFill>
                  <a:srgbClr val="FFFF99"/>
                </a:solidFill>
              </a:rPr>
              <a:t> .org $c000		;débutant à l'adresse $C000 (banque PRG #0)</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;Fonction main.  Appelée lors d'une interruption Reset.</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main:</a:t>
            </a:r>
          </a:p>
          <a:p>
            <a:pPr eaLnBrk="1" hangingPunct="1">
              <a:spcBef>
                <a:spcPct val="0"/>
              </a:spcBef>
              <a:buFontTx/>
              <a:buNone/>
            </a:pPr>
            <a:r>
              <a:rPr lang="en-US" altLang="fr-FR" sz="1200" b="1">
                <a:solidFill>
                  <a:srgbClr val="FFFF99"/>
                </a:solidFill>
              </a:rPr>
              <a:t>	sei		;Interdit les interruptions IRQ et BRK</a:t>
            </a:r>
          </a:p>
          <a:p>
            <a:pPr eaLnBrk="1" hangingPunct="1">
              <a:spcBef>
                <a:spcPct val="0"/>
              </a:spcBef>
              <a:buFontTx/>
              <a:buNone/>
            </a:pPr>
            <a:r>
              <a:rPr lang="en-US" altLang="fr-FR" sz="1200" b="1">
                <a:solidFill>
                  <a:srgbClr val="FFFF99"/>
                </a:solidFill>
              </a:rPr>
              <a:t> 	cld		;Mode décimal désactivé</a:t>
            </a:r>
          </a:p>
          <a:p>
            <a:pPr eaLnBrk="1" hangingPunct="1">
              <a:spcBef>
                <a:spcPct val="0"/>
              </a:spcBef>
              <a:buFontTx/>
              <a:buNone/>
            </a:pPr>
            <a:r>
              <a:rPr lang="en-US" altLang="fr-FR" sz="1200" b="1">
                <a:solidFill>
                  <a:srgbClr val="FFFF99"/>
                </a:solidFill>
              </a:rPr>
              <a:t> 	ldx #$ff		;Prépare le pointeur de pile...</a:t>
            </a:r>
          </a:p>
          <a:p>
            <a:pPr eaLnBrk="1" hangingPunct="1">
              <a:spcBef>
                <a:spcPct val="0"/>
              </a:spcBef>
              <a:buFontTx/>
              <a:buNone/>
            </a:pPr>
            <a:r>
              <a:rPr lang="en-US" altLang="fr-FR" sz="1200" b="1">
                <a:solidFill>
                  <a:srgbClr val="FFFF99"/>
                </a:solidFill>
              </a:rPr>
              <a:t>	txs		;Pointeur de pile initialisé au dessus de la pile</a:t>
            </a:r>
          </a:p>
          <a:p>
            <a:pPr eaLnBrk="1" hangingPunct="1">
              <a:spcBef>
                <a:spcPct val="0"/>
              </a:spcBef>
              <a:buFontTx/>
              <a:buNone/>
            </a:pPr>
            <a:r>
              <a:rPr lang="en-US" altLang="fr-FR" sz="1200" b="1">
                <a:solidFill>
                  <a:srgbClr val="FFFF99"/>
                </a:solidFill>
              </a:rPr>
              <a:t> 	inx		;place la valeur 0 dans X</a:t>
            </a:r>
          </a:p>
          <a:p>
            <a:pPr eaLnBrk="1" hangingPunct="1">
              <a:spcBef>
                <a:spcPct val="0"/>
              </a:spcBef>
              <a:buFontTx/>
              <a:buNone/>
            </a:pPr>
            <a:endParaRPr lang="en-US" altLang="fr-FR" sz="1200" b="1">
              <a:solidFill>
                <a:srgbClr val="FFFF99"/>
              </a:solidFill>
            </a:endParaRP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stx $2000		;Initialise le PPU temporairement: NMI désactivées</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jsr InitSpriteMem	;fonction qui met à zéro la mémoire des sprites</a:t>
            </a:r>
          </a:p>
          <a:p>
            <a:pPr eaLnBrk="1" hangingPunct="1">
              <a:spcBef>
                <a:spcPct val="0"/>
              </a:spcBef>
              <a:buFontTx/>
              <a:buNone/>
            </a:pPr>
            <a:r>
              <a:rPr lang="en-US" altLang="fr-FR" sz="1200" b="1">
                <a:solidFill>
                  <a:srgbClr val="FFFF99"/>
                </a:solidFill>
              </a:rPr>
              <a:t>	jsr palette		;fonction qui initialise les palettes </a:t>
            </a:r>
          </a:p>
          <a:p>
            <a:pPr eaLnBrk="1" hangingPunct="1">
              <a:spcBef>
                <a:spcPct val="0"/>
              </a:spcBef>
              <a:buFontTx/>
              <a:buNone/>
            </a:pPr>
            <a:r>
              <a:rPr lang="en-US" altLang="fr-FR" sz="1200" b="1">
                <a:solidFill>
                  <a:srgbClr val="FFFF99"/>
                </a:solidFill>
              </a:rPr>
              <a:t>	jsr Dessiner		;fonction qui dessine le personnage</a:t>
            </a:r>
          </a:p>
          <a:p>
            <a:pPr eaLnBrk="1" hangingPunct="1">
              <a:spcBef>
                <a:spcPct val="0"/>
              </a:spcBef>
              <a:buFontTx/>
              <a:buNone/>
            </a:pPr>
            <a:r>
              <a:rPr lang="en-US" altLang="fr-FR" sz="1200" b="1">
                <a:solidFill>
                  <a:srgbClr val="FFFF99"/>
                </a:solidFill>
              </a:rPr>
              <a:t>	jsr UpdateSprites 	;fonction qui copie l'information dans la mémoire des sprites</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a:t>
            </a:r>
          </a:p>
        </p:txBody>
      </p:sp>
      <p:sp>
        <p:nvSpPr>
          <p:cNvPr id="80905" name="Text Box 9">
            <a:extLst>
              <a:ext uri="{FF2B5EF4-FFF2-40B4-BE49-F238E27FC236}">
                <a16:creationId xmlns:a16="http://schemas.microsoft.com/office/drawing/2014/main" id="{DA68BDAE-38A4-9ECD-6D7B-A2156E0A5562}"/>
              </a:ext>
            </a:extLst>
          </p:cNvPr>
          <p:cNvSpPr txBox="1">
            <a:spLocks noChangeArrowheads="1"/>
          </p:cNvSpPr>
          <p:nvPr/>
        </p:nvSpPr>
        <p:spPr bwMode="auto">
          <a:xfrm>
            <a:off x="179388" y="7100888"/>
            <a:ext cx="8785225"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;Initialise le PPU:</a:t>
            </a:r>
          </a:p>
          <a:p>
            <a:pPr eaLnBrk="1" hangingPunct="1">
              <a:spcBef>
                <a:spcPct val="0"/>
              </a:spcBef>
              <a:buFontTx/>
              <a:buNone/>
            </a:pPr>
            <a:r>
              <a:rPr lang="en-US" altLang="fr-FR" sz="1200" b="1">
                <a:solidFill>
                  <a:srgbClr val="FFFF99"/>
                </a:solidFill>
              </a:rPr>
              <a:t>	; ($2000)</a:t>
            </a:r>
          </a:p>
          <a:p>
            <a:pPr eaLnBrk="1" hangingPunct="1">
              <a:spcBef>
                <a:spcPct val="0"/>
              </a:spcBef>
              <a:buFontTx/>
              <a:buNone/>
            </a:pPr>
            <a:r>
              <a:rPr lang="en-US" altLang="fr-FR" sz="1200" b="1">
                <a:solidFill>
                  <a:srgbClr val="FFFF99"/>
                </a:solidFill>
              </a:rPr>
              <a:t>	;-Interruptions NMI désactivées</a:t>
            </a:r>
          </a:p>
          <a:p>
            <a:pPr eaLnBrk="1" hangingPunct="1">
              <a:spcBef>
                <a:spcPct val="0"/>
              </a:spcBef>
              <a:buFontTx/>
              <a:buNone/>
            </a:pPr>
            <a:r>
              <a:rPr lang="en-US" altLang="fr-FR" sz="1200" b="1">
                <a:solidFill>
                  <a:srgbClr val="FFFF99"/>
                </a:solidFill>
              </a:rPr>
              <a:t>	;-Grandeur des sprites: 8x8</a:t>
            </a:r>
          </a:p>
          <a:p>
            <a:pPr eaLnBrk="1" hangingPunct="1">
              <a:spcBef>
                <a:spcPct val="0"/>
              </a:spcBef>
              <a:buFontTx/>
              <a:buNone/>
            </a:pPr>
            <a:r>
              <a:rPr lang="en-US" altLang="fr-FR" sz="1200" b="1">
                <a:solidFill>
                  <a:srgbClr val="FFFF99"/>
                </a:solidFill>
              </a:rPr>
              <a:t>	;-table de schémas pour l'arrière-plan: #0</a:t>
            </a:r>
          </a:p>
          <a:p>
            <a:pPr eaLnBrk="1" hangingPunct="1">
              <a:spcBef>
                <a:spcPct val="0"/>
              </a:spcBef>
              <a:buFontTx/>
              <a:buNone/>
            </a:pPr>
            <a:r>
              <a:rPr lang="en-US" altLang="fr-FR" sz="1200" b="1">
                <a:solidFill>
                  <a:srgbClr val="FFFF99"/>
                </a:solidFill>
              </a:rPr>
              <a:t>	;-table de schémas pour les sprites: #1</a:t>
            </a:r>
          </a:p>
          <a:p>
            <a:pPr eaLnBrk="1" hangingPunct="1">
              <a:spcBef>
                <a:spcPct val="0"/>
              </a:spcBef>
              <a:buFontTx/>
              <a:buNone/>
            </a:pPr>
            <a:r>
              <a:rPr lang="en-US" altLang="fr-FR" sz="1200" b="1">
                <a:solidFill>
                  <a:srgbClr val="FFFF99"/>
                </a:solidFill>
              </a:rPr>
              <a:t>	;-incrémentation d'index : +1</a:t>
            </a:r>
          </a:p>
          <a:p>
            <a:pPr eaLnBrk="1" hangingPunct="1">
              <a:spcBef>
                <a:spcPct val="0"/>
              </a:spcBef>
              <a:buFontTx/>
              <a:buNone/>
            </a:pPr>
            <a:r>
              <a:rPr lang="en-US" altLang="fr-FR" sz="1200" b="1">
                <a:solidFill>
                  <a:srgbClr val="FFFF99"/>
                </a:solidFill>
              </a:rPr>
              <a:t>	;-numéro de table de noms affichée: 0</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;($2001)</a:t>
            </a:r>
          </a:p>
          <a:p>
            <a:pPr eaLnBrk="1" hangingPunct="1">
              <a:spcBef>
                <a:spcPct val="0"/>
              </a:spcBef>
              <a:buFontTx/>
              <a:buNone/>
            </a:pPr>
            <a:r>
              <a:rPr lang="en-US" altLang="fr-FR" sz="1200" b="1">
                <a:solidFill>
                  <a:srgbClr val="FFFF99"/>
                </a:solidFill>
              </a:rPr>
              <a:t>	;-aucune modification d'intensité des couleurs</a:t>
            </a:r>
          </a:p>
          <a:p>
            <a:pPr eaLnBrk="1" hangingPunct="1">
              <a:spcBef>
                <a:spcPct val="0"/>
              </a:spcBef>
              <a:buFontTx/>
              <a:buNone/>
            </a:pPr>
            <a:r>
              <a:rPr lang="en-US" altLang="fr-FR" sz="1200" b="1">
                <a:solidFill>
                  <a:srgbClr val="FFFF99"/>
                </a:solidFill>
              </a:rPr>
              <a:t>	;-sprites visibles</a:t>
            </a:r>
          </a:p>
          <a:p>
            <a:pPr eaLnBrk="1" hangingPunct="1">
              <a:spcBef>
                <a:spcPct val="0"/>
              </a:spcBef>
              <a:buFontTx/>
              <a:buNone/>
            </a:pPr>
            <a:r>
              <a:rPr lang="en-US" altLang="fr-FR" sz="1200" b="1">
                <a:solidFill>
                  <a:srgbClr val="FFFF99"/>
                </a:solidFill>
              </a:rPr>
              <a:t>	;-arrière-plan invisible</a:t>
            </a:r>
          </a:p>
          <a:p>
            <a:pPr eaLnBrk="1" hangingPunct="1">
              <a:spcBef>
                <a:spcPct val="0"/>
              </a:spcBef>
              <a:buFontTx/>
              <a:buNone/>
            </a:pPr>
            <a:r>
              <a:rPr lang="en-US" altLang="fr-FR" sz="1200" b="1">
                <a:solidFill>
                  <a:srgbClr val="FFFF99"/>
                </a:solidFill>
              </a:rPr>
              <a:t>	;-première colonne invisible pour les sprites et l'arrière-plan</a:t>
            </a:r>
          </a:p>
          <a:p>
            <a:pPr eaLnBrk="1" hangingPunct="1">
              <a:spcBef>
                <a:spcPct val="0"/>
              </a:spcBef>
              <a:buFontTx/>
              <a:buNone/>
            </a:pPr>
            <a:r>
              <a:rPr lang="en-US" altLang="fr-FR" sz="1200" b="1">
                <a:solidFill>
                  <a:srgbClr val="FFFF99"/>
                </a:solidFill>
              </a:rPr>
              <a:t>	;-affichage couleur</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lda #%00010000	;place la valeur binaire 00010000 dans A</a:t>
            </a:r>
          </a:p>
          <a:p>
            <a:pPr eaLnBrk="1" hangingPunct="1">
              <a:spcBef>
                <a:spcPct val="0"/>
              </a:spcBef>
              <a:buFontTx/>
              <a:buNone/>
            </a:pPr>
            <a:r>
              <a:rPr lang="en-US" altLang="fr-FR" sz="1200" b="1">
                <a:solidFill>
                  <a:srgbClr val="FFFF99"/>
                </a:solidFill>
              </a:rPr>
              <a:t>	sta $2000		;écrit dans le registre de contrôle #1</a:t>
            </a:r>
          </a:p>
          <a:p>
            <a:pPr eaLnBrk="1" hangingPunct="1">
              <a:spcBef>
                <a:spcPct val="0"/>
              </a:spcBef>
              <a:buFontTx/>
              <a:buNone/>
            </a:pPr>
            <a:r>
              <a:rPr lang="en-US" altLang="fr-FR" sz="1200" b="1">
                <a:solidFill>
                  <a:srgbClr val="FFFF99"/>
                </a:solidFill>
              </a:rPr>
              <a:t>	lda #%00010000	;place la valeur binaire 00010000 dans A</a:t>
            </a:r>
          </a:p>
          <a:p>
            <a:pPr eaLnBrk="1" hangingPunct="1">
              <a:spcBef>
                <a:spcPct val="0"/>
              </a:spcBef>
              <a:buFontTx/>
              <a:buNone/>
            </a:pPr>
            <a:r>
              <a:rPr lang="en-US" altLang="fr-FR" sz="1200" b="1">
                <a:solidFill>
                  <a:srgbClr val="FFFF99"/>
                </a:solidFill>
              </a:rPr>
              <a:t>	sta $2001		;écrit dans le registre de contrôle #2</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mainEnd:</a:t>
            </a:r>
          </a:p>
          <a:p>
            <a:pPr eaLnBrk="1" hangingPunct="1">
              <a:spcBef>
                <a:spcPct val="0"/>
              </a:spcBef>
              <a:buFontTx/>
              <a:buNone/>
            </a:pPr>
            <a:r>
              <a:rPr lang="en-US" altLang="fr-FR" sz="1200" b="1">
                <a:solidFill>
                  <a:srgbClr val="FFFF99"/>
                </a:solidFill>
              </a:rPr>
              <a:t>	jmp mainEnd		;boucle infinie</a:t>
            </a:r>
          </a:p>
          <a:p>
            <a:pPr eaLnBrk="1" hangingPunct="1">
              <a:spcBef>
                <a:spcPct val="0"/>
              </a:spcBef>
              <a:buFontTx/>
              <a:buNone/>
            </a:pPr>
            <a:endParaRPr lang="en-US" altLang="fr-FR" sz="1200" b="1">
              <a:solidFill>
                <a:srgbClr val="FFFF99"/>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0904"/>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0 3.7037E-6 L 0 -0.77801 " pathEditMode="relative" rAng="0" ptsTypes="AA">
                                      <p:cBhvr>
                                        <p:cTn id="8" dur="2000" fill="hold"/>
                                        <p:tgtEl>
                                          <p:spTgt spid="80905"/>
                                        </p:tgtEl>
                                        <p:attrNameLst>
                                          <p:attrName>ppt_x</p:attrName>
                                          <p:attrName>ppt_y</p:attrName>
                                        </p:attrNameLst>
                                      </p:cBhvr>
                                      <p:rCtr x="0" y="-3891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4" grpId="0"/>
      <p:bldP spid="8090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id="{D66542EA-B97A-F889-57E3-573A44BDB3C0}"/>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5603" name="Text Box 5">
            <a:extLst>
              <a:ext uri="{FF2B5EF4-FFF2-40B4-BE49-F238E27FC236}">
                <a16:creationId xmlns:a16="http://schemas.microsoft.com/office/drawing/2014/main" id="{ED4A38C5-FCFB-EF68-ECD7-84613E8B912C}"/>
              </a:ext>
            </a:extLst>
          </p:cNvPr>
          <p:cNvSpPr txBox="1">
            <a:spLocks noChangeArrowheads="1"/>
          </p:cNvSpPr>
          <p:nvPr/>
        </p:nvSpPr>
        <p:spPr bwMode="auto">
          <a:xfrm>
            <a:off x="2938463" y="908050"/>
            <a:ext cx="320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 exemple</a:t>
            </a:r>
            <a:endParaRPr lang="en-US" altLang="fr-FR" sz="1600" u="sng">
              <a:solidFill>
                <a:srgbClr val="FF9900"/>
              </a:solidFill>
            </a:endParaRPr>
          </a:p>
        </p:txBody>
      </p:sp>
      <p:pic>
        <p:nvPicPr>
          <p:cNvPr id="25604" name="Picture 6" descr="21">
            <a:extLst>
              <a:ext uri="{FF2B5EF4-FFF2-40B4-BE49-F238E27FC236}">
                <a16:creationId xmlns:a16="http://schemas.microsoft.com/office/drawing/2014/main" id="{03A6C989-99D5-45EB-CE7E-85BF270583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05" name="Picture 7" descr="21">
            <a:extLst>
              <a:ext uri="{FF2B5EF4-FFF2-40B4-BE49-F238E27FC236}">
                <a16:creationId xmlns:a16="http://schemas.microsoft.com/office/drawing/2014/main" id="{D4269E37-2AF3-4DBA-10B0-965C6AA0BB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8" name="Text Box 8">
            <a:extLst>
              <a:ext uri="{FF2B5EF4-FFF2-40B4-BE49-F238E27FC236}">
                <a16:creationId xmlns:a16="http://schemas.microsoft.com/office/drawing/2014/main" id="{49E5AF38-32CC-E009-32FE-AF47B0A54801}"/>
              </a:ext>
            </a:extLst>
          </p:cNvPr>
          <p:cNvSpPr txBox="1">
            <a:spLocks noChangeArrowheads="1"/>
          </p:cNvSpPr>
          <p:nvPr/>
        </p:nvSpPr>
        <p:spPr bwMode="auto">
          <a:xfrm>
            <a:off x="179388" y="1484313"/>
            <a:ext cx="8785225" cy="526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;Fonction qui attend une période de VBlank</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wait_vblank:</a:t>
            </a:r>
          </a:p>
          <a:p>
            <a:pPr eaLnBrk="1" hangingPunct="1">
              <a:spcBef>
                <a:spcPct val="0"/>
              </a:spcBef>
              <a:buFontTx/>
              <a:buNone/>
            </a:pPr>
            <a:r>
              <a:rPr lang="en-US" altLang="fr-FR" sz="1200" b="1">
                <a:solidFill>
                  <a:srgbClr val="FFFF99"/>
                </a:solidFill>
              </a:rPr>
              <a:t> 	bit $2002		;teste les bits du registre d'état du PPU</a:t>
            </a:r>
          </a:p>
          <a:p>
            <a:pPr eaLnBrk="1" hangingPunct="1">
              <a:spcBef>
                <a:spcPct val="0"/>
              </a:spcBef>
              <a:buFontTx/>
              <a:buNone/>
            </a:pPr>
            <a:r>
              <a:rPr lang="en-US" altLang="fr-FR" sz="1200" b="1">
                <a:solidFill>
                  <a:srgbClr val="FFFF99"/>
                </a:solidFill>
              </a:rPr>
              <a:t> 	bpl wait_vblank	;tant que le bit 7 est éteint (signe = 0), on boucle</a:t>
            </a: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rts		;fin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;Fonction qui met à zéro tous les 256 octets du segment réservé aux sprites</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InitSpriteMem:</a:t>
            </a:r>
          </a:p>
          <a:p>
            <a:pPr eaLnBrk="1" hangingPunct="1">
              <a:spcBef>
                <a:spcPct val="0"/>
              </a:spcBef>
              <a:buFontTx/>
              <a:buNone/>
            </a:pPr>
            <a:r>
              <a:rPr lang="en-US" altLang="fr-FR" sz="1200" b="1">
                <a:solidFill>
                  <a:srgbClr val="FFFF99"/>
                </a:solidFill>
              </a:rPr>
              <a:t> 	lda #0		;initialise A avec 0</a:t>
            </a:r>
          </a:p>
          <a:p>
            <a:pPr eaLnBrk="1" hangingPunct="1">
              <a:spcBef>
                <a:spcPct val="0"/>
              </a:spcBef>
              <a:buFontTx/>
              <a:buNone/>
            </a:pPr>
            <a:r>
              <a:rPr lang="en-US" altLang="fr-FR" sz="1200" b="1">
                <a:solidFill>
                  <a:srgbClr val="FFFF99"/>
                </a:solidFill>
              </a:rPr>
              <a:t>	tay		;initialise Y avec 0 aussi</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init00:</a:t>
            </a:r>
          </a:p>
          <a:p>
            <a:pPr eaLnBrk="1" hangingPunct="1">
              <a:spcBef>
                <a:spcPct val="0"/>
              </a:spcBef>
              <a:buFontTx/>
              <a:buNone/>
            </a:pPr>
            <a:r>
              <a:rPr lang="en-US" altLang="fr-FR" sz="1200" b="1">
                <a:solidFill>
                  <a:srgbClr val="FFFF99"/>
                </a:solidFill>
              </a:rPr>
              <a:t>	sta $700,Y		;écrit 0 à $700 + Y</a:t>
            </a:r>
          </a:p>
          <a:p>
            <a:pPr eaLnBrk="1" hangingPunct="1">
              <a:spcBef>
                <a:spcPct val="0"/>
              </a:spcBef>
              <a:buFontTx/>
              <a:buNone/>
            </a:pPr>
            <a:r>
              <a:rPr lang="en-US" altLang="fr-FR" sz="1200" b="1">
                <a:solidFill>
                  <a:srgbClr val="FFFF99"/>
                </a:solidFill>
              </a:rPr>
              <a:t>	iny		;incrémente Y</a:t>
            </a:r>
          </a:p>
          <a:p>
            <a:pPr eaLnBrk="1" hangingPunct="1">
              <a:spcBef>
                <a:spcPct val="0"/>
              </a:spcBef>
              <a:buFontTx/>
              <a:buNone/>
            </a:pPr>
            <a:r>
              <a:rPr lang="en-US" altLang="fr-FR" sz="1200" b="1">
                <a:solidFill>
                  <a:srgbClr val="FFFF99"/>
                </a:solidFill>
              </a:rPr>
              <a:t>	bne init00		;lorsque Y redevient 0 (255 + 1 = 0), fin	</a:t>
            </a: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rts		;fin</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;Routine d'interruption pour NMI: ne fait rien</a:t>
            </a:r>
          </a:p>
          <a:p>
            <a:pPr eaLnBrk="1" hangingPunct="1">
              <a:spcBef>
                <a:spcPct val="0"/>
              </a:spcBef>
              <a:buFontTx/>
              <a:buNone/>
            </a:pPr>
            <a:r>
              <a:rPr lang="en-US" altLang="fr-FR" sz="1200" b="1">
                <a:solidFill>
                  <a:srgbClr val="FFFF99"/>
                </a:solidFill>
              </a:rPr>
              <a:t>nmi:     </a:t>
            </a:r>
          </a:p>
          <a:p>
            <a:pPr eaLnBrk="1" hangingPunct="1">
              <a:spcBef>
                <a:spcPct val="0"/>
              </a:spcBef>
              <a:buFontTx/>
              <a:buNone/>
            </a:pPr>
            <a:r>
              <a:rPr lang="en-US" altLang="fr-FR" sz="1200" b="1">
                <a:solidFill>
                  <a:srgbClr val="FFFF99"/>
                </a:solidFill>
              </a:rPr>
              <a:t> rti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;Routine d'interruption pour IRQ/BRK: ne fait rien</a:t>
            </a:r>
          </a:p>
          <a:p>
            <a:pPr eaLnBrk="1" hangingPunct="1">
              <a:spcBef>
                <a:spcPct val="0"/>
              </a:spcBef>
              <a:buFontTx/>
              <a:buNone/>
            </a:pPr>
            <a:r>
              <a:rPr lang="en-US" altLang="fr-FR" sz="1200" b="1">
                <a:solidFill>
                  <a:srgbClr val="FFFF99"/>
                </a:solidFill>
              </a:rPr>
              <a:t>int:</a:t>
            </a:r>
          </a:p>
          <a:p>
            <a:pPr eaLnBrk="1" hangingPunct="1">
              <a:spcBef>
                <a:spcPct val="0"/>
              </a:spcBef>
              <a:buFontTx/>
              <a:buNone/>
            </a:pPr>
            <a:r>
              <a:rPr lang="en-US" altLang="fr-FR" sz="1200" b="1">
                <a:solidFill>
                  <a:srgbClr val="FFFF99"/>
                </a:solidFill>
              </a:rPr>
              <a:t> rti	</a:t>
            </a:r>
          </a:p>
        </p:txBody>
      </p:sp>
      <p:sp>
        <p:nvSpPr>
          <p:cNvPr id="81929" name="Text Box 9">
            <a:extLst>
              <a:ext uri="{FF2B5EF4-FFF2-40B4-BE49-F238E27FC236}">
                <a16:creationId xmlns:a16="http://schemas.microsoft.com/office/drawing/2014/main" id="{874EEE38-D4AF-B43C-B75B-8FBB2C965D82}"/>
              </a:ext>
            </a:extLst>
          </p:cNvPr>
          <p:cNvSpPr txBox="1">
            <a:spLocks noChangeArrowheads="1"/>
          </p:cNvSpPr>
          <p:nvPr/>
        </p:nvSpPr>
        <p:spPr bwMode="auto">
          <a:xfrm>
            <a:off x="179388" y="7100888"/>
            <a:ext cx="87852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	;Segment de données contenant les numéros de couleur des palettes</a:t>
            </a:r>
          </a:p>
          <a:p>
            <a:pPr eaLnBrk="1" hangingPunct="1">
              <a:spcBef>
                <a:spcPct val="0"/>
              </a:spcBef>
              <a:buFontTx/>
              <a:buNone/>
            </a:pPr>
            <a:r>
              <a:rPr lang="en-US" altLang="fr-FR" sz="1200" b="1">
                <a:solidFill>
                  <a:srgbClr val="FFFF99"/>
                </a:solidFill>
              </a:rPr>
              <a:t>paldata:</a:t>
            </a:r>
          </a:p>
          <a:p>
            <a:pPr eaLnBrk="1" hangingPunct="1">
              <a:spcBef>
                <a:spcPct val="0"/>
              </a:spcBef>
              <a:buFontTx/>
              <a:buNone/>
            </a:pPr>
            <a:r>
              <a:rPr lang="en-US" altLang="fr-FR" sz="1200" b="1">
                <a:solidFill>
                  <a:srgbClr val="FFFF99"/>
                </a:solidFill>
              </a:rPr>
              <a:t>; Palette d'arrière-plan.  Tout est noir.</a:t>
            </a:r>
          </a:p>
          <a:p>
            <a:pPr eaLnBrk="1" hangingPunct="1">
              <a:spcBef>
                <a:spcPct val="0"/>
              </a:spcBef>
              <a:buFontTx/>
              <a:buNone/>
            </a:pPr>
            <a:r>
              <a:rPr lang="en-US" altLang="fr-FR" sz="1200" b="1">
                <a:solidFill>
                  <a:srgbClr val="FFFF99"/>
                </a:solidFill>
              </a:rPr>
              <a:t>	.byte	$0f,$0f,$0f,$0f	;Noir</a:t>
            </a:r>
          </a:p>
          <a:p>
            <a:pPr eaLnBrk="1" hangingPunct="1">
              <a:spcBef>
                <a:spcPct val="0"/>
              </a:spcBef>
              <a:buFontTx/>
              <a:buNone/>
            </a:pPr>
            <a:r>
              <a:rPr lang="en-US" altLang="fr-FR" sz="1200" b="1">
                <a:solidFill>
                  <a:srgbClr val="FFFF99"/>
                </a:solidFill>
              </a:rPr>
              <a:t>	.byte	$0f,$0f,$0f,$0f	;Noir</a:t>
            </a:r>
          </a:p>
          <a:p>
            <a:pPr eaLnBrk="1" hangingPunct="1">
              <a:spcBef>
                <a:spcPct val="0"/>
              </a:spcBef>
              <a:buFontTx/>
              <a:buNone/>
            </a:pPr>
            <a:r>
              <a:rPr lang="en-US" altLang="fr-FR" sz="1200" b="1">
                <a:solidFill>
                  <a:srgbClr val="FFFF99"/>
                </a:solidFill>
              </a:rPr>
              <a:t>	.byte	$0f,$0f,$0f,$0f	;Noir</a:t>
            </a:r>
          </a:p>
          <a:p>
            <a:pPr eaLnBrk="1" hangingPunct="1">
              <a:spcBef>
                <a:spcPct val="0"/>
              </a:spcBef>
              <a:buFontTx/>
              <a:buNone/>
            </a:pPr>
            <a:r>
              <a:rPr lang="en-US" altLang="fr-FR" sz="1200" b="1">
                <a:solidFill>
                  <a:srgbClr val="FFFF99"/>
                </a:solidFill>
              </a:rPr>
              <a:t>	.byte	$0f,$0f,$0f,$0f	;Noir</a:t>
            </a:r>
          </a:p>
          <a:p>
            <a:pPr eaLnBrk="1" hangingPunct="1">
              <a:spcBef>
                <a:spcPct val="0"/>
              </a:spcBef>
              <a:buFontTx/>
              <a:buNone/>
            </a:pPr>
            <a:r>
              <a:rPr lang="en-US" altLang="fr-FR" sz="1200" b="1">
                <a:solidFill>
                  <a:srgbClr val="FFFF99"/>
                </a:solidFill>
              </a:rPr>
              <a:t>; Palette des sprites.  La couleur de fond est noir ($0f).</a:t>
            </a:r>
          </a:p>
          <a:p>
            <a:pPr eaLnBrk="1" hangingPunct="1">
              <a:spcBef>
                <a:spcPct val="0"/>
              </a:spcBef>
              <a:buFontTx/>
              <a:buNone/>
            </a:pPr>
            <a:r>
              <a:rPr lang="en-US" altLang="fr-FR" sz="1200" b="1">
                <a:solidFill>
                  <a:srgbClr val="FFFF99"/>
                </a:solidFill>
              </a:rPr>
              <a:t>	.byte	$0f,$16,$27,$18	;Mario normal	</a:t>
            </a:r>
          </a:p>
          <a:p>
            <a:pPr eaLnBrk="1" hangingPunct="1">
              <a:spcBef>
                <a:spcPct val="0"/>
              </a:spcBef>
              <a:buFontTx/>
              <a:buNone/>
            </a:pPr>
            <a:r>
              <a:rPr lang="en-US" altLang="fr-FR" sz="1200" b="1">
                <a:solidFill>
                  <a:srgbClr val="FFFF99"/>
                </a:solidFill>
              </a:rPr>
              <a:t>	.byte	$0f,$38,$28,$16	;Mario furieux</a:t>
            </a:r>
          </a:p>
          <a:p>
            <a:pPr eaLnBrk="1" hangingPunct="1">
              <a:spcBef>
                <a:spcPct val="0"/>
              </a:spcBef>
              <a:buFontTx/>
              <a:buNone/>
            </a:pPr>
            <a:r>
              <a:rPr lang="en-US" altLang="fr-FR" sz="1200" b="1">
                <a:solidFill>
                  <a:srgbClr val="FFFF99"/>
                </a:solidFill>
              </a:rPr>
              <a:t>	.byte	$0f,$20,$28,$1a	;Luigi</a:t>
            </a:r>
          </a:p>
          <a:p>
            <a:pPr eaLnBrk="1" hangingPunct="1">
              <a:spcBef>
                <a:spcPct val="0"/>
              </a:spcBef>
              <a:buFontTx/>
              <a:buNone/>
            </a:pPr>
            <a:r>
              <a:rPr lang="en-US" altLang="fr-FR" sz="1200" b="1">
                <a:solidFill>
                  <a:srgbClr val="FFFF99"/>
                </a:solidFill>
              </a:rPr>
              <a:t>	.byte	$0f,$0f,$37,$07	;Goomba, briques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;Fonction qui initialise les palettes.</a:t>
            </a:r>
          </a:p>
          <a:p>
            <a:pPr eaLnBrk="1" hangingPunct="1">
              <a:spcBef>
                <a:spcPct val="0"/>
              </a:spcBef>
              <a:buFontTx/>
              <a:buNone/>
            </a:pPr>
            <a:r>
              <a:rPr lang="en-US" altLang="fr-FR" sz="1200" b="1">
                <a:solidFill>
                  <a:srgbClr val="FFFF99"/>
                </a:solidFill>
              </a:rPr>
              <a:t>palette:</a:t>
            </a:r>
          </a:p>
          <a:p>
            <a:pPr eaLnBrk="1" hangingPunct="1">
              <a:spcBef>
                <a:spcPct val="0"/>
              </a:spcBef>
              <a:buFontTx/>
              <a:buNone/>
            </a:pPr>
            <a:r>
              <a:rPr lang="en-US" altLang="fr-FR" sz="1200" b="1">
                <a:solidFill>
                  <a:srgbClr val="FFFF99"/>
                </a:solidFill>
              </a:rPr>
              <a:t>	jsr wait_vblank		;attend une période de VBlank avant d'écrire</a:t>
            </a:r>
          </a:p>
          <a:p>
            <a:pPr eaLnBrk="1" hangingPunct="1">
              <a:spcBef>
                <a:spcPct val="0"/>
              </a:spcBef>
              <a:buFontTx/>
              <a:buNone/>
            </a:pPr>
            <a:r>
              <a:rPr lang="en-US" altLang="fr-FR" sz="1200" b="1">
                <a:solidFill>
                  <a:srgbClr val="FFFF99"/>
                </a:solidFill>
              </a:rPr>
              <a:t>	lda #$3f			;initialise le registre d'index de la mémoire vidéo</a:t>
            </a:r>
          </a:p>
          <a:p>
            <a:pPr eaLnBrk="1" hangingPunct="1">
              <a:spcBef>
                <a:spcPct val="0"/>
              </a:spcBef>
              <a:buFontTx/>
              <a:buNone/>
            </a:pPr>
            <a:r>
              <a:rPr lang="en-US" altLang="fr-FR" sz="1200" b="1">
                <a:solidFill>
                  <a:srgbClr val="FFFF99"/>
                </a:solidFill>
              </a:rPr>
              <a:t>	sta $2006			;avec l'adresse $3F00 : mémoire de palettes</a:t>
            </a:r>
          </a:p>
          <a:p>
            <a:pPr eaLnBrk="1" hangingPunct="1">
              <a:spcBef>
                <a:spcPct val="0"/>
              </a:spcBef>
              <a:buFontTx/>
              <a:buNone/>
            </a:pPr>
            <a:r>
              <a:rPr lang="en-US" altLang="fr-FR" sz="1200" b="1">
                <a:solidFill>
                  <a:srgbClr val="FFFF99"/>
                </a:solidFill>
              </a:rPr>
              <a:t>	lda #0			;...</a:t>
            </a:r>
          </a:p>
          <a:p>
            <a:pPr eaLnBrk="1" hangingPunct="1">
              <a:spcBef>
                <a:spcPct val="0"/>
              </a:spcBef>
              <a:buFontTx/>
              <a:buNone/>
            </a:pPr>
            <a:r>
              <a:rPr lang="en-US" altLang="fr-FR" sz="1200" b="1">
                <a:solidFill>
                  <a:srgbClr val="FFFF99"/>
                </a:solidFill>
              </a:rPr>
              <a:t>	sta $2006			;... </a:t>
            </a:r>
          </a:p>
          <a:p>
            <a:pPr eaLnBrk="1" hangingPunct="1">
              <a:spcBef>
                <a:spcPct val="0"/>
              </a:spcBef>
              <a:buFontTx/>
              <a:buNone/>
            </a:pPr>
            <a:r>
              <a:rPr lang="en-US" altLang="fr-FR" sz="1200" b="1">
                <a:solidFill>
                  <a:srgbClr val="FFFF99"/>
                </a:solidFill>
              </a:rPr>
              <a:t>	ldx #0			;index de lecture des valeurs de palette</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do_palette:</a:t>
            </a:r>
          </a:p>
          <a:p>
            <a:pPr eaLnBrk="1" hangingPunct="1">
              <a:spcBef>
                <a:spcPct val="0"/>
              </a:spcBef>
              <a:buFontTx/>
              <a:buNone/>
            </a:pPr>
            <a:r>
              <a:rPr lang="en-US" altLang="fr-FR" sz="1200" b="1">
                <a:solidFill>
                  <a:srgbClr val="FFFF99"/>
                </a:solidFill>
              </a:rPr>
              <a:t>	lda paldata,x			;obtient un numéro de couleur</a:t>
            </a:r>
          </a:p>
          <a:p>
            <a:pPr eaLnBrk="1" hangingPunct="1">
              <a:spcBef>
                <a:spcPct val="0"/>
              </a:spcBef>
              <a:buFontTx/>
              <a:buNone/>
            </a:pPr>
            <a:r>
              <a:rPr lang="en-US" altLang="fr-FR" sz="1200" b="1">
                <a:solidFill>
                  <a:srgbClr val="FFFF99"/>
                </a:solidFill>
              </a:rPr>
              <a:t>	sta $2007			;écrit le numéro de couleur dans le registre de données</a:t>
            </a:r>
          </a:p>
          <a:p>
            <a:pPr eaLnBrk="1" hangingPunct="1">
              <a:spcBef>
                <a:spcPct val="0"/>
              </a:spcBef>
              <a:buFontTx/>
              <a:buNone/>
            </a:pPr>
            <a:r>
              <a:rPr lang="en-US" altLang="fr-FR" sz="1200" b="1">
                <a:solidFill>
                  <a:srgbClr val="FFFF99"/>
                </a:solidFill>
              </a:rPr>
              <a:t>	inx			;incrémente l'index</a:t>
            </a:r>
          </a:p>
          <a:p>
            <a:pPr eaLnBrk="1" hangingPunct="1">
              <a:spcBef>
                <a:spcPct val="0"/>
              </a:spcBef>
              <a:buFontTx/>
              <a:buNone/>
            </a:pPr>
            <a:r>
              <a:rPr lang="en-US" altLang="fr-FR" sz="1200" b="1">
                <a:solidFill>
                  <a:srgbClr val="FFFF99"/>
                </a:solidFill>
              </a:rPr>
              <a:t>	cpx #32			;a-t-on écrit les 32 couleurs?</a:t>
            </a:r>
          </a:p>
          <a:p>
            <a:pPr eaLnBrk="1" hangingPunct="1">
              <a:spcBef>
                <a:spcPct val="0"/>
              </a:spcBef>
              <a:buFontTx/>
              <a:buNone/>
            </a:pPr>
            <a:r>
              <a:rPr lang="en-US" altLang="fr-FR" sz="1200" b="1">
                <a:solidFill>
                  <a:srgbClr val="FFFF99"/>
                </a:solidFill>
              </a:rPr>
              <a:t>	bne do_palette		;sinon, continue	</a:t>
            </a:r>
          </a:p>
          <a:p>
            <a:pPr eaLnBrk="1" hangingPunct="1">
              <a:spcBef>
                <a:spcPct val="0"/>
              </a:spcBef>
              <a:buFontTx/>
              <a:buNone/>
            </a:pPr>
            <a:r>
              <a:rPr lang="en-US" altLang="fr-FR" sz="1200" b="1">
                <a:solidFill>
                  <a:srgbClr val="FFFF99"/>
                </a:solidFill>
              </a:rPr>
              <a:t>	rts			;fin</a:t>
            </a:r>
          </a:p>
        </p:txBody>
      </p:sp>
      <p:grpSp>
        <p:nvGrpSpPr>
          <p:cNvPr id="2" name="Group 12">
            <a:extLst>
              <a:ext uri="{FF2B5EF4-FFF2-40B4-BE49-F238E27FC236}">
                <a16:creationId xmlns:a16="http://schemas.microsoft.com/office/drawing/2014/main" id="{9D982DDF-D268-9B71-8FC7-DF392E5FFA2E}"/>
              </a:ext>
            </a:extLst>
          </p:cNvPr>
          <p:cNvGrpSpPr>
            <a:grpSpLocks/>
          </p:cNvGrpSpPr>
          <p:nvPr/>
        </p:nvGrpSpPr>
        <p:grpSpPr bwMode="auto">
          <a:xfrm>
            <a:off x="1814513" y="2420938"/>
            <a:ext cx="5710237" cy="2197100"/>
            <a:chOff x="1111" y="1794"/>
            <a:chExt cx="3597" cy="1384"/>
          </a:xfrm>
        </p:grpSpPr>
        <p:pic>
          <p:nvPicPr>
            <p:cNvPr id="25609" name="Picture 10">
              <a:extLst>
                <a:ext uri="{FF2B5EF4-FFF2-40B4-BE49-F238E27FC236}">
                  <a16:creationId xmlns:a16="http://schemas.microsoft.com/office/drawing/2014/main" id="{D411CF20-A89E-DE63-3927-681681E621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 y="2296"/>
              <a:ext cx="3597" cy="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5610" name="Text Box 11">
              <a:extLst>
                <a:ext uri="{FF2B5EF4-FFF2-40B4-BE49-F238E27FC236}">
                  <a16:creationId xmlns:a16="http://schemas.microsoft.com/office/drawing/2014/main" id="{E1F84E2D-CA00-6D06-A1A1-CF7F2FA27184}"/>
                </a:ext>
              </a:extLst>
            </p:cNvPr>
            <p:cNvSpPr txBox="1">
              <a:spLocks noChangeArrowheads="1"/>
            </p:cNvSpPr>
            <p:nvPr/>
          </p:nvSpPr>
          <p:spPr bwMode="auto">
            <a:xfrm>
              <a:off x="1797" y="1794"/>
              <a:ext cx="2081"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2000">
                  <a:solidFill>
                    <a:srgbClr val="FFFF99"/>
                  </a:solidFill>
                </a:rPr>
                <a:t>Palette de couleurs du NES</a:t>
              </a:r>
              <a:endParaRPr lang="en-US" altLang="fr-FR" sz="2000">
                <a:solidFill>
                  <a:srgbClr val="FFFF99"/>
                </a:solidFill>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xit" presetSubtype="0" fill="hold" nodeType="with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81928"/>
                                        </p:tgtEl>
                                        <p:attrNameLst>
                                          <p:attrName>style.visibility</p:attrName>
                                        </p:attrNameLst>
                                      </p:cBhvr>
                                      <p:to>
                                        <p:strVal val="hidden"/>
                                      </p:to>
                                    </p:set>
                                  </p:childTnLst>
                                </p:cTn>
                              </p:par>
                              <p:par>
                                <p:cTn id="11" presetID="10" presetClass="entr" presetSubtype="0" fill="hold"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20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xit" presetSubtype="0" fill="hold" nodeType="clickEffect">
                                  <p:stCondLst>
                                    <p:cond delay="0"/>
                                  </p:stCondLst>
                                  <p:childTnLst>
                                    <p:set>
                                      <p:cBhvr>
                                        <p:cTn id="17" dur="1" fill="hold">
                                          <p:stCondLst>
                                            <p:cond delay="0"/>
                                          </p:stCondLst>
                                        </p:cTn>
                                        <p:tgtEl>
                                          <p:spTgt spid="2"/>
                                        </p:tgtEl>
                                        <p:attrNameLst>
                                          <p:attrName>style.visibility</p:attrName>
                                        </p:attrNameLst>
                                      </p:cBhvr>
                                      <p:to>
                                        <p:strVal val="hidden"/>
                                      </p:to>
                                    </p:set>
                                  </p:childTnLst>
                                </p:cTn>
                              </p:par>
                              <p:par>
                                <p:cTn id="18" presetID="0" presetClass="path" presetSubtype="0" accel="50000" decel="50000" fill="hold" grpId="0" nodeType="withEffect">
                                  <p:stCondLst>
                                    <p:cond delay="0"/>
                                  </p:stCondLst>
                                  <p:childTnLst>
                                    <p:animMotion origin="layout" path="M 0 -3.7037E-7 L 0 -0.8713 " pathEditMode="relative" rAng="0" ptsTypes="AA">
                                      <p:cBhvr>
                                        <p:cTn id="19" dur="2000" fill="hold"/>
                                        <p:tgtEl>
                                          <p:spTgt spid="81929"/>
                                        </p:tgtEl>
                                        <p:attrNameLst>
                                          <p:attrName>ppt_x</p:attrName>
                                          <p:attrName>ppt_y</p:attrName>
                                        </p:attrNameLst>
                                      </p:cBhvr>
                                      <p:rCtr x="0" y="-4356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8" grpId="0"/>
      <p:bldP spid="81929"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6626" name="Rectangle 4">
            <a:extLst>
              <a:ext uri="{FF2B5EF4-FFF2-40B4-BE49-F238E27FC236}">
                <a16:creationId xmlns:a16="http://schemas.microsoft.com/office/drawing/2014/main" id="{474853B5-BE74-AEF6-F542-4E9EEF8AF2BB}"/>
              </a:ext>
            </a:extLst>
          </p:cNvPr>
          <p:cNvSpPr>
            <a:spLocks noChangeArrowheads="1"/>
          </p:cNvSpPr>
          <p:nvPr/>
        </p:nvSpPr>
        <p:spPr bwMode="auto">
          <a:xfrm>
            <a:off x="468313"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4400">
                <a:solidFill>
                  <a:srgbClr val="FFFF99"/>
                </a:solidFill>
              </a:rPr>
              <a:t>Architecture NES</a:t>
            </a:r>
          </a:p>
        </p:txBody>
      </p:sp>
      <p:sp>
        <p:nvSpPr>
          <p:cNvPr id="26627" name="Text Box 5">
            <a:extLst>
              <a:ext uri="{FF2B5EF4-FFF2-40B4-BE49-F238E27FC236}">
                <a16:creationId xmlns:a16="http://schemas.microsoft.com/office/drawing/2014/main" id="{F7597998-5444-9675-C8CC-FB9B9CB3308E}"/>
              </a:ext>
            </a:extLst>
          </p:cNvPr>
          <p:cNvSpPr txBox="1">
            <a:spLocks noChangeArrowheads="1"/>
          </p:cNvSpPr>
          <p:nvPr/>
        </p:nvSpPr>
        <p:spPr bwMode="auto">
          <a:xfrm>
            <a:off x="2938463" y="908050"/>
            <a:ext cx="3209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fr-CA" altLang="fr-FR" sz="1600" u="sng">
                <a:solidFill>
                  <a:srgbClr val="FF9900"/>
                </a:solidFill>
              </a:rPr>
              <a:t>Programmation du PPU: exemple</a:t>
            </a:r>
            <a:endParaRPr lang="en-US" altLang="fr-FR" sz="1600" u="sng">
              <a:solidFill>
                <a:srgbClr val="FF9900"/>
              </a:solidFill>
            </a:endParaRPr>
          </a:p>
        </p:txBody>
      </p:sp>
      <p:pic>
        <p:nvPicPr>
          <p:cNvPr id="26628" name="Picture 6" descr="21">
            <a:extLst>
              <a:ext uri="{FF2B5EF4-FFF2-40B4-BE49-F238E27FC236}">
                <a16:creationId xmlns:a16="http://schemas.microsoft.com/office/drawing/2014/main" id="{DA66A44F-A51E-AC9E-4CC8-0EC78C0007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9" name="Picture 7" descr="21">
            <a:extLst>
              <a:ext uri="{FF2B5EF4-FFF2-40B4-BE49-F238E27FC236}">
                <a16:creationId xmlns:a16="http://schemas.microsoft.com/office/drawing/2014/main" id="{8893675B-3E07-5374-9FB7-01A08CE54E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1725" y="188913"/>
            <a:ext cx="1152525"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52" name="Text Box 8">
            <a:extLst>
              <a:ext uri="{FF2B5EF4-FFF2-40B4-BE49-F238E27FC236}">
                <a16:creationId xmlns:a16="http://schemas.microsoft.com/office/drawing/2014/main" id="{B5550749-2E6A-27DA-CB2D-FD94CF51D301}"/>
              </a:ext>
            </a:extLst>
          </p:cNvPr>
          <p:cNvSpPr txBox="1">
            <a:spLocks noChangeArrowheads="1"/>
          </p:cNvSpPr>
          <p:nvPr/>
        </p:nvSpPr>
        <p:spPr bwMode="auto">
          <a:xfrm>
            <a:off x="179388" y="1484313"/>
            <a:ext cx="8785225" cy="501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;Mise à jour de la mémoire des sprites par DMA</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UpdateSprites: </a:t>
            </a:r>
          </a:p>
          <a:p>
            <a:pPr eaLnBrk="1" hangingPunct="1">
              <a:spcBef>
                <a:spcPct val="0"/>
              </a:spcBef>
              <a:buFontTx/>
              <a:buNone/>
            </a:pPr>
            <a:r>
              <a:rPr lang="en-US" altLang="fr-FR" sz="1200" b="1">
                <a:solidFill>
                  <a:srgbClr val="FFFF99"/>
                </a:solidFill>
              </a:rPr>
              <a:t> lda #7		;Segment de la mémoire $0700-$07FF</a:t>
            </a:r>
          </a:p>
          <a:p>
            <a:pPr eaLnBrk="1" hangingPunct="1">
              <a:spcBef>
                <a:spcPct val="0"/>
              </a:spcBef>
              <a:buFontTx/>
              <a:buNone/>
            </a:pPr>
            <a:r>
              <a:rPr lang="en-US" altLang="fr-FR" sz="1200" b="1">
                <a:solidFill>
                  <a:srgbClr val="FFFF99"/>
                </a:solidFill>
              </a:rPr>
              <a:t> sta $4014 		;déclenche la copie DMA </a:t>
            </a:r>
          </a:p>
          <a:p>
            <a:pPr eaLnBrk="1" hangingPunct="1">
              <a:spcBef>
                <a:spcPct val="0"/>
              </a:spcBef>
              <a:buFontTx/>
              <a:buNone/>
            </a:pPr>
            <a:r>
              <a:rPr lang="en-US" altLang="fr-FR" sz="1200" b="1">
                <a:solidFill>
                  <a:srgbClr val="FFFF99"/>
                </a:solidFill>
              </a:rPr>
              <a:t> rts		;fin</a:t>
            </a:r>
          </a:p>
          <a:p>
            <a:pPr algn="ctr" eaLnBrk="1" hangingPunct="1">
              <a:spcBef>
                <a:spcPct val="0"/>
              </a:spcBef>
              <a:buFontTx/>
              <a:buNone/>
            </a:pPr>
            <a:r>
              <a:rPr lang="en-US" altLang="fr-FR" sz="1200" b="1">
                <a:solidFill>
                  <a:srgbClr val="FFFF99"/>
                </a:solidFill>
              </a:rPr>
              <a:t>	</a:t>
            </a:r>
            <a:endParaRPr lang="en-US" altLang="fr-FR" sz="4400" b="1">
              <a:solidFill>
                <a:srgbClr val="FFFF99"/>
              </a:solidFill>
            </a:endParaRPr>
          </a:p>
          <a:p>
            <a:pPr eaLnBrk="1" hangingPunct="1">
              <a:spcBef>
                <a:spcPct val="0"/>
              </a:spcBef>
              <a:buFontTx/>
              <a:buNone/>
            </a:pPr>
            <a:r>
              <a:rPr lang="en-US" altLang="fr-FR" sz="4400" b="1">
                <a:solidFill>
                  <a:srgbClr val="FFFF99"/>
                </a:solidFill>
              </a:rPr>
              <a:t>	</a:t>
            </a:r>
            <a:r>
              <a:rPr lang="en-US" altLang="fr-FR" sz="1200" b="1">
                <a:solidFill>
                  <a:srgbClr val="FFFF99"/>
                </a:solidFill>
              </a:rPr>
              <a:t>;Fonction Dessiner.  Initialise les 8 premiers sprites et les positionne correctement.</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Dessiner:</a:t>
            </a:r>
          </a:p>
          <a:p>
            <a:pPr eaLnBrk="1" hangingPunct="1">
              <a:spcBef>
                <a:spcPct val="0"/>
              </a:spcBef>
              <a:buFontTx/>
              <a:buNone/>
            </a:pPr>
            <a:r>
              <a:rPr lang="fr-CA" altLang="fr-FR" sz="1200" b="1">
                <a:solidFill>
                  <a:srgbClr val="FFFF99"/>
                </a:solidFill>
              </a:rPr>
              <a:t>	;sprite #0</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lda	#1</a:t>
            </a:r>
          </a:p>
          <a:p>
            <a:pPr eaLnBrk="1" hangingPunct="1">
              <a:spcBef>
                <a:spcPct val="0"/>
              </a:spcBef>
              <a:buFontTx/>
              <a:buNone/>
            </a:pPr>
            <a:r>
              <a:rPr lang="en-US" altLang="fr-FR" sz="1200" b="1">
                <a:solidFill>
                  <a:srgbClr val="FFFF99"/>
                </a:solidFill>
              </a:rPr>
              <a:t>	sta	MARIO.HEADLEFT.T	;no de tuile: 1</a:t>
            </a:r>
          </a:p>
          <a:p>
            <a:pPr eaLnBrk="1" hangingPunct="1">
              <a:spcBef>
                <a:spcPct val="0"/>
              </a:spcBef>
              <a:buFontTx/>
              <a:buNone/>
            </a:pPr>
            <a:r>
              <a:rPr lang="en-US" altLang="fr-FR" sz="1200" b="1">
                <a:solidFill>
                  <a:srgbClr val="FFFF99"/>
                </a:solidFill>
              </a:rPr>
              <a:t>	lda	#0	</a:t>
            </a:r>
          </a:p>
          <a:p>
            <a:pPr eaLnBrk="1" hangingPunct="1">
              <a:spcBef>
                <a:spcPct val="0"/>
              </a:spcBef>
              <a:buFontTx/>
              <a:buNone/>
            </a:pPr>
            <a:r>
              <a:rPr lang="en-US" altLang="fr-FR" sz="1200" b="1">
                <a:solidFill>
                  <a:srgbClr val="FFFF99"/>
                </a:solidFill>
              </a:rPr>
              <a:t>	sta	MARIO.HEADLEFT.S	;palette 0, aucune transformation</a:t>
            </a:r>
          </a:p>
          <a:p>
            <a:pPr eaLnBrk="1" hangingPunct="1">
              <a:spcBef>
                <a:spcPct val="0"/>
              </a:spcBef>
              <a:buFontTx/>
              <a:buNone/>
            </a:pPr>
            <a:r>
              <a:rPr lang="en-US" altLang="fr-FR" sz="1200" b="1">
                <a:solidFill>
                  <a:srgbClr val="FFFF99"/>
                </a:solidFill>
              </a:rPr>
              <a:t>	lda	#0</a:t>
            </a:r>
          </a:p>
          <a:p>
            <a:pPr eaLnBrk="1" hangingPunct="1">
              <a:spcBef>
                <a:spcPct val="0"/>
              </a:spcBef>
              <a:buFontTx/>
              <a:buNone/>
            </a:pPr>
            <a:r>
              <a:rPr lang="en-US" altLang="fr-FR" sz="1200" b="1">
                <a:solidFill>
                  <a:srgbClr val="FFFF99"/>
                </a:solidFill>
              </a:rPr>
              <a:t>	sta	MARIO.HEADLEFT.Y</a:t>
            </a:r>
          </a:p>
          <a:p>
            <a:pPr eaLnBrk="1" hangingPunct="1">
              <a:spcBef>
                <a:spcPct val="0"/>
              </a:spcBef>
              <a:buFontTx/>
              <a:buNone/>
            </a:pPr>
            <a:r>
              <a:rPr lang="en-US" altLang="fr-FR" sz="1200" b="1">
                <a:solidFill>
                  <a:srgbClr val="FFFF99"/>
                </a:solidFill>
              </a:rPr>
              <a:t>	lda	#0</a:t>
            </a:r>
          </a:p>
          <a:p>
            <a:pPr eaLnBrk="1" hangingPunct="1">
              <a:spcBef>
                <a:spcPct val="0"/>
              </a:spcBef>
              <a:buFontTx/>
              <a:buNone/>
            </a:pPr>
            <a:r>
              <a:rPr lang="en-US" altLang="fr-FR" sz="1200" b="1">
                <a:solidFill>
                  <a:srgbClr val="FFFF99"/>
                </a:solidFill>
              </a:rPr>
              <a:t>	sta	MARIO.HEADLEFT.X</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lda	#2	</a:t>
            </a:r>
          </a:p>
          <a:p>
            <a:pPr eaLnBrk="1" hangingPunct="1">
              <a:spcBef>
                <a:spcPct val="0"/>
              </a:spcBef>
              <a:buFontTx/>
              <a:buNone/>
            </a:pPr>
            <a:r>
              <a:rPr lang="en-US" altLang="fr-FR" sz="1200" b="1">
                <a:solidFill>
                  <a:srgbClr val="FFFF99"/>
                </a:solidFill>
              </a:rPr>
              <a:t>	sta	MARIO.HEADRIGHT.T</a:t>
            </a:r>
          </a:p>
          <a:p>
            <a:pPr eaLnBrk="1" hangingPunct="1">
              <a:spcBef>
                <a:spcPct val="0"/>
              </a:spcBef>
              <a:buFontTx/>
              <a:buNone/>
            </a:pPr>
            <a:r>
              <a:rPr lang="fr-CA" altLang="fr-FR" sz="1200" b="1">
                <a:solidFill>
                  <a:srgbClr val="FFFF99"/>
                </a:solidFill>
              </a:rPr>
              <a:t>		...</a:t>
            </a:r>
            <a:endParaRPr lang="en-US" altLang="fr-FR" sz="1200" b="1">
              <a:solidFill>
                <a:srgbClr val="FFFF99"/>
              </a:solidFill>
            </a:endParaRPr>
          </a:p>
        </p:txBody>
      </p:sp>
      <p:sp>
        <p:nvSpPr>
          <p:cNvPr id="82953" name="Text Box 9">
            <a:extLst>
              <a:ext uri="{FF2B5EF4-FFF2-40B4-BE49-F238E27FC236}">
                <a16:creationId xmlns:a16="http://schemas.microsoft.com/office/drawing/2014/main" id="{9ACE1925-5CDB-785E-E595-A2DA35A50FE6}"/>
              </a:ext>
            </a:extLst>
          </p:cNvPr>
          <p:cNvSpPr txBox="1">
            <a:spLocks noChangeArrowheads="1"/>
          </p:cNvSpPr>
          <p:nvPr/>
        </p:nvSpPr>
        <p:spPr bwMode="auto">
          <a:xfrm>
            <a:off x="179388" y="7100888"/>
            <a:ext cx="8785225" cy="563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fr-FR" sz="1200" b="1">
                <a:solidFill>
                  <a:srgbClr val="FFFF99"/>
                </a:solidFill>
              </a:rPr>
              <a:t>	;sprite #7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lda	#76		;no de tuile 76</a:t>
            </a:r>
          </a:p>
          <a:p>
            <a:pPr eaLnBrk="1" hangingPunct="1">
              <a:spcBef>
                <a:spcPct val="0"/>
              </a:spcBef>
              <a:buFontTx/>
              <a:buNone/>
            </a:pPr>
            <a:r>
              <a:rPr lang="en-US" altLang="fr-FR" sz="1200" b="1">
                <a:solidFill>
                  <a:srgbClr val="FFFF99"/>
                </a:solidFill>
              </a:rPr>
              <a:t>	sta	MARIO.FEETRIGHT.T	</a:t>
            </a:r>
          </a:p>
          <a:p>
            <a:pPr eaLnBrk="1" hangingPunct="1">
              <a:spcBef>
                <a:spcPct val="0"/>
              </a:spcBef>
              <a:buFontTx/>
              <a:buNone/>
            </a:pPr>
            <a:r>
              <a:rPr lang="en-US" altLang="fr-FR" sz="1200" b="1">
                <a:solidFill>
                  <a:srgbClr val="FFFF99"/>
                </a:solidFill>
              </a:rPr>
              <a:t>	lda	#%01000000		;palette 0, inversion horizontale</a:t>
            </a:r>
          </a:p>
          <a:p>
            <a:pPr eaLnBrk="1" hangingPunct="1">
              <a:spcBef>
                <a:spcPct val="0"/>
              </a:spcBef>
              <a:buFontTx/>
              <a:buNone/>
            </a:pPr>
            <a:r>
              <a:rPr lang="en-US" altLang="fr-FR" sz="1200" b="1">
                <a:solidFill>
                  <a:srgbClr val="FFFF99"/>
                </a:solidFill>
              </a:rPr>
              <a:t>	sta	MARIO.FEETRIGHT.S</a:t>
            </a:r>
          </a:p>
          <a:p>
            <a:pPr eaLnBrk="1" hangingPunct="1">
              <a:spcBef>
                <a:spcPct val="0"/>
              </a:spcBef>
              <a:buFontTx/>
              <a:buNone/>
            </a:pPr>
            <a:r>
              <a:rPr lang="en-US" altLang="fr-FR" sz="1200" b="1">
                <a:solidFill>
                  <a:srgbClr val="FFFF99"/>
                </a:solidFill>
              </a:rPr>
              <a:t>	lda	#24		;position Y = 24 plus bas que HEADLEFT</a:t>
            </a:r>
          </a:p>
          <a:p>
            <a:pPr eaLnBrk="1" hangingPunct="1">
              <a:spcBef>
                <a:spcPct val="0"/>
              </a:spcBef>
              <a:buFontTx/>
              <a:buNone/>
            </a:pPr>
            <a:r>
              <a:rPr lang="en-US" altLang="fr-FR" sz="1200" b="1">
                <a:solidFill>
                  <a:srgbClr val="FFFF99"/>
                </a:solidFill>
              </a:rPr>
              <a:t>	sta	MARIO.FEETRIGHT.Y</a:t>
            </a:r>
          </a:p>
          <a:p>
            <a:pPr eaLnBrk="1" hangingPunct="1">
              <a:spcBef>
                <a:spcPct val="0"/>
              </a:spcBef>
              <a:buFontTx/>
              <a:buNone/>
            </a:pPr>
            <a:r>
              <a:rPr lang="en-US" altLang="fr-FR" sz="1200" b="1">
                <a:solidFill>
                  <a:srgbClr val="FFFF99"/>
                </a:solidFill>
              </a:rPr>
              <a:t>	lda	#8		;position X = 8 plus loin que HEADLEFT</a:t>
            </a:r>
          </a:p>
          <a:p>
            <a:pPr eaLnBrk="1" hangingPunct="1">
              <a:spcBef>
                <a:spcPct val="0"/>
              </a:spcBef>
              <a:buFontTx/>
              <a:buNone/>
            </a:pPr>
            <a:r>
              <a:rPr lang="en-US" altLang="fr-FR" sz="1200" b="1">
                <a:solidFill>
                  <a:srgbClr val="FFFF99"/>
                </a:solidFill>
              </a:rPr>
              <a:t>	sta	MARIO.FEETRIGHT.X</a:t>
            </a:r>
            <a:r>
              <a:rPr lang="fr-CA" altLang="fr-FR" sz="1200" b="1">
                <a:solidFill>
                  <a:srgbClr val="FFFF99"/>
                </a:solidFill>
              </a:rPr>
              <a:t>		</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ldx	#0		;initialise l’index</a:t>
            </a:r>
          </a:p>
          <a:p>
            <a:pPr eaLnBrk="1" hangingPunct="1">
              <a:spcBef>
                <a:spcPct val="0"/>
              </a:spcBef>
              <a:buFontTx/>
              <a:buNone/>
            </a:pPr>
            <a:r>
              <a:rPr lang="en-US" altLang="fr-FR" sz="1200" b="1">
                <a:solidFill>
                  <a:srgbClr val="FFFF99"/>
                </a:solidFill>
              </a:rPr>
              <a:t>	</a:t>
            </a:r>
          </a:p>
          <a:p>
            <a:pPr eaLnBrk="1" hangingPunct="1">
              <a:spcBef>
                <a:spcPct val="0"/>
              </a:spcBef>
              <a:buFontTx/>
              <a:buNone/>
            </a:pPr>
            <a:r>
              <a:rPr lang="en-US" altLang="fr-FR" sz="1200" b="1">
                <a:solidFill>
                  <a:srgbClr val="FFFF99"/>
                </a:solidFill>
              </a:rPr>
              <a:t>dessiner10:		;boucle qui augmente les position X et Y de tous par 128.</a:t>
            </a:r>
          </a:p>
          <a:p>
            <a:pPr eaLnBrk="1" hangingPunct="1">
              <a:spcBef>
                <a:spcPct val="0"/>
              </a:spcBef>
              <a:buFontTx/>
              <a:buNone/>
            </a:pPr>
            <a:r>
              <a:rPr lang="en-US" altLang="fr-FR" sz="1200" b="1">
                <a:solidFill>
                  <a:srgbClr val="FFFF99"/>
                </a:solidFill>
              </a:rPr>
              <a:t>	clc</a:t>
            </a:r>
          </a:p>
          <a:p>
            <a:pPr eaLnBrk="1" hangingPunct="1">
              <a:spcBef>
                <a:spcPct val="0"/>
              </a:spcBef>
              <a:buFontTx/>
              <a:buNone/>
            </a:pPr>
            <a:r>
              <a:rPr lang="en-US" altLang="fr-FR" sz="1200" b="1">
                <a:solidFill>
                  <a:srgbClr val="FFFF99"/>
                </a:solidFill>
              </a:rPr>
              <a:t>	lda	#$7F		;128 dans A</a:t>
            </a:r>
          </a:p>
          <a:p>
            <a:pPr eaLnBrk="1" hangingPunct="1">
              <a:spcBef>
                <a:spcPct val="0"/>
              </a:spcBef>
              <a:buFontTx/>
              <a:buNone/>
            </a:pPr>
            <a:r>
              <a:rPr lang="en-US" altLang="fr-FR" sz="1200" b="1">
                <a:solidFill>
                  <a:srgbClr val="FFFF99"/>
                </a:solidFill>
              </a:rPr>
              <a:t>	adc	MARIO.HEADLEFT.Y,X	;premier sprite, coo Y  + index X = sprite courant</a:t>
            </a:r>
          </a:p>
          <a:p>
            <a:pPr eaLnBrk="1" hangingPunct="1">
              <a:spcBef>
                <a:spcPct val="0"/>
              </a:spcBef>
              <a:buFontTx/>
              <a:buNone/>
            </a:pPr>
            <a:r>
              <a:rPr lang="en-US" altLang="fr-FR" sz="1200" b="1">
                <a:solidFill>
                  <a:srgbClr val="FFFF99"/>
                </a:solidFill>
              </a:rPr>
              <a:t>	sta	MARIO.HEADLEFT.Y,X	;...	</a:t>
            </a:r>
          </a:p>
          <a:p>
            <a:pPr eaLnBrk="1" hangingPunct="1">
              <a:spcBef>
                <a:spcPct val="0"/>
              </a:spcBef>
              <a:buFontTx/>
              <a:buNone/>
            </a:pPr>
            <a:r>
              <a:rPr lang="en-US" altLang="fr-FR" sz="1200" b="1">
                <a:solidFill>
                  <a:srgbClr val="FFFF99"/>
                </a:solidFill>
              </a:rPr>
              <a:t>	clc</a:t>
            </a:r>
          </a:p>
          <a:p>
            <a:pPr eaLnBrk="1" hangingPunct="1">
              <a:spcBef>
                <a:spcPct val="0"/>
              </a:spcBef>
              <a:buFontTx/>
              <a:buNone/>
            </a:pPr>
            <a:r>
              <a:rPr lang="en-US" altLang="fr-FR" sz="1200" b="1">
                <a:solidFill>
                  <a:srgbClr val="FFFF99"/>
                </a:solidFill>
              </a:rPr>
              <a:t>	lda	#$7F		;128 dans A</a:t>
            </a:r>
          </a:p>
          <a:p>
            <a:pPr eaLnBrk="1" hangingPunct="1">
              <a:spcBef>
                <a:spcPct val="0"/>
              </a:spcBef>
              <a:buFontTx/>
              <a:buNone/>
            </a:pPr>
            <a:r>
              <a:rPr lang="en-US" altLang="fr-FR" sz="1200" b="1">
                <a:solidFill>
                  <a:srgbClr val="FFFF99"/>
                </a:solidFill>
              </a:rPr>
              <a:t>	adc	MARIO.HEADLEFT.X,X	;premier sprite, coo Y  + index X = sprite courant</a:t>
            </a:r>
          </a:p>
          <a:p>
            <a:pPr eaLnBrk="1" hangingPunct="1">
              <a:spcBef>
                <a:spcPct val="0"/>
              </a:spcBef>
              <a:buFontTx/>
              <a:buNone/>
            </a:pPr>
            <a:r>
              <a:rPr lang="en-US" altLang="fr-FR" sz="1200" b="1">
                <a:solidFill>
                  <a:srgbClr val="FFFF99"/>
                </a:solidFill>
              </a:rPr>
              <a:t>	sta	MARIO.HEADLEFT.X,X	;...</a:t>
            </a:r>
          </a:p>
          <a:p>
            <a:pPr eaLnBrk="1" hangingPunct="1">
              <a:spcBef>
                <a:spcPct val="0"/>
              </a:spcBef>
              <a:buFontTx/>
              <a:buNone/>
            </a:pPr>
            <a:r>
              <a:rPr lang="en-US" altLang="fr-FR" sz="1200" b="1">
                <a:solidFill>
                  <a:srgbClr val="FFFF99"/>
                </a:solidFill>
              </a:rPr>
              <a:t>	inx			;incrémente X de 4</a:t>
            </a:r>
          </a:p>
          <a:p>
            <a:pPr eaLnBrk="1" hangingPunct="1">
              <a:spcBef>
                <a:spcPct val="0"/>
              </a:spcBef>
              <a:buFontTx/>
              <a:buNone/>
            </a:pPr>
            <a:r>
              <a:rPr lang="en-US" altLang="fr-FR" sz="1200" b="1">
                <a:solidFill>
                  <a:srgbClr val="FFFF99"/>
                </a:solidFill>
              </a:rPr>
              <a:t>	inx			;...</a:t>
            </a:r>
          </a:p>
          <a:p>
            <a:pPr eaLnBrk="1" hangingPunct="1">
              <a:spcBef>
                <a:spcPct val="0"/>
              </a:spcBef>
              <a:buFontTx/>
              <a:buNone/>
            </a:pPr>
            <a:r>
              <a:rPr lang="en-US" altLang="fr-FR" sz="1200" b="1">
                <a:solidFill>
                  <a:srgbClr val="FFFF99"/>
                </a:solidFill>
              </a:rPr>
              <a:t>	inx			;...</a:t>
            </a:r>
          </a:p>
          <a:p>
            <a:pPr eaLnBrk="1" hangingPunct="1">
              <a:spcBef>
                <a:spcPct val="0"/>
              </a:spcBef>
              <a:buFontTx/>
              <a:buNone/>
            </a:pPr>
            <a:r>
              <a:rPr lang="en-US" altLang="fr-FR" sz="1200" b="1">
                <a:solidFill>
                  <a:srgbClr val="FFFF99"/>
                </a:solidFill>
              </a:rPr>
              <a:t>	inx			;...</a:t>
            </a:r>
          </a:p>
          <a:p>
            <a:pPr eaLnBrk="1" hangingPunct="1">
              <a:spcBef>
                <a:spcPct val="0"/>
              </a:spcBef>
              <a:buFontTx/>
              <a:buNone/>
            </a:pPr>
            <a:r>
              <a:rPr lang="en-US" altLang="fr-FR" sz="1200" b="1">
                <a:solidFill>
                  <a:srgbClr val="FFFF99"/>
                </a:solidFill>
              </a:rPr>
              <a:t>	cpx	#32		;A-t-on dépassé le dernier octet à modifier?</a:t>
            </a:r>
          </a:p>
          <a:p>
            <a:pPr eaLnBrk="1" hangingPunct="1">
              <a:spcBef>
                <a:spcPct val="0"/>
              </a:spcBef>
              <a:buFontTx/>
              <a:buNone/>
            </a:pPr>
            <a:r>
              <a:rPr lang="en-US" altLang="fr-FR" sz="1200" b="1">
                <a:solidFill>
                  <a:srgbClr val="FFFF99"/>
                </a:solidFill>
              </a:rPr>
              <a:t>	bne	dessiner10		;sinon on continue...</a:t>
            </a:r>
          </a:p>
          <a:p>
            <a:pPr eaLnBrk="1" hangingPunct="1">
              <a:spcBef>
                <a:spcPct val="0"/>
              </a:spcBef>
              <a:buFontTx/>
              <a:buNone/>
            </a:pPr>
            <a:endParaRPr lang="en-US" altLang="fr-FR" sz="1200" b="1">
              <a:solidFill>
                <a:srgbClr val="FFFF99"/>
              </a:solidFill>
            </a:endParaRPr>
          </a:p>
          <a:p>
            <a:pPr eaLnBrk="1" hangingPunct="1">
              <a:spcBef>
                <a:spcPct val="0"/>
              </a:spcBef>
              <a:buFontTx/>
              <a:buNone/>
            </a:pPr>
            <a:r>
              <a:rPr lang="en-US" altLang="fr-FR" sz="1200" b="1">
                <a:solidFill>
                  <a:srgbClr val="FFFF99"/>
                </a:solidFill>
              </a:rPr>
              <a:t>	rts			;fin.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2952"/>
                                        </p:tgtEl>
                                        <p:attrNameLst>
                                          <p:attrName>style.visibility</p:attrName>
                                        </p:attrNameLst>
                                      </p:cBhvr>
                                      <p:to>
                                        <p:strVal val="hidden"/>
                                      </p:to>
                                    </p:set>
                                  </p:childTnLst>
                                </p:cTn>
                              </p:par>
                              <p:par>
                                <p:cTn id="7" presetID="0" presetClass="path" presetSubtype="0" accel="50000" decel="50000" fill="hold" grpId="0" nodeType="withEffect">
                                  <p:stCondLst>
                                    <p:cond delay="0"/>
                                  </p:stCondLst>
                                  <p:childTnLst>
                                    <p:animMotion origin="layout" path="M 0 -3.7037E-7 L 0 -0.85046 " pathEditMode="relative" rAng="0" ptsTypes="AA">
                                      <p:cBhvr>
                                        <p:cTn id="8" dur="2000" fill="hold"/>
                                        <p:tgtEl>
                                          <p:spTgt spid="82953"/>
                                        </p:tgtEl>
                                        <p:attrNameLst>
                                          <p:attrName>ppt_x</p:attrName>
                                          <p:attrName>ppt_y</p:attrName>
                                        </p:attrNameLst>
                                      </p:cBhvr>
                                      <p:rCtr x="0" y="-4252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52" grpId="0"/>
      <p:bldP spid="82953" grpId="0"/>
    </p:bldLst>
  </p:timing>
</p:sld>
</file>

<file path=ppt/theme/theme1.xml><?xml version="1.0" encoding="utf-8"?>
<a:theme xmlns:a="http://schemas.openxmlformats.org/drawingml/2006/main" name="Modèle par défaut">
  <a:themeElements>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Modèle par défau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rgbClr val="FFFF99"/>
            </a:solidFill>
            <a:effectLst/>
            <a:latin typeface="Arial"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400" b="0" i="0" u="none" strike="noStrike" cap="none" normalizeH="0" baseline="0" smtClean="0">
            <a:ln>
              <a:noFill/>
            </a:ln>
            <a:solidFill>
              <a:srgbClr val="FFFF99"/>
            </a:solidFill>
            <a:effectLst/>
            <a:latin typeface="Arial" charset="0"/>
          </a:defRPr>
        </a:defPPr>
      </a:lstStyle>
    </a:lnDef>
  </a:objectDefaults>
  <a:extraClrSchemeLst>
    <a:extraClrScheme>
      <a:clrScheme name="Modèle par défau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Modèle par défaut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Modèle par défaut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Modèle par défaut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Modèle par défaut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Modèle par défaut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Modèle par défaut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Modèle par défaut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Modèle par défaut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Modèle par défaut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Modèle par défaut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Modèle par défaut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596A16F2C471F48A0CAF67FE30F8F4A" ma:contentTypeVersion="3" ma:contentTypeDescription="Crée un document." ma:contentTypeScope="" ma:versionID="e24250ac16a293d993070ded60a4e45a">
  <xsd:schema xmlns:xsd="http://www.w3.org/2001/XMLSchema" xmlns:xs="http://www.w3.org/2001/XMLSchema" xmlns:p="http://schemas.microsoft.com/office/2006/metadata/properties" xmlns:ns2="9699417f-fc80-4c3f-84a9-fe3f38244f2b" targetNamespace="http://schemas.microsoft.com/office/2006/metadata/properties" ma:root="true" ma:fieldsID="a998a4360ed0d48d596a9e575eb98ba0" ns2:_="">
    <xsd:import namespace="9699417f-fc80-4c3f-84a9-fe3f38244f2b"/>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99417f-fc80-4c3f-84a9-fe3f38244f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60716B-206F-4B9B-B029-1F34A439C5BC}">
  <ds:schemaRefs>
    <ds:schemaRef ds:uri="http://schemas.microsoft.com/sharepoint/v3/contenttype/forms"/>
  </ds:schemaRefs>
</ds:datastoreItem>
</file>

<file path=customXml/itemProps2.xml><?xml version="1.0" encoding="utf-8"?>
<ds:datastoreItem xmlns:ds="http://schemas.openxmlformats.org/officeDocument/2006/customXml" ds:itemID="{E6C7F379-605F-460C-8E98-8E887122BA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99417f-fc80-4c3f-84a9-fe3f38244f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1635</TotalTime>
  <Words>3005</Words>
  <Application>Microsoft Office PowerPoint</Application>
  <PresentationFormat>Affichage à l'écran (4:3)</PresentationFormat>
  <Paragraphs>751</Paragraphs>
  <Slides>24</Slides>
  <Notes>0</Notes>
  <HiddenSlides>0</HiddenSlides>
  <MMClips>0</MMClips>
  <ScaleCrop>false</ScaleCrop>
  <HeadingPairs>
    <vt:vector size="4" baseType="variant">
      <vt:variant>
        <vt:lpstr>Thème</vt:lpstr>
      </vt:variant>
      <vt:variant>
        <vt:i4>1</vt:i4>
      </vt:variant>
      <vt:variant>
        <vt:lpstr>Titres des diapositives</vt:lpstr>
      </vt:variant>
      <vt:variant>
        <vt:i4>24</vt:i4>
      </vt:variant>
    </vt:vector>
  </HeadingPairs>
  <TitlesOfParts>
    <vt:vector size="25" baseType="lpstr">
      <vt:lpstr>Modèle par défaut</vt:lpstr>
      <vt:lpstr>Présentation PowerPoint</vt:lpstr>
      <vt:lpstr>Les Entrées / Sorties</vt:lpstr>
      <vt:lpstr>Architecture NES</vt:lpstr>
      <vt:lpstr>Architecture NES</vt:lpstr>
      <vt:lpstr>Architecture NES</vt:lpstr>
      <vt:lpstr>Architecture NES</vt:lpstr>
      <vt:lpstr>Architecture NES</vt:lpstr>
      <vt:lpstr>Architecture NES</vt:lpstr>
      <vt:lpstr>Architecture NES</vt:lpstr>
      <vt:lpstr>Architecture NES</vt:lpstr>
      <vt:lpstr>Architecture NES</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Diapositive 1</dc:title>
  <dc:creator>dude</dc:creator>
  <cp:lastModifiedBy>Mikaël Fortin</cp:lastModifiedBy>
  <cp:revision>124</cp:revision>
  <dcterms:created xsi:type="dcterms:W3CDTF">2007-11-25T21:20:10Z</dcterms:created>
  <dcterms:modified xsi:type="dcterms:W3CDTF">2025-12-02T15:48:45Z</dcterms:modified>
</cp:coreProperties>
</file>
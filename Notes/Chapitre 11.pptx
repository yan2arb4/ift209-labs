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76.xml" ContentType="application/vnd.openxmlformats-officedocument.presentationml.tags+xml"/>
  <Override PartName="/ppt/tags/tag75.xml" ContentType="application/vnd.openxmlformats-officedocument.presentationml.tags+xml"/>
  <Override PartName="/ppt/tags/tag74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73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7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70.xml" ContentType="application/vnd.openxmlformats-officedocument.presentationml.tags+xml"/>
  <Override PartName="/ppt/tags/tag69.xml" ContentType="application/vnd.openxmlformats-officedocument.presentationml.tags+xml"/>
  <Override PartName="/ppt/tags/tag68.xml" ContentType="application/vnd.openxmlformats-officedocument.presentationml.tags+xml"/>
  <Override PartName="/ppt/tags/tag67.xml" ContentType="application/vnd.openxmlformats-officedocument.presentationml.tags+xml"/>
  <Override PartName="/ppt/tags/tag66.xml" ContentType="application/vnd.openxmlformats-officedocument.presentationml.tags+xml"/>
  <Override PartName="/ppt/tags/tag65.xml" ContentType="application/vnd.openxmlformats-officedocument.presentationml.tags+xml"/>
  <Override PartName="/ppt/tags/tag64.xml" ContentType="application/vnd.openxmlformats-officedocument.presentationml.tags+xml"/>
  <Override PartName="/ppt/tags/tag63.xml" ContentType="application/vnd.openxmlformats-officedocument.presentationml.tags+xml"/>
  <Override PartName="/ppt/tags/tag62.xml" ContentType="application/vnd.openxmlformats-officedocument.presentationml.tags+xml"/>
  <Override PartName="/ppt/tags/tag61.xml" ContentType="application/vnd.openxmlformats-officedocument.presentationml.tags+xml"/>
  <Override PartName="/ppt/tags/tag60.xml" ContentType="application/vnd.openxmlformats-officedocument.presentationml.tags+xml"/>
  <Override PartName="/ppt/tags/tag59.xml" ContentType="application/vnd.openxmlformats-officedocument.presentationml.tags+xml"/>
  <Override PartName="/ppt/tags/tag58.xml" ContentType="application/vnd.openxmlformats-officedocument.presentationml.tags+xml"/>
  <Override PartName="/ppt/tags/tag57.xml" ContentType="application/vnd.openxmlformats-officedocument.presentationml.tags+xml"/>
  <Override PartName="/ppt/tags/tag77.xml" ContentType="application/vnd.openxmlformats-officedocument.presentationml.tags+xml"/>
  <Override PartName="/ppt/tags/tag56.xml" ContentType="application/vnd.openxmlformats-officedocument.presentationml.tags+xml"/>
  <Override PartName="/ppt/tags/tag55.xml" ContentType="application/vnd.openxmlformats-officedocument.presentationml.tags+xml"/>
  <Override PartName="/ppt/tags/tag54.xml" ContentType="application/vnd.openxmlformats-officedocument.presentationml.tags+xml"/>
  <Override PartName="/ppt/tags/tag53.xml" ContentType="application/vnd.openxmlformats-officedocument.presentationml.tags+xml"/>
  <Override PartName="/ppt/tags/tag52.xml" ContentType="application/vnd.openxmlformats-officedocument.presentationml.tags+xml"/>
  <Override PartName="/ppt/tags/tag51.xml" ContentType="application/vnd.openxmlformats-officedocument.presentationml.tags+xml"/>
  <Override PartName="/ppt/tags/tag50.xml" ContentType="application/vnd.openxmlformats-officedocument.presentationml.tags+xml"/>
  <Override PartName="/ppt/tags/tag49.xml" ContentType="application/vnd.openxmlformats-officedocument.presentationml.tags+xml"/>
  <Override PartName="/ppt/tags/tag48.xml" ContentType="application/vnd.openxmlformats-officedocument.presentationml.tags+xml"/>
  <Override PartName="/ppt/tags/tag47.xml" ContentType="application/vnd.openxmlformats-officedocument.presentationml.tags+xml"/>
  <Override PartName="/ppt/tags/tag46.xml" ContentType="application/vnd.openxmlformats-officedocument.presentationml.tags+xml"/>
  <Override PartName="/ppt/tags/tag45.xml" ContentType="application/vnd.openxmlformats-officedocument.presentationml.tags+xml"/>
  <Override PartName="/ppt/tags/tag44.xml" ContentType="application/vnd.openxmlformats-officedocument.presentationml.tags+xml"/>
  <Override PartName="/ppt/tags/tag43.xml" ContentType="application/vnd.openxmlformats-officedocument.presentationml.tags+xml"/>
  <Override PartName="/ppt/tags/tag42.xml" ContentType="application/vnd.openxmlformats-officedocument.presentationml.tags+xml"/>
  <Override PartName="/ppt/tags/tag41.xml" ContentType="application/vnd.openxmlformats-officedocument.presentationml.tags+xml"/>
  <Override PartName="/ppt/tags/tag40.xml" ContentType="application/vnd.openxmlformats-officedocument.presentationml.tags+xml"/>
  <Override PartName="/ppt/tags/tag39.xml" ContentType="application/vnd.openxmlformats-officedocument.presentationml.tags+xml"/>
  <Override PartName="/ppt/tags/tag38.xml" ContentType="application/vnd.openxmlformats-officedocument.presentationml.tags+xml"/>
  <Override PartName="/ppt/tags/tag37.xml" ContentType="application/vnd.openxmlformats-officedocument.presentationml.tags+xml"/>
  <Override PartName="/ppt/tags/tag36.xml" ContentType="application/vnd.openxmlformats-officedocument.presentationml.tags+xml"/>
  <Override PartName="/ppt/tags/tag35.xml" ContentType="application/vnd.openxmlformats-officedocument.presentationml.tags+xml"/>
  <Override PartName="/ppt/tags/tag34.xml" ContentType="application/vnd.openxmlformats-officedocument.presentationml.tags+xml"/>
  <Override PartName="/ppt/tags/tag33.xml" ContentType="application/vnd.openxmlformats-officedocument.presentationml.tags+xml"/>
  <Override PartName="/ppt/tags/tag32.xml" ContentType="application/vnd.openxmlformats-officedocument.presentationml.tags+xml"/>
  <Override PartName="/ppt/tags/tag31.xml" ContentType="application/vnd.openxmlformats-officedocument.presentationml.tags+xml"/>
  <Override PartName="/ppt/tags/tag30.xml" ContentType="application/vnd.openxmlformats-officedocument.presentationml.tags+xml"/>
  <Override PartName="/ppt/tags/tag29.xml" ContentType="application/vnd.openxmlformats-officedocument.presentationml.tags+xml"/>
  <Override PartName="/ppt/tags/tag28.xml" ContentType="application/vnd.openxmlformats-officedocument.presentationml.tags+xml"/>
  <Override PartName="/ppt/tags/tag27.xml" ContentType="application/vnd.openxmlformats-officedocument.presentationml.tags+xml"/>
  <Override PartName="/ppt/tags/tag26.xml" ContentType="application/vnd.openxmlformats-officedocument.presentationml.tags+xml"/>
  <Override PartName="/ppt/tags/tag25.xml" ContentType="application/vnd.openxmlformats-officedocument.presentationml.tags+xml"/>
  <Override PartName="/ppt/tags/tag24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82" r:id="rId5"/>
    <p:sldId id="281" r:id="rId6"/>
    <p:sldId id="259" r:id="rId7"/>
    <p:sldId id="260" r:id="rId8"/>
    <p:sldId id="261" r:id="rId9"/>
    <p:sldId id="262" r:id="rId10"/>
    <p:sldId id="283" r:id="rId11"/>
    <p:sldId id="263" r:id="rId12"/>
    <p:sldId id="264" r:id="rId13"/>
    <p:sldId id="284" r:id="rId14"/>
    <p:sldId id="286" r:id="rId15"/>
    <p:sldId id="287" r:id="rId16"/>
    <p:sldId id="278" r:id="rId17"/>
    <p:sldId id="285" r:id="rId18"/>
    <p:sldId id="265" r:id="rId19"/>
    <p:sldId id="266" r:id="rId20"/>
    <p:sldId id="267" r:id="rId21"/>
    <p:sldId id="268" r:id="rId22"/>
    <p:sldId id="269" r:id="rId23"/>
    <p:sldId id="270" r:id="rId24"/>
    <p:sldId id="279" r:id="rId25"/>
    <p:sldId id="271" r:id="rId26"/>
    <p:sldId id="288" r:id="rId27"/>
    <p:sldId id="273" r:id="rId28"/>
    <p:sldId id="274" r:id="rId29"/>
    <p:sldId id="276" r:id="rId30"/>
    <p:sldId id="277" r:id="rId31"/>
    <p:sldId id="280" r:id="rId3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B91AF"/>
    <a:srgbClr val="D2533C"/>
    <a:srgbClr val="0000FF"/>
    <a:srgbClr val="6B76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0B140-BBC5-422C-AFE5-355C39888250}" type="datetimeFigureOut">
              <a:rPr lang="fr-CA" smtClean="0"/>
              <a:t>2025-11-14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05B6D-8D1A-416F-AC92-F32F45CA463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62729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EE14-099A-4F19-8953-36ADF35FA81B}" type="datetime1">
              <a:rPr lang="fr-CA" smtClean="0"/>
              <a:t>2025-11-14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04D3-99A9-44B6-AB3B-876B7115C31B}" type="datetime1">
              <a:rPr lang="fr-CA" smtClean="0"/>
              <a:t>2025-11-14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ED36-949B-4A0A-BF83-782C3E6FD030}" type="datetime1">
              <a:rPr lang="fr-CA" smtClean="0"/>
              <a:t>2025-11-14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6A9C8-381F-48EE-8409-B2268005FB78}" type="datetime1">
              <a:rPr lang="fr-CA" smtClean="0"/>
              <a:t>2025-11-14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7DBC-555E-49FC-88C5-719FCAB7E211}" type="datetime1">
              <a:rPr lang="fr-CA" smtClean="0"/>
              <a:t>2025-11-14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23CC-B10C-4B77-A161-29C9F2C5A3A5}" type="datetime1">
              <a:rPr lang="fr-CA" smtClean="0"/>
              <a:t>2025-11-14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EE4C-2CBB-44FF-B28F-7B248C35000A}" type="datetime1">
              <a:rPr lang="fr-CA" smtClean="0"/>
              <a:t>2025-11-14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D95B-ADE5-461C-B988-605B84962E36}" type="datetime1">
              <a:rPr lang="fr-CA" smtClean="0"/>
              <a:t>2025-11-14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FCB-4044-4074-8A0D-E250F29B22EA}" type="datetime1">
              <a:rPr lang="fr-CA" smtClean="0"/>
              <a:t>2025-11-14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D9A2-58E3-4336-A2F8-1979AB3BA19D}" type="datetime1">
              <a:rPr lang="fr-CA" smtClean="0"/>
              <a:t>2025-11-14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A332-13E8-4B42-ABB9-932EDA9A5246}" type="datetime1">
              <a:rPr lang="fr-CA" smtClean="0"/>
              <a:t>2025-11-14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E0B27A0-AF05-419C-BAA0-B1937A059E37}" type="datetime1">
              <a:rPr lang="fr-CA" smtClean="0"/>
              <a:t>2025-11-14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5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9.xml"/><Relationship Id="rId7" Type="http://schemas.openxmlformats.org/officeDocument/2006/relationships/image" Target="../media/image3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tags" Target="../tags/tag15.xml"/><Relationship Id="rId18" Type="http://schemas.openxmlformats.org/officeDocument/2006/relationships/image" Target="../media/image10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7.png"/><Relationship Id="rId17" Type="http://schemas.openxmlformats.org/officeDocument/2006/relationships/tags" Target="../tags/tag17.xml"/><Relationship Id="rId2" Type="http://schemas.openxmlformats.org/officeDocument/2006/relationships/tags" Target="../tags/tag12.xml"/><Relationship Id="rId16" Type="http://schemas.openxmlformats.org/officeDocument/2006/relationships/image" Target="../media/image9.png"/><Relationship Id="rId20" Type="http://schemas.openxmlformats.org/officeDocument/2006/relationships/image" Target="../media/image12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14.xml"/><Relationship Id="rId5" Type="http://schemas.openxmlformats.org/officeDocument/2006/relationships/tags" Target="../tags/tag15.xml"/><Relationship Id="rId15" Type="http://schemas.openxmlformats.org/officeDocument/2006/relationships/tags" Target="../tags/tag16.xml"/><Relationship Id="rId10" Type="http://schemas.openxmlformats.org/officeDocument/2006/relationships/image" Target="../media/image6.png"/><Relationship Id="rId19" Type="http://schemas.openxmlformats.org/officeDocument/2006/relationships/image" Target="../media/image11.png"/><Relationship Id="rId4" Type="http://schemas.openxmlformats.org/officeDocument/2006/relationships/tags" Target="../tags/tag14.xml"/><Relationship Id="rId9" Type="http://schemas.openxmlformats.org/officeDocument/2006/relationships/tags" Target="../tags/tag12.xml"/><Relationship Id="rId1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tags" Target="../tags/tag20.xml"/><Relationship Id="rId7" Type="http://schemas.openxmlformats.org/officeDocument/2006/relationships/tags" Target="../tags/tag19.xml"/><Relationship Id="rId12" Type="http://schemas.openxmlformats.org/officeDocument/2006/relationships/image" Target="../media/image120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2.xml"/><Relationship Id="rId11" Type="http://schemas.openxmlformats.org/officeDocument/2006/relationships/tags" Target="../tags/tag22.xml"/><Relationship Id="rId5" Type="http://schemas.openxmlformats.org/officeDocument/2006/relationships/tags" Target="../tags/tag22.xml"/><Relationship Id="rId10" Type="http://schemas.openxmlformats.org/officeDocument/2006/relationships/image" Target="../media/image110.png"/><Relationship Id="rId4" Type="http://schemas.openxmlformats.org/officeDocument/2006/relationships/tags" Target="../tags/tag21.xml"/><Relationship Id="rId9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tags" Target="../tags/tag26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image" Target="../media/image13.png"/><Relationship Id="rId2" Type="http://schemas.openxmlformats.org/officeDocument/2006/relationships/tags" Target="../tags/tag24.xml"/><Relationship Id="rId16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32.xml"/><Relationship Id="rId19" Type="http://schemas.openxmlformats.org/officeDocument/2006/relationships/image" Target="../media/image14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16.png"/><Relationship Id="rId5" Type="http://schemas.openxmlformats.org/officeDocument/2006/relationships/tags" Target="../tags/tag41.xml"/><Relationship Id="rId10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55.xml"/><Relationship Id="rId3" Type="http://schemas.openxmlformats.org/officeDocument/2006/relationships/tags" Target="../tags/tag45.xml"/><Relationship Id="rId21" Type="http://schemas.openxmlformats.org/officeDocument/2006/relationships/image" Target="../media/image180.png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slideLayout" Target="../slideLayouts/slideLayout2.xml"/><Relationship Id="rId25" Type="http://schemas.openxmlformats.org/officeDocument/2006/relationships/image" Target="../media/image20.png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tags" Target="../tags/tag56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24" Type="http://schemas.openxmlformats.org/officeDocument/2006/relationships/tags" Target="../tags/tag58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image" Target="../media/image19.png"/><Relationship Id="rId10" Type="http://schemas.openxmlformats.org/officeDocument/2006/relationships/tags" Target="../tags/tag52.xml"/><Relationship Id="rId19" Type="http://schemas.openxmlformats.org/officeDocument/2006/relationships/image" Target="../media/image170.png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tags" Target="../tags/tag5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18" Type="http://schemas.openxmlformats.org/officeDocument/2006/relationships/tags" Target="../tags/tag69.xml"/><Relationship Id="rId3" Type="http://schemas.openxmlformats.org/officeDocument/2006/relationships/tags" Target="../tags/tag61.xml"/><Relationship Id="rId21" Type="http://schemas.openxmlformats.org/officeDocument/2006/relationships/image" Target="../media/image22.png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slideLayout" Target="../slideLayouts/slideLayout2.xml"/><Relationship Id="rId25" Type="http://schemas.openxmlformats.org/officeDocument/2006/relationships/image" Target="../media/image24.png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0" Type="http://schemas.openxmlformats.org/officeDocument/2006/relationships/tags" Target="../tags/tag7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24" Type="http://schemas.openxmlformats.org/officeDocument/2006/relationships/tags" Target="../tags/tag72.xml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23" Type="http://schemas.openxmlformats.org/officeDocument/2006/relationships/image" Target="../media/image23.png"/><Relationship Id="rId10" Type="http://schemas.openxmlformats.org/officeDocument/2006/relationships/tags" Target="../tags/tag68.xml"/><Relationship Id="rId19" Type="http://schemas.openxmlformats.org/officeDocument/2006/relationships/image" Target="../media/image21.png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tags" Target="../tags/tag7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2" Type="http://schemas.openxmlformats.org/officeDocument/2006/relationships/tags" Target="../tags/tag76.xml"/><Relationship Id="rId16" Type="http://schemas.openxmlformats.org/officeDocument/2006/relationships/image" Target="../media/image250.pn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76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3" Type="http://schemas.openxmlformats.org/officeDocument/2006/relationships/tags" Target="../tags/tag90.xml"/><Relationship Id="rId7" Type="http://schemas.openxmlformats.org/officeDocument/2006/relationships/image" Target="../media/image260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8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9" Type="http://schemas.openxmlformats.org/officeDocument/2006/relationships/image" Target="../media/image2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tags" Target="../tags/tag97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290.png"/><Relationship Id="rId2" Type="http://schemas.openxmlformats.org/officeDocument/2006/relationships/tags" Target="../tags/tag93.xml"/><Relationship Id="rId16" Type="http://schemas.openxmlformats.org/officeDocument/2006/relationships/image" Target="../media/image31.png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96.xml"/><Relationship Id="rId5" Type="http://schemas.openxmlformats.org/officeDocument/2006/relationships/tags" Target="../tags/tag96.xml"/><Relationship Id="rId15" Type="http://schemas.openxmlformats.org/officeDocument/2006/relationships/tags" Target="../tags/tag98.xml"/><Relationship Id="rId10" Type="http://schemas.openxmlformats.org/officeDocument/2006/relationships/image" Target="../media/image280.png"/><Relationship Id="rId4" Type="http://schemas.openxmlformats.org/officeDocument/2006/relationships/tags" Target="../tags/tag95.xml"/><Relationship Id="rId9" Type="http://schemas.openxmlformats.org/officeDocument/2006/relationships/tags" Target="../tags/tag95.xml"/><Relationship Id="rId1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7" Type="http://schemas.openxmlformats.org/officeDocument/2006/relationships/image" Target="../media/image34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image" Target="../media/image330.png"/><Relationship Id="rId5" Type="http://schemas.openxmlformats.org/officeDocument/2006/relationships/tags" Target="../tags/tag103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tags" Target="../tags/tag107.xml"/><Relationship Id="rId7" Type="http://schemas.openxmlformats.org/officeDocument/2006/relationships/tags" Target="../tags/tag108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9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6.xml"/><Relationship Id="rId4" Type="http://schemas.openxmlformats.org/officeDocument/2006/relationships/tags" Target="../tags/tag1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Chapitre 11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85800" y="3505200"/>
            <a:ext cx="6838528" cy="1752600"/>
          </a:xfrm>
        </p:spPr>
        <p:txBody>
          <a:bodyPr/>
          <a:lstStyle/>
          <a:p>
            <a:r>
              <a:rPr lang="fr-CA" dirty="0"/>
              <a:t>Les nombres à virgule flottante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6323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Représentation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Il existe un nombre fini d’entiers dans l’intervalle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/>
                          </a:rPr>
                          <m:t>𝑚𝑖𝑛</m:t>
                        </m:r>
                        <m:r>
                          <a:rPr lang="en-CA" b="0" i="1" smtClean="0">
                            <a:latin typeface="Cambria Math"/>
                          </a:rPr>
                          <m:t>, </m:t>
                        </m:r>
                        <m:r>
                          <a:rPr lang="en-CA" b="0" i="1" smtClean="0">
                            <a:latin typeface="Cambria Math"/>
                          </a:rPr>
                          <m:t>𝑚𝑎𝑥</m:t>
                        </m:r>
                      </m:e>
                    </m:d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Il y a cependant une infinité de nombres réels dans le même intervalle</a:t>
                </a:r>
              </a:p>
              <a:p>
                <a:endParaRPr lang="fr-CA" dirty="0"/>
              </a:p>
              <a:p>
                <a:r>
                  <a:rPr lang="fr-CA" dirty="0"/>
                  <a:t>Comment représenter une infinité de nombres?</a:t>
                </a:r>
              </a:p>
              <a:p>
                <a:pPr lvl="1"/>
                <a:r>
                  <a:rPr lang="fr-CA" dirty="0">
                    <a:highlight>
                      <a:srgbClr val="00FF00"/>
                    </a:highlight>
                  </a:rPr>
                  <a:t>On approxime la plupart des nombres réels de l’intervalle</a:t>
                </a:r>
              </a:p>
              <a:p>
                <a:endParaRPr lang="fr-CA" dirty="0"/>
              </a:p>
              <a:p>
                <a:r>
                  <a:rPr lang="fr-CA" dirty="0"/>
                  <a:t>Cette approximation doit permettre</a:t>
                </a:r>
              </a:p>
              <a:p>
                <a:pPr lvl="1"/>
                <a:r>
                  <a:rPr lang="fr-CA" dirty="0"/>
                  <a:t>Une bonne approximation des nombres réels non représentables</a:t>
                </a:r>
              </a:p>
              <a:p>
                <a:pPr lvl="1"/>
                <a:r>
                  <a:rPr lang="fr-CA" dirty="0"/>
                  <a:t>D’exprimer de très grands nombres réels</a:t>
                </a:r>
              </a:p>
              <a:p>
                <a:pPr lvl="1"/>
                <a:r>
                  <a:rPr lang="fr-CA" dirty="0"/>
                  <a:t>D’exprimer de très petits nombres réels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457200" y="1600200"/>
                <a:ext cx="8579296" cy="5069160"/>
              </a:xfrm>
              <a:blipFill>
                <a:blip r:embed="rId6"/>
                <a:stretch>
                  <a:fillRect l="-640" t="-842" r="-142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80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Représentation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Les points flottants</a:t>
                </a:r>
              </a:p>
              <a:p>
                <a:pPr lvl="1"/>
                <a:r>
                  <a:rPr lang="fr-CA" dirty="0"/>
                  <a:t>Une mantisse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CA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CA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/>
                      </a:rPr>
                      <m:t>…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CA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CA" dirty="0"/>
                  <a:t>)</a:t>
                </a:r>
              </a:p>
              <a:p>
                <a:pPr lvl="1"/>
                <a:r>
                  <a:rPr lang="fr-CA" dirty="0"/>
                  <a:t>Une base (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fr-CA" dirty="0"/>
                  <a:t>)</a:t>
                </a:r>
              </a:p>
              <a:p>
                <a:pPr lvl="1"/>
                <a:r>
                  <a:rPr lang="fr-CA" dirty="0"/>
                  <a:t>Un exposant (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𝑒</m:t>
                    </m:r>
                  </m:oMath>
                </a14:m>
                <a:r>
                  <a:rPr lang="fr-CA" dirty="0"/>
                  <a:t>)</a:t>
                </a:r>
              </a:p>
              <a:p>
                <a:pPr lvl="1"/>
                <a:endParaRPr lang="fr-CA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/>
                        </a:rPr>
                        <m:t>±0,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CA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CA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/>
                        </a:rPr>
                        <m:t>…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CA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𝐵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±</m:t>
                          </m:r>
                          <m:r>
                            <a:rPr lang="en-CA" b="0" i="1" smtClean="0">
                              <a:latin typeface="Cambria Math"/>
                            </a:rPr>
                            <m:t>𝑒</m:t>
                          </m:r>
                        </m:sup>
                      </m:sSup>
                    </m:oMath>
                  </m:oMathPara>
                </a14:m>
                <a:endParaRPr lang="fr-CA" dirty="0"/>
              </a:p>
              <a:p>
                <a:pPr lvl="1"/>
                <a:endParaRPr lang="fr-CA" dirty="0"/>
              </a:p>
              <a:p>
                <a:r>
                  <a:rPr lang="fr-CA" b="1" dirty="0">
                    <a:solidFill>
                      <a:srgbClr val="FF0000"/>
                    </a:solidFill>
                  </a:rPr>
                  <a:t>Un ensemble F de nombres virgule flottante s’exprime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/>
                        </a:rPr>
                        <m:t>𝐹</m:t>
                      </m:r>
                      <m:r>
                        <a:rPr lang="en-CA" b="0" i="1" smtClean="0">
                          <a:latin typeface="Cambria Math"/>
                        </a:rPr>
                        <m:t>=(</m:t>
                      </m:r>
                      <m:r>
                        <a:rPr lang="en-CA" b="0" i="1" smtClean="0">
                          <a:latin typeface="Cambria Math"/>
                        </a:rPr>
                        <m:t>𝐵</m:t>
                      </m:r>
                      <m:r>
                        <a:rPr lang="en-CA" b="0" i="1" smtClean="0">
                          <a:latin typeface="Cambria Math"/>
                        </a:rPr>
                        <m:t>, </m:t>
                      </m:r>
                      <m:r>
                        <a:rPr lang="en-CA" b="0" i="1" smtClean="0">
                          <a:latin typeface="Cambria Math"/>
                        </a:rPr>
                        <m:t>𝑙</m:t>
                      </m:r>
                      <m:r>
                        <a:rPr lang="en-CA" b="0" i="1" smtClean="0">
                          <a:latin typeface="Cambria Math"/>
                        </a:rPr>
                        <m:t>, </m:t>
                      </m:r>
                      <m:r>
                        <a:rPr lang="en-CA" b="0" i="1" smtClean="0">
                          <a:latin typeface="Cambria Math"/>
                        </a:rPr>
                        <m:t>𝑚</m:t>
                      </m:r>
                      <m:r>
                        <a:rPr lang="en-CA" b="0" i="1" smtClean="0">
                          <a:latin typeface="Cambria Math"/>
                        </a:rPr>
                        <m:t>, </m:t>
                      </m:r>
                      <m:r>
                        <a:rPr lang="en-CA" b="0" i="1" smtClean="0">
                          <a:latin typeface="Cambria Math"/>
                        </a:rPr>
                        <m:t>𝑀</m:t>
                      </m:r>
                      <m:r>
                        <a:rPr lang="en-CA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fr-CA" dirty="0"/>
              </a:p>
              <a:p>
                <a:pPr lvl="1"/>
                <a14:m>
                  <m:oMath xmlns:m="http://schemas.openxmlformats.org/officeDocument/2006/math">
                    <m:r>
                      <a:rPr lang="fr-CA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fr-CA" dirty="0"/>
                  <a:t> est la base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CA" i="1" dirty="0" smtClean="0">
                        <a:latin typeface="Cambria Math"/>
                      </a:rPr>
                      <m:t>𝑙</m:t>
                    </m:r>
                  </m:oMath>
                </a14:m>
                <a:r>
                  <a:rPr lang="fr-CA" dirty="0"/>
                  <a:t> est le nombre de symboles de la mantisse (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0≤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CA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/>
                      </a:rPr>
                      <m:t>≤</m:t>
                    </m:r>
                    <m:r>
                      <a:rPr lang="en-CA" b="0" i="1" smtClean="0">
                        <a:latin typeface="Cambria Math"/>
                      </a:rPr>
                      <m:t>𝐵</m:t>
                    </m:r>
                    <m:r>
                      <a:rPr lang="en-CA" b="0" i="1" smtClean="0">
                        <a:latin typeface="Cambria Math"/>
                      </a:rPr>
                      <m:t>−1</m:t>
                    </m:r>
                  </m:oMath>
                </a14:m>
                <a:r>
                  <a:rPr lang="fr-CA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fr-CA" dirty="0"/>
                  <a:t> est l’exposant minimal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fr-CA" dirty="0"/>
                  <a:t> est l’exposant maximal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6"/>
                </p:custDataLst>
              </p:nvPr>
            </p:nvSpPr>
            <p:spPr>
              <a:xfrm>
                <a:off x="457200" y="1600200"/>
                <a:ext cx="8579296" cy="5069160"/>
              </a:xfrm>
              <a:blipFill>
                <a:blip r:embed="rId7"/>
                <a:stretch>
                  <a:fillRect l="-640" t="-84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3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355976" y="5877272"/>
                <a:ext cx="1872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/>
                        </a:rPr>
                        <m:t>−</m:t>
                      </m:r>
                      <m:r>
                        <a:rPr lang="en-CA" b="0" i="1" smtClean="0">
                          <a:latin typeface="Cambria Math"/>
                        </a:rPr>
                        <m:t>𝑚</m:t>
                      </m:r>
                      <m:r>
                        <a:rPr lang="en-CA" b="0" i="1" smtClean="0">
                          <a:latin typeface="Cambria Math"/>
                        </a:rPr>
                        <m:t>≤</m:t>
                      </m:r>
                      <m:r>
                        <a:rPr lang="en-CA" b="0" i="1" smtClean="0">
                          <a:latin typeface="Cambria Math"/>
                        </a:rPr>
                        <m:t>𝑒</m:t>
                      </m:r>
                      <m:r>
                        <a:rPr lang="en-CA" b="0" i="1" smtClean="0">
                          <a:latin typeface="Cambria Math"/>
                        </a:rPr>
                        <m:t>≤</m:t>
                      </m:r>
                      <m:r>
                        <a:rPr lang="en-CA" b="0" i="1" smtClean="0">
                          <a:latin typeface="Cambria Math"/>
                        </a:rPr>
                        <m:t>𝑀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5877272"/>
                <a:ext cx="1872208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31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2A90-24B1-700E-3729-D5561E35E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67DD4E-0236-E95C-ABD8-6F56ACF7C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627" y="2971651"/>
            <a:ext cx="6420746" cy="21338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D8490-87EA-DD2E-71C8-253F0AF4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168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13A1A5-C667-FEAA-31CF-4ACE981C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b="1" dirty="0">
                <a:solidFill>
                  <a:schemeClr val="bg1"/>
                </a:solidFill>
              </a:rPr>
              <a:t>Un ensemble F de nombres virgule flottante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1EC79E-89C1-68ED-E372-4772185AC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8DB3F-268F-1E0D-71FA-73BF71D1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818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F=(B, l, m, 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Un </a:t>
                </a:r>
                <a:r>
                  <a:rPr lang="fr-CA" i="1" dirty="0"/>
                  <a:t>nombre en virgule flottante </a:t>
                </a:r>
                <a:r>
                  <a:rPr lang="fr-CA" dirty="0"/>
                  <a:t>est un nombre de la forme</a:t>
                </a:r>
              </a:p>
              <a:p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Nombre virgule flottante </a:t>
                </a:r>
                <a:r>
                  <a:rPr lang="fr-CA" b="1" dirty="0"/>
                  <a:t>normalisé</a:t>
                </a:r>
              </a:p>
              <a:p>
                <a:pPr lvl="1"/>
                <a:r>
                  <a:rPr lang="fr-CA" dirty="0"/>
                  <a:t>Nombre pour lequel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CA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/>
                      </a:rPr>
                      <m:t>≠0</m:t>
                    </m:r>
                  </m:oMath>
                </a14:m>
                <a:endParaRPr lang="fr-CA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r>
                  <a:rPr lang="fr-CA" dirty="0"/>
                  <a:t>La normalisation permet de mieux estimer la précision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9"/>
                </p:custDataLst>
              </p:nvPr>
            </p:nvSpPr>
            <p:spPr>
              <a:xfrm>
                <a:off x="457200" y="1600200"/>
                <a:ext cx="8579296" cy="5069160"/>
              </a:xfrm>
              <a:blipFill>
                <a:blip r:embed="rId10"/>
                <a:stretch>
                  <a:fillRect l="-640" t="-84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6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876695" y="3739511"/>
                <a:ext cx="339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0,</m:t>
                    </m:r>
                    <m:r>
                      <a:rPr lang="en-CA" b="0" i="1" smtClean="0">
                        <a:solidFill>
                          <a:srgbClr val="FF0000"/>
                        </a:solidFill>
                        <a:latin typeface="Cambria Math"/>
                      </a:rPr>
                      <m:t>0</m:t>
                    </m:r>
                    <m:r>
                      <a:rPr lang="en-CA" b="0" i="1" smtClean="0">
                        <a:latin typeface="Cambria Math"/>
                      </a:rPr>
                      <m:t>123×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CA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fr-CA" dirty="0"/>
                  <a:t> est </a:t>
                </a:r>
                <a:r>
                  <a:rPr lang="fr-CA" dirty="0">
                    <a:solidFill>
                      <a:srgbClr val="FF0000"/>
                    </a:solidFill>
                  </a:rPr>
                  <a:t>non normalisé</a:t>
                </a: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876695" y="3739511"/>
                <a:ext cx="3390608" cy="369332"/>
              </a:xfrm>
              <a:prstGeom prst="rect">
                <a:avLst/>
              </a:prstGeom>
              <a:blipFill>
                <a:blip r:embed="rId12"/>
                <a:stretch>
                  <a:fillRect t="-8197" r="-1079" b="-245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059832" y="4134780"/>
                <a:ext cx="2903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0,123×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CA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CA" dirty="0"/>
                  <a:t> est </a:t>
                </a:r>
                <a:r>
                  <a:rPr lang="fr-CA" b="1" dirty="0"/>
                  <a:t>normalisé</a:t>
                </a:r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3059832" y="4134780"/>
                <a:ext cx="2903295" cy="369332"/>
              </a:xfrm>
              <a:prstGeom prst="rect">
                <a:avLst/>
              </a:prstGeom>
              <a:blipFill>
                <a:blip r:embed="rId14"/>
                <a:stretch>
                  <a:fillRect t="-8197" r="-1471" b="-245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869853" y="5558598"/>
                <a:ext cx="15695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/>
                        </a:rPr>
                        <m:t>0,0123×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3869853" y="5558598"/>
                <a:ext cx="156959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869853" y="5927930"/>
                <a:ext cx="15695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/>
                        </a:rPr>
                        <m:t>0,1234×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3869853" y="5927930"/>
                <a:ext cx="156959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4FADF37F-1B82-B952-6033-F06CA5EA351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70318" y="2042966"/>
            <a:ext cx="3203363" cy="8812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A33B18-6545-37B8-B22A-EAD31673BB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72200" y="2348880"/>
            <a:ext cx="655024" cy="27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3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F=(B, l, m, 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Valeur absolue du plus petit nombre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/>
                          </a:rPr>
                          <m:t>𝑚𝑖𝑛</m:t>
                        </m:r>
                      </m:e>
                    </m:d>
                  </m:oMath>
                </a14:m>
                <a:endParaRPr lang="fr-CA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Valeur absolue du plus grand nombre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/>
                          </a:rPr>
                          <m:t>𝑚𝑎𝑥</m:t>
                        </m:r>
                      </m:e>
                    </m:d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7"/>
                </p:custDataLst>
              </p:nvPr>
            </p:nvSpPr>
            <p:spPr>
              <a:xfrm>
                <a:off x="457200" y="1600200"/>
                <a:ext cx="8579296" cy="5069160"/>
              </a:xfrm>
              <a:blipFill rotWithShape="1">
                <a:blip r:embed="rId8"/>
                <a:stretch>
                  <a:fillRect l="-569" t="-84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7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4"/>
              <p:cNvGraphicFramePr>
                <a:graphicFrameLocks noGrp="1"/>
              </p:cNvGraphicFramePr>
              <p:nvPr>
                <p:custDataLst>
                  <p:tags r:id="rId4"/>
                </p:custDataLst>
                <p:extLst>
                  <p:ext uri="{D42A27DB-BD31-4B8C-83A1-F6EECF244321}">
                    <p14:modId xmlns:p14="http://schemas.microsoft.com/office/powerpoint/2010/main" val="745114200"/>
                  </p:ext>
                </p:extLst>
              </p:nvPr>
            </p:nvGraphicFramePr>
            <p:xfrm>
              <a:off x="1524000" y="2161664"/>
              <a:ext cx="6072336" cy="14966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12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86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424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fr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𝑚𝑖𝑛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fr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±0,10…0×</m:t>
                                    </m:r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0,1×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𝑚</m:t>
                                        </m:r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4"/>
              <p:cNvGraphicFramePr>
                <a:graphicFrameLocks noGrp="1"/>
              </p:cNvGraphicFramePr>
              <p:nvPr>
                <p:custDataLst>
                  <p:tags r:id="rId9"/>
                </p:custDataLst>
                <p:extLst>
                  <p:ext uri="{D42A27DB-BD31-4B8C-83A1-F6EECF244321}">
                    <p14:modId xmlns:p14="http://schemas.microsoft.com/office/powerpoint/2010/main" val="745114200"/>
                  </p:ext>
                </p:extLst>
              </p:nvPr>
            </p:nvGraphicFramePr>
            <p:xfrm>
              <a:off x="1524000" y="2161664"/>
              <a:ext cx="6072336" cy="14966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1228"/>
                    <a:gridCol w="358642"/>
                    <a:gridCol w="454246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8197" r="-41927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3691" t="-8197" r="-134" b="-3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3691" t="-110000" r="-134" b="-22833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3691" t="-206557" r="-134" b="-124590"/>
                          </a:stretch>
                        </a:blipFill>
                      </a:tcPr>
                    </a:tc>
                  </a:tr>
                  <a:tr h="384175">
                    <a:tc>
                      <a:txBody>
                        <a:bodyPr/>
                        <a:lstStyle/>
                        <a:p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3691" t="-296825" r="-134" b="-2063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/>
              <p:cNvGraphicFramePr>
                <a:graphicFrameLocks noGrp="1"/>
              </p:cNvGraphicFramePr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4117158143"/>
                  </p:ext>
                </p:extLst>
              </p:nvPr>
            </p:nvGraphicFramePr>
            <p:xfrm>
              <a:off x="1523281" y="4524593"/>
              <a:ext cx="6072336" cy="15135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12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86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424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fr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𝑚𝑎𝑥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fr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±0,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𝐵</m:t>
                                        </m:r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𝐵</m:t>
                                        </m:r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…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𝐵</m:t>
                                        </m:r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𝑀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0,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…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𝑀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𝑀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𝑀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(1−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𝑙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/>
              <p:cNvGraphicFramePr>
                <a:graphicFrameLocks noGrp="1"/>
              </p:cNvGraphicFramePr>
              <p:nvPr>
                <p:custDataLst>
                  <p:tags r:id="rId11"/>
                </p:custDataLst>
                <p:extLst>
                  <p:ext uri="{D42A27DB-BD31-4B8C-83A1-F6EECF244321}">
                    <p14:modId xmlns:p14="http://schemas.microsoft.com/office/powerpoint/2010/main" val="4117158143"/>
                  </p:ext>
                </p:extLst>
              </p:nvPr>
            </p:nvGraphicFramePr>
            <p:xfrm>
              <a:off x="1523281" y="4524593"/>
              <a:ext cx="6072336" cy="15135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1228"/>
                    <a:gridCol w="358642"/>
                    <a:gridCol w="454246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2"/>
                          <a:stretch>
                            <a:fillRect l="-521" t="-8197" r="-418750" b="-3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2"/>
                          <a:stretch>
                            <a:fillRect l="-33826" t="-8197" b="-33278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2"/>
                          <a:stretch>
                            <a:fillRect l="-33826" t="-108197" b="-232787"/>
                          </a:stretch>
                        </a:blipFill>
                      </a:tcPr>
                    </a:tc>
                  </a:tr>
                  <a:tr h="401066">
                    <a:tc>
                      <a:txBody>
                        <a:bodyPr/>
                        <a:lstStyle/>
                        <a:p>
                          <a:endParaRPr lang="fr-CA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2"/>
                          <a:stretch>
                            <a:fillRect l="-33826" t="-192424" b="-11515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b="0" dirty="0" smtClean="0">
                              <a:solidFill>
                                <a:schemeClr val="tx1"/>
                              </a:solidFill>
                            </a:rPr>
                            <a:t>=</a:t>
                          </a:r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2"/>
                          <a:stretch>
                            <a:fillRect l="-33826" t="-316393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1452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F=(B, l, m, 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Précision</a:t>
                </a:r>
                <a:r>
                  <a:rPr lang="en-CA" dirty="0"/>
                  <a:t> relative</a:t>
                </a:r>
              </a:p>
              <a:p>
                <a:pPr lvl="1"/>
                <a:r>
                  <a:rPr lang="fr-CA" dirty="0"/>
                  <a:t>Un nombre à virgule flottante est une approximation d’un réel</a:t>
                </a:r>
              </a:p>
              <a:p>
                <a:pPr lvl="1"/>
                <a:r>
                  <a:rPr lang="fr-CA" dirty="0"/>
                  <a:t>Il y a nécessairement perte de précision</a:t>
                </a:r>
              </a:p>
              <a:p>
                <a:pPr lvl="1"/>
                <a:r>
                  <a:rPr lang="fr-CA" dirty="0"/>
                  <a:t>Il y a une erreur lors du calcul, versus le même calcul avec des réels</a:t>
                </a:r>
              </a:p>
              <a:p>
                <a:pPr lvl="1"/>
                <a:r>
                  <a:rPr lang="fr-CA" dirty="0"/>
                  <a:t>L’estimation de la précision relative 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CA" b="0" i="1" smtClean="0">
                            <a:latin typeface="Cambria Math"/>
                          </a:rPr>
                          <m:t>1−</m:t>
                        </m:r>
                        <m:r>
                          <a:rPr lang="en-CA" b="0" i="1" smtClean="0">
                            <a:latin typeface="Cambria Math"/>
                          </a:rPr>
                          <m:t>𝑙</m:t>
                        </m:r>
                      </m:sup>
                    </m:sSup>
                  </m:oMath>
                </a14:m>
                <a:endParaRPr lang="fr-CA" dirty="0"/>
              </a:p>
              <a:p>
                <a:pPr marL="0" indent="0">
                  <a:buNone/>
                </a:pPr>
                <a:endParaRPr lang="fr-CA" dirty="0"/>
              </a:p>
              <a:p>
                <a:r>
                  <a:rPr lang="fr-CA" dirty="0"/>
                  <a:t>Cardinalité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16"/>
                </p:custDataLst>
              </p:nvPr>
            </p:nvSpPr>
            <p:spPr>
              <a:xfrm>
                <a:off x="457200" y="1600200"/>
                <a:ext cx="8579296" cy="5069160"/>
              </a:xfrm>
              <a:blipFill rotWithShape="1">
                <a:blip r:embed="rId17"/>
                <a:stretch>
                  <a:fillRect l="-569" t="-84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8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771800" y="5085232"/>
                <a:ext cx="3536802" cy="432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/>
                            </a:rPr>
                            <m:t>𝐵</m:t>
                          </m:r>
                          <m:r>
                            <a:rPr lang="en-CA" i="1">
                              <a:latin typeface="Cambria Math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/>
                            </a:rPr>
                            <m:t>𝐵</m:t>
                          </m:r>
                        </m:e>
                        <m:sup>
                          <m:r>
                            <a:rPr lang="en-CA" i="1">
                              <a:latin typeface="Cambria Math"/>
                            </a:rPr>
                            <m:t>𝑙</m:t>
                          </m:r>
                          <m:r>
                            <a:rPr lang="en-CA" i="1"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/>
                            </a:rPr>
                            <m:t>𝑀</m:t>
                          </m:r>
                          <m:r>
                            <a:rPr lang="en-CA" i="1">
                              <a:latin typeface="Cambria Math"/>
                            </a:rPr>
                            <m:t>+</m:t>
                          </m:r>
                          <m:r>
                            <a:rPr lang="en-CA" i="1">
                              <a:latin typeface="Cambria Math"/>
                            </a:rPr>
                            <m:t>𝑚</m:t>
                          </m:r>
                          <m:r>
                            <a:rPr lang="en-CA" i="1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en-CA" i="1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2771800" y="5085232"/>
                <a:ext cx="3536802" cy="432000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>
            <p:custDataLst>
              <p:tags r:id="rId5"/>
            </p:custDataLst>
          </p:nvPr>
        </p:nvSpPr>
        <p:spPr>
          <a:xfrm>
            <a:off x="2267744" y="4417948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Autant de négatifs que de positifs</a:t>
            </a:r>
          </a:p>
        </p:txBody>
      </p:sp>
      <p:cxnSp>
        <p:nvCxnSpPr>
          <p:cNvPr id="11" name="Connecteur droit avec flèche 10"/>
          <p:cNvCxnSpPr>
            <a:stCxn id="8" idx="2"/>
          </p:cNvCxnSpPr>
          <p:nvPr>
            <p:custDataLst>
              <p:tags r:id="rId6"/>
            </p:custDataLst>
          </p:nvPr>
        </p:nvCxnSpPr>
        <p:spPr>
          <a:xfrm>
            <a:off x="3095836" y="4941168"/>
            <a:ext cx="0" cy="21602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>
            <p:custDataLst>
              <p:tags r:id="rId7"/>
            </p:custDataLst>
          </p:nvPr>
        </p:nvSpPr>
        <p:spPr>
          <a:xfrm>
            <a:off x="6228184" y="429309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On compte le nombre zéro</a:t>
            </a:r>
          </a:p>
        </p:txBody>
      </p:sp>
      <p:cxnSp>
        <p:nvCxnSpPr>
          <p:cNvPr id="14" name="Connecteur droit avec flèche 13"/>
          <p:cNvCxnSpPr>
            <a:stCxn id="12" idx="2"/>
          </p:cNvCxnSpPr>
          <p:nvPr>
            <p:custDataLst>
              <p:tags r:id="rId8"/>
            </p:custDataLst>
          </p:nvPr>
        </p:nvCxnSpPr>
        <p:spPr>
          <a:xfrm flipH="1">
            <a:off x="6084168" y="4816316"/>
            <a:ext cx="792088" cy="3408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>
            <p:custDataLst>
              <p:tags r:id="rId9"/>
            </p:custDataLst>
          </p:nvPr>
        </p:nvSpPr>
        <p:spPr>
          <a:xfrm>
            <a:off x="971600" y="5733256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B-1 possibilité pour le premier chiffre de la mantisse</a:t>
            </a:r>
          </a:p>
        </p:txBody>
      </p:sp>
      <p:cxnSp>
        <p:nvCxnSpPr>
          <p:cNvPr id="18" name="Connecteur droit avec flèche 17"/>
          <p:cNvCxnSpPr>
            <a:stCxn id="16" idx="0"/>
          </p:cNvCxnSpPr>
          <p:nvPr>
            <p:custDataLst>
              <p:tags r:id="rId10"/>
            </p:custDataLst>
          </p:nvPr>
        </p:nvCxnSpPr>
        <p:spPr>
          <a:xfrm flipV="1">
            <a:off x="2267744" y="5445224"/>
            <a:ext cx="1224136" cy="28803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>
            <p:custDataLst>
              <p:tags r:id="rId11"/>
            </p:custDataLst>
          </p:nvPr>
        </p:nvSpPr>
        <p:spPr>
          <a:xfrm>
            <a:off x="3471292" y="6080938"/>
            <a:ext cx="2312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B possibilités pour chacun des l-1 autres chiffres</a:t>
            </a:r>
          </a:p>
        </p:txBody>
      </p:sp>
      <p:cxnSp>
        <p:nvCxnSpPr>
          <p:cNvPr id="21" name="Connecteur droit avec flèche 20"/>
          <p:cNvCxnSpPr>
            <a:stCxn id="19" idx="0"/>
          </p:cNvCxnSpPr>
          <p:nvPr>
            <p:custDataLst>
              <p:tags r:id="rId12"/>
            </p:custDataLst>
          </p:nvPr>
        </p:nvCxnSpPr>
        <p:spPr>
          <a:xfrm flipH="1" flipV="1">
            <a:off x="4211960" y="5445224"/>
            <a:ext cx="415665" cy="63571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>
            <p:custDataLst>
              <p:tags r:id="rId13"/>
            </p:custDataLst>
          </p:nvPr>
        </p:nvSpPr>
        <p:spPr>
          <a:xfrm>
            <a:off x="6460740" y="5819328"/>
            <a:ext cx="1863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Valeurs possibles pour l’exposant</a:t>
            </a:r>
          </a:p>
        </p:txBody>
      </p:sp>
      <p:cxnSp>
        <p:nvCxnSpPr>
          <p:cNvPr id="24" name="Connecteur droit avec flèche 23"/>
          <p:cNvCxnSpPr>
            <a:stCxn id="22" idx="1"/>
          </p:cNvCxnSpPr>
          <p:nvPr>
            <p:custDataLst>
              <p:tags r:id="rId14"/>
            </p:custDataLst>
          </p:nvPr>
        </p:nvCxnSpPr>
        <p:spPr>
          <a:xfrm flipH="1" flipV="1">
            <a:off x="5292080" y="5445224"/>
            <a:ext cx="1168660" cy="63571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84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F=(B, l, m, M)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Exemple</a:t>
            </a:r>
            <a:r>
              <a:rPr lang="en-CA" dirty="0"/>
              <a:t> : </a:t>
            </a:r>
            <a:r>
              <a:rPr lang="fr-CA" dirty="0"/>
              <a:t>F=(2, 3, 1, 2)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r>
              <a:rPr lang="fr-CA" sz="1800" dirty="0"/>
              <a:t>Distance entre deux éléments, dans un intervalle de puissance de 2 voisines</a:t>
            </a:r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9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4"/>
              <p:cNvGraphicFramePr>
                <a:graphicFrameLocks noGrp="1"/>
              </p:cNvGraphicFramePr>
              <p:nvPr>
                <p:custDataLst>
                  <p:tags r:id="rId4"/>
                </p:custDataLst>
                <p:extLst>
                  <p:ext uri="{D42A27DB-BD31-4B8C-83A1-F6EECF244321}">
                    <p14:modId xmlns:p14="http://schemas.microsoft.com/office/powerpoint/2010/main" val="668399197"/>
                  </p:ext>
                </p:extLst>
              </p:nvPr>
            </p:nvGraphicFramePr>
            <p:xfrm>
              <a:off x="719572" y="2276873"/>
              <a:ext cx="7704856" cy="11254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123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924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094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fr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𝑚𝑖𝑛</m:t>
                                    </m:r>
                                  </m:e>
                                </m:d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𝑚</m:t>
                                        </m:r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fr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𝑚𝑖𝑛</m:t>
                                    </m:r>
                                  </m:e>
                                </m:d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75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fr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𝑚𝑎𝑥</m:t>
                                    </m:r>
                                  </m:e>
                                </m:d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𝑀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×(1−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𝑙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fr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𝑚𝑎𝑥</m:t>
                                    </m:r>
                                  </m:e>
                                </m:d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CA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−3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=3,5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753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  <m: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𝑙</m:t>
                                    </m:r>
                                    <m: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𝑀</m:t>
                                    </m:r>
                                    <m: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</m:t>
                                    </m:r>
                                    <m:r>
                                      <a:rPr lang="en-CA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n-CA" b="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2×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2−1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2+1+1</m:t>
                                    </m:r>
                                  </m:e>
                                </m:d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+1=33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4"/>
              <p:cNvGraphicFramePr>
                <a:graphicFrameLocks noGrp="1"/>
              </p:cNvGraphicFramePr>
              <p:nvPr>
                <p:custDataLst>
                  <p:tags r:id="rId8"/>
                </p:custDataLst>
                <p:extLst>
                  <p:ext uri="{D42A27DB-BD31-4B8C-83A1-F6EECF244321}">
                    <p14:modId xmlns:p14="http://schemas.microsoft.com/office/powerpoint/2010/main" val="668399197"/>
                  </p:ext>
                </p:extLst>
              </p:nvPr>
            </p:nvGraphicFramePr>
            <p:xfrm>
              <a:off x="719572" y="2276873"/>
              <a:ext cx="7704856" cy="11254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12368"/>
                    <a:gridCol w="4392488"/>
                  </a:tblGrid>
                  <a:tr h="38417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t="-111111" r="-132781" b="-193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75312" t="-111111" b="-193651"/>
                          </a:stretch>
                        </a:blipFill>
                      </a:tcPr>
                    </a:tc>
                  </a:tr>
                  <a:tr h="37065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t="-221667" r="-132781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75312" t="-221667" b="-103333"/>
                          </a:stretch>
                        </a:blipFill>
                      </a:tcPr>
                    </a:tc>
                  </a:tr>
                  <a:tr h="37065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t="-316393" r="-132781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75312" t="-316393" b="-163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au 19"/>
              <p:cNvGraphicFramePr>
                <a:graphicFrameLocks noGrp="1"/>
              </p:cNvGraphicFramePr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3819853191"/>
                  </p:ext>
                </p:extLst>
              </p:nvPr>
            </p:nvGraphicFramePr>
            <p:xfrm>
              <a:off x="1187624" y="5517232"/>
              <a:ext cx="7272808" cy="11165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81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046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[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CA" b="0" i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Il</m:t>
                                </m:r>
                                <m:r>
                                  <a:rPr lang="en-CA" b="0" i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CA" b="0" i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faut</m:t>
                                </m:r>
                                <m:r>
                                  <a:rPr lang="en-CA" b="0" i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CA" b="0" i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ajouter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0,001×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soit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−3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soit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/>
                                  </a:rPr>
                                  <m:t>[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Il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faut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ajouter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CA" b="0" i="1" smtClean="0">
                                    <a:latin typeface="Cambria Math"/>
                                  </a:rPr>
                                  <m:t>0,001×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soit</m:t>
                                </m:r>
                                <m:r>
                                  <a:rPr lang="en-CA" b="0" i="1" smtClean="0">
                                    <a:latin typeface="Cambria Math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−3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soit</m:t>
                                </m:r>
                                <m:r>
                                  <a:rPr lang="en-CA" b="0" i="1" smtClean="0">
                                    <a:latin typeface="Cambria Math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0−3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/>
                                  </a:rPr>
                                  <m:t>[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Il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faut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ajouter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CA" b="0" i="1" smtClean="0">
                                    <a:latin typeface="Cambria Math"/>
                                  </a:rPr>
                                  <m:t>0,001×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soit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−3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CA" b="0" i="0" smtClean="0">
                                    <a:latin typeface="Cambria Math"/>
                                  </a:rPr>
                                  <m:t>soit</m:t>
                                </m:r>
                                <m:r>
                                  <a:rPr lang="en-CA" b="0" i="1" smtClean="0">
                                    <a:latin typeface="Cambria Math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CA" b="0" i="1" smtClean="0">
                                        <a:latin typeface="Cambria Math"/>
                                      </a:rPr>
                                      <m:t>𝑙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au 19"/>
              <p:cNvGraphicFramePr>
                <a:graphicFrameLocks noGrp="1"/>
              </p:cNvGraphicFramePr>
              <p:nvPr>
                <p:custDataLst>
                  <p:tags r:id="rId10"/>
                </p:custDataLst>
                <p:extLst>
                  <p:ext uri="{D42A27DB-BD31-4B8C-83A1-F6EECF244321}">
                    <p14:modId xmlns:p14="http://schemas.microsoft.com/office/powerpoint/2010/main" val="3819853191"/>
                  </p:ext>
                </p:extLst>
              </p:nvPr>
            </p:nvGraphicFramePr>
            <p:xfrm>
              <a:off x="1187624" y="5517232"/>
              <a:ext cx="7272808" cy="11165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8152"/>
                    <a:gridCol w="590465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446" r="-432589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23220" b="-21967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446" t="-100000" r="-432589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23220" t="-100000" b="-119672"/>
                          </a:stretch>
                        </a:blipFill>
                      </a:tcPr>
                    </a:tc>
                  </a:tr>
                  <a:tr h="374904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446" t="-200000" r="-432589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23220" t="-200000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66" name="Groupe 65"/>
          <p:cNvGrpSpPr/>
          <p:nvPr>
            <p:custDataLst>
              <p:tags r:id="rId6"/>
            </p:custDataLst>
          </p:nvPr>
        </p:nvGrpSpPr>
        <p:grpSpPr>
          <a:xfrm>
            <a:off x="359532" y="3573016"/>
            <a:ext cx="8424936" cy="1368152"/>
            <a:chOff x="323528" y="3645024"/>
            <a:chExt cx="8424936" cy="1368152"/>
          </a:xfrm>
        </p:grpSpPr>
        <p:cxnSp>
          <p:nvCxnSpPr>
            <p:cNvPr id="9" name="Connecteur droit 8"/>
            <p:cNvCxnSpPr/>
            <p:nvPr/>
          </p:nvCxnSpPr>
          <p:spPr>
            <a:xfrm>
              <a:off x="323528" y="4509120"/>
              <a:ext cx="8424936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>
              <a:off x="1043608" y="4005064"/>
              <a:ext cx="0" cy="100811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>
              <a:off x="2195736" y="4005064"/>
              <a:ext cx="0" cy="100811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>
              <a:off x="3347864" y="4005064"/>
              <a:ext cx="0" cy="100811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/>
            <p:nvPr/>
          </p:nvCxnSpPr>
          <p:spPr>
            <a:xfrm>
              <a:off x="4499992" y="4005064"/>
              <a:ext cx="0" cy="100811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eur droit 27"/>
            <p:cNvCxnSpPr/>
            <p:nvPr/>
          </p:nvCxnSpPr>
          <p:spPr>
            <a:xfrm>
              <a:off x="5652120" y="4005064"/>
              <a:ext cx="0" cy="100811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/>
            <p:nvPr/>
          </p:nvCxnSpPr>
          <p:spPr>
            <a:xfrm>
              <a:off x="6804248" y="4005064"/>
              <a:ext cx="0" cy="100811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eur droit 29"/>
            <p:cNvCxnSpPr/>
            <p:nvPr/>
          </p:nvCxnSpPr>
          <p:spPr>
            <a:xfrm>
              <a:off x="7956376" y="4005064"/>
              <a:ext cx="0" cy="100811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eur droit 30"/>
            <p:cNvCxnSpPr/>
            <p:nvPr/>
          </p:nvCxnSpPr>
          <p:spPr>
            <a:xfrm>
              <a:off x="1619672" y="4130416"/>
              <a:ext cx="0" cy="75740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eur droit 31"/>
            <p:cNvCxnSpPr/>
            <p:nvPr/>
          </p:nvCxnSpPr>
          <p:spPr>
            <a:xfrm>
              <a:off x="2483768" y="4250460"/>
              <a:ext cx="0" cy="51732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7380312" y="4130416"/>
              <a:ext cx="0" cy="75740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eur droit 33"/>
            <p:cNvCxnSpPr/>
            <p:nvPr/>
          </p:nvCxnSpPr>
          <p:spPr>
            <a:xfrm>
              <a:off x="2771800" y="4250460"/>
              <a:ext cx="0" cy="51732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>
              <a:off x="3059832" y="4250460"/>
              <a:ext cx="0" cy="51732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>
              <a:off x="5940152" y="4250460"/>
              <a:ext cx="0" cy="51732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>
              <a:off x="6228184" y="4250460"/>
              <a:ext cx="0" cy="51732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eur droit 37"/>
            <p:cNvCxnSpPr/>
            <p:nvPr/>
          </p:nvCxnSpPr>
          <p:spPr>
            <a:xfrm>
              <a:off x="6516216" y="4250460"/>
              <a:ext cx="0" cy="51732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eur droit 38"/>
            <p:cNvCxnSpPr/>
            <p:nvPr/>
          </p:nvCxnSpPr>
          <p:spPr>
            <a:xfrm>
              <a:off x="3491880" y="4314785"/>
              <a:ext cx="0" cy="3886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eur droit 39"/>
            <p:cNvCxnSpPr/>
            <p:nvPr/>
          </p:nvCxnSpPr>
          <p:spPr>
            <a:xfrm>
              <a:off x="3635896" y="4314785"/>
              <a:ext cx="0" cy="3886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necteur droit 40"/>
            <p:cNvCxnSpPr/>
            <p:nvPr/>
          </p:nvCxnSpPr>
          <p:spPr>
            <a:xfrm>
              <a:off x="3779912" y="4314785"/>
              <a:ext cx="0" cy="3886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eur droit 41"/>
            <p:cNvCxnSpPr/>
            <p:nvPr/>
          </p:nvCxnSpPr>
          <p:spPr>
            <a:xfrm>
              <a:off x="3923928" y="4314785"/>
              <a:ext cx="0" cy="3886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eur droit 42"/>
            <p:cNvCxnSpPr/>
            <p:nvPr/>
          </p:nvCxnSpPr>
          <p:spPr>
            <a:xfrm>
              <a:off x="5076056" y="4314785"/>
              <a:ext cx="0" cy="3886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necteur droit 43"/>
            <p:cNvCxnSpPr/>
            <p:nvPr/>
          </p:nvCxnSpPr>
          <p:spPr>
            <a:xfrm>
              <a:off x="5220072" y="4314785"/>
              <a:ext cx="0" cy="3886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necteur droit 44"/>
            <p:cNvCxnSpPr/>
            <p:nvPr/>
          </p:nvCxnSpPr>
          <p:spPr>
            <a:xfrm>
              <a:off x="5364088" y="4314785"/>
              <a:ext cx="0" cy="3886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/>
            <p:nvPr/>
          </p:nvCxnSpPr>
          <p:spPr>
            <a:xfrm>
              <a:off x="5508104" y="4314785"/>
              <a:ext cx="0" cy="38867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necteur droit 46"/>
            <p:cNvCxnSpPr/>
            <p:nvPr/>
          </p:nvCxnSpPr>
          <p:spPr>
            <a:xfrm>
              <a:off x="3995936" y="4376387"/>
              <a:ext cx="0" cy="26546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eur droit 47"/>
            <p:cNvCxnSpPr/>
            <p:nvPr/>
          </p:nvCxnSpPr>
          <p:spPr>
            <a:xfrm>
              <a:off x="4067944" y="4376387"/>
              <a:ext cx="0" cy="26546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eur droit 48"/>
            <p:cNvCxnSpPr/>
            <p:nvPr/>
          </p:nvCxnSpPr>
          <p:spPr>
            <a:xfrm>
              <a:off x="4148336" y="4376387"/>
              <a:ext cx="0" cy="26546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eur droit 49"/>
            <p:cNvCxnSpPr/>
            <p:nvPr/>
          </p:nvCxnSpPr>
          <p:spPr>
            <a:xfrm>
              <a:off x="4211960" y="4376387"/>
              <a:ext cx="0" cy="26546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eur droit 50"/>
            <p:cNvCxnSpPr/>
            <p:nvPr/>
          </p:nvCxnSpPr>
          <p:spPr>
            <a:xfrm>
              <a:off x="4788024" y="4376387"/>
              <a:ext cx="0" cy="26546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eur droit 51"/>
            <p:cNvCxnSpPr/>
            <p:nvPr/>
          </p:nvCxnSpPr>
          <p:spPr>
            <a:xfrm>
              <a:off x="4860032" y="4376387"/>
              <a:ext cx="0" cy="26546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eur droit 52"/>
            <p:cNvCxnSpPr/>
            <p:nvPr/>
          </p:nvCxnSpPr>
          <p:spPr>
            <a:xfrm>
              <a:off x="4940424" y="4376387"/>
              <a:ext cx="0" cy="26546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cteur droit 53"/>
            <p:cNvCxnSpPr/>
            <p:nvPr/>
          </p:nvCxnSpPr>
          <p:spPr>
            <a:xfrm>
              <a:off x="5004048" y="4376387"/>
              <a:ext cx="0" cy="26546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ZoneTexte 14"/>
            <p:cNvSpPr txBox="1"/>
            <p:nvPr/>
          </p:nvSpPr>
          <p:spPr>
            <a:xfrm>
              <a:off x="7812360" y="364502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3</a:t>
              </a:r>
            </a:p>
          </p:txBody>
        </p:sp>
        <p:sp>
          <p:nvSpPr>
            <p:cNvPr id="55" name="ZoneTexte 54"/>
            <p:cNvSpPr txBox="1"/>
            <p:nvPr/>
          </p:nvSpPr>
          <p:spPr>
            <a:xfrm>
              <a:off x="6660232" y="364502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2</a:t>
              </a:r>
            </a:p>
          </p:txBody>
        </p:sp>
        <p:sp>
          <p:nvSpPr>
            <p:cNvPr id="56" name="ZoneTexte 55"/>
            <p:cNvSpPr txBox="1"/>
            <p:nvPr/>
          </p:nvSpPr>
          <p:spPr>
            <a:xfrm>
              <a:off x="5508104" y="364502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1</a:t>
              </a:r>
            </a:p>
          </p:txBody>
        </p:sp>
        <p:sp>
          <p:nvSpPr>
            <p:cNvPr id="57" name="ZoneTexte 56"/>
            <p:cNvSpPr txBox="1"/>
            <p:nvPr/>
          </p:nvSpPr>
          <p:spPr>
            <a:xfrm>
              <a:off x="4355976" y="364502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0</a:t>
              </a:r>
            </a:p>
          </p:txBody>
        </p:sp>
        <p:sp>
          <p:nvSpPr>
            <p:cNvPr id="58" name="ZoneTexte 57"/>
            <p:cNvSpPr txBox="1"/>
            <p:nvPr/>
          </p:nvSpPr>
          <p:spPr>
            <a:xfrm>
              <a:off x="3131840" y="3645024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-1</a:t>
              </a:r>
            </a:p>
          </p:txBody>
        </p:sp>
        <p:sp>
          <p:nvSpPr>
            <p:cNvPr id="59" name="ZoneTexte 58"/>
            <p:cNvSpPr txBox="1"/>
            <p:nvPr/>
          </p:nvSpPr>
          <p:spPr>
            <a:xfrm>
              <a:off x="1979712" y="3645024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-2</a:t>
              </a:r>
            </a:p>
          </p:txBody>
        </p:sp>
        <p:sp>
          <p:nvSpPr>
            <p:cNvPr id="60" name="ZoneTexte 59"/>
            <p:cNvSpPr txBox="1"/>
            <p:nvPr/>
          </p:nvSpPr>
          <p:spPr>
            <a:xfrm>
              <a:off x="827584" y="3645024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-3</a:t>
              </a:r>
            </a:p>
          </p:txBody>
        </p:sp>
        <p:cxnSp>
          <p:nvCxnSpPr>
            <p:cNvPr id="62" name="Connecteur droit 61"/>
            <p:cNvCxnSpPr/>
            <p:nvPr/>
          </p:nvCxnSpPr>
          <p:spPr>
            <a:xfrm>
              <a:off x="467544" y="4130416"/>
              <a:ext cx="0" cy="75740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onnecteur droit 63"/>
            <p:cNvCxnSpPr/>
            <p:nvPr/>
          </p:nvCxnSpPr>
          <p:spPr>
            <a:xfrm>
              <a:off x="8532440" y="4130416"/>
              <a:ext cx="0" cy="75740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3527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8DBB-2E02-AAF8-6FCA-B9304B90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latin typeface="Arial Black" panose="020B0A04020102020204" pitchFamily="34" charset="0"/>
              </a:rPr>
              <a:t>Exemple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D25510-FD9D-FE0C-7335-3744D40B8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752" y="1772816"/>
            <a:ext cx="5048955" cy="18004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5FAE0-5D76-CA05-FBDF-AF571C4BC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10</a:t>
            </a:fld>
            <a:endParaRPr lang="fr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68B37E-E140-70B3-3468-A41AB7166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875" y="3822108"/>
            <a:ext cx="3788249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83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Représentation interne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Exemple</a:t>
            </a:r>
            <a:r>
              <a:rPr lang="en-CA" dirty="0"/>
              <a:t> : </a:t>
            </a:r>
            <a:r>
              <a:rPr lang="fr-CA" dirty="0"/>
              <a:t>F=(10, 5, 9, 9)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11</a:t>
            </a:fld>
            <a:endParaRPr lang="fr-CA"/>
          </a:p>
        </p:txBody>
      </p:sp>
      <p:grpSp>
        <p:nvGrpSpPr>
          <p:cNvPr id="7" name="Groupe 6"/>
          <p:cNvGrpSpPr/>
          <p:nvPr>
            <p:custDataLst>
              <p:tags r:id="rId4"/>
            </p:custDataLst>
          </p:nvPr>
        </p:nvGrpSpPr>
        <p:grpSpPr>
          <a:xfrm>
            <a:off x="2555776" y="2412132"/>
            <a:ext cx="4032448" cy="504056"/>
            <a:chOff x="2771800" y="2412132"/>
            <a:chExt cx="4032448" cy="504056"/>
          </a:xfrm>
        </p:grpSpPr>
        <p:sp>
          <p:nvSpPr>
            <p:cNvPr id="6" name="Rectangle 5"/>
            <p:cNvSpPr/>
            <p:nvPr/>
          </p:nvSpPr>
          <p:spPr>
            <a:xfrm>
              <a:off x="2771800" y="2412132"/>
              <a:ext cx="504056" cy="504056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275856" y="2412132"/>
              <a:ext cx="504056" cy="50405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779912" y="2412132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283968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88024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292080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796136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300192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8" name="ZoneTexte 7"/>
          <p:cNvSpPr txBox="1"/>
          <p:nvPr>
            <p:custDataLst>
              <p:tags r:id="rId5"/>
            </p:custDataLst>
          </p:nvPr>
        </p:nvSpPr>
        <p:spPr>
          <a:xfrm>
            <a:off x="3059832" y="4149080"/>
            <a:ext cx="195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Signe de la mantisse</a:t>
            </a:r>
          </a:p>
        </p:txBody>
      </p:sp>
      <p:sp>
        <p:nvSpPr>
          <p:cNvPr id="69" name="ZoneTexte 68"/>
          <p:cNvSpPr txBox="1"/>
          <p:nvPr>
            <p:custDataLst>
              <p:tags r:id="rId6"/>
            </p:custDataLst>
          </p:nvPr>
        </p:nvSpPr>
        <p:spPr>
          <a:xfrm>
            <a:off x="3563888" y="3861048"/>
            <a:ext cx="1803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Signe de l’exposant</a:t>
            </a:r>
          </a:p>
        </p:txBody>
      </p:sp>
      <p:sp>
        <p:nvSpPr>
          <p:cNvPr id="70" name="ZoneTexte 69"/>
          <p:cNvSpPr txBox="1"/>
          <p:nvPr>
            <p:custDataLst>
              <p:tags r:id="rId7"/>
            </p:custDataLst>
          </p:nvPr>
        </p:nvSpPr>
        <p:spPr>
          <a:xfrm>
            <a:off x="4067944" y="3553271"/>
            <a:ext cx="1803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Exposant (0 à 9)</a:t>
            </a:r>
          </a:p>
        </p:txBody>
      </p:sp>
      <p:sp>
        <p:nvSpPr>
          <p:cNvPr id="71" name="ZoneTexte 70"/>
          <p:cNvSpPr txBox="1"/>
          <p:nvPr>
            <p:custDataLst>
              <p:tags r:id="rId8"/>
            </p:custDataLst>
          </p:nvPr>
        </p:nvSpPr>
        <p:spPr>
          <a:xfrm>
            <a:off x="4877324" y="3260314"/>
            <a:ext cx="901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Mantisse</a:t>
            </a:r>
          </a:p>
        </p:txBody>
      </p:sp>
      <p:cxnSp>
        <p:nvCxnSpPr>
          <p:cNvPr id="11" name="Connecteur en angle 10"/>
          <p:cNvCxnSpPr>
            <a:stCxn id="6" idx="2"/>
            <a:endCxn id="8" idx="1"/>
          </p:cNvCxnSpPr>
          <p:nvPr>
            <p:custDataLst>
              <p:tags r:id="rId9"/>
            </p:custDataLst>
          </p:nvPr>
        </p:nvCxnSpPr>
        <p:spPr>
          <a:xfrm rot="16200000" flipH="1">
            <a:off x="2240428" y="3483564"/>
            <a:ext cx="1386781" cy="252028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en angle 13"/>
          <p:cNvCxnSpPr>
            <a:stCxn id="62" idx="2"/>
            <a:endCxn id="69" idx="1"/>
          </p:cNvCxnSpPr>
          <p:nvPr>
            <p:custDataLst>
              <p:tags r:id="rId10"/>
            </p:custDataLst>
          </p:nvPr>
        </p:nvCxnSpPr>
        <p:spPr>
          <a:xfrm rot="16200000" flipH="1">
            <a:off x="2888500" y="3339548"/>
            <a:ext cx="1098749" cy="252028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en angle 16"/>
          <p:cNvCxnSpPr>
            <a:stCxn id="63" idx="2"/>
            <a:endCxn id="70" idx="1"/>
          </p:cNvCxnSpPr>
          <p:nvPr>
            <p:custDataLst>
              <p:tags r:id="rId11"/>
            </p:custDataLst>
          </p:nvPr>
        </p:nvCxnSpPr>
        <p:spPr>
          <a:xfrm rot="16200000" flipH="1">
            <a:off x="3546444" y="3185660"/>
            <a:ext cx="790972" cy="252028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Accolade fermante 17"/>
          <p:cNvSpPr/>
          <p:nvPr>
            <p:custDataLst>
              <p:tags r:id="rId12"/>
            </p:custDataLst>
          </p:nvPr>
        </p:nvSpPr>
        <p:spPr>
          <a:xfrm rot="5400000">
            <a:off x="5179687" y="1804444"/>
            <a:ext cx="296789" cy="2520275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81625" y="4667597"/>
                <a:ext cx="3219086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/>
                        </a:rPr>
                        <m:t>−0,73518×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→10573518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581625" y="4667597"/>
                <a:ext cx="3219086" cy="372410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878127" y="5040007"/>
                <a:ext cx="2911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/>
                        </a:rPr>
                        <m:t>0,738×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−3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→01373800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878127" y="5040007"/>
                <a:ext cx="2911310" cy="369332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139493" y="5661248"/>
                <a:ext cx="5608971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b="0" i="0" smtClean="0">
                          <a:latin typeface="Cambria Math"/>
                        </a:rPr>
                        <m:t>Maximum</m:t>
                      </m:r>
                      <m:r>
                        <m:rPr>
                          <m:nor/>
                        </m:rPr>
                        <a:rPr lang="en-CA" b="0" i="0" smtClean="0">
                          <a:latin typeface="Cambria Math"/>
                        </a:rPr>
                        <m:t> :</m:t>
                      </m:r>
                      <m:r>
                        <a:rPr lang="en-CA" b="0" i="1" smtClean="0">
                          <a:latin typeface="Cambria Math"/>
                        </a:rPr>
                        <m:t> 0,99999×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9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/>
                                </a:rPr>
                                <m:t>−5</m:t>
                              </m:r>
                            </m:sup>
                          </m:sSup>
                        </m:e>
                      </m:d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9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≅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139493" y="5661248"/>
                <a:ext cx="5608971" cy="372410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139493" y="6098976"/>
                <a:ext cx="39010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b="0" i="0" smtClean="0">
                          <a:latin typeface="Cambria Math"/>
                        </a:rPr>
                        <m:t>Minimum</m:t>
                      </m:r>
                      <m:r>
                        <m:rPr>
                          <m:nor/>
                        </m:rPr>
                        <a:rPr lang="en-CA" b="0" i="0" smtClean="0">
                          <a:latin typeface="Cambria Math"/>
                        </a:rPr>
                        <m:t> :</m:t>
                      </m:r>
                      <m:r>
                        <a:rPr lang="en-CA" b="0" i="1" smtClean="0">
                          <a:latin typeface="Cambria Math"/>
                        </a:rPr>
                        <m:t> 0,10000×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−9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−10</m:t>
                          </m:r>
                        </m:sup>
                      </m:sSup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3139493" y="6098976"/>
                <a:ext cx="3901068" cy="369332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406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Représentation interne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Exemple</a:t>
            </a:r>
            <a:r>
              <a:rPr lang="en-CA" dirty="0"/>
              <a:t> : </a:t>
            </a:r>
            <a:r>
              <a:rPr lang="fr-CA" dirty="0"/>
              <a:t>F=(10, 5, 9, 9)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12</a:t>
            </a:fld>
            <a:endParaRPr lang="fr-CA"/>
          </a:p>
        </p:txBody>
      </p:sp>
      <p:grpSp>
        <p:nvGrpSpPr>
          <p:cNvPr id="7" name="Groupe 6"/>
          <p:cNvGrpSpPr/>
          <p:nvPr>
            <p:custDataLst>
              <p:tags r:id="rId4"/>
            </p:custDataLst>
          </p:nvPr>
        </p:nvGrpSpPr>
        <p:grpSpPr>
          <a:xfrm>
            <a:off x="2555776" y="2412132"/>
            <a:ext cx="4032448" cy="504056"/>
            <a:chOff x="2771800" y="2412132"/>
            <a:chExt cx="4032448" cy="504056"/>
          </a:xfrm>
        </p:grpSpPr>
        <p:sp>
          <p:nvSpPr>
            <p:cNvPr id="6" name="Rectangle 5"/>
            <p:cNvSpPr/>
            <p:nvPr/>
          </p:nvSpPr>
          <p:spPr>
            <a:xfrm>
              <a:off x="2771800" y="2412132"/>
              <a:ext cx="504056" cy="504056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275857" y="2412132"/>
              <a:ext cx="1008111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283968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88024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292080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796136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300192" y="2412132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8" name="ZoneTexte 7"/>
          <p:cNvSpPr txBox="1"/>
          <p:nvPr>
            <p:custDataLst>
              <p:tags r:id="rId5"/>
            </p:custDataLst>
          </p:nvPr>
        </p:nvSpPr>
        <p:spPr>
          <a:xfrm>
            <a:off x="3059832" y="3861048"/>
            <a:ext cx="1955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Signe de la mantisse</a:t>
            </a:r>
          </a:p>
        </p:txBody>
      </p:sp>
      <p:sp>
        <p:nvSpPr>
          <p:cNvPr id="70" name="ZoneTexte 69"/>
          <p:cNvSpPr txBox="1"/>
          <p:nvPr>
            <p:custDataLst>
              <p:tags r:id="rId6"/>
            </p:custDataLst>
          </p:nvPr>
        </p:nvSpPr>
        <p:spPr>
          <a:xfrm>
            <a:off x="4067944" y="3553271"/>
            <a:ext cx="2448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Exposant biaisé(00 à 99)</a:t>
            </a:r>
          </a:p>
        </p:txBody>
      </p:sp>
      <p:sp>
        <p:nvSpPr>
          <p:cNvPr id="71" name="ZoneTexte 70"/>
          <p:cNvSpPr txBox="1"/>
          <p:nvPr>
            <p:custDataLst>
              <p:tags r:id="rId7"/>
            </p:custDataLst>
          </p:nvPr>
        </p:nvSpPr>
        <p:spPr>
          <a:xfrm>
            <a:off x="4877324" y="3260314"/>
            <a:ext cx="901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Mantisse</a:t>
            </a:r>
          </a:p>
        </p:txBody>
      </p:sp>
      <p:cxnSp>
        <p:nvCxnSpPr>
          <p:cNvPr id="11" name="Connecteur en angle 10"/>
          <p:cNvCxnSpPr>
            <a:stCxn id="6" idx="2"/>
            <a:endCxn id="8" idx="1"/>
          </p:cNvCxnSpPr>
          <p:nvPr>
            <p:custDataLst>
              <p:tags r:id="rId8"/>
            </p:custDataLst>
          </p:nvPr>
        </p:nvCxnSpPr>
        <p:spPr>
          <a:xfrm rot="16200000" flipH="1">
            <a:off x="2384444" y="3339548"/>
            <a:ext cx="1098749" cy="252028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en angle 16"/>
          <p:cNvCxnSpPr>
            <a:stCxn id="63" idx="2"/>
            <a:endCxn id="70" idx="1"/>
          </p:cNvCxnSpPr>
          <p:nvPr>
            <p:custDataLst>
              <p:tags r:id="rId9"/>
            </p:custDataLst>
          </p:nvPr>
        </p:nvCxnSpPr>
        <p:spPr>
          <a:xfrm rot="16200000" flipH="1">
            <a:off x="3420430" y="3059646"/>
            <a:ext cx="790972" cy="50405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Accolade fermante 17"/>
          <p:cNvSpPr/>
          <p:nvPr>
            <p:custDataLst>
              <p:tags r:id="rId10"/>
            </p:custDataLst>
          </p:nvPr>
        </p:nvSpPr>
        <p:spPr>
          <a:xfrm rot="5400000">
            <a:off x="5179687" y="1804444"/>
            <a:ext cx="296789" cy="2520275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81625" y="4667597"/>
                <a:ext cx="3219086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/>
                        </a:rPr>
                        <m:t>−0,73518×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→15573518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581625" y="4667597"/>
                <a:ext cx="3219086" cy="372410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78127" y="5040007"/>
                <a:ext cx="2911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/>
                        </a:rPr>
                        <m:t>0,738×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−3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→04773800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878127" y="5040007"/>
                <a:ext cx="2911310" cy="369332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139200" y="5661248"/>
                <a:ext cx="5808578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b="0" i="0" smtClean="0">
                          <a:latin typeface="Cambria Math"/>
                        </a:rPr>
                        <m:t>Maximum</m:t>
                      </m:r>
                      <m:r>
                        <m:rPr>
                          <m:nor/>
                        </m:rPr>
                        <a:rPr lang="en-CA" b="0" i="0" smtClean="0">
                          <a:latin typeface="Cambria Math"/>
                        </a:rPr>
                        <m:t> :</m:t>
                      </m:r>
                      <m:r>
                        <a:rPr lang="en-CA" b="0" i="1" smtClean="0">
                          <a:latin typeface="Cambria Math"/>
                        </a:rPr>
                        <m:t> 0,99999×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49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/>
                                </a:rPr>
                                <m:t>−5</m:t>
                              </m:r>
                            </m:sup>
                          </m:sSup>
                        </m:e>
                      </m:d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49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≅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49</m:t>
                          </m:r>
                        </m:sup>
                      </m:sSup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139200" y="5661248"/>
                <a:ext cx="5808578" cy="372410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3139200" y="6098976"/>
                <a:ext cx="3922741" cy="3724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b="0" i="0" smtClean="0">
                          <a:latin typeface="Cambria Math"/>
                        </a:rPr>
                        <m:t>Minimum</m:t>
                      </m:r>
                      <m:r>
                        <m:rPr>
                          <m:nor/>
                        </m:rPr>
                        <a:rPr lang="en-CA" b="0" i="0" smtClean="0">
                          <a:latin typeface="Cambria Math"/>
                        </a:rPr>
                        <m:t> : </m:t>
                      </m:r>
                      <m:r>
                        <a:rPr lang="en-CA" b="0" i="1" smtClean="0">
                          <a:latin typeface="Cambria Math"/>
                        </a:rPr>
                        <m:t>0,10000×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−50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−51</m:t>
                          </m:r>
                        </m:sup>
                      </m:sSup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3139200" y="6098976"/>
                <a:ext cx="3922741" cy="37241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ZoneTexte 27"/>
          <p:cNvSpPr txBox="1"/>
          <p:nvPr>
            <p:custDataLst>
              <p:tags r:id="rId15"/>
            </p:custDataLst>
          </p:nvPr>
        </p:nvSpPr>
        <p:spPr>
          <a:xfrm>
            <a:off x="5641935" y="4317932"/>
            <a:ext cx="1892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On ajoute un biais de 50 à l’exposant</a:t>
            </a:r>
          </a:p>
        </p:txBody>
      </p:sp>
      <p:cxnSp>
        <p:nvCxnSpPr>
          <p:cNvPr id="12" name="Connecteur en angle 11"/>
          <p:cNvCxnSpPr>
            <a:stCxn id="70" idx="2"/>
            <a:endCxn id="28" idx="1"/>
          </p:cNvCxnSpPr>
          <p:nvPr>
            <p:custDataLst>
              <p:tags r:id="rId16"/>
            </p:custDataLst>
          </p:nvPr>
        </p:nvCxnSpPr>
        <p:spPr>
          <a:xfrm rot="16200000" flipH="1">
            <a:off x="5107760" y="4045367"/>
            <a:ext cx="718494" cy="34985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3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C871-492C-6126-84B9-375B2A77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latin typeface="Arial Black" panose="020B0A04020102020204" pitchFamily="34" charset="0"/>
              </a:rPr>
              <a:t>Précision</a:t>
            </a:r>
            <a:r>
              <a:rPr lang="fr-CA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E1610-DE66-4654-F553-B29235064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La vaste majorité des nombres réels ne sont </a:t>
            </a:r>
            <a:r>
              <a:rPr lang="fr-CA" i="1" dirty="0"/>
              <a:t>pas </a:t>
            </a:r>
            <a:r>
              <a:rPr lang="fr-CA" dirty="0"/>
              <a:t>représentables par un nombre en virgule flottante, ceux-ci doivent être approximés</a:t>
            </a:r>
          </a:p>
          <a:p>
            <a:r>
              <a:rPr lang="fr-CA" dirty="0"/>
              <a:t>La façon la plus répandue de briser l’égalité consiste à arrondir au nombre le plus près dont le </a:t>
            </a:r>
            <a:r>
              <a:rPr lang="fr-CA" i="1" dirty="0"/>
              <a:t>dernier chiffre est pair</a:t>
            </a:r>
            <a:endParaRPr lang="fr-CA" dirty="0"/>
          </a:p>
          <a:p>
            <a:pPr marL="0" indent="0">
              <a:buNone/>
            </a:pPr>
            <a:r>
              <a:rPr lang="fr-CA" dirty="0"/>
              <a:t> 	EX. 1</a:t>
            </a:r>
            <a:r>
              <a:rPr lang="fr-CA" i="1" dirty="0"/>
              <a:t>,</a:t>
            </a:r>
            <a:r>
              <a:rPr lang="fr-CA" dirty="0"/>
              <a:t>9565000 est arrondi à 1</a:t>
            </a:r>
            <a:r>
              <a:rPr lang="fr-CA" i="1" dirty="0"/>
              <a:t>,</a:t>
            </a:r>
            <a:r>
              <a:rPr lang="fr-CA" dirty="0"/>
              <a:t>956, et non à 1</a:t>
            </a:r>
            <a:r>
              <a:rPr lang="fr-CA" i="1" dirty="0"/>
              <a:t>,</a:t>
            </a:r>
            <a:r>
              <a:rPr lang="fr-CA" dirty="0"/>
              <a:t>957 </a:t>
            </a:r>
          </a:p>
          <a:p>
            <a:r>
              <a:rPr lang="fr-CA" dirty="0"/>
              <a:t>Avantage de ne pas favoriser les approximations vers le haut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7B070-5F33-3CDD-C2CF-C4BCA28B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16063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57B9-8733-EB2B-146D-7CA06159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Addition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A9293E-483C-3FF1-A608-ACCCF4122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469" y="2190492"/>
            <a:ext cx="6173061" cy="36962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751AC-33AF-E435-406A-5CA49210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7732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C318-0281-4655-7CEA-22F68733C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latin typeface="Arial Black" panose="020B0A04020102020204" pitchFamily="34" charset="0"/>
              </a:rPr>
              <a:t>Multiplication</a:t>
            </a:r>
            <a:endParaRPr lang="fr-CA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BCC7F-9C82-9CED-564C-DD71A698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15</a:t>
            </a:fld>
            <a:endParaRPr lang="fr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D5DC06-2FCB-E5BA-1966-7185DDB16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14" y="2723170"/>
            <a:ext cx="6287377" cy="27531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B66BFD-6ABD-F3DB-8918-F1AABE7E5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509" y="1745996"/>
            <a:ext cx="6449325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11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24F90F-5572-95AC-1824-AD684E2A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Norme IEEE754</a:t>
            </a:r>
            <a:endParaRPr lang="fr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4D4FD-CE9A-130D-27D6-6C41E1AEF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16422-000E-6407-7426-0E1F9187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5591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65F0-B051-D818-FB8A-31687A9E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Norme IEEE754</a:t>
            </a:r>
            <a:endParaRPr lang="fr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2CA4B-5D26-7EC0-4C1C-E59B29ABC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Définit des formats de nombres en virgule flottante en base 2 et en base 10 utilisés par la grande majorité des architectures modernes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Leurs plus petits et plus grands nombres positifs normalisés sont donc: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FDAB6-5470-6592-8BEA-EC411A79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17</a:t>
            </a:fld>
            <a:endParaRPr lang="fr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94D7E3-D487-8C79-97D8-2DD2FBD09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5" y="2924944"/>
            <a:ext cx="2305372" cy="771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323D22-F22C-BDC6-9901-A71FA5D5E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314" y="5021321"/>
            <a:ext cx="2848373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36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Norme IEEE754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S’appuie sur la représentation précédente</a:t>
                </a:r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pPr lvl="1"/>
                <a:r>
                  <a:rPr lang="fr-CA" dirty="0"/>
                  <a:t>Exposant biaisé (sur 8 bits) </a:t>
                </a:r>
                <a:r>
                  <a:rPr lang="fr-CA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  <a:sym typeface="Wingdings" panose="05000000000000000000" pitchFamily="2" charset="2"/>
                      </a:rPr>
                      <m:t>0≤</m:t>
                    </m:r>
                    <m:r>
                      <a:rPr lang="en-CA" b="0" i="1" smtClean="0">
                        <a:latin typeface="Cambria Math"/>
                        <a:sym typeface="Wingdings" panose="05000000000000000000" pitchFamily="2" charset="2"/>
                      </a:rPr>
                      <m:t>𝑒</m:t>
                    </m:r>
                    <m:r>
                      <a:rPr lang="en-CA" b="0" i="1" smtClean="0">
                        <a:latin typeface="Cambria Math"/>
                        <a:sym typeface="Wingdings" panose="05000000000000000000" pitchFamily="2" charset="2"/>
                      </a:rPr>
                      <m:t>≤255</m:t>
                    </m:r>
                  </m:oMath>
                </a14:m>
                <a:endParaRPr lang="fr-CA" dirty="0"/>
              </a:p>
              <a:p>
                <a:pPr lvl="2"/>
                <a:r>
                  <a:rPr lang="fr-CA" dirty="0"/>
                  <a:t>0 et 255 sont des valeurs réservées</a:t>
                </a:r>
              </a:p>
              <a:p>
                <a:pPr lvl="2"/>
                <a:r>
                  <a:rPr lang="fr-CA" dirty="0"/>
                  <a:t>254 valeurs possibles </a:t>
                </a:r>
                <a:r>
                  <a:rPr lang="fr-CA" dirty="0">
                    <a:sym typeface="Wingdings" panose="05000000000000000000" pitchFamily="2" charset="2"/>
                  </a:rPr>
                  <a:t> le biais est donc de 127</a:t>
                </a:r>
                <a:endParaRPr lang="fr-CA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15"/>
                </p:custDataLst>
              </p:nvPr>
            </p:nvSpPr>
            <p:spPr>
              <a:xfrm>
                <a:off x="457200" y="1600200"/>
                <a:ext cx="8579296" cy="5069160"/>
              </a:xfrm>
              <a:blipFill rotWithShape="1">
                <a:blip r:embed="rId16"/>
                <a:stretch>
                  <a:fillRect l="-569" t="-842" b="-36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18</a:t>
            </a:fld>
            <a:endParaRPr lang="fr-CA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496464716"/>
              </p:ext>
            </p:extLst>
          </p:nvPr>
        </p:nvGraphicFramePr>
        <p:xfrm>
          <a:off x="1007605" y="2204864"/>
          <a:ext cx="712879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sz="1400" dirty="0"/>
                        <a:t>Précision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Taille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Signe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Exposant biaisé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Mantisse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400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32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8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23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4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64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11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52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400" dirty="0"/>
                        <a:t>Quadruple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128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15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112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Groupe 9"/>
          <p:cNvGrpSpPr/>
          <p:nvPr>
            <p:custDataLst>
              <p:tags r:id="rId5"/>
            </p:custDataLst>
          </p:nvPr>
        </p:nvGrpSpPr>
        <p:grpSpPr>
          <a:xfrm>
            <a:off x="1619672" y="4509120"/>
            <a:ext cx="5904656" cy="432048"/>
            <a:chOff x="1907704" y="4797152"/>
            <a:chExt cx="5904656" cy="432048"/>
          </a:xfrm>
        </p:grpSpPr>
        <p:sp>
          <p:nvSpPr>
            <p:cNvPr id="9" name="Rectangle 8"/>
            <p:cNvSpPr/>
            <p:nvPr/>
          </p:nvSpPr>
          <p:spPr>
            <a:xfrm>
              <a:off x="1907704" y="4797152"/>
              <a:ext cx="432048" cy="4320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41686" y="4797152"/>
              <a:ext cx="1942281" cy="432048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chemeClr val="tx1"/>
                  </a:solidFill>
                </a:rPr>
                <a:t>Exposant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283967" y="4797152"/>
              <a:ext cx="3528393" cy="43204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Mantisse</a:t>
              </a:r>
            </a:p>
          </p:txBody>
        </p:sp>
      </p:grpSp>
      <p:sp>
        <p:nvSpPr>
          <p:cNvPr id="13" name="ZoneTexte 12"/>
          <p:cNvSpPr txBox="1"/>
          <p:nvPr>
            <p:custDataLst>
              <p:tags r:id="rId6"/>
            </p:custDataLst>
          </p:nvPr>
        </p:nvSpPr>
        <p:spPr>
          <a:xfrm>
            <a:off x="7380312" y="4941168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0</a:t>
            </a:r>
          </a:p>
        </p:txBody>
      </p:sp>
      <p:sp>
        <p:nvSpPr>
          <p:cNvPr id="31" name="ZoneTexte 30"/>
          <p:cNvSpPr txBox="1"/>
          <p:nvPr>
            <p:custDataLst>
              <p:tags r:id="rId7"/>
            </p:custDataLst>
          </p:nvPr>
        </p:nvSpPr>
        <p:spPr>
          <a:xfrm>
            <a:off x="3923928" y="49411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22</a:t>
            </a:r>
          </a:p>
        </p:txBody>
      </p:sp>
      <p:sp>
        <p:nvSpPr>
          <p:cNvPr id="32" name="ZoneTexte 31"/>
          <p:cNvSpPr txBox="1"/>
          <p:nvPr>
            <p:custDataLst>
              <p:tags r:id="rId8"/>
            </p:custDataLst>
          </p:nvPr>
        </p:nvSpPr>
        <p:spPr>
          <a:xfrm>
            <a:off x="3635896" y="49411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23</a:t>
            </a:r>
          </a:p>
        </p:txBody>
      </p:sp>
      <p:sp>
        <p:nvSpPr>
          <p:cNvPr id="33" name="ZoneTexte 32"/>
          <p:cNvSpPr txBox="1"/>
          <p:nvPr>
            <p:custDataLst>
              <p:tags r:id="rId9"/>
            </p:custDataLst>
          </p:nvPr>
        </p:nvSpPr>
        <p:spPr>
          <a:xfrm>
            <a:off x="1979712" y="49411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30</a:t>
            </a:r>
          </a:p>
        </p:txBody>
      </p:sp>
      <p:sp>
        <p:nvSpPr>
          <p:cNvPr id="34" name="ZoneTexte 33"/>
          <p:cNvSpPr txBox="1"/>
          <p:nvPr>
            <p:custDataLst>
              <p:tags r:id="rId10"/>
            </p:custDataLst>
          </p:nvPr>
        </p:nvSpPr>
        <p:spPr>
          <a:xfrm>
            <a:off x="1623516" y="494116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31</a:t>
            </a:r>
          </a:p>
        </p:txBody>
      </p:sp>
      <p:sp>
        <p:nvSpPr>
          <p:cNvPr id="35" name="ZoneTexte 34"/>
          <p:cNvSpPr txBox="1"/>
          <p:nvPr>
            <p:custDataLst>
              <p:tags r:id="rId11"/>
            </p:custDataLst>
          </p:nvPr>
        </p:nvSpPr>
        <p:spPr>
          <a:xfrm>
            <a:off x="1619672" y="422108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dirty="0"/>
              <a:t>s</a:t>
            </a:r>
          </a:p>
        </p:txBody>
      </p:sp>
      <p:sp>
        <p:nvSpPr>
          <p:cNvPr id="36" name="ZoneTexte 35"/>
          <p:cNvSpPr txBox="1"/>
          <p:nvPr>
            <p:custDataLst>
              <p:tags r:id="rId12"/>
            </p:custDataLst>
          </p:nvPr>
        </p:nvSpPr>
        <p:spPr>
          <a:xfrm>
            <a:off x="2051719" y="4221088"/>
            <a:ext cx="1944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dirty="0"/>
              <a:t>e</a:t>
            </a:r>
          </a:p>
        </p:txBody>
      </p:sp>
      <p:sp>
        <p:nvSpPr>
          <p:cNvPr id="37" name="ZoneTexte 36"/>
          <p:cNvSpPr txBox="1"/>
          <p:nvPr>
            <p:custDataLst>
              <p:tags r:id="rId13"/>
            </p:custDataLst>
          </p:nvPr>
        </p:nvSpPr>
        <p:spPr>
          <a:xfrm>
            <a:off x="3995937" y="4221088"/>
            <a:ext cx="3528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062486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Norme IEEE754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Valeur d’un nombre normalisé</a:t>
                </a:r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pPr lvl="1"/>
                <a:r>
                  <a:rPr lang="en-CA" dirty="0"/>
                  <a:t>Si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fr-CA" dirty="0"/>
                  <a:t> est 0, le -1 disparait, sinon, il reste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𝑠</m:t>
                    </m:r>
                    <m:r>
                      <a:rPr lang="en-CA" b="0" i="1" smtClean="0">
                        <a:latin typeface="Cambria Math"/>
                      </a:rPr>
                      <m:t>=0 →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nombre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positif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;</m:t>
                    </m:r>
                    <m:r>
                      <a:rPr lang="en-CA" b="0" i="1" smtClean="0">
                        <a:latin typeface="Cambria Math"/>
                      </a:rPr>
                      <m:t> </m:t>
                    </m:r>
                    <m:r>
                      <a:rPr lang="en-CA" b="0" i="1" smtClean="0">
                        <a:latin typeface="Cambria Math"/>
                      </a:rPr>
                      <m:t>𝑠</m:t>
                    </m:r>
                    <m:r>
                      <a:rPr lang="en-CA" b="0" i="1" smtClean="0">
                        <a:latin typeface="Cambria Math"/>
                      </a:rPr>
                      <m:t>=1 →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nombre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n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é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gatif</m:t>
                    </m:r>
                  </m:oMath>
                </a14:m>
                <a:endParaRPr lang="fr-CA" dirty="0"/>
              </a:p>
              <a:p>
                <a:pPr lvl="1"/>
                <a:endParaRPr lang="fr-CA" dirty="0"/>
              </a:p>
              <a:p>
                <a:pPr lvl="1"/>
                <a:r>
                  <a:rPr lang="fr-CA" dirty="0"/>
                  <a:t>Le nombre est normalisé, il commence toujours par 1</a:t>
                </a:r>
              </a:p>
              <a:p>
                <a:pPr lvl="2"/>
                <a:r>
                  <a:rPr lang="fr-CA" dirty="0"/>
                  <a:t>Inutile de le représenter</a:t>
                </a:r>
              </a:p>
              <a:p>
                <a:pPr lvl="2"/>
                <a:r>
                  <a:rPr lang="fr-CA" dirty="0"/>
                  <a:t>La mantisse est seulement les chiffres après la virgule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6"/>
                </p:custDataLst>
              </p:nvPr>
            </p:nvSpPr>
            <p:spPr>
              <a:xfrm>
                <a:off x="457200" y="1600200"/>
                <a:ext cx="8579296" cy="5069160"/>
              </a:xfrm>
              <a:blipFill rotWithShape="1">
                <a:blip r:embed="rId7"/>
                <a:stretch>
                  <a:fillRect l="-569" t="-84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19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384592" y="2348880"/>
                <a:ext cx="23748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𝑒</m:t>
                          </m:r>
                          <m:r>
                            <a:rPr lang="en-CA" b="0" i="1" smtClean="0">
                              <a:latin typeface="Cambria Math"/>
                            </a:rPr>
                            <m:t>−127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×1,</m:t>
                      </m:r>
                      <m:r>
                        <a:rPr lang="en-CA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3384592" y="2348880"/>
                <a:ext cx="2374817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219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Norme IEEE754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Valeur d’un nombre non normalisé (</a:t>
            </a:r>
            <a:r>
              <a:rPr lang="fr-CA" i="1" dirty="0"/>
              <a:t>e=0</a:t>
            </a:r>
            <a:r>
              <a:rPr lang="fr-CA" dirty="0"/>
              <a:t>)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Le nombre n’est plus normalisé, il ne commence donc plus nécessairement par 1</a:t>
            </a:r>
          </a:p>
          <a:p>
            <a:pPr lvl="2"/>
            <a:r>
              <a:rPr lang="fr-CA" dirty="0"/>
              <a:t>On ne peut plus le cacher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20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384592" y="2348880"/>
                <a:ext cx="22783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−126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×0,</m:t>
                      </m:r>
                      <m:r>
                        <a:rPr lang="en-CA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3384592" y="2348880"/>
                <a:ext cx="2278381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033890" y="4427820"/>
                <a:ext cx="31186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CA" b="0" i="1" smtClean="0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CA" b="0" i="1" smtClean="0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/>
                          </a:rPr>
                          <m:t>𝑒</m:t>
                        </m:r>
                        <m:r>
                          <a:rPr lang="en-CA" b="0" i="1" smtClean="0">
                            <a:latin typeface="Cambria Math"/>
                          </a:rPr>
                          <m:t>−127</m:t>
                        </m:r>
                      </m:sup>
                    </m:sSup>
                    <m:r>
                      <a:rPr lang="en-CA" b="0" i="1" smtClean="0">
                        <a:latin typeface="Cambria Math"/>
                      </a:rPr>
                      <m:t>×1,</m:t>
                    </m:r>
                    <m:r>
                      <a:rPr lang="en-CA" b="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fr-CA" dirty="0"/>
                  <a:t> devient</a:t>
                </a:r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033890" y="4427820"/>
                <a:ext cx="3118611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587" b="-245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979712" y="4823864"/>
                <a:ext cx="6025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0−127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r>
                        <a:rPr lang="en-CA" b="0" i="1" smtClean="0">
                          <a:latin typeface="Cambria Math"/>
                        </a:rPr>
                        <m:t>𝑏</m:t>
                      </m:r>
                      <m:r>
                        <a:rPr lang="en-CA" b="0" i="1" smtClean="0">
                          <a:latin typeface="Cambria Math"/>
                        </a:rPr>
                        <m:t>,</m:t>
                      </m:r>
                      <m:r>
                        <a:rPr lang="en-CA" b="0" i="1" smtClean="0">
                          <a:latin typeface="Cambria Math"/>
                        </a:rPr>
                        <m:t>𝑓</m:t>
                      </m:r>
                      <m:r>
                        <a:rPr lang="en-CA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𝑠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−127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CA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CA" b="0" i="1" smtClean="0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CA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/>
                            </a:rPr>
                            <m:t>𝑓</m:t>
                          </m:r>
                          <m:r>
                            <a:rPr lang="en-CA" b="0" i="1" smtClean="0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CA" b="0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1979712" y="4823864"/>
                <a:ext cx="6025880" cy="369332"/>
              </a:xfrm>
              <a:prstGeom prst="rect">
                <a:avLst/>
              </a:prstGeom>
              <a:blipFill rotWithShape="1"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029698" y="5219908"/>
                <a:ext cx="57633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CA" b="0" i="1" smtClean="0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a:rPr lang="en-CA" b="0" i="1" smtClean="0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/>
                          </a:rPr>
                          <m:t>−126</m:t>
                        </m:r>
                      </m:sup>
                    </m:sSup>
                    <m:r>
                      <a:rPr lang="en-CA" b="0" i="1" smtClean="0">
                        <a:latin typeface="Cambria Math"/>
                      </a:rPr>
                      <m:t>×0,</m:t>
                    </m:r>
                    <m:r>
                      <a:rPr lang="en-CA" b="0" i="1" smtClean="0">
                        <a:latin typeface="Cambria Math"/>
                      </a:rPr>
                      <m:t>𝑏𝑓</m:t>
                    </m:r>
                  </m:oMath>
                </a14:m>
                <a:r>
                  <a:rPr lang="fr-CA" dirty="0"/>
                  <a:t> (</a:t>
                </a:r>
                <a:r>
                  <a:rPr lang="fr-CA" i="1" dirty="0" err="1"/>
                  <a:t>bf</a:t>
                </a:r>
                <a:r>
                  <a:rPr lang="fr-CA" dirty="0"/>
                  <a:t> devient la nouvelle mantisse)</a:t>
                </a:r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2029698" y="5219908"/>
                <a:ext cx="5763309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602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Norme IEEE754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Représentation de </a:t>
                </a:r>
                <a:r>
                  <a:rPr lang="fr-CA" b="1" dirty="0"/>
                  <a:t>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𝑒</m:t>
                    </m:r>
                    <m:r>
                      <a:rPr lang="en-CA" b="0" i="1" smtClean="0">
                        <a:latin typeface="Cambria Math"/>
                      </a:rPr>
                      <m:t>=0</m:t>
                    </m:r>
                  </m:oMath>
                </a14:m>
                <a:endParaRPr lang="en-CA" b="0" dirty="0"/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𝑓</m:t>
                    </m:r>
                    <m:r>
                      <a:rPr lang="en-CA" b="0" i="1" smtClean="0">
                        <a:latin typeface="Cambria Math"/>
                      </a:rPr>
                      <m:t>=0</m:t>
                    </m:r>
                  </m:oMath>
                </a14:m>
                <a:endParaRPr lang="en-CA" b="0" dirty="0"/>
              </a:p>
              <a:p>
                <a:endParaRPr lang="fr-CA" dirty="0"/>
              </a:p>
              <a:p>
                <a:r>
                  <a:rPr lang="fr-CA" dirty="0"/>
                  <a:t>Représentation de l’</a:t>
                </a:r>
                <a:r>
                  <a:rPr lang="fr-CA" b="1" dirty="0"/>
                  <a:t>infini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𝑒</m:t>
                    </m:r>
                    <m:r>
                      <a:rPr lang="en-CA" b="0" i="1" smtClean="0">
                        <a:latin typeface="Cambria Math"/>
                      </a:rPr>
                      <m:t>=255</m:t>
                    </m:r>
                  </m:oMath>
                </a14:m>
                <a:endParaRPr lang="en-CA" b="0" dirty="0"/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𝑓</m:t>
                    </m:r>
                    <m:r>
                      <a:rPr lang="en-CA" b="0" i="1" smtClean="0">
                        <a:latin typeface="Cambria Math"/>
                      </a:rPr>
                      <m:t>=0</m:t>
                    </m:r>
                  </m:oMath>
                </a14:m>
                <a:endParaRPr lang="en-CA" b="0" dirty="0"/>
              </a:p>
              <a:p>
                <a:pPr lvl="1"/>
                <a:endParaRPr lang="fr-CA" dirty="0"/>
              </a:p>
              <a:p>
                <a:pPr lvl="1"/>
                <a:r>
                  <a:rPr lang="fr-CA" dirty="0"/>
                  <a:t>Le bit de signe indique si c’est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∞ </m:t>
                    </m:r>
                    <m:r>
                      <m:rPr>
                        <m:nor/>
                      </m:rPr>
                      <a:rPr lang="en-CA" b="0" i="0" smtClean="0">
                        <a:latin typeface="Cambria Math"/>
                      </a:rPr>
                      <m:t>ou</m:t>
                    </m:r>
                    <m:r>
                      <a:rPr lang="en-CA" b="0" i="1" smtClean="0">
                        <a:latin typeface="Cambria Math"/>
                      </a:rPr>
                      <m:t> −∞</m:t>
                    </m:r>
                  </m:oMath>
                </a14:m>
                <a:endParaRPr lang="fr-CA" dirty="0"/>
              </a:p>
              <a:p>
                <a:pPr lvl="1"/>
                <a:r>
                  <a:rPr lang="fr-CA" dirty="0"/>
                  <a:t>Obtenu, entre autres, lors d’une division par 0</a:t>
                </a:r>
              </a:p>
            </p:txBody>
          </p:sp>
        </mc:Choice>
        <mc:Fallback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  <a:blipFill>
                <a:blip r:embed="rId5"/>
                <a:stretch>
                  <a:fillRect l="-640" t="-84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21</a:t>
            </a:fld>
            <a:endParaRPr lang="fr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226D21-784A-38F9-15EE-7356CAEF0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4612" y="3725148"/>
            <a:ext cx="6392167" cy="819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04BD14-FBC9-71A2-D271-5E04E16EA8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7453" y="2058024"/>
            <a:ext cx="6506483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13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Norme IEEE754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Représentation de </a:t>
                </a:r>
                <a:r>
                  <a:rPr lang="fr-CA" b="1" dirty="0" err="1"/>
                  <a:t>NaN</a:t>
                </a:r>
                <a:r>
                  <a:rPr lang="fr-CA" dirty="0"/>
                  <a:t> (</a:t>
                </a:r>
                <a:r>
                  <a:rPr lang="fr-CA" i="1" dirty="0"/>
                  <a:t>Not a </a:t>
                </a:r>
                <a:r>
                  <a:rPr lang="fr-CA" i="1" dirty="0" err="1"/>
                  <a:t>Number</a:t>
                </a:r>
                <a:r>
                  <a:rPr lang="fr-CA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𝑒</m:t>
                    </m:r>
                    <m:r>
                      <a:rPr lang="en-CA" b="0" i="1" smtClean="0">
                        <a:latin typeface="Cambria Math"/>
                      </a:rPr>
                      <m:t>=255</m:t>
                    </m:r>
                  </m:oMath>
                </a14:m>
                <a:endParaRPr lang="en-CA" b="0" dirty="0"/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𝑓</m:t>
                    </m:r>
                    <m:r>
                      <a:rPr lang="en-CA" b="0" i="1" smtClean="0">
                        <a:latin typeface="Cambria Math"/>
                      </a:rPr>
                      <m:t>≠0</m:t>
                    </m:r>
                  </m:oMath>
                </a14:m>
                <a:endParaRPr lang="en-CA" b="0" dirty="0"/>
              </a:p>
              <a:p>
                <a:pPr lvl="2"/>
                <a:r>
                  <a:rPr lang="fr-CA" b="0" dirty="0"/>
                  <a:t>Si le premier bit de la mantisse est</a:t>
                </a:r>
              </a:p>
              <a:p>
                <a:pPr lvl="3"/>
                <a:r>
                  <a:rPr lang="fr-CA" dirty="0"/>
                  <a:t>1 </a:t>
                </a:r>
                <a:r>
                  <a:rPr lang="fr-CA" dirty="0">
                    <a:sym typeface="Wingdings" panose="05000000000000000000" pitchFamily="2" charset="2"/>
                  </a:rPr>
                  <a:t>Provoque une erreur d’exécution</a:t>
                </a:r>
              </a:p>
              <a:p>
                <a:pPr lvl="3"/>
                <a:r>
                  <a:rPr lang="fr-CA" b="0" dirty="0">
                    <a:sym typeface="Wingdings" panose="05000000000000000000" pitchFamily="2" charset="2"/>
                  </a:rPr>
                  <a:t>0 Ne provoque pas d’erreur, la valeur est propagée</a:t>
                </a:r>
              </a:p>
              <a:p>
                <a:pPr lvl="1"/>
                <a:r>
                  <a:rPr lang="fr-CA" dirty="0">
                    <a:sym typeface="Wingdings" panose="05000000000000000000" pitchFamily="2" charset="2"/>
                  </a:rPr>
                  <a:t>Obtenu lors d’opération comme </a:t>
                </a:r>
                <a:endParaRPr lang="en-CA" i="1" dirty="0">
                  <a:latin typeface="Cambria Math"/>
                  <a:sym typeface="Wingdings" panose="05000000000000000000" pitchFamily="2" charset="2"/>
                </a:endParaRP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CA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num>
                      <m:den>
                        <m:r>
                          <a:rPr lang="en-CA" b="0" i="1" smtClean="0"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den>
                    </m:f>
                    <m:r>
                      <a:rPr lang="en-CA" b="0" i="1" smtClean="0">
                        <a:latin typeface="Cambria Math"/>
                        <a:sym typeface="Wingdings" panose="05000000000000000000" pitchFamily="2" charset="2"/>
                      </a:rPr>
                      <m:t>;</m:t>
                    </m:r>
                  </m:oMath>
                </a14:m>
                <a:endParaRPr lang="en-CA" b="0" i="1" dirty="0">
                  <a:latin typeface="Cambria Math"/>
                  <a:sym typeface="Wingdings" panose="05000000000000000000" pitchFamily="2" charset="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  <a:sym typeface="Wingdings" panose="05000000000000000000" pitchFamily="2" charset="2"/>
                      </a:rPr>
                      <m:t>∞−∞;</m:t>
                    </m:r>
                  </m:oMath>
                </a14:m>
                <a:endParaRPr lang="en-CA" b="0" i="1" dirty="0">
                  <a:latin typeface="Cambria Math"/>
                  <a:sym typeface="Wingdings" panose="05000000000000000000" pitchFamily="2" charset="2"/>
                </a:endParaRP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CA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/>
                            <a:sym typeface="Wingdings" panose="05000000000000000000" pitchFamily="2" charset="2"/>
                          </a:rPr>
                          <m:t>∞</m:t>
                        </m:r>
                      </m:num>
                      <m:den>
                        <m:r>
                          <a:rPr lang="en-CA" b="0" i="1" smtClean="0">
                            <a:latin typeface="Cambria Math"/>
                            <a:sym typeface="Wingdings" panose="05000000000000000000" pitchFamily="2" charset="2"/>
                          </a:rPr>
                          <m:t>∞</m:t>
                        </m:r>
                      </m:den>
                    </m:f>
                    <m:r>
                      <a:rPr lang="en-CA" b="0" i="1" smtClean="0">
                        <a:latin typeface="Cambria Math"/>
                        <a:sym typeface="Wingdings" panose="05000000000000000000" pitchFamily="2" charset="2"/>
                      </a:rPr>
                      <m:t>;</m:t>
                    </m:r>
                  </m:oMath>
                </a14:m>
                <a:endParaRPr lang="en-CA" b="0" i="1" dirty="0">
                  <a:latin typeface="Cambria Math"/>
                  <a:sym typeface="Wingdings" panose="05000000000000000000" pitchFamily="2" charset="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  <a:sym typeface="Wingdings" panose="05000000000000000000" pitchFamily="2" charset="2"/>
                      </a:rPr>
                      <m:t>0×∞;</m:t>
                    </m:r>
                  </m:oMath>
                </a14:m>
                <a:endParaRPr lang="en-CA" b="0" i="1" dirty="0">
                  <a:latin typeface="Cambria Math"/>
                  <a:sym typeface="Wingdings" panose="05000000000000000000" pitchFamily="2" charset="2"/>
                </a:endParaRPr>
              </a:p>
              <a:p>
                <a:pPr lvl="2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A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n-CA" b="0" i="1" smtClean="0">
                            <a:latin typeface="Cambria Math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CA" b="0" i="1" smtClean="0">
                            <a:latin typeface="Cambria Math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rad>
                  </m:oMath>
                </a14:m>
                <a:endParaRPr lang="fr-CA" b="0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457200" y="1600200"/>
                <a:ext cx="8579296" cy="5069160"/>
              </a:xfrm>
              <a:blipFill rotWithShape="1">
                <a:blip r:embed="rId6"/>
                <a:stretch>
                  <a:fillRect l="-569" t="-84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0049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Norme IEEE754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Valeur minimale et maximale</a:t>
            </a:r>
          </a:p>
          <a:p>
            <a:pPr lvl="1"/>
            <a:r>
              <a:rPr lang="fr-CA" b="0" dirty="0"/>
              <a:t>Nombres normalisés</a:t>
            </a:r>
          </a:p>
          <a:p>
            <a:pPr lvl="1"/>
            <a:endParaRPr lang="fr-CA" dirty="0"/>
          </a:p>
          <a:p>
            <a:pPr lvl="1"/>
            <a:endParaRPr lang="fr-CA" b="0" dirty="0"/>
          </a:p>
          <a:p>
            <a:pPr lvl="1"/>
            <a:endParaRPr lang="fr-CA" dirty="0"/>
          </a:p>
          <a:p>
            <a:pPr lvl="1"/>
            <a:endParaRPr lang="fr-CA" b="0" dirty="0"/>
          </a:p>
          <a:p>
            <a:pPr lvl="1"/>
            <a:endParaRPr lang="fr-CA" dirty="0"/>
          </a:p>
          <a:p>
            <a:pPr lvl="1"/>
            <a:r>
              <a:rPr lang="fr-CA" b="0" dirty="0"/>
              <a:t>Nombres non normalisés 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sz="1200" dirty="0"/>
          </a:p>
          <a:p>
            <a:pPr marL="274320" lvl="1" indent="0">
              <a:buNone/>
            </a:pPr>
            <a:r>
              <a:rPr lang="fr-CA" sz="1600" dirty="0"/>
              <a:t>	Ceux-ci permettent de représenter des nombres plus près de zéro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23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4"/>
              <p:cNvGraphicFramePr>
                <a:graphicFrameLocks noGrp="1"/>
              </p:cNvGraphicFramePr>
              <p:nvPr>
                <p:custDataLst>
                  <p:tags r:id="rId4"/>
                </p:custDataLst>
                <p:extLst>
                  <p:ext uri="{D42A27DB-BD31-4B8C-83A1-F6EECF244321}">
                    <p14:modId xmlns:p14="http://schemas.microsoft.com/office/powerpoint/2010/main" val="2951833963"/>
                  </p:ext>
                </p:extLst>
              </p:nvPr>
            </p:nvGraphicFramePr>
            <p:xfrm>
              <a:off x="827584" y="2420888"/>
              <a:ext cx="6970810" cy="15263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7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129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048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182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019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𝑚𝑎𝑥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=</a:t>
                          </a:r>
                          <a:r>
                            <a:rPr lang="fr-CA" sz="1400" b="0" baseline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r>
                            <a:rPr lang="fr-CA" sz="1400" b="0" baseline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11111110 11…11</a:t>
                          </a:r>
                          <a:endParaRPr lang="fr-CA" sz="14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|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𝑚𝑖𝑛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= 0 00000001 00…00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262"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254−127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×1,11…</m:t>
                                </m:r>
                                <m:sSub>
                                  <m:sSub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sub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1−127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×1,000…00</m:t>
                                </m:r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1934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127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×(2−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−23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−126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×1</m:t>
                                </m:r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1934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≈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128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−126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1934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≈3,4028×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38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4"/>
              <p:cNvGraphicFramePr>
                <a:graphicFrameLocks noGrp="1"/>
              </p:cNvGraphicFramePr>
              <p:nvPr>
                <p:custDataLst>
                  <p:tags r:id="rId7"/>
                </p:custDataLst>
                <p:extLst>
                  <p:ext uri="{D42A27DB-BD31-4B8C-83A1-F6EECF244321}">
                    <p14:modId xmlns:p14="http://schemas.microsoft.com/office/powerpoint/2010/main" val="2951833963"/>
                  </p:ext>
                </p:extLst>
              </p:nvPr>
            </p:nvGraphicFramePr>
            <p:xfrm>
              <a:off x="827584" y="2420888"/>
              <a:ext cx="6970810" cy="15263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780"/>
                    <a:gridCol w="2712928"/>
                    <a:gridCol w="804820"/>
                    <a:gridCol w="2218282"/>
                  </a:tblGrid>
                  <a:tr h="3048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95" t="-2000" r="-466337" b="-4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sz="1400" b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=</a:t>
                          </a:r>
                          <a:r>
                            <a:rPr lang="fr-CA" sz="1400" b="0" baseline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fr-CA" sz="1400" b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r>
                            <a:rPr lang="fr-CA" sz="1400" b="0" baseline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11111110 11…11</a:t>
                          </a:r>
                          <a:endParaRPr lang="fr-CA" sz="14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90909" t="-2000" r="-276515" b="-4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sz="1400" b="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= 0 00000001 00…00</a:t>
                          </a:r>
                          <a:endParaRPr lang="fr-CA" sz="14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</a:tr>
                  <a:tr h="307150"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5618" t="-100000" r="-111685" b="-2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214286" t="-100000" r="-275" b="-294118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5618" t="-204000" r="-1116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214286" t="-204000" r="-275" b="-200000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5618" t="-304000" r="-11168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214286" t="-304000" r="-275" b="-100000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45618" t="-404000" r="-111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au 5"/>
              <p:cNvGraphicFramePr>
                <a:graphicFrameLocks noGrp="1"/>
              </p:cNvGraphicFramePr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3536442861"/>
                  </p:ext>
                </p:extLst>
              </p:nvPr>
            </p:nvGraphicFramePr>
            <p:xfrm>
              <a:off x="827584" y="4653136"/>
              <a:ext cx="6970810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7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129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048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182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0193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𝑚𝑎𝑥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=</a:t>
                          </a:r>
                          <a:r>
                            <a:rPr lang="fr-CA" sz="1400" b="0" baseline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r>
                            <a:rPr lang="fr-CA" sz="1400" b="0" baseline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00000000 11…11</a:t>
                          </a:r>
                          <a:endParaRPr lang="fr-CA" sz="14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|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𝑚𝑖𝑛</m:t>
                                </m:r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= </a:t>
                          </a:r>
                          <a:r>
                            <a:rPr lang="fr-CA" sz="1400" b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0 00000000 </a:t>
                          </a:r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00…01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262"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−126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×0,11…</m:t>
                                </m:r>
                                <m:sSub>
                                  <m:sSub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sub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−126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×0,000…01</m:t>
                                </m:r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1934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−126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×(1−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−23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−126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1934"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−126</m:t>
                                    </m:r>
                                  </m:sup>
                                </m:sSup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−149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−149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1934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1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≈</m:t>
                                </m:r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−126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au 5"/>
              <p:cNvGraphicFramePr>
                <a:graphicFrameLocks noGrp="1"/>
              </p:cNvGraphicFramePr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3536442861"/>
                  </p:ext>
                </p:extLst>
              </p:nvPr>
            </p:nvGraphicFramePr>
            <p:xfrm>
              <a:off x="827584" y="4653136"/>
              <a:ext cx="6970810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47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129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048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182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9"/>
                          <a:stretch>
                            <a:fillRect l="-493" t="-2000" r="-466010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=</a:t>
                          </a:r>
                          <a:r>
                            <a:rPr lang="fr-CA" sz="1400" b="0" baseline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r>
                            <a:rPr lang="fr-CA" sz="1400" b="0" baseline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00000000 11…11</a:t>
                          </a:r>
                          <a:endParaRPr lang="fr-CA" sz="1400" b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9"/>
                          <a:stretch>
                            <a:fillRect l="-487970" t="-2000" r="-276692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= </a:t>
                          </a:r>
                          <a:r>
                            <a:rPr lang="fr-CA" sz="1400" b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0 00000000 </a:t>
                          </a:r>
                          <a:r>
                            <a:rPr lang="fr-CA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00…01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9"/>
                          <a:stretch>
                            <a:fillRect l="-45843" t="-102000" r="-112584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9"/>
                          <a:stretch>
                            <a:fillRect l="-214835" t="-102000" r="-1099" b="-3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9"/>
                          <a:stretch>
                            <a:fillRect l="-45843" t="-198039" r="-11258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9"/>
                          <a:stretch>
                            <a:fillRect l="-214835" t="-198039" r="-109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9"/>
                          <a:stretch>
                            <a:fillRect l="-45843" t="-304000" r="-112584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9"/>
                          <a:stretch>
                            <a:fillRect l="-214835" t="-304000" r="-1099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9"/>
                          <a:stretch>
                            <a:fillRect l="-45843" t="-404000" r="-112584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CA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0790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B6B586-5F2D-D912-1C1F-7153147A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Unité virgule flottante</a:t>
            </a:r>
            <a:endParaRPr lang="fr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43FEDC-FB8B-4420-002D-BF933E131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21F5B-0AD3-3A9D-55D6-7978AE74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8403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Unité virgule flottante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Possède</a:t>
            </a:r>
          </a:p>
          <a:p>
            <a:pPr lvl="1"/>
            <a:r>
              <a:rPr lang="fr-CA" dirty="0"/>
              <a:t> 32 registres simple précision</a:t>
            </a:r>
          </a:p>
          <a:p>
            <a:pPr lvl="2"/>
            <a:r>
              <a:rPr lang="fr-CA" b="1" dirty="0"/>
              <a:t>s0</a:t>
            </a:r>
            <a:r>
              <a:rPr lang="fr-CA" dirty="0"/>
              <a:t> à </a:t>
            </a:r>
            <a:r>
              <a:rPr lang="fr-CA" b="1" dirty="0"/>
              <a:t>s31</a:t>
            </a:r>
          </a:p>
          <a:p>
            <a:pPr lvl="1"/>
            <a:r>
              <a:rPr lang="fr-CA" dirty="0"/>
              <a:t>32 registres double précision</a:t>
            </a:r>
          </a:p>
          <a:p>
            <a:pPr lvl="2"/>
            <a:r>
              <a:rPr lang="fr-CA" b="1" dirty="0"/>
              <a:t>d0</a:t>
            </a:r>
            <a:r>
              <a:rPr lang="fr-CA" dirty="0"/>
              <a:t>, à </a:t>
            </a:r>
            <a:r>
              <a:rPr lang="fr-CA" b="1" dirty="0"/>
              <a:t>d31</a:t>
            </a:r>
          </a:p>
          <a:p>
            <a:endParaRPr lang="fr-CA" dirty="0"/>
          </a:p>
          <a:p>
            <a:r>
              <a:rPr lang="fr-CA" dirty="0"/>
              <a:t>Tous les registres sont globaux et accessibles en tout temps</a:t>
            </a:r>
          </a:p>
          <a:p>
            <a:pPr lvl="1"/>
            <a:r>
              <a:rPr lang="fr-CA" dirty="0">
                <a:solidFill>
                  <a:srgbClr val="FF0000"/>
                </a:solidFill>
              </a:rPr>
              <a:t>Les registres simple précision sont en fait les 32 bits les moins significatifs (bits 0 à 31) des registres double précision.</a:t>
            </a:r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0617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DFB8-54CA-BD16-187F-A5E05C50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FBD54-97B8-39DC-C19A-2B9420B49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Par exemple, si un sous-programme reçoit </a:t>
            </a:r>
          </a:p>
          <a:p>
            <a:pPr lvl="2"/>
            <a:r>
              <a:rPr lang="fr-CA" dirty="0"/>
              <a:t>Un entier,</a:t>
            </a:r>
          </a:p>
          <a:p>
            <a:pPr lvl="2"/>
            <a:r>
              <a:rPr lang="fr-CA" dirty="0"/>
              <a:t>Un nombre en virgule flottante et </a:t>
            </a:r>
          </a:p>
          <a:p>
            <a:pPr lvl="2"/>
            <a:r>
              <a:rPr lang="fr-CA" dirty="0"/>
              <a:t>Une adresse, </a:t>
            </a:r>
          </a:p>
          <a:p>
            <a:pPr marL="0" indent="0">
              <a:buNone/>
            </a:pPr>
            <a:r>
              <a:rPr lang="fr-CA" dirty="0"/>
              <a:t>on doit passer ces arguments dans (x0, d0, x1), </a:t>
            </a:r>
          </a:p>
          <a:p>
            <a:pPr marL="0" indent="0">
              <a:buNone/>
            </a:pPr>
            <a:r>
              <a:rPr lang="fr-CA" dirty="0"/>
              <a:t>et non pas dans (x0, d1, x2).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D4619-10CA-02E0-4637-457E587A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26</a:t>
            </a:fld>
            <a:endParaRPr lang="fr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506FD-32C3-A823-C4DA-68D437112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602" y="1709928"/>
            <a:ext cx="5725324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51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Unité virgule flottante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endParaRPr lang="fr-CA" dirty="0"/>
          </a:p>
          <a:p>
            <a:r>
              <a:rPr lang="fr-CA"/>
              <a:t>Les codes conditions sont les mêmes que ceux pour l'arithmétique entière, mais ils servent à représenter des résultats de comparaison float de façon un peu différente.</a:t>
            </a:r>
          </a:p>
          <a:p>
            <a:endParaRPr lang="fr-CA" dirty="0"/>
          </a:p>
          <a:p>
            <a:pPr lvl="1"/>
            <a:r>
              <a:rPr lang="fr-CA"/>
              <a:t>Voir la feuille de référence ARM pour l'effet précis des branchements suivant une comparaison float.</a:t>
            </a:r>
            <a:endParaRPr lang="fr-CA" dirty="0"/>
          </a:p>
          <a:p>
            <a:pPr lvl="2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3689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Instructions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On </a:t>
            </a:r>
            <a:r>
              <a:rPr lang="fr-CA"/>
              <a:t>peut transférer </a:t>
            </a:r>
            <a:r>
              <a:rPr lang="fr-CA" dirty="0"/>
              <a:t>des </a:t>
            </a:r>
            <a:r>
              <a:rPr lang="fr-CA"/>
              <a:t>valeurs entre </a:t>
            </a:r>
            <a:r>
              <a:rPr lang="fr-CA" dirty="0"/>
              <a:t>la mémoire dans les registres </a:t>
            </a:r>
            <a:r>
              <a:rPr lang="fr-CA"/>
              <a:t>virgule flottante.</a:t>
            </a:r>
            <a:endParaRPr lang="fr-CA" dirty="0"/>
          </a:p>
          <a:p>
            <a:pPr lvl="1"/>
            <a:r>
              <a:rPr lang="fr-CA"/>
              <a:t>Pour ce faire, on utilise les instructions ldr et str, mais avec des registres virgule flottante en paramètre.</a:t>
            </a:r>
          </a:p>
          <a:p>
            <a:pPr lvl="2"/>
            <a:endParaRPr lang="fr-CA"/>
          </a:p>
          <a:p>
            <a:pPr lvl="1"/>
            <a:r>
              <a:rPr lang="fr-CA"/>
              <a:t>Par exemple:  </a:t>
            </a:r>
            <a:r>
              <a:rPr lang="fr-CA">
                <a:latin typeface="Consolas" panose="020B0609020204030204" pitchFamily="49" charset="0"/>
              </a:rPr>
              <a:t>ldr s0,[x20] </a:t>
            </a:r>
            <a:r>
              <a:rPr lang="fr-CA"/>
              <a:t>transfère une valeur simple précision de la mémoire au registre s0.</a:t>
            </a:r>
          </a:p>
          <a:p>
            <a:pPr lvl="1"/>
            <a:endParaRPr lang="fr-CA"/>
          </a:p>
          <a:p>
            <a:pPr lvl="1"/>
            <a:r>
              <a:rPr lang="fr-CA"/>
              <a:t>On peut également transférer des valeurs des registres normaux aux registres float à l'aide de l'instruction fmov</a:t>
            </a:r>
          </a:p>
          <a:p>
            <a:pPr lvl="1"/>
            <a:endParaRPr lang="fr-CA"/>
          </a:p>
          <a:p>
            <a:pPr lvl="1"/>
            <a:r>
              <a:rPr lang="fr-CA"/>
              <a:t>Par exemple: </a:t>
            </a:r>
            <a:r>
              <a:rPr lang="fr-CA">
                <a:latin typeface="Consolas" panose="020B0609020204030204" pitchFamily="49" charset="0"/>
              </a:rPr>
              <a:t>fmov d0,x20</a:t>
            </a:r>
            <a:r>
              <a:rPr lang="fr-CA"/>
              <a:t> transfère une valeur double précision du registre x20 vers le registre d0.</a:t>
            </a:r>
          </a:p>
          <a:p>
            <a:pPr lvl="3"/>
            <a:endParaRPr lang="fr-CA"/>
          </a:p>
          <a:p>
            <a:pPr lvl="3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7903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Instructions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Il peut aussi être pratique de changer le format d’une valeur</a:t>
            </a:r>
          </a:p>
          <a:p>
            <a:pPr lvl="1"/>
            <a:r>
              <a:rPr lang="fr-CA" dirty="0"/>
              <a:t>Par exemple, si la valeur « 48 » est en mémoire, et qu’on veut la multiplier par la valeur « 1,465 »</a:t>
            </a:r>
          </a:p>
          <a:p>
            <a:pPr lvl="2"/>
            <a:r>
              <a:rPr lang="fr-CA" dirty="0"/>
              <a:t>Il faut transformer la valeur « 48 » d’un entier à un nombre virgule flottante</a:t>
            </a:r>
          </a:p>
          <a:p>
            <a:pPr lvl="1"/>
            <a:endParaRPr lang="fr-CA"/>
          </a:p>
          <a:p>
            <a:pPr lvl="1"/>
            <a:r>
              <a:rPr lang="fr-CA"/>
              <a:t>Plusieurs instructions de conversion existent. </a:t>
            </a:r>
          </a:p>
          <a:p>
            <a:pPr lvl="2"/>
            <a:r>
              <a:rPr lang="fr-CA">
                <a:latin typeface="Consolas" panose="020B0609020204030204" pitchFamily="49" charset="0"/>
              </a:rPr>
              <a:t>fcvt</a:t>
            </a:r>
            <a:r>
              <a:rPr lang="fr-CA"/>
              <a:t> convertit entre les niveaux de précision (simple, double)</a:t>
            </a:r>
          </a:p>
          <a:p>
            <a:pPr lvl="2"/>
            <a:r>
              <a:rPr lang="fr-CA">
                <a:latin typeface="Consolas" panose="020B0609020204030204" pitchFamily="49" charset="0"/>
              </a:rPr>
              <a:t>scvtf</a:t>
            </a:r>
            <a:r>
              <a:rPr lang="fr-CA"/>
              <a:t> convertit d'entier signé à virgule flottante</a:t>
            </a:r>
          </a:p>
          <a:p>
            <a:pPr lvl="2"/>
            <a:r>
              <a:rPr lang="fr-CA">
                <a:latin typeface="Consolas" panose="020B0609020204030204" pitchFamily="49" charset="0"/>
              </a:rPr>
              <a:t>ucvtf</a:t>
            </a:r>
            <a:r>
              <a:rPr lang="fr-CA"/>
              <a:t> convertit d'entier non-signé à virgule flottante</a:t>
            </a:r>
          </a:p>
          <a:p>
            <a:pPr lvl="2"/>
            <a:r>
              <a:rPr lang="fr-CA">
                <a:latin typeface="Consolas" panose="020B0609020204030204" pitchFamily="49" charset="0"/>
              </a:rPr>
              <a:t>fcvtzs</a:t>
            </a:r>
            <a:r>
              <a:rPr lang="fr-CA"/>
              <a:t> convertit de virgule flottante à entier signé</a:t>
            </a:r>
          </a:p>
          <a:p>
            <a:pPr lvl="2"/>
            <a:r>
              <a:rPr lang="fr-CA">
                <a:latin typeface="Consolas" panose="020B0609020204030204" pitchFamily="49" charset="0"/>
              </a:rPr>
              <a:t>fcvtzu</a:t>
            </a:r>
            <a:r>
              <a:rPr lang="fr-CA"/>
              <a:t> convertit de virgule flottante à entier non-signé.</a:t>
            </a:r>
          </a:p>
          <a:p>
            <a:pPr lvl="2"/>
            <a:endParaRPr lang="fr-CA"/>
          </a:p>
          <a:p>
            <a:pPr lvl="1"/>
            <a:r>
              <a:rPr lang="fr-CA"/>
              <a:t>Lorsqu'on opère des conversions, un arrondi peut s'appliquer; voir la référence ARM pour toutes les possibilités d'application d'arrondis.</a:t>
            </a:r>
            <a:endParaRPr lang="fr-CA" dirty="0"/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2518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Instructions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Pour déclarer des données en virgule flottante</a:t>
            </a:r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30</a:t>
            </a:fld>
            <a:endParaRPr lang="fr-CA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99282038"/>
              </p:ext>
            </p:extLst>
          </p:nvPr>
        </p:nvGraphicFramePr>
        <p:xfrm>
          <a:off x="1475656" y="3223776"/>
          <a:ext cx="273630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</a:t>
                      </a:r>
                      <a:r>
                        <a:rPr lang="fr-CA" sz="16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align</a:t>
                      </a:r>
                      <a:r>
                        <a:rPr lang="fr-CA" sz="16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4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.skip 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fr-CA" sz="16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  <a:sym typeface="Wingdings" panose="05000000000000000000" pitchFamily="2" charset="2"/>
                        </a:rPr>
                        <a:t>align</a:t>
                      </a:r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  <a:sym typeface="Wingdings" panose="05000000000000000000" pitchFamily="2" charset="2"/>
                        </a:rPr>
                        <a:t> 8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.skip 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414321514"/>
              </p:ext>
            </p:extLst>
          </p:nvPr>
        </p:nvGraphicFramePr>
        <p:xfrm>
          <a:off x="4932040" y="2852936"/>
          <a:ext cx="27363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</a:t>
                      </a:r>
                      <a:r>
                        <a:rPr lang="fr-CA" sz="16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align</a:t>
                      </a:r>
                      <a:r>
                        <a:rPr lang="fr-CA" sz="1600" b="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4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.single 0r12.34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fr-CA" sz="16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  <a:sym typeface="Wingdings" panose="05000000000000000000" pitchFamily="2" charset="2"/>
                        </a:rPr>
                        <a:t>align</a:t>
                      </a:r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  <a:sym typeface="Wingdings" panose="05000000000000000000" pitchFamily="2" charset="2"/>
                        </a:rPr>
                        <a:t> 8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.double 0r56.78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</a:t>
                      </a:r>
                      <a:r>
                        <a:rPr lang="fr-CA" sz="16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align</a:t>
                      </a:r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q: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.quad 0r90.12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186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0332BF-EA56-2154-E1DD-57736CF2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00D1CA-4240-0451-E23B-D3E91FAD7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F6EBD-1775-7A92-4F3F-FD223720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31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8714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té">
  <a:themeElements>
    <a:clrScheme name="Clarté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t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33AC1A0865774DB299E791FDB92DBE" ma:contentTypeVersion="3" ma:contentTypeDescription="Crée un document." ma:contentTypeScope="" ma:versionID="b7d52d8d42f92fff3113c97f3d1b1e06">
  <xsd:schema xmlns:xsd="http://www.w3.org/2001/XMLSchema" xmlns:xs="http://www.w3.org/2001/XMLSchema" xmlns:p="http://schemas.microsoft.com/office/2006/metadata/properties" xmlns:ns2="6b49ab6e-91ce-47c4-92bd-0f7a9d500766" targetNamespace="http://schemas.microsoft.com/office/2006/metadata/properties" ma:root="true" ma:fieldsID="7a8775d0a7673be27e914b86357f5b62" ns2:_="">
    <xsd:import namespace="6b49ab6e-91ce-47c4-92bd-0f7a9d5007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9ab6e-91ce-47c4-92bd-0f7a9d5007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AFE8AF-17CA-4C9E-B020-4986E847CD8B}"/>
</file>

<file path=customXml/itemProps2.xml><?xml version="1.0" encoding="utf-8"?>
<ds:datastoreItem xmlns:ds="http://schemas.openxmlformats.org/officeDocument/2006/customXml" ds:itemID="{CA08C454-9869-4405-93B4-4DC7F3D90772}"/>
</file>

<file path=customXml/itemProps3.xml><?xml version="1.0" encoding="utf-8"?>
<ds:datastoreItem xmlns:ds="http://schemas.openxmlformats.org/officeDocument/2006/customXml" ds:itemID="{9B745853-7720-40E9-B590-4831F9F92D76}"/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3668</TotalTime>
  <Words>1599</Words>
  <Application>Microsoft Office PowerPoint</Application>
  <PresentationFormat>On-screen Show (4:3)</PresentationFormat>
  <Paragraphs>374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Black</vt:lpstr>
      <vt:lpstr>Calibri</vt:lpstr>
      <vt:lpstr>Cambria Math</vt:lpstr>
      <vt:lpstr>Consolas</vt:lpstr>
      <vt:lpstr>Wingdings</vt:lpstr>
      <vt:lpstr>Clarté</vt:lpstr>
      <vt:lpstr>Chapitre 11</vt:lpstr>
      <vt:lpstr>Représentation</vt:lpstr>
      <vt:lpstr>Représentation</vt:lpstr>
      <vt:lpstr>Exemples</vt:lpstr>
      <vt:lpstr>Un ensemble F de nombres virgule flottante</vt:lpstr>
      <vt:lpstr>F=(B, l, m, M)</vt:lpstr>
      <vt:lpstr>F=(B, l, m, M)</vt:lpstr>
      <vt:lpstr>F=(B, l, m, M)</vt:lpstr>
      <vt:lpstr>F=(B, l, m, M)</vt:lpstr>
      <vt:lpstr>Exemple</vt:lpstr>
      <vt:lpstr>Représentation interne</vt:lpstr>
      <vt:lpstr>Représentation interne</vt:lpstr>
      <vt:lpstr>Précision </vt:lpstr>
      <vt:lpstr>Addition</vt:lpstr>
      <vt:lpstr>Multiplication</vt:lpstr>
      <vt:lpstr>Norme IEEE754</vt:lpstr>
      <vt:lpstr>Norme IEEE754</vt:lpstr>
      <vt:lpstr>Norme IEEE754</vt:lpstr>
      <vt:lpstr>Norme IEEE754</vt:lpstr>
      <vt:lpstr>Norme IEEE754</vt:lpstr>
      <vt:lpstr>Norme IEEE754</vt:lpstr>
      <vt:lpstr>Norme IEEE754</vt:lpstr>
      <vt:lpstr>Norme IEEE754</vt:lpstr>
      <vt:lpstr>Unité virgule flottante</vt:lpstr>
      <vt:lpstr>Unité virgule flottante</vt:lpstr>
      <vt:lpstr>Arguments</vt:lpstr>
      <vt:lpstr>Unité virgule flottante</vt:lpstr>
      <vt:lpstr>Instructions</vt:lpstr>
      <vt:lpstr>Instructions</vt:lpstr>
      <vt:lpstr>Instructions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11</dc:title>
  <dc:creator>Vincent</dc:creator>
  <cp:lastModifiedBy>Rosa Lourdes Garcia Diaz</cp:lastModifiedBy>
  <cp:revision>313</cp:revision>
  <dcterms:created xsi:type="dcterms:W3CDTF">2015-08-04T01:44:20Z</dcterms:created>
  <dcterms:modified xsi:type="dcterms:W3CDTF">2025-11-14T14:34:09Z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0x0101007633AC1A0865774DB299E791FDB92DBE</vt:lpwstr>
  </property>
</Properties>
</file>
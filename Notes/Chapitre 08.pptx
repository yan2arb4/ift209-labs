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.xml" ContentType="application/vnd.openxmlformats-officedocument.presentationml.tags+xml"/>
  <Override PartName="/ppt/tags/tag151.xml" ContentType="application/vnd.openxmlformats-officedocument.presentationml.tags+xml"/>
  <Override PartName="/ppt/tags/tag83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05.xml" ContentType="application/vnd.openxmlformats-officedocument.presentationml.tags+xml"/>
  <Override PartName="/ppt/tags/tag82.xml" ContentType="application/vnd.openxmlformats-officedocument.presentationml.tags+xml"/>
  <Override PartName="/ppt/tags/tag85.xml" ContentType="application/vnd.openxmlformats-officedocument.presentationml.tags+xml"/>
  <Override PartName="/ppt/tags/tag3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84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52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80" r:id="rId6"/>
    <p:sldId id="263" r:id="rId7"/>
    <p:sldId id="264" r:id="rId8"/>
    <p:sldId id="265" r:id="rId9"/>
    <p:sldId id="268" r:id="rId10"/>
    <p:sldId id="284" r:id="rId11"/>
    <p:sldId id="269" r:id="rId12"/>
    <p:sldId id="270" r:id="rId13"/>
    <p:sldId id="271" r:id="rId14"/>
    <p:sldId id="272" r:id="rId15"/>
    <p:sldId id="273" r:id="rId16"/>
    <p:sldId id="285" r:id="rId17"/>
    <p:sldId id="260" r:id="rId18"/>
    <p:sldId id="283" r:id="rId19"/>
    <p:sldId id="267" r:id="rId20"/>
    <p:sldId id="281" r:id="rId21"/>
    <p:sldId id="274" r:id="rId22"/>
    <p:sldId id="286" r:id="rId23"/>
    <p:sldId id="275" r:id="rId24"/>
    <p:sldId id="276" r:id="rId25"/>
    <p:sldId id="278" r:id="rId26"/>
    <p:sldId id="279" r:id="rId27"/>
    <p:sldId id="293" r:id="rId28"/>
    <p:sldId id="277" r:id="rId29"/>
    <p:sldId id="288" r:id="rId30"/>
    <p:sldId id="289" r:id="rId31"/>
    <p:sldId id="290" r:id="rId32"/>
    <p:sldId id="287" r:id="rId3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B91AF"/>
    <a:srgbClr val="D2533C"/>
    <a:srgbClr val="0000FF"/>
    <a:srgbClr val="6B7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0B140-BBC5-422C-AFE5-355C39888250}" type="datetimeFigureOut">
              <a:rPr lang="fr-CA" smtClean="0"/>
              <a:t>2025-11-04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5B6D-8D1A-416F-AC92-F32F45CA4637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62729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FEE14-099A-4F19-8953-36ADF35FA81B}" type="datetime1">
              <a:rPr lang="fr-CA" smtClean="0"/>
              <a:t>2025-11-04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904D3-99A9-44B6-AB3B-876B7115C31B}" type="datetime1">
              <a:rPr lang="fr-CA" smtClean="0"/>
              <a:t>2025-11-04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ED36-949B-4A0A-BF83-782C3E6FD030}" type="datetime1">
              <a:rPr lang="fr-CA" smtClean="0"/>
              <a:t>2025-11-04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6A9C8-381F-48EE-8409-B2268005FB78}" type="datetime1">
              <a:rPr lang="fr-CA" smtClean="0"/>
              <a:t>2025-11-04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97DBC-555E-49FC-88C5-719FCAB7E211}" type="datetime1">
              <a:rPr lang="fr-CA" smtClean="0"/>
              <a:t>2025-11-04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F23CC-B10C-4B77-A161-29C9F2C5A3A5}" type="datetime1">
              <a:rPr lang="fr-CA" smtClean="0"/>
              <a:t>2025-11-04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7EE4C-2CBB-44FF-B28F-7B248C35000A}" type="datetime1">
              <a:rPr lang="fr-CA" smtClean="0"/>
              <a:t>2025-11-04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4D95B-ADE5-461C-B988-605B84962E36}" type="datetime1">
              <a:rPr lang="fr-CA" smtClean="0"/>
              <a:t>2025-11-04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5DFCB-4044-4074-8A0D-E250F29B22EA}" type="datetime1">
              <a:rPr lang="fr-CA" smtClean="0"/>
              <a:t>2025-11-04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D9A2-58E3-4336-A2F8-1979AB3BA19D}" type="datetime1">
              <a:rPr lang="fr-CA" smtClean="0"/>
              <a:t>2025-11-04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DA332-13E8-4B42-ABB9-932EDA9A5246}" type="datetime1">
              <a:rPr lang="fr-CA" smtClean="0"/>
              <a:t>2025-11-04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E0B27A0-AF05-419C-BAA0-B1937A059E37}" type="datetime1">
              <a:rPr lang="fr-CA" smtClean="0"/>
              <a:t>2025-11-04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1F61E83-B44C-48BE-B03F-252907E93546}" type="slidenum">
              <a:rPr lang="fr-CA" smtClean="0"/>
              <a:t>‹#›</a:t>
            </a:fld>
            <a:endParaRPr lang="fr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image" Target="../media/image2.png"/><Relationship Id="rId26" Type="http://schemas.openxmlformats.org/officeDocument/2006/relationships/image" Target="../media/image6.png"/><Relationship Id="rId3" Type="http://schemas.openxmlformats.org/officeDocument/2006/relationships/tags" Target="../tags/tag9.xml"/><Relationship Id="rId21" Type="http://schemas.openxmlformats.org/officeDocument/2006/relationships/tags" Target="../tags/tag15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11.xml"/><Relationship Id="rId25" Type="http://schemas.openxmlformats.org/officeDocument/2006/relationships/tags" Target="../tags/tag19.xml"/><Relationship Id="rId2" Type="http://schemas.openxmlformats.org/officeDocument/2006/relationships/tags" Target="../tags/tag8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3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image" Target="../media/image5.png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17.xml"/><Relationship Id="rId28" Type="http://schemas.openxmlformats.org/officeDocument/2006/relationships/image" Target="../media/image7.png"/><Relationship Id="rId10" Type="http://schemas.openxmlformats.org/officeDocument/2006/relationships/tags" Target="../tags/tag16.xml"/><Relationship Id="rId19" Type="http://schemas.openxmlformats.org/officeDocument/2006/relationships/tags" Target="../tags/tag13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image" Target="../media/image4.png"/><Relationship Id="rId27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9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3" Type="http://schemas.openxmlformats.org/officeDocument/2006/relationships/tags" Target="../tags/tag94.xml"/><Relationship Id="rId7" Type="http://schemas.openxmlformats.org/officeDocument/2006/relationships/tags" Target="../tags/tag98.xml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9" Type="http://schemas.openxmlformats.org/officeDocument/2006/relationships/tags" Target="../tags/tag10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image" Target="../media/image8.png"/><Relationship Id="rId5" Type="http://schemas.openxmlformats.org/officeDocument/2006/relationships/tags" Target="../tags/tag112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tags" Target="../tags/tag124.xml"/><Relationship Id="rId5" Type="http://schemas.openxmlformats.org/officeDocument/2006/relationships/tags" Target="../tags/tag118.xml"/><Relationship Id="rId10" Type="http://schemas.openxmlformats.org/officeDocument/2006/relationships/tags" Target="../tags/tag123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38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33.xml"/><Relationship Id="rId16" Type="http://schemas.openxmlformats.org/officeDocument/2006/relationships/image" Target="../media/image18.png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2.xml"/><Relationship Id="rId10" Type="http://schemas.openxmlformats.org/officeDocument/2006/relationships/tags" Target="../tags/tag141.xml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5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fr.wikipedia.org/wiki/Unit%C3%A9_arithm%C3%A9tique_et_logique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Chapitre 8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85800" y="3505200"/>
            <a:ext cx="6838528" cy="1752600"/>
          </a:xfrm>
        </p:spPr>
        <p:txBody>
          <a:bodyPr/>
          <a:lstStyle/>
          <a:p>
            <a:r>
              <a:rPr lang="fr-CA" dirty="0"/>
              <a:t>Les booléens et les chaînes de bits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632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Les booléens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Le booléen est le type  le plus élémentaire</a:t>
            </a:r>
          </a:p>
          <a:p>
            <a:pPr lvl="1"/>
            <a:r>
              <a:rPr lang="fr-CA" dirty="0"/>
              <a:t>Peut prendre la valeur vrai (1)</a:t>
            </a:r>
          </a:p>
          <a:p>
            <a:pPr lvl="1"/>
            <a:r>
              <a:rPr lang="fr-CA" dirty="0"/>
              <a:t>Peut prendre la valeur faux (0)</a:t>
            </a:r>
          </a:p>
          <a:p>
            <a:endParaRPr lang="fr-CA" dirty="0"/>
          </a:p>
          <a:p>
            <a:r>
              <a:rPr lang="fr-CA" dirty="0"/>
              <a:t>On peut définir plusieurs opérations sur les booléens</a:t>
            </a:r>
          </a:p>
          <a:p>
            <a:pPr lvl="1"/>
            <a:r>
              <a:rPr lang="fr-CA" dirty="0"/>
              <a:t>ET logique</a:t>
            </a:r>
          </a:p>
          <a:p>
            <a:pPr lvl="1"/>
            <a:r>
              <a:rPr lang="fr-CA" dirty="0"/>
              <a:t>OU logique</a:t>
            </a:r>
          </a:p>
          <a:p>
            <a:pPr lvl="1"/>
            <a:r>
              <a:rPr lang="fr-CA" dirty="0"/>
              <a:t>OU exclusif</a:t>
            </a:r>
          </a:p>
          <a:p>
            <a:pPr lvl="1"/>
            <a:r>
              <a:rPr lang="fr-CA" dirty="0"/>
              <a:t>L’implication</a:t>
            </a:r>
          </a:p>
          <a:p>
            <a:pPr lvl="1"/>
            <a:r>
              <a:rPr lang="fr-CA" dirty="0"/>
              <a:t>L’équivalence</a:t>
            </a:r>
          </a:p>
          <a:p>
            <a:pPr lvl="1"/>
            <a:r>
              <a:rPr lang="fr-CA" dirty="0"/>
              <a:t>Le complément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80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Les booléens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On définit les opérations par des tables de vérité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</a:t>
            </a:fld>
            <a:endParaRPr lang="fr-CA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12584510"/>
              </p:ext>
            </p:extLst>
          </p:nvPr>
        </p:nvGraphicFramePr>
        <p:xfrm>
          <a:off x="1043608" y="2636912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043608" y="2348880"/>
                <a:ext cx="1584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ET logique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(∧)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1043608" y="2348880"/>
                <a:ext cx="1584176" cy="338554"/>
              </a:xfrm>
              <a:prstGeom prst="rect">
                <a:avLst/>
              </a:prstGeom>
              <a:blipFill rotWithShape="1">
                <a:blip r:embed="rId18"/>
                <a:stretch>
                  <a:fillRect l="-1923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au 9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716891905"/>
              </p:ext>
            </p:extLst>
          </p:nvPr>
        </p:nvGraphicFramePr>
        <p:xfrm>
          <a:off x="3743909" y="2636912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707904" y="2348880"/>
                <a:ext cx="1584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OU logique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(∨)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3707904" y="2348880"/>
                <a:ext cx="1584176" cy="338554"/>
              </a:xfrm>
              <a:prstGeom prst="rect">
                <a:avLst/>
              </a:prstGeom>
              <a:blipFill rotWithShape="1">
                <a:blip r:embed="rId20"/>
                <a:stretch>
                  <a:fillRect l="-1923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au 11"/>
          <p:cNvGraphicFramePr>
            <a:graphicFrameLocks noGrp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02079101"/>
              </p:ext>
            </p:extLst>
          </p:nvPr>
        </p:nvGraphicFramePr>
        <p:xfrm>
          <a:off x="6444209" y="2636912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372200" y="2348880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OU exclusif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(⊕)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6372200" y="2348880"/>
                <a:ext cx="1728192" cy="338554"/>
              </a:xfrm>
              <a:prstGeom prst="rect">
                <a:avLst/>
              </a:prstGeom>
              <a:blipFill rotWithShape="1">
                <a:blip r:embed="rId22"/>
                <a:stretch>
                  <a:fillRect l="-1761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au 13"/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773049932"/>
              </p:ext>
            </p:extLst>
          </p:nvPr>
        </p:nvGraphicFramePr>
        <p:xfrm>
          <a:off x="1043608" y="4869160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043608" y="4581128"/>
                <a:ext cx="1584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Implication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(→)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043608" y="4581128"/>
                <a:ext cx="1584176" cy="338554"/>
              </a:xfrm>
              <a:prstGeom prst="rect">
                <a:avLst/>
              </a:prstGeom>
              <a:blipFill rotWithShape="1">
                <a:blip r:embed="rId24"/>
                <a:stretch>
                  <a:fillRect l="-1923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au 15"/>
          <p:cNvGraphicFramePr>
            <a:graphicFrameLocks noGrp="1"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437728143"/>
              </p:ext>
            </p:extLst>
          </p:nvPr>
        </p:nvGraphicFramePr>
        <p:xfrm>
          <a:off x="3743909" y="4869160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635896" y="4581128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Équivalence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</m:t>
                    </m:r>
                    <m:r>
                      <a:rPr lang="en-CA" sz="1600" b="0" i="1" smtClean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CA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635896" y="4581128"/>
                <a:ext cx="1728192" cy="338554"/>
              </a:xfrm>
              <a:prstGeom prst="rect">
                <a:avLst/>
              </a:prstGeom>
              <a:blipFill rotWithShape="1">
                <a:blip r:embed="rId26"/>
                <a:stretch>
                  <a:fillRect l="-1761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Tableau 17"/>
          <p:cNvGraphicFramePr>
            <a:graphicFrameLocks noGrp="1"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14581394"/>
              </p:ext>
            </p:extLst>
          </p:nvPr>
        </p:nvGraphicFramePr>
        <p:xfrm>
          <a:off x="6642230" y="4869160"/>
          <a:ext cx="118813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372200" y="4581128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Complément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(¬)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6372200" y="4581128"/>
                <a:ext cx="1728192" cy="338554"/>
              </a:xfrm>
              <a:prstGeom prst="rect">
                <a:avLst/>
              </a:prstGeom>
              <a:blipFill rotWithShape="1">
                <a:blip r:embed="rId28"/>
                <a:stretch>
                  <a:fillRect l="-1761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079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Les chaînes de bits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 fontScale="92500"/>
          </a:bodyPr>
          <a:lstStyle/>
          <a:p>
            <a:r>
              <a:rPr lang="fr-CA" dirty="0"/>
              <a:t>Les processeurs ne sont pas faits pour atteindre directement 1 seul bit</a:t>
            </a:r>
          </a:p>
          <a:p>
            <a:endParaRPr lang="fr-CA" dirty="0"/>
          </a:p>
          <a:p>
            <a:r>
              <a:rPr lang="fr-CA" dirty="0"/>
              <a:t>La mémoire comporte un ensemble d’octets</a:t>
            </a:r>
          </a:p>
          <a:p>
            <a:endParaRPr lang="fr-CA" dirty="0"/>
          </a:p>
          <a:p>
            <a:r>
              <a:rPr lang="fr-CA" dirty="0"/>
              <a:t>Soit on met un booléen par octet (perte d’espace), soit on utilise plusieurs instructions pour accéder à un bit</a:t>
            </a:r>
          </a:p>
          <a:p>
            <a:pPr lvl="1"/>
            <a:r>
              <a:rPr lang="en-CA" dirty="0" err="1"/>
              <a:t>Échange</a:t>
            </a:r>
            <a:r>
              <a:rPr lang="en-CA" dirty="0"/>
              <a:t> </a:t>
            </a:r>
            <a:r>
              <a:rPr lang="en-CA" dirty="0" err="1"/>
              <a:t>classique</a:t>
            </a:r>
            <a:r>
              <a:rPr lang="en-CA" dirty="0"/>
              <a:t> temps-</a:t>
            </a:r>
            <a:r>
              <a:rPr lang="en-CA" dirty="0" err="1"/>
              <a:t>espace</a:t>
            </a:r>
            <a:r>
              <a:rPr lang="en-CA" dirty="0"/>
              <a:t>...</a:t>
            </a:r>
            <a:endParaRPr lang="fr-CA" dirty="0"/>
          </a:p>
          <a:p>
            <a:endParaRPr lang="fr-CA" dirty="0"/>
          </a:p>
          <a:p>
            <a:r>
              <a:rPr lang="fr-CA" dirty="0"/>
              <a:t>Sur le ARM, on ne peut accéder à un seul bit à la fois</a:t>
            </a:r>
          </a:p>
          <a:p>
            <a:pPr lvl="1"/>
            <a:r>
              <a:rPr lang="fr-CA" dirty="0"/>
              <a:t>On fait les opérations sur une chaîne de bits</a:t>
            </a:r>
          </a:p>
          <a:p>
            <a:pPr lvl="1"/>
            <a:endParaRPr lang="fr-CA" dirty="0"/>
          </a:p>
          <a:p>
            <a:pPr lvl="1"/>
            <a:r>
              <a:rPr lang="fr-CA" b="1" i="1" dirty="0"/>
              <a:t>Finalement, toute valeur dans un ordinateur est une chaîne de bits!</a:t>
            </a:r>
          </a:p>
          <a:p>
            <a:pPr lvl="1"/>
            <a:endParaRPr lang="fr-CA" dirty="0"/>
          </a:p>
          <a:p>
            <a:pPr lvl="2"/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5545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Instructions de base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456184"/>
            <a:ext cx="8579296" cy="5141168"/>
          </a:xfrm>
        </p:spPr>
        <p:txBody>
          <a:bodyPr>
            <a:normAutofit/>
          </a:bodyPr>
          <a:lstStyle/>
          <a:p>
            <a:r>
              <a:rPr lang="fr-CA"/>
              <a:t>Le ET logique</a:t>
            </a:r>
          </a:p>
          <a:p>
            <a:endParaRPr lang="fr-CA" dirty="0"/>
          </a:p>
          <a:p>
            <a:endParaRPr lang="fr-CA" dirty="0"/>
          </a:p>
          <a:p>
            <a:r>
              <a:rPr lang="fr-CA" sz="2000"/>
              <a:t>Le OU logique</a:t>
            </a:r>
          </a:p>
          <a:p>
            <a:endParaRPr lang="fr-CA" sz="2000"/>
          </a:p>
          <a:p>
            <a:pPr lvl="1"/>
            <a:endParaRPr lang="fr-CA" sz="1600"/>
          </a:p>
          <a:p>
            <a:pPr lvl="1"/>
            <a:endParaRPr lang="fr-CA" sz="1600"/>
          </a:p>
          <a:p>
            <a:r>
              <a:rPr lang="fr-CA" sz="2000"/>
              <a:t>Le OU exclusif</a:t>
            </a:r>
          </a:p>
          <a:p>
            <a:pPr lvl="1"/>
            <a:endParaRPr lang="fr-CA" sz="1600"/>
          </a:p>
          <a:p>
            <a:pPr lvl="1"/>
            <a:endParaRPr lang="fr-CA" sz="1600"/>
          </a:p>
          <a:p>
            <a:pPr lvl="1"/>
            <a:endParaRPr lang="fr-CA" sz="1600"/>
          </a:p>
          <a:p>
            <a:pPr lvl="1"/>
            <a:endParaRPr lang="fr-CA" sz="1600"/>
          </a:p>
          <a:p>
            <a:pPr lvl="1"/>
            <a:r>
              <a:rPr lang="fr-CA" sz="1600"/>
              <a:t>Pour ces instructions,La </a:t>
            </a:r>
            <a:r>
              <a:rPr lang="fr-CA" sz="1600" dirty="0"/>
              <a:t>valeur de l’immédiat </a:t>
            </a:r>
            <a:r>
              <a:rPr lang="fr-CA" sz="1600"/>
              <a:t>est de 16 bits, mais potentiellement étendue </a:t>
            </a:r>
            <a:r>
              <a:rPr lang="fr-CA" sz="1600" dirty="0"/>
              <a:t>à 64 </a:t>
            </a:r>
            <a:r>
              <a:rPr lang="fr-CA" sz="1600"/>
              <a:t>bits par décalages, inversions binaires ou répétitions de séquences de bits par le compilateur.</a:t>
            </a:r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5</a:t>
            </a:fld>
            <a:endParaRPr lang="fr-CA"/>
          </a:p>
        </p:txBody>
      </p:sp>
      <p:sp>
        <p:nvSpPr>
          <p:cNvPr id="11" name="TextBox 10"/>
          <p:cNvSpPr txBox="1"/>
          <p:nvPr/>
        </p:nvSpPr>
        <p:spPr>
          <a:xfrm>
            <a:off x="1763688" y="2088939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and x</a:t>
            </a:r>
            <a:r>
              <a:rPr lang="en-CA" baseline="-25000">
                <a:latin typeface="Consolas" panose="020B0609020204030204" pitchFamily="49" charset="0"/>
              </a:rPr>
              <a:t>d</a:t>
            </a:r>
            <a:r>
              <a:rPr lang="en-CA">
                <a:latin typeface="Consolas" panose="020B0609020204030204" pitchFamily="49" charset="0"/>
              </a:rPr>
              <a:t>, x</a:t>
            </a:r>
            <a:r>
              <a:rPr lang="en-CA" baseline="-25000">
                <a:latin typeface="Consolas" panose="020B0609020204030204" pitchFamily="49" charset="0"/>
              </a:rPr>
              <a:t>s1</a:t>
            </a:r>
            <a:r>
              <a:rPr lang="en-CA">
                <a:latin typeface="Consolas" panose="020B0609020204030204" pitchFamily="49" charset="0"/>
              </a:rPr>
              <a:t>­, x</a:t>
            </a:r>
            <a:r>
              <a:rPr lang="en-CA" baseline="-25000">
                <a:latin typeface="Consolas" panose="020B0609020204030204" pitchFamily="49" charset="0"/>
              </a:rPr>
              <a:t>s2</a:t>
            </a:r>
            <a:endParaRPr lang="fr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and x</a:t>
            </a:r>
            <a:r>
              <a:rPr lang="en-CA" baseline="-25000">
                <a:latin typeface="Consolas" panose="020B0609020204030204" pitchFamily="49" charset="0"/>
              </a:rPr>
              <a:t>d</a:t>
            </a:r>
            <a:r>
              <a:rPr lang="en-CA">
                <a:latin typeface="Consolas" panose="020B0609020204030204" pitchFamily="49" charset="0"/>
              </a:rPr>
              <a:t>, x</a:t>
            </a:r>
            <a:r>
              <a:rPr lang="en-CA" baseline="-25000">
                <a:latin typeface="Consolas" panose="020B0609020204030204" pitchFamily="49" charset="0"/>
              </a:rPr>
              <a:t>s1</a:t>
            </a:r>
            <a:r>
              <a:rPr lang="en-CA">
                <a:latin typeface="Consolas" panose="020B0609020204030204" pitchFamily="49" charset="0"/>
              </a:rPr>
              <a:t>, #imm</a:t>
            </a:r>
            <a:r>
              <a:rPr lang="en-CA" baseline="-25000">
                <a:latin typeface="Consolas" panose="020B0609020204030204" pitchFamily="49" charset="0"/>
              </a:rPr>
              <a:t>64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63688" y="3212976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orr x</a:t>
            </a:r>
            <a:r>
              <a:rPr lang="en-CA" baseline="-25000">
                <a:latin typeface="Consolas" panose="020B0609020204030204" pitchFamily="49" charset="0"/>
              </a:rPr>
              <a:t>d</a:t>
            </a:r>
            <a:r>
              <a:rPr lang="en-CA">
                <a:latin typeface="Consolas" panose="020B0609020204030204" pitchFamily="49" charset="0"/>
              </a:rPr>
              <a:t>, x</a:t>
            </a:r>
            <a:r>
              <a:rPr lang="en-CA" baseline="-25000">
                <a:latin typeface="Consolas" panose="020B0609020204030204" pitchFamily="49" charset="0"/>
              </a:rPr>
              <a:t>s1</a:t>
            </a:r>
            <a:r>
              <a:rPr lang="en-CA">
                <a:latin typeface="Consolas" panose="020B0609020204030204" pitchFamily="49" charset="0"/>
              </a:rPr>
              <a:t>­, x</a:t>
            </a:r>
            <a:r>
              <a:rPr lang="en-CA" baseline="-25000">
                <a:latin typeface="Consolas" panose="020B0609020204030204" pitchFamily="49" charset="0"/>
              </a:rPr>
              <a:t>s2</a:t>
            </a:r>
            <a:endParaRPr lang="fr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orr x</a:t>
            </a:r>
            <a:r>
              <a:rPr lang="en-CA" baseline="-25000">
                <a:latin typeface="Consolas" panose="020B0609020204030204" pitchFamily="49" charset="0"/>
              </a:rPr>
              <a:t>d</a:t>
            </a:r>
            <a:r>
              <a:rPr lang="en-CA">
                <a:latin typeface="Consolas" panose="020B0609020204030204" pitchFamily="49" charset="0"/>
              </a:rPr>
              <a:t>, x</a:t>
            </a:r>
            <a:r>
              <a:rPr lang="en-CA" baseline="-25000">
                <a:latin typeface="Consolas" panose="020B0609020204030204" pitchFamily="49" charset="0"/>
              </a:rPr>
              <a:t>s1</a:t>
            </a:r>
            <a:r>
              <a:rPr lang="en-CA">
                <a:latin typeface="Consolas" panose="020B0609020204030204" pitchFamily="49" charset="0"/>
              </a:rPr>
              <a:t>, #imm</a:t>
            </a:r>
            <a:r>
              <a:rPr lang="en-CA" baseline="-25000">
                <a:latin typeface="Consolas" panose="020B0609020204030204" pitchFamily="49" charset="0"/>
              </a:rPr>
              <a:t>64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63688" y="4509120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eor x</a:t>
            </a:r>
            <a:r>
              <a:rPr lang="en-CA" baseline="-25000">
                <a:latin typeface="Consolas" panose="020B0609020204030204" pitchFamily="49" charset="0"/>
              </a:rPr>
              <a:t>d</a:t>
            </a:r>
            <a:r>
              <a:rPr lang="en-CA">
                <a:latin typeface="Consolas" panose="020B0609020204030204" pitchFamily="49" charset="0"/>
              </a:rPr>
              <a:t>, x</a:t>
            </a:r>
            <a:r>
              <a:rPr lang="en-CA" baseline="-25000">
                <a:latin typeface="Consolas" panose="020B0609020204030204" pitchFamily="49" charset="0"/>
              </a:rPr>
              <a:t>s1</a:t>
            </a:r>
            <a:r>
              <a:rPr lang="en-CA">
                <a:latin typeface="Consolas" panose="020B0609020204030204" pitchFamily="49" charset="0"/>
              </a:rPr>
              <a:t>­, x</a:t>
            </a:r>
            <a:r>
              <a:rPr lang="en-CA" baseline="-25000">
                <a:latin typeface="Consolas" panose="020B0609020204030204" pitchFamily="49" charset="0"/>
              </a:rPr>
              <a:t>s2</a:t>
            </a:r>
            <a:endParaRPr lang="fr-CA">
              <a:latin typeface="Consolas" panose="020B0609020204030204" pitchFamily="49" charset="0"/>
            </a:endParaRPr>
          </a:p>
          <a:p>
            <a:r>
              <a:rPr lang="en-CA">
                <a:latin typeface="Consolas" panose="020B0609020204030204" pitchFamily="49" charset="0"/>
              </a:rPr>
              <a:t>eor x</a:t>
            </a:r>
            <a:r>
              <a:rPr lang="en-CA" baseline="-25000">
                <a:latin typeface="Consolas" panose="020B0609020204030204" pitchFamily="49" charset="0"/>
              </a:rPr>
              <a:t>d</a:t>
            </a:r>
            <a:r>
              <a:rPr lang="en-CA">
                <a:latin typeface="Consolas" panose="020B0609020204030204" pitchFamily="49" charset="0"/>
              </a:rPr>
              <a:t>, x</a:t>
            </a:r>
            <a:r>
              <a:rPr lang="en-CA" baseline="-25000">
                <a:latin typeface="Consolas" panose="020B0609020204030204" pitchFamily="49" charset="0"/>
              </a:rPr>
              <a:t>s1</a:t>
            </a:r>
            <a:r>
              <a:rPr lang="en-CA">
                <a:latin typeface="Consolas" panose="020B0609020204030204" pitchFamily="49" charset="0"/>
              </a:rPr>
              <a:t>, #imm</a:t>
            </a:r>
            <a:r>
              <a:rPr lang="en-CA" baseline="-25000">
                <a:latin typeface="Consolas" panose="020B0609020204030204" pitchFamily="49" charset="0"/>
              </a:rPr>
              <a:t>64</a:t>
            </a:r>
            <a:endParaRPr lang="fr-CA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36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Application d'un AND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6</a:t>
            </a:fld>
            <a:endParaRPr lang="fr-CA"/>
          </a:p>
        </p:txBody>
      </p:sp>
      <p:grpSp>
        <p:nvGrpSpPr>
          <p:cNvPr id="49" name="Groupe 14"/>
          <p:cNvGrpSpPr/>
          <p:nvPr>
            <p:custDataLst>
              <p:tags r:id="rId4"/>
            </p:custDataLst>
          </p:nvPr>
        </p:nvGrpSpPr>
        <p:grpSpPr>
          <a:xfrm>
            <a:off x="3201287" y="2300536"/>
            <a:ext cx="2016224" cy="504056"/>
            <a:chOff x="3563888" y="1688468"/>
            <a:chExt cx="2016224" cy="504056"/>
          </a:xfrm>
        </p:grpSpPr>
        <p:sp>
          <p:nvSpPr>
            <p:cNvPr id="51" name="Rectangle 50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55" name="Groupe 15"/>
          <p:cNvGrpSpPr/>
          <p:nvPr>
            <p:custDataLst>
              <p:tags r:id="rId5"/>
            </p:custDataLst>
          </p:nvPr>
        </p:nvGrpSpPr>
        <p:grpSpPr>
          <a:xfrm>
            <a:off x="3203848" y="3825044"/>
            <a:ext cx="2016224" cy="504056"/>
            <a:chOff x="3563888" y="1688468"/>
            <a:chExt cx="2016224" cy="504056"/>
          </a:xfrm>
        </p:grpSpPr>
        <p:sp>
          <p:nvSpPr>
            <p:cNvPr id="56" name="Rectangle 55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60" name="Groupe 25"/>
          <p:cNvGrpSpPr/>
          <p:nvPr>
            <p:custDataLst>
              <p:tags r:id="rId6"/>
            </p:custDataLst>
          </p:nvPr>
        </p:nvGrpSpPr>
        <p:grpSpPr>
          <a:xfrm>
            <a:off x="3203848" y="4869160"/>
            <a:ext cx="2016224" cy="504056"/>
            <a:chOff x="3563888" y="1688468"/>
            <a:chExt cx="2016224" cy="504056"/>
          </a:xfrm>
        </p:grpSpPr>
        <p:sp>
          <p:nvSpPr>
            <p:cNvPr id="61" name="Rectangle 60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0</a:t>
              </a:r>
              <a:endParaRPr lang="fr-CA" dirty="0"/>
            </a:p>
          </p:txBody>
        </p:sp>
      </p:grpSp>
      <p:sp>
        <p:nvSpPr>
          <p:cNvPr id="65" name="ZoneTexte 39"/>
          <p:cNvSpPr txBox="1"/>
          <p:nvPr>
            <p:custDataLst>
              <p:tags r:id="rId7"/>
            </p:custDataLst>
          </p:nvPr>
        </p:nvSpPr>
        <p:spPr>
          <a:xfrm>
            <a:off x="3927909" y="3140968"/>
            <a:ext cx="56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endParaRPr lang="fr-CA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ZoneTexte 41"/>
          <p:cNvSpPr txBox="1"/>
          <p:nvPr>
            <p:custDataLst>
              <p:tags r:id="rId8"/>
            </p:custDataLst>
          </p:nvPr>
        </p:nvSpPr>
        <p:spPr>
          <a:xfrm>
            <a:off x="3927909" y="4437112"/>
            <a:ext cx="56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754224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Application d'un OR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7</a:t>
            </a:fld>
            <a:endParaRPr lang="fr-CA"/>
          </a:p>
        </p:txBody>
      </p:sp>
      <p:grpSp>
        <p:nvGrpSpPr>
          <p:cNvPr id="49" name="Groupe 14"/>
          <p:cNvGrpSpPr/>
          <p:nvPr>
            <p:custDataLst>
              <p:tags r:id="rId4"/>
            </p:custDataLst>
          </p:nvPr>
        </p:nvGrpSpPr>
        <p:grpSpPr>
          <a:xfrm>
            <a:off x="3201287" y="2300536"/>
            <a:ext cx="2016224" cy="504056"/>
            <a:chOff x="3563888" y="1688468"/>
            <a:chExt cx="2016224" cy="504056"/>
          </a:xfrm>
        </p:grpSpPr>
        <p:sp>
          <p:nvSpPr>
            <p:cNvPr id="51" name="Rectangle 50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55" name="Groupe 15"/>
          <p:cNvGrpSpPr/>
          <p:nvPr>
            <p:custDataLst>
              <p:tags r:id="rId5"/>
            </p:custDataLst>
          </p:nvPr>
        </p:nvGrpSpPr>
        <p:grpSpPr>
          <a:xfrm>
            <a:off x="3203848" y="3825044"/>
            <a:ext cx="2016224" cy="504056"/>
            <a:chOff x="3563888" y="1688468"/>
            <a:chExt cx="2016224" cy="504056"/>
          </a:xfrm>
        </p:grpSpPr>
        <p:sp>
          <p:nvSpPr>
            <p:cNvPr id="56" name="Rectangle 55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0</a:t>
              </a:r>
              <a:endParaRPr lang="fr-CA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60" name="Groupe 25"/>
          <p:cNvGrpSpPr/>
          <p:nvPr>
            <p:custDataLst>
              <p:tags r:id="rId6"/>
            </p:custDataLst>
          </p:nvPr>
        </p:nvGrpSpPr>
        <p:grpSpPr>
          <a:xfrm>
            <a:off x="3203848" y="4869160"/>
            <a:ext cx="2016224" cy="504056"/>
            <a:chOff x="3563888" y="1688468"/>
            <a:chExt cx="2016224" cy="504056"/>
          </a:xfrm>
        </p:grpSpPr>
        <p:sp>
          <p:nvSpPr>
            <p:cNvPr id="61" name="Rectangle 60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sp>
        <p:nvSpPr>
          <p:cNvPr id="65" name="ZoneTexte 39"/>
          <p:cNvSpPr txBox="1"/>
          <p:nvPr>
            <p:custDataLst>
              <p:tags r:id="rId7"/>
            </p:custDataLst>
          </p:nvPr>
        </p:nvSpPr>
        <p:spPr>
          <a:xfrm>
            <a:off x="3927909" y="3140968"/>
            <a:ext cx="56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endParaRPr lang="fr-CA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6" name="ZoneTexte 41"/>
          <p:cNvSpPr txBox="1"/>
          <p:nvPr>
            <p:custDataLst>
              <p:tags r:id="rId8"/>
            </p:custDataLst>
          </p:nvPr>
        </p:nvSpPr>
        <p:spPr>
          <a:xfrm>
            <a:off x="3927909" y="4437112"/>
            <a:ext cx="56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10959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Application d'un EOR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8</a:t>
            </a:fld>
            <a:endParaRPr lang="fr-CA"/>
          </a:p>
        </p:txBody>
      </p:sp>
      <p:grpSp>
        <p:nvGrpSpPr>
          <p:cNvPr id="15" name="Groupe 14"/>
          <p:cNvGrpSpPr/>
          <p:nvPr>
            <p:custDataLst>
              <p:tags r:id="rId3"/>
            </p:custDataLst>
          </p:nvPr>
        </p:nvGrpSpPr>
        <p:grpSpPr>
          <a:xfrm>
            <a:off x="3201287" y="2300536"/>
            <a:ext cx="2016224" cy="504056"/>
            <a:chOff x="3563888" y="1688468"/>
            <a:chExt cx="2016224" cy="504056"/>
          </a:xfrm>
        </p:grpSpPr>
        <p:sp>
          <p:nvSpPr>
            <p:cNvPr id="11" name="Rectangle 10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16" name="Groupe 15"/>
          <p:cNvGrpSpPr/>
          <p:nvPr>
            <p:custDataLst>
              <p:tags r:id="rId4"/>
            </p:custDataLst>
          </p:nvPr>
        </p:nvGrpSpPr>
        <p:grpSpPr>
          <a:xfrm>
            <a:off x="3203848" y="3825044"/>
            <a:ext cx="2016224" cy="504056"/>
            <a:chOff x="3563888" y="1688468"/>
            <a:chExt cx="2016224" cy="504056"/>
          </a:xfrm>
        </p:grpSpPr>
        <p:sp>
          <p:nvSpPr>
            <p:cNvPr id="17" name="Rectangle 16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26" name="Groupe 25"/>
          <p:cNvGrpSpPr/>
          <p:nvPr>
            <p:custDataLst>
              <p:tags r:id="rId5"/>
            </p:custDataLst>
          </p:nvPr>
        </p:nvGrpSpPr>
        <p:grpSpPr>
          <a:xfrm>
            <a:off x="3203848" y="4869160"/>
            <a:ext cx="2016224" cy="504056"/>
            <a:chOff x="3563888" y="1688468"/>
            <a:chExt cx="2016224" cy="504056"/>
          </a:xfrm>
        </p:grpSpPr>
        <p:sp>
          <p:nvSpPr>
            <p:cNvPr id="27" name="Rectangle 26"/>
            <p:cNvSpPr/>
            <p:nvPr/>
          </p:nvSpPr>
          <p:spPr>
            <a:xfrm>
              <a:off x="3563888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067944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572000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076056" y="168846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sp>
        <p:nvSpPr>
          <p:cNvPr id="40" name="ZoneTexte 39"/>
          <p:cNvSpPr txBox="1"/>
          <p:nvPr>
            <p:custDataLst>
              <p:tags r:id="rId6"/>
            </p:custDataLst>
          </p:nvPr>
        </p:nvSpPr>
        <p:spPr>
          <a:xfrm>
            <a:off x="3927909" y="3140968"/>
            <a:ext cx="56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endParaRPr lang="fr-CA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2" name="ZoneTexte 41"/>
          <p:cNvSpPr txBox="1"/>
          <p:nvPr>
            <p:custDataLst>
              <p:tags r:id="rId7"/>
            </p:custDataLst>
          </p:nvPr>
        </p:nvSpPr>
        <p:spPr>
          <a:xfrm>
            <a:off x="3927909" y="4437112"/>
            <a:ext cx="561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AE1FD-A805-8B30-959E-025F211867FD}"/>
              </a:ext>
            </a:extLst>
          </p:cNvPr>
          <p:cNvSpPr txBox="1"/>
          <p:nvPr/>
        </p:nvSpPr>
        <p:spPr>
          <a:xfrm>
            <a:off x="861027" y="1619508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Exclusive OR ou XOR</a:t>
            </a:r>
          </a:p>
        </p:txBody>
      </p:sp>
    </p:spTree>
    <p:extLst>
      <p:ext uri="{BB962C8B-B14F-4D97-AF65-F5344CB8AC3E}">
        <p14:creationId xmlns:p14="http://schemas.microsoft.com/office/powerpoint/2010/main" val="3902407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Les décalages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Permet de décaler les bits d’une chaîne de bits</a:t>
            </a:r>
          </a:p>
          <a:p>
            <a:endParaRPr lang="fr-CA" dirty="0"/>
          </a:p>
          <a:p>
            <a:r>
              <a:rPr lang="fr-CA" dirty="0"/>
              <a:t>Autant vers la gauche que vers la droite</a:t>
            </a:r>
          </a:p>
          <a:p>
            <a:endParaRPr lang="fr-CA" dirty="0"/>
          </a:p>
          <a:p>
            <a:r>
              <a:rPr lang="fr-CA" dirty="0"/>
              <a:t>Permet d’isoler, ou d’insérer un ou plusieurs bits</a:t>
            </a:r>
          </a:p>
          <a:p>
            <a:endParaRPr lang="fr-CA" dirty="0"/>
          </a:p>
          <a:p>
            <a:r>
              <a:rPr lang="fr-CA" dirty="0"/>
              <a:t>Un décalage peut être</a:t>
            </a:r>
          </a:p>
          <a:p>
            <a:pPr lvl="1"/>
            <a:r>
              <a:rPr lang="fr-CA" dirty="0"/>
              <a:t>Logique</a:t>
            </a:r>
          </a:p>
          <a:p>
            <a:pPr lvl="1"/>
            <a:r>
              <a:rPr lang="fr-CA" dirty="0"/>
              <a:t>Arithmétique</a:t>
            </a:r>
          </a:p>
          <a:p>
            <a:pPr lvl="1"/>
            <a:r>
              <a:rPr lang="fr-CA" dirty="0"/>
              <a:t>Circulaire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9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694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01AF9B-B8FF-2D37-94AF-F9D58A70C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décalages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588695-3958-A529-07BF-2A9811D59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B06ED-9759-123C-6E1A-9F81D891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5211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>
                <a:latin typeface="Arial Black" panose="020B0A04020102020204" pitchFamily="34" charset="0"/>
              </a:rPr>
              <a:t>Décalage logique à droite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Décalage logique à droite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fr-CA" b="1" dirty="0">
                <a:latin typeface="Consolas" panose="020B0609020204030204" pitchFamily="49" charset="0"/>
                <a:cs typeface="Consolas" panose="020B0609020204030204" pitchFamily="49" charset="0"/>
              </a:rPr>
              <a:t>  x21, x20, 3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La valeur du décalage est représentée par les 6 bits de poids faible</a:t>
            </a:r>
          </a:p>
          <a:p>
            <a:pPr lvl="3"/>
            <a:r>
              <a:rPr lang="fr-CA" dirty="0"/>
              <a:t>De l’immédiat</a:t>
            </a:r>
          </a:p>
          <a:p>
            <a:pPr lvl="3"/>
            <a:r>
              <a:rPr lang="fr-CA" dirty="0"/>
              <a:t>Du registre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11</a:t>
            </a:fld>
            <a:endParaRPr lang="fr-CA"/>
          </a:p>
        </p:txBody>
      </p:sp>
      <p:grpSp>
        <p:nvGrpSpPr>
          <p:cNvPr id="13" name="Groupe 12"/>
          <p:cNvGrpSpPr/>
          <p:nvPr>
            <p:custDataLst>
              <p:tags r:id="rId4"/>
            </p:custDataLst>
          </p:nvPr>
        </p:nvGrpSpPr>
        <p:grpSpPr>
          <a:xfrm>
            <a:off x="2553841" y="2348880"/>
            <a:ext cx="4034383" cy="504056"/>
            <a:chOff x="2553841" y="2780928"/>
            <a:chExt cx="4034383" cy="504056"/>
          </a:xfrm>
        </p:grpSpPr>
        <p:sp>
          <p:nvSpPr>
            <p:cNvPr id="5" name="Rectangle 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14" name="Groupe 13"/>
          <p:cNvGrpSpPr/>
          <p:nvPr>
            <p:custDataLst>
              <p:tags r:id="rId5"/>
            </p:custDataLst>
          </p:nvPr>
        </p:nvGrpSpPr>
        <p:grpSpPr>
          <a:xfrm>
            <a:off x="2553977" y="3717032"/>
            <a:ext cx="4034383" cy="504056"/>
            <a:chOff x="2553841" y="2780928"/>
            <a:chExt cx="4034383" cy="504056"/>
          </a:xfrm>
        </p:grpSpPr>
        <p:sp>
          <p:nvSpPr>
            <p:cNvPr id="15" name="Rectangle 1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cxnSp>
        <p:nvCxnSpPr>
          <p:cNvPr id="24" name="Connecteur droit avec flèche 23"/>
          <p:cNvCxnSpPr/>
          <p:nvPr>
            <p:custDataLst>
              <p:tags r:id="rId6"/>
            </p:custDataLst>
          </p:nvPr>
        </p:nvCxnSpPr>
        <p:spPr>
          <a:xfrm>
            <a:off x="2553977" y="4437112"/>
            <a:ext cx="1512584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>
            <p:custDataLst>
              <p:tags r:id="rId7"/>
            </p:custDataLst>
          </p:nvPr>
        </p:nvCxnSpPr>
        <p:spPr>
          <a:xfrm>
            <a:off x="2553841" y="2852936"/>
            <a:ext cx="1513132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>
            <p:custDataLst>
              <p:tags r:id="rId8"/>
            </p:custDataLst>
          </p:nvPr>
        </p:nvCxnSpPr>
        <p:spPr>
          <a:xfrm>
            <a:off x="5049965" y="2852936"/>
            <a:ext cx="1513132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569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Décalages logique à gauche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Décalage logique à gauche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fr-CA" b="1" dirty="0">
                <a:latin typeface="Consolas" panose="020B0609020204030204" pitchFamily="49" charset="0"/>
                <a:cs typeface="Consolas" panose="020B0609020204030204" pitchFamily="49" charset="0"/>
              </a:rPr>
              <a:t>   x21, x20, 3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La valeur du décalage est représentée par les 6 bits de poids faible</a:t>
            </a:r>
          </a:p>
          <a:p>
            <a:pPr lvl="3"/>
            <a:r>
              <a:rPr lang="fr-CA" dirty="0"/>
              <a:t>De l’immédiat</a:t>
            </a:r>
          </a:p>
          <a:p>
            <a:pPr lvl="3"/>
            <a:r>
              <a:rPr lang="fr-CA" dirty="0"/>
              <a:t>Du registre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12</a:t>
            </a:fld>
            <a:endParaRPr lang="fr-CA"/>
          </a:p>
        </p:txBody>
      </p:sp>
      <p:grpSp>
        <p:nvGrpSpPr>
          <p:cNvPr id="13" name="Groupe 12"/>
          <p:cNvGrpSpPr/>
          <p:nvPr>
            <p:custDataLst>
              <p:tags r:id="rId4"/>
            </p:custDataLst>
          </p:nvPr>
        </p:nvGrpSpPr>
        <p:grpSpPr>
          <a:xfrm>
            <a:off x="2553841" y="2348880"/>
            <a:ext cx="4034383" cy="504056"/>
            <a:chOff x="2553841" y="2780928"/>
            <a:chExt cx="4034383" cy="504056"/>
          </a:xfrm>
        </p:grpSpPr>
        <p:sp>
          <p:nvSpPr>
            <p:cNvPr id="5" name="Rectangle 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14" name="Groupe 13"/>
          <p:cNvGrpSpPr/>
          <p:nvPr>
            <p:custDataLst>
              <p:tags r:id="rId5"/>
            </p:custDataLst>
          </p:nvPr>
        </p:nvGrpSpPr>
        <p:grpSpPr>
          <a:xfrm>
            <a:off x="2553977" y="3717032"/>
            <a:ext cx="4034383" cy="504056"/>
            <a:chOff x="2553841" y="2780928"/>
            <a:chExt cx="4034383" cy="504056"/>
          </a:xfrm>
        </p:grpSpPr>
        <p:sp>
          <p:nvSpPr>
            <p:cNvPr id="15" name="Rectangle 1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cxnSp>
        <p:nvCxnSpPr>
          <p:cNvPr id="24" name="Connecteur droit avec flèche 23"/>
          <p:cNvCxnSpPr/>
          <p:nvPr>
            <p:custDataLst>
              <p:tags r:id="rId6"/>
            </p:custDataLst>
          </p:nvPr>
        </p:nvCxnSpPr>
        <p:spPr>
          <a:xfrm flipH="1">
            <a:off x="5097522" y="4437112"/>
            <a:ext cx="1512996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>
            <p:custDataLst>
              <p:tags r:id="rId7"/>
            </p:custDataLst>
          </p:nvPr>
        </p:nvCxnSpPr>
        <p:spPr>
          <a:xfrm flipH="1">
            <a:off x="2553977" y="2852936"/>
            <a:ext cx="1512996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>
            <p:custDataLst>
              <p:tags r:id="rId8"/>
            </p:custDataLst>
          </p:nvPr>
        </p:nvCxnSpPr>
        <p:spPr>
          <a:xfrm flipH="1">
            <a:off x="5075225" y="2867794"/>
            <a:ext cx="1512996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631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>
                <a:latin typeface="Arial Black" panose="020B0A04020102020204" pitchFamily="34" charset="0"/>
              </a:rPr>
              <a:t>Décalage arithmétique à droite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Décalage arithmétique à droite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fr-CA" b="1" dirty="0">
                <a:latin typeface="Consolas" panose="020B0609020204030204" pitchFamily="49" charset="0"/>
                <a:cs typeface="Consolas" panose="020B0609020204030204" pitchFamily="49" charset="0"/>
              </a:rPr>
              <a:t> x21, x20, 3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La valeur du décalage est représentée par les 6 bits de poids faible</a:t>
            </a:r>
          </a:p>
          <a:p>
            <a:pPr lvl="3"/>
            <a:r>
              <a:rPr lang="fr-CA" dirty="0"/>
              <a:t>De l’immédiat</a:t>
            </a:r>
          </a:p>
          <a:p>
            <a:pPr lvl="3"/>
            <a:r>
              <a:rPr lang="fr-CA" dirty="0"/>
              <a:t>Du registre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13</a:t>
            </a:fld>
            <a:endParaRPr lang="fr-CA"/>
          </a:p>
        </p:txBody>
      </p:sp>
      <p:grpSp>
        <p:nvGrpSpPr>
          <p:cNvPr id="13" name="Groupe 12"/>
          <p:cNvGrpSpPr/>
          <p:nvPr>
            <p:custDataLst>
              <p:tags r:id="rId4"/>
            </p:custDataLst>
          </p:nvPr>
        </p:nvGrpSpPr>
        <p:grpSpPr>
          <a:xfrm>
            <a:off x="2553841" y="2348880"/>
            <a:ext cx="4034383" cy="504056"/>
            <a:chOff x="2553841" y="2780928"/>
            <a:chExt cx="4034383" cy="504056"/>
          </a:xfrm>
        </p:grpSpPr>
        <p:sp>
          <p:nvSpPr>
            <p:cNvPr id="5" name="Rectangle 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14" name="Groupe 13"/>
          <p:cNvGrpSpPr/>
          <p:nvPr>
            <p:custDataLst>
              <p:tags r:id="rId5"/>
            </p:custDataLst>
          </p:nvPr>
        </p:nvGrpSpPr>
        <p:grpSpPr>
          <a:xfrm>
            <a:off x="2553977" y="3717032"/>
            <a:ext cx="4034383" cy="504056"/>
            <a:chOff x="2553841" y="2780928"/>
            <a:chExt cx="4034383" cy="504056"/>
          </a:xfrm>
        </p:grpSpPr>
        <p:sp>
          <p:nvSpPr>
            <p:cNvPr id="15" name="Rectangle 1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cxnSp>
        <p:nvCxnSpPr>
          <p:cNvPr id="24" name="Connecteur droit avec flèche 23"/>
          <p:cNvCxnSpPr/>
          <p:nvPr>
            <p:custDataLst>
              <p:tags r:id="rId6"/>
            </p:custDataLst>
          </p:nvPr>
        </p:nvCxnSpPr>
        <p:spPr>
          <a:xfrm>
            <a:off x="2553977" y="4437112"/>
            <a:ext cx="1512996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>
            <p:custDataLst>
              <p:tags r:id="rId7"/>
            </p:custDataLst>
          </p:nvPr>
        </p:nvCxnSpPr>
        <p:spPr>
          <a:xfrm>
            <a:off x="3034876" y="2852936"/>
            <a:ext cx="1498390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>
            <p:custDataLst>
              <p:tags r:id="rId8"/>
            </p:custDataLst>
          </p:nvPr>
        </p:nvCxnSpPr>
        <p:spPr>
          <a:xfrm>
            <a:off x="5075637" y="2867794"/>
            <a:ext cx="1512584" cy="849238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>
            <p:custDataLst>
              <p:tags r:id="rId9"/>
            </p:custDataLst>
          </p:nvPr>
        </p:nvSpPr>
        <p:spPr>
          <a:xfrm>
            <a:off x="398351" y="3081188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Le bit de signe est inséré</a:t>
            </a:r>
          </a:p>
        </p:txBody>
      </p:sp>
      <p:cxnSp>
        <p:nvCxnSpPr>
          <p:cNvPr id="33" name="Connecteur en angle 32"/>
          <p:cNvCxnSpPr>
            <a:endCxn id="16" idx="0"/>
          </p:cNvCxnSpPr>
          <p:nvPr>
            <p:custDataLst>
              <p:tags r:id="rId10"/>
            </p:custDataLst>
          </p:nvPr>
        </p:nvCxnSpPr>
        <p:spPr>
          <a:xfrm>
            <a:off x="2568171" y="3235076"/>
            <a:ext cx="742166" cy="481956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en angle 34"/>
          <p:cNvCxnSpPr>
            <a:stCxn id="31" idx="3"/>
            <a:endCxn id="17" idx="0"/>
          </p:cNvCxnSpPr>
          <p:nvPr>
            <p:custDataLst>
              <p:tags r:id="rId11"/>
            </p:custDataLst>
          </p:nvPr>
        </p:nvCxnSpPr>
        <p:spPr>
          <a:xfrm>
            <a:off x="2558591" y="3235077"/>
            <a:ext cx="1256078" cy="48195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en angle 36"/>
          <p:cNvCxnSpPr>
            <a:stCxn id="31" idx="3"/>
            <a:endCxn id="18" idx="0"/>
          </p:cNvCxnSpPr>
          <p:nvPr>
            <p:custDataLst>
              <p:tags r:id="rId12"/>
            </p:custDataLst>
          </p:nvPr>
        </p:nvCxnSpPr>
        <p:spPr>
          <a:xfrm>
            <a:off x="2558591" y="3235077"/>
            <a:ext cx="1760410" cy="48195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021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fr-CA" dirty="0">
                <a:latin typeface="Arial Black" panose="020B0A04020102020204" pitchFamily="34" charset="0"/>
              </a:rPr>
              <a:t>Décalage arithmétique à gauche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Décalage arithmétique à gauche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r>
              <a:rPr lang="fr-CA" dirty="0">
                <a:cs typeface="Consolas" panose="020B0609020204030204" pitchFamily="49" charset="0"/>
              </a:rPr>
              <a:t>Dès qu’un bit perdu diffère du bit de signe</a:t>
            </a:r>
          </a:p>
          <a:p>
            <a:pPr lvl="2"/>
            <a:r>
              <a:rPr lang="fr-CA" dirty="0">
                <a:cs typeface="Consolas" panose="020B0609020204030204" pitchFamily="49" charset="0"/>
              </a:rPr>
              <a:t>Le bit V (</a:t>
            </a:r>
            <a:r>
              <a:rPr lang="fr-CA" i="1" dirty="0" err="1">
                <a:cs typeface="Consolas" panose="020B0609020204030204" pitchFamily="49" charset="0"/>
              </a:rPr>
              <a:t>overflow</a:t>
            </a:r>
            <a:r>
              <a:rPr lang="fr-CA" dirty="0">
                <a:cs typeface="Consolas" panose="020B0609020204030204" pitchFamily="49" charset="0"/>
              </a:rPr>
              <a:t>) du registre </a:t>
            </a:r>
            <a:r>
              <a:rPr lang="fr-CA" b="1" dirty="0">
                <a:cs typeface="Consolas" panose="020B0609020204030204" pitchFamily="49" charset="0"/>
              </a:rPr>
              <a:t>CC</a:t>
            </a:r>
            <a:r>
              <a:rPr lang="fr-CA" dirty="0">
                <a:cs typeface="Consolas" panose="020B0609020204030204" pitchFamily="49" charset="0"/>
              </a:rPr>
              <a:t> est levé.</a:t>
            </a:r>
          </a:p>
          <a:p>
            <a:pPr lvl="1"/>
            <a:endParaRPr lang="fr-CA" dirty="0">
              <a:cs typeface="Consolas" panose="020B0609020204030204" pitchFamily="49" charset="0"/>
            </a:endParaRPr>
          </a:p>
          <a:p>
            <a:pPr lvl="1"/>
            <a:r>
              <a:rPr lang="fr-CA" b="1" dirty="0">
                <a:solidFill>
                  <a:srgbClr val="FF0000"/>
                </a:solidFill>
                <a:cs typeface="Consolas" panose="020B0609020204030204" pitchFamily="49" charset="0"/>
              </a:rPr>
              <a:t>N’existe pas sur le ARM</a:t>
            </a:r>
            <a:endParaRPr lang="fr-CA" b="1" dirty="0">
              <a:solidFill>
                <a:srgbClr val="FF0000"/>
              </a:solidFill>
            </a:endParaRP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14</a:t>
            </a:fld>
            <a:endParaRPr lang="fr-CA"/>
          </a:p>
        </p:txBody>
      </p:sp>
      <p:grpSp>
        <p:nvGrpSpPr>
          <p:cNvPr id="13" name="Groupe 12"/>
          <p:cNvGrpSpPr/>
          <p:nvPr>
            <p:custDataLst>
              <p:tags r:id="rId4"/>
            </p:custDataLst>
          </p:nvPr>
        </p:nvGrpSpPr>
        <p:grpSpPr>
          <a:xfrm>
            <a:off x="2553841" y="2348880"/>
            <a:ext cx="4034383" cy="504056"/>
            <a:chOff x="2553841" y="2780928"/>
            <a:chExt cx="4034383" cy="504056"/>
          </a:xfrm>
        </p:grpSpPr>
        <p:sp>
          <p:nvSpPr>
            <p:cNvPr id="5" name="Rectangle 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14" name="Groupe 13"/>
          <p:cNvGrpSpPr/>
          <p:nvPr>
            <p:custDataLst>
              <p:tags r:id="rId5"/>
            </p:custDataLst>
          </p:nvPr>
        </p:nvGrpSpPr>
        <p:grpSpPr>
          <a:xfrm>
            <a:off x="2553977" y="3717032"/>
            <a:ext cx="4034383" cy="504056"/>
            <a:chOff x="2553841" y="2780928"/>
            <a:chExt cx="4034383" cy="504056"/>
          </a:xfrm>
        </p:grpSpPr>
        <p:sp>
          <p:nvSpPr>
            <p:cNvPr id="15" name="Rectangle 1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cxnSp>
        <p:nvCxnSpPr>
          <p:cNvPr id="24" name="Connecteur droit avec flèche 23"/>
          <p:cNvCxnSpPr/>
          <p:nvPr>
            <p:custDataLst>
              <p:tags r:id="rId6"/>
            </p:custDataLst>
          </p:nvPr>
        </p:nvCxnSpPr>
        <p:spPr>
          <a:xfrm flipH="1">
            <a:off x="5099495" y="4437112"/>
            <a:ext cx="149839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>
            <p:custDataLst>
              <p:tags r:id="rId7"/>
            </p:custDataLst>
          </p:nvPr>
        </p:nvCxnSpPr>
        <p:spPr>
          <a:xfrm flipH="1">
            <a:off x="3058309" y="2852936"/>
            <a:ext cx="1512997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>
            <p:custDataLst>
              <p:tags r:id="rId8"/>
            </p:custDataLst>
          </p:nvPr>
        </p:nvCxnSpPr>
        <p:spPr>
          <a:xfrm flipH="1">
            <a:off x="5089970" y="2852936"/>
            <a:ext cx="1498391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>
            <p:custDataLst>
              <p:tags r:id="rId9"/>
            </p:custDataLst>
          </p:nvPr>
        </p:nvSpPr>
        <p:spPr>
          <a:xfrm>
            <a:off x="890215" y="3081188"/>
            <a:ext cx="1365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400" dirty="0"/>
              <a:t>Le bit de signe ne bouge pas</a:t>
            </a:r>
          </a:p>
        </p:txBody>
      </p:sp>
      <p:cxnSp>
        <p:nvCxnSpPr>
          <p:cNvPr id="33" name="Connecteur en angle 32"/>
          <p:cNvCxnSpPr>
            <a:stCxn id="31" idx="3"/>
            <a:endCxn id="15" idx="0"/>
          </p:cNvCxnSpPr>
          <p:nvPr>
            <p:custDataLst>
              <p:tags r:id="rId10"/>
            </p:custDataLst>
          </p:nvPr>
        </p:nvCxnSpPr>
        <p:spPr>
          <a:xfrm>
            <a:off x="2255552" y="3342798"/>
            <a:ext cx="550453" cy="374234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40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Décalages circulaire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 fontScale="92500" lnSpcReduction="10000"/>
          </a:bodyPr>
          <a:lstStyle/>
          <a:p>
            <a:r>
              <a:rPr lang="fr-CA" dirty="0"/>
              <a:t>Décalage circulaire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lvl="1"/>
            <a:endParaRPr lang="fr-CA" dirty="0">
              <a:cs typeface="Consolas" panose="020B0609020204030204" pitchFamily="49" charset="0"/>
            </a:endParaRPr>
          </a:p>
          <a:p>
            <a:pPr lvl="1"/>
            <a:r>
              <a:rPr lang="fr-CA" dirty="0">
                <a:cs typeface="Consolas" panose="020B0609020204030204" pitchFamily="49" charset="0"/>
              </a:rPr>
              <a:t>C’est un décalage nécessairement logique</a:t>
            </a:r>
          </a:p>
          <a:p>
            <a:pPr lvl="1"/>
            <a:endParaRPr lang="fr-CA" dirty="0">
              <a:cs typeface="Consolas" panose="020B0609020204030204" pitchFamily="49" charset="0"/>
            </a:endParaRPr>
          </a:p>
          <a:p>
            <a:pPr lvl="1"/>
            <a:r>
              <a:rPr lang="fr-CA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fr-CA" b="1" dirty="0">
                <a:latin typeface="Consolas" panose="020B0609020204030204" pitchFamily="49" charset="0"/>
                <a:cs typeface="Consolas" panose="020B0609020204030204" pitchFamily="49" charset="0"/>
              </a:rPr>
              <a:t> x21, x20, 3</a:t>
            </a:r>
          </a:p>
          <a:p>
            <a:pPr lvl="2"/>
            <a:endParaRPr lang="fr-CA" dirty="0"/>
          </a:p>
          <a:p>
            <a:pPr lvl="2"/>
            <a:r>
              <a:rPr lang="fr-CA" dirty="0"/>
              <a:t>La valeur du décalage est représentée par les 6 bits de poids faible</a:t>
            </a:r>
          </a:p>
          <a:p>
            <a:pPr lvl="3"/>
            <a:r>
              <a:rPr lang="fr-CA" dirty="0"/>
              <a:t>De l’immédiat</a:t>
            </a:r>
          </a:p>
          <a:p>
            <a:pPr lvl="3"/>
            <a:r>
              <a:rPr lang="fr-CA" dirty="0"/>
              <a:t>Du registre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15</a:t>
            </a:fld>
            <a:endParaRPr lang="fr-CA"/>
          </a:p>
        </p:txBody>
      </p:sp>
      <p:grpSp>
        <p:nvGrpSpPr>
          <p:cNvPr id="13" name="Groupe 12"/>
          <p:cNvGrpSpPr/>
          <p:nvPr>
            <p:custDataLst>
              <p:tags r:id="rId4"/>
            </p:custDataLst>
          </p:nvPr>
        </p:nvGrpSpPr>
        <p:grpSpPr>
          <a:xfrm>
            <a:off x="2553841" y="2348880"/>
            <a:ext cx="4034383" cy="504056"/>
            <a:chOff x="2553841" y="2780928"/>
            <a:chExt cx="4034383" cy="504056"/>
          </a:xfrm>
        </p:grpSpPr>
        <p:sp>
          <p:nvSpPr>
            <p:cNvPr id="5" name="Rectangle 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14" name="Groupe 13"/>
          <p:cNvGrpSpPr/>
          <p:nvPr>
            <p:custDataLst>
              <p:tags r:id="rId5"/>
            </p:custDataLst>
          </p:nvPr>
        </p:nvGrpSpPr>
        <p:grpSpPr>
          <a:xfrm>
            <a:off x="2553977" y="3717032"/>
            <a:ext cx="4034383" cy="504056"/>
            <a:chOff x="2553841" y="2780928"/>
            <a:chExt cx="4034383" cy="504056"/>
          </a:xfrm>
        </p:grpSpPr>
        <p:sp>
          <p:nvSpPr>
            <p:cNvPr id="15" name="Rectangle 1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cxnSp>
        <p:nvCxnSpPr>
          <p:cNvPr id="24" name="Connecteur droit avec flèche 23"/>
          <p:cNvCxnSpPr/>
          <p:nvPr>
            <p:custDataLst>
              <p:tags r:id="rId6"/>
            </p:custDataLst>
          </p:nvPr>
        </p:nvCxnSpPr>
        <p:spPr>
          <a:xfrm flipH="1">
            <a:off x="5099495" y="4437112"/>
            <a:ext cx="149839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>
            <p:custDataLst>
              <p:tags r:id="rId7"/>
            </p:custDataLst>
          </p:nvPr>
        </p:nvCxnSpPr>
        <p:spPr>
          <a:xfrm flipH="1">
            <a:off x="2553977" y="2852936"/>
            <a:ext cx="1512997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>
            <p:custDataLst>
              <p:tags r:id="rId8"/>
            </p:custDataLst>
          </p:nvPr>
        </p:nvCxnSpPr>
        <p:spPr>
          <a:xfrm flipH="1">
            <a:off x="5089970" y="2852936"/>
            <a:ext cx="1498391" cy="86409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en angle 25"/>
          <p:cNvCxnSpPr>
            <a:stCxn id="15" idx="1"/>
            <a:endCxn id="22" idx="3"/>
          </p:cNvCxnSpPr>
          <p:nvPr>
            <p:custDataLst>
              <p:tags r:id="rId9"/>
            </p:custDataLst>
          </p:nvPr>
        </p:nvCxnSpPr>
        <p:spPr>
          <a:xfrm rot="10800000" flipH="1">
            <a:off x="2553976" y="3969060"/>
            <a:ext cx="4034383" cy="12700"/>
          </a:xfrm>
          <a:prstGeom prst="bentConnector5">
            <a:avLst>
              <a:gd name="adj1" fmla="val -5666"/>
              <a:gd name="adj2" fmla="val 3784472"/>
              <a:gd name="adj3" fmla="val 105666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27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E1FDA0-051D-4261-401C-A152E1D8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MAsques</a:t>
            </a:r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62142F-FF6C-5943-9DD9-5A0E623E7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45904-47A7-9569-5156-F67086288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51549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Instructions avec masques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456184"/>
            <a:ext cx="8579296" cy="2223128"/>
          </a:xfrm>
        </p:spPr>
        <p:txBody>
          <a:bodyPr>
            <a:normAutofit/>
          </a:bodyPr>
          <a:lstStyle/>
          <a:p>
            <a:r>
              <a:rPr lang="fr-CA" sz="1600" dirty="0"/>
              <a:t>Plusieurs instructions peuvent être utilisées pour de </a:t>
            </a:r>
            <a:r>
              <a:rPr lang="fr-CA" sz="1600" b="1" dirty="0"/>
              <a:t>sélectionner certains bits </a:t>
            </a:r>
            <a:r>
              <a:rPr lang="fr-CA" sz="1600" dirty="0"/>
              <a:t>seulement sur lesquels l'opération choisie sera applicable.</a:t>
            </a:r>
          </a:p>
          <a:p>
            <a:r>
              <a:rPr lang="fr-CA" sz="1600" dirty="0"/>
              <a:t>La chaîne de bits qui spécifie quels bits nous intéressent se nomme un </a:t>
            </a:r>
            <a:r>
              <a:rPr lang="fr-CA" sz="1600" b="1" dirty="0"/>
              <a:t>masque</a:t>
            </a:r>
            <a:r>
              <a:rPr lang="fr-CA" sz="1600" dirty="0"/>
              <a:t>.</a:t>
            </a:r>
          </a:p>
          <a:p>
            <a:r>
              <a:rPr lang="fr-CA" sz="1600" dirty="0"/>
              <a:t>Par exemple, on peut voir l'instruction </a:t>
            </a:r>
            <a:r>
              <a:rPr lang="fr-CA" sz="1600" b="1" dirty="0">
                <a:latin typeface="Consolas" panose="020B0609020204030204" pitchFamily="49" charset="0"/>
              </a:rPr>
              <a:t>and </a:t>
            </a:r>
            <a:r>
              <a:rPr lang="fr-CA" sz="1600" dirty="0"/>
              <a:t>comme une façon d'isoler certains bits qu'on veut conserver intacts, tout en éliminant les autres (en les mettant à zéro).</a:t>
            </a:r>
          </a:p>
          <a:p>
            <a:r>
              <a:rPr lang="fr-CA" sz="1600" dirty="0"/>
              <a:t>Si on fait l'instruction suivante (sur 8 bits pour l'exemple):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17</a:t>
            </a:fld>
            <a:endParaRPr lang="fr-CA"/>
          </a:p>
        </p:txBody>
      </p:sp>
      <p:grpSp>
        <p:nvGrpSpPr>
          <p:cNvPr id="14" name="Groupe 12"/>
          <p:cNvGrpSpPr/>
          <p:nvPr>
            <p:custDataLst>
              <p:tags r:id="rId4"/>
            </p:custDataLst>
          </p:nvPr>
        </p:nvGrpSpPr>
        <p:grpSpPr>
          <a:xfrm>
            <a:off x="2553841" y="3933056"/>
            <a:ext cx="4034383" cy="504056"/>
            <a:chOff x="2553841" y="2780928"/>
            <a:chExt cx="4034383" cy="504056"/>
          </a:xfrm>
        </p:grpSpPr>
        <p:sp>
          <p:nvSpPr>
            <p:cNvPr id="15" name="Rectangle 14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23" name="Groupe 12"/>
          <p:cNvGrpSpPr/>
          <p:nvPr>
            <p:custDataLst>
              <p:tags r:id="rId5"/>
            </p:custDataLst>
          </p:nvPr>
        </p:nvGrpSpPr>
        <p:grpSpPr>
          <a:xfrm>
            <a:off x="2553701" y="4855840"/>
            <a:ext cx="4034383" cy="504056"/>
            <a:chOff x="2553841" y="2780928"/>
            <a:chExt cx="4034383" cy="504056"/>
          </a:xfrm>
        </p:grpSpPr>
        <p:sp>
          <p:nvSpPr>
            <p:cNvPr id="24" name="Rectangle 23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0</a:t>
              </a:r>
              <a:endParaRPr lang="fr-CA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0</a:t>
              </a:r>
              <a:endParaRPr lang="fr-CA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1</a:t>
              </a:r>
              <a:endParaRPr lang="fr-CA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grpSp>
        <p:nvGrpSpPr>
          <p:cNvPr id="32" name="Groupe 12"/>
          <p:cNvGrpSpPr/>
          <p:nvPr>
            <p:custDataLst>
              <p:tags r:id="rId6"/>
            </p:custDataLst>
          </p:nvPr>
        </p:nvGrpSpPr>
        <p:grpSpPr>
          <a:xfrm>
            <a:off x="2560991" y="5778624"/>
            <a:ext cx="4034383" cy="504056"/>
            <a:chOff x="2553841" y="2780928"/>
            <a:chExt cx="4034383" cy="504056"/>
          </a:xfrm>
        </p:grpSpPr>
        <p:sp>
          <p:nvSpPr>
            <p:cNvPr id="33" name="Rectangle 32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1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0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0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3275856" y="32849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and x21, x20, 0x0F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742791" y="4000418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x20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711868" y="4941168"/>
            <a:ext cx="771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0x0F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763688" y="5795972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x21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683895" y="4923202"/>
            <a:ext cx="105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Masque</a:t>
            </a:r>
            <a:endParaRPr lang="fr-CA" b="1"/>
          </a:p>
        </p:txBody>
      </p:sp>
      <p:sp>
        <p:nvSpPr>
          <p:cNvPr id="48" name="TextBox 47"/>
          <p:cNvSpPr txBox="1"/>
          <p:nvPr/>
        </p:nvSpPr>
        <p:spPr>
          <a:xfrm>
            <a:off x="1742791" y="4451050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AND</a:t>
            </a:r>
            <a:endParaRPr lang="fr-CA">
              <a:latin typeface="Consolas" panose="020B0609020204030204" pitchFamily="49" charset="0"/>
            </a:endParaRPr>
          </a:p>
        </p:txBody>
      </p:sp>
      <p:cxnSp>
        <p:nvCxnSpPr>
          <p:cNvPr id="49" name="Connecteur droit avec flèche 36"/>
          <p:cNvCxnSpPr/>
          <p:nvPr>
            <p:custDataLst>
              <p:tags r:id="rId7"/>
            </p:custDataLst>
          </p:nvPr>
        </p:nvCxnSpPr>
        <p:spPr>
          <a:xfrm>
            <a:off x="2049112" y="5373216"/>
            <a:ext cx="1" cy="36468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682008" y="3998404"/>
            <a:ext cx="105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Source</a:t>
            </a:r>
            <a:endParaRPr lang="fr-CA" b="1"/>
          </a:p>
        </p:txBody>
      </p:sp>
      <p:sp>
        <p:nvSpPr>
          <p:cNvPr id="56" name="TextBox 55"/>
          <p:cNvSpPr txBox="1"/>
          <p:nvPr/>
        </p:nvSpPr>
        <p:spPr>
          <a:xfrm>
            <a:off x="6683895" y="5795972"/>
            <a:ext cx="120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Résultat</a:t>
            </a:r>
            <a:endParaRPr lang="fr-CA" b="1"/>
          </a:p>
        </p:txBody>
      </p:sp>
    </p:spTree>
    <p:extLst>
      <p:ext uri="{BB962C8B-B14F-4D97-AF65-F5344CB8AC3E}">
        <p14:creationId xmlns:p14="http://schemas.microsoft.com/office/powerpoint/2010/main" val="3616442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Instructions avec masques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456184"/>
            <a:ext cx="8579296" cy="2223128"/>
          </a:xfrm>
        </p:spPr>
        <p:txBody>
          <a:bodyPr>
            <a:normAutofit/>
          </a:bodyPr>
          <a:lstStyle/>
          <a:p>
            <a:r>
              <a:rPr lang="fr-CA" sz="1600"/>
              <a:t>Certaines des instructions permettent d'appliquer un décalage logique à un masque qui se trouve dans un registre. </a:t>
            </a:r>
          </a:p>
          <a:p>
            <a:r>
              <a:rPr lang="fr-CA" sz="1600"/>
              <a:t>Certaines des instructions ne peuvent pas prendre un masque en immédiat, seulement dans un registre.</a:t>
            </a:r>
          </a:p>
          <a:p>
            <a:r>
              <a:rPr lang="fr-CA" sz="1600"/>
              <a:t>Dans la littérature informatique, les opérations binaires ont souvent une seconde nomenclature, plus significative, pour expliquer leur utilité lorsqu'on pense l'opération avec un masque. Par exemple, l'instruction </a:t>
            </a:r>
            <a:r>
              <a:rPr lang="fr-CA" sz="1600" b="1">
                <a:latin typeface="Consolas" panose="020B0609020204030204" pitchFamily="49" charset="0"/>
              </a:rPr>
              <a:t>and</a:t>
            </a:r>
            <a:r>
              <a:rPr lang="fr-CA" sz="1600"/>
              <a:t> est utilisée pour faire un </a:t>
            </a:r>
            <a:r>
              <a:rPr lang="fr-CA" sz="1600" b="1" i="1"/>
              <a:t>bit test </a:t>
            </a:r>
            <a:r>
              <a:rPr lang="fr-CA" sz="1600"/>
              <a:t>(vérifier si certains bits sont allumés).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18</a:t>
            </a:fld>
            <a:endParaRPr lang="fr-CA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264922"/>
              </p:ext>
            </p:extLst>
          </p:nvPr>
        </p:nvGraphicFramePr>
        <p:xfrm>
          <a:off x="899591" y="3789040"/>
          <a:ext cx="763284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283">
                  <a:extLst>
                    <a:ext uri="{9D8B030D-6E8A-4147-A177-3AD203B41FA5}">
                      <a16:colId xmlns:a16="http://schemas.microsoft.com/office/drawing/2014/main" val="69125342"/>
                    </a:ext>
                  </a:extLst>
                </a:gridCol>
                <a:gridCol w="2544283">
                  <a:extLst>
                    <a:ext uri="{9D8B030D-6E8A-4147-A177-3AD203B41FA5}">
                      <a16:colId xmlns:a16="http://schemas.microsoft.com/office/drawing/2014/main" val="1408847810"/>
                    </a:ext>
                  </a:extLst>
                </a:gridCol>
                <a:gridCol w="2544283">
                  <a:extLst>
                    <a:ext uri="{9D8B030D-6E8A-4147-A177-3AD203B41FA5}">
                      <a16:colId xmlns:a16="http://schemas.microsoft.com/office/drawing/2014/main" val="201866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Instruction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Alias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Formes</a:t>
                      </a:r>
                      <a:r>
                        <a:rPr lang="fr-CA" baseline="0">
                          <a:solidFill>
                            <a:sysClr val="windowText" lastClr="000000"/>
                          </a:solidFill>
                        </a:rPr>
                        <a:t> de masque</a:t>
                      </a:r>
                      <a:endParaRPr lang="fr-CA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74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Bit test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immédiat ou registre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566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Bit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immédiat ou registre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74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</a:rPr>
                        <a:t>eor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Bit toggle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immédiat ou registre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68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</a:rPr>
                        <a:t>bic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Bit clear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registre seulement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71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</a:rPr>
                        <a:t>orn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aucun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registre seulement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869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  <a:latin typeface="Consolas" panose="020B0609020204030204" pitchFamily="49" charset="0"/>
                        </a:rPr>
                        <a:t>eon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aucun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>
                          <a:solidFill>
                            <a:sysClr val="windowText" lastClr="000000"/>
                          </a:solidFill>
                        </a:rPr>
                        <a:t>registre seulement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446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8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Opérations avec masques</a:t>
            </a:r>
            <a:endParaRPr lang="fr-CA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457200" y="1600200"/>
                <a:ext cx="8579296" cy="50691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fr-CA" dirty="0"/>
                  <a:t>Le masque est </a:t>
                </a:r>
                <a:r>
                  <a:rPr lang="fr-CA"/>
                  <a:t>une chaîne de bits.</a:t>
                </a:r>
                <a:endParaRPr lang="fr-CA" dirty="0"/>
              </a:p>
              <a:p>
                <a:r>
                  <a:rPr lang="fr-CA" dirty="0"/>
                  <a:t>Un bit à </a:t>
                </a:r>
                <a:r>
                  <a:rPr lang="fr-CA"/>
                  <a:t>1 dans le masque sélectionne </a:t>
                </a:r>
                <a:r>
                  <a:rPr lang="fr-CA" dirty="0"/>
                  <a:t>le </a:t>
                </a:r>
                <a:r>
                  <a:rPr lang="fr-CA"/>
                  <a:t>bit correspondant dans la source pour lui appliquer une opération.</a:t>
                </a:r>
                <a:endParaRPr lang="fr-CA" dirty="0"/>
              </a:p>
              <a:p>
                <a:pPr marL="274320" lvl="1" indent="0">
                  <a:buNone/>
                </a:pPr>
                <a:endParaRPr lang="fr-CA" sz="1600" dirty="0"/>
              </a:p>
              <a:p>
                <a:pPr lvl="1"/>
                <a:r>
                  <a:rPr lang="fr-CA">
                    <a:latin typeface="Consolas" panose="020B0609020204030204" pitchFamily="49" charset="0"/>
                    <a:cs typeface="Consolas" panose="020B0609020204030204" pitchFamily="49" charset="0"/>
                  </a:rPr>
                  <a:t>bit test</a:t>
                </a:r>
                <a:r>
                  <a:rPr lang="fr-CA"/>
                  <a:t> </a:t>
                </a:r>
                <a:r>
                  <a:rPr lang="fr-CA" dirty="0"/>
                  <a:t>: </a:t>
                </a:r>
                <a:r>
                  <a:rPr lang="fr-CA" sz="1800" dirty="0"/>
                  <a:t>tester certains bits d’un registre</a:t>
                </a:r>
                <a:endParaRPr lang="fr-CA" dirty="0"/>
              </a:p>
              <a:p>
                <a:pPr marL="548640" lvl="2" indent="0">
                  <a:buNone/>
                </a:pPr>
                <a:r>
                  <a:rPr lang="fr-CA" dirty="0"/>
                  <a:t>	</a:t>
                </a:r>
                <a:r>
                  <a:rPr lang="fr-CA" dirty="0" err="1"/>
                  <a:t>xyxx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∧</m:t>
                    </m:r>
                  </m:oMath>
                </a14:m>
                <a:r>
                  <a:rPr lang="fr-CA" dirty="0"/>
                  <a:t> 0100 = 0y00 </a:t>
                </a:r>
                <a:r>
                  <a:rPr lang="fr-CA" dirty="0">
                    <a:sym typeface="Wingdings" panose="05000000000000000000" pitchFamily="2" charset="2"/>
                  </a:rPr>
                  <a:t> y = 0 ou 1</a:t>
                </a:r>
              </a:p>
              <a:p>
                <a:pPr lvl="1"/>
                <a:endParaRPr lang="fr-CA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fr-CA">
                    <a:latin typeface="Consolas" panose="020B0609020204030204" pitchFamily="49" charset="0"/>
                    <a:cs typeface="Consolas" panose="020B0609020204030204" pitchFamily="49" charset="0"/>
                  </a:rPr>
                  <a:t>bit set</a:t>
                </a:r>
                <a:r>
                  <a:rPr lang="fr-CA"/>
                  <a:t> </a:t>
                </a:r>
                <a:r>
                  <a:rPr lang="fr-CA" dirty="0"/>
                  <a:t>: </a:t>
                </a:r>
                <a:r>
                  <a:rPr lang="fr-CA" sz="1800" dirty="0"/>
                  <a:t>positionne à 1 certains bits</a:t>
                </a:r>
                <a:endParaRPr lang="fr-CA" dirty="0"/>
              </a:p>
              <a:p>
                <a:pPr marL="548640" lvl="2" indent="0">
                  <a:buNone/>
                </a:pPr>
                <a:r>
                  <a:rPr lang="fr-CA" dirty="0"/>
                  <a:t>	</a:t>
                </a:r>
                <a:r>
                  <a:rPr lang="fr-CA" dirty="0" err="1"/>
                  <a:t>xyxx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∨</m:t>
                    </m:r>
                  </m:oMath>
                </a14:m>
                <a:r>
                  <a:rPr lang="fr-CA" dirty="0"/>
                  <a:t> 0100 = x1xx</a:t>
                </a:r>
              </a:p>
              <a:p>
                <a:pPr lvl="1"/>
                <a:endParaRPr lang="fr-CA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fr-CA">
                    <a:latin typeface="Consolas" panose="020B0609020204030204" pitchFamily="49" charset="0"/>
                    <a:cs typeface="Consolas" panose="020B0609020204030204" pitchFamily="49" charset="0"/>
                  </a:rPr>
                  <a:t>bit clear</a:t>
                </a:r>
                <a:r>
                  <a:rPr lang="fr-CA"/>
                  <a:t> </a:t>
                </a:r>
                <a:r>
                  <a:rPr lang="fr-CA" dirty="0"/>
                  <a:t>: </a:t>
                </a:r>
                <a:r>
                  <a:rPr lang="fr-CA" sz="1800" dirty="0"/>
                  <a:t>remet à 0 certains bits d’un registre</a:t>
                </a:r>
                <a:endParaRPr lang="fr-CA" dirty="0"/>
              </a:p>
              <a:p>
                <a:pPr marL="548640" lvl="2" indent="0">
                  <a:buNone/>
                </a:pPr>
                <a:r>
                  <a:rPr lang="fr-CA" dirty="0"/>
                  <a:t>	</a:t>
                </a:r>
                <a:r>
                  <a:rPr lang="fr-CA" dirty="0" err="1"/>
                  <a:t>xyxx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∧¬</m:t>
                    </m:r>
                  </m:oMath>
                </a14:m>
                <a:r>
                  <a:rPr lang="fr-CA" dirty="0"/>
                  <a:t>0100 = x0xx</a:t>
                </a:r>
              </a:p>
              <a:p>
                <a:pPr lvl="1"/>
                <a:endParaRPr lang="fr-CA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fr-CA">
                    <a:latin typeface="Consolas" panose="020B0609020204030204" pitchFamily="49" charset="0"/>
                    <a:cs typeface="Consolas" panose="020B0609020204030204" pitchFamily="49" charset="0"/>
                  </a:rPr>
                  <a:t>bit toggle</a:t>
                </a:r>
                <a:r>
                  <a:rPr lang="fr-CA"/>
                  <a:t> </a:t>
                </a:r>
                <a:r>
                  <a:rPr lang="fr-CA" dirty="0"/>
                  <a:t>: </a:t>
                </a:r>
                <a:r>
                  <a:rPr lang="fr-CA" sz="1800" dirty="0"/>
                  <a:t>inverse certains bits d’un registre</a:t>
                </a:r>
                <a:endParaRPr lang="fr-CA" dirty="0"/>
              </a:p>
              <a:p>
                <a:pPr marL="548640" lvl="2" indent="0">
                  <a:buNone/>
                </a:pPr>
                <a:r>
                  <a:rPr lang="fr-CA" dirty="0"/>
                  <a:t>	</a:t>
                </a:r>
                <a:r>
                  <a:rPr lang="fr-CA" dirty="0" err="1"/>
                  <a:t>xyxx</a:t>
                </a:r>
                <a:r>
                  <a:rPr lang="fr-CA" dirty="0"/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⊕</m:t>
                    </m:r>
                  </m:oMath>
                </a14:m>
                <a:r>
                  <a:rPr lang="fr-CA" dirty="0"/>
                  <a:t> 0100 = x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/>
                      </a:rPr>
                      <m:t>¬</m:t>
                    </m:r>
                  </m:oMath>
                </a14:m>
                <a:r>
                  <a:rPr lang="fr-CA" dirty="0"/>
                  <a:t>yxx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5"/>
                </p:custDataLst>
              </p:nvPr>
            </p:nvSpPr>
            <p:spPr>
              <a:xfrm>
                <a:off x="457200" y="1600200"/>
                <a:ext cx="8579296" cy="5069160"/>
              </a:xfrm>
              <a:blipFill>
                <a:blip r:embed="rId6"/>
                <a:stretch>
                  <a:fillRect l="-640" t="-15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44893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>
                <a:latin typeface="Arial Black" panose="020B0A04020102020204" pitchFamily="34" charset="0"/>
              </a:rPr>
              <a:t>Exemple : Bit Clear (and – not)</a:t>
            </a:r>
            <a:endParaRPr lang="fr-CA" dirty="0">
              <a:latin typeface="Arial Black" panose="020B0A040201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20</a:t>
            </a:fld>
            <a:endParaRPr lang="fr-CA"/>
          </a:p>
        </p:txBody>
      </p:sp>
      <p:sp>
        <p:nvSpPr>
          <p:cNvPr id="13" name="TextBox 12"/>
          <p:cNvSpPr txBox="1"/>
          <p:nvPr/>
        </p:nvSpPr>
        <p:spPr>
          <a:xfrm>
            <a:off x="2795276" y="1614862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bic x22,x20,x21,lsl 3</a:t>
            </a:r>
            <a:endParaRPr lang="fr-CA">
              <a:latin typeface="Consolas" panose="020B0609020204030204" pitchFamily="49" charset="0"/>
            </a:endParaRPr>
          </a:p>
        </p:txBody>
      </p:sp>
      <p:grpSp>
        <p:nvGrpSpPr>
          <p:cNvPr id="30" name="Groupe 12"/>
          <p:cNvGrpSpPr/>
          <p:nvPr>
            <p:custDataLst>
              <p:tags r:id="rId3"/>
            </p:custDataLst>
          </p:nvPr>
        </p:nvGrpSpPr>
        <p:grpSpPr>
          <a:xfrm>
            <a:off x="2560991" y="5778624"/>
            <a:ext cx="4034383" cy="504056"/>
            <a:chOff x="2553841" y="2780928"/>
            <a:chExt cx="4034383" cy="504056"/>
          </a:xfrm>
        </p:grpSpPr>
        <p:sp>
          <p:nvSpPr>
            <p:cNvPr id="31" name="Rectangle 30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>
                  <a:solidFill>
                    <a:srgbClr val="92D050"/>
                  </a:solidFill>
                </a:rPr>
                <a:t>1</a:t>
              </a:r>
              <a:endParaRPr lang="fr-CA" dirty="0">
                <a:solidFill>
                  <a:srgbClr val="92D050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1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0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1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>
                  <a:solidFill>
                    <a:srgbClr val="92D050"/>
                  </a:solidFill>
                </a:rPr>
                <a:t>0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763688" y="2564904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>
                <a:latin typeface="Consolas" panose="020B0609020204030204" pitchFamily="49" charset="0"/>
              </a:rPr>
              <a:t>x21</a:t>
            </a:r>
            <a:endParaRPr lang="fr-CA" b="1">
              <a:latin typeface="Consolas" panose="020B0609020204030204" pitchFamily="49" charset="0"/>
            </a:endParaRPr>
          </a:p>
        </p:txBody>
      </p:sp>
      <p:cxnSp>
        <p:nvCxnSpPr>
          <p:cNvPr id="44" name="Connecteur droit avec flèche 36"/>
          <p:cNvCxnSpPr/>
          <p:nvPr>
            <p:custDataLst>
              <p:tags r:id="rId4"/>
            </p:custDataLst>
          </p:nvPr>
        </p:nvCxnSpPr>
        <p:spPr>
          <a:xfrm>
            <a:off x="2049112" y="5373216"/>
            <a:ext cx="1" cy="36468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683895" y="5795972"/>
            <a:ext cx="1200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Résultat</a:t>
            </a:r>
            <a:endParaRPr lang="fr-CA" b="1"/>
          </a:p>
        </p:txBody>
      </p:sp>
      <p:grpSp>
        <p:nvGrpSpPr>
          <p:cNvPr id="47" name="Groupe 12"/>
          <p:cNvGrpSpPr/>
          <p:nvPr>
            <p:custDataLst>
              <p:tags r:id="rId5"/>
            </p:custDataLst>
          </p:nvPr>
        </p:nvGrpSpPr>
        <p:grpSpPr>
          <a:xfrm>
            <a:off x="2553841" y="2492896"/>
            <a:ext cx="4034383" cy="504056"/>
            <a:chOff x="2553841" y="2780928"/>
            <a:chExt cx="4034383" cy="504056"/>
          </a:xfrm>
        </p:grpSpPr>
        <p:sp>
          <p:nvSpPr>
            <p:cNvPr id="48" name="Rectangle 47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0</a:t>
              </a:r>
              <a:endParaRPr lang="fr-CA" dirty="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56" name="Groupe 13"/>
          <p:cNvGrpSpPr/>
          <p:nvPr>
            <p:custDataLst>
              <p:tags r:id="rId6"/>
            </p:custDataLst>
          </p:nvPr>
        </p:nvGrpSpPr>
        <p:grpSpPr>
          <a:xfrm>
            <a:off x="2553977" y="3284984"/>
            <a:ext cx="4034383" cy="504056"/>
            <a:chOff x="2553841" y="2780928"/>
            <a:chExt cx="4034383" cy="504056"/>
          </a:xfrm>
        </p:grpSpPr>
        <p:sp>
          <p:nvSpPr>
            <p:cNvPr id="57" name="Rectangle 56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cxnSp>
        <p:nvCxnSpPr>
          <p:cNvPr id="65" name="Connecteur droit avec flèche 23"/>
          <p:cNvCxnSpPr/>
          <p:nvPr>
            <p:custDataLst>
              <p:tags r:id="rId7"/>
            </p:custDataLst>
          </p:nvPr>
        </p:nvCxnSpPr>
        <p:spPr>
          <a:xfrm flipH="1">
            <a:off x="5097522" y="3861048"/>
            <a:ext cx="1512996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24"/>
          <p:cNvCxnSpPr/>
          <p:nvPr>
            <p:custDataLst>
              <p:tags r:id="rId8"/>
            </p:custDataLst>
          </p:nvPr>
        </p:nvCxnSpPr>
        <p:spPr>
          <a:xfrm flipH="1">
            <a:off x="2560991" y="2996952"/>
            <a:ext cx="1505984" cy="288032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necteur droit 27"/>
          <p:cNvCxnSpPr/>
          <p:nvPr>
            <p:custDataLst>
              <p:tags r:id="rId9"/>
            </p:custDataLst>
          </p:nvPr>
        </p:nvCxnSpPr>
        <p:spPr>
          <a:xfrm flipH="1">
            <a:off x="5097522" y="3011810"/>
            <a:ext cx="1490701" cy="27317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8" name="Groupe 12"/>
          <p:cNvGrpSpPr/>
          <p:nvPr>
            <p:custDataLst>
              <p:tags r:id="rId10"/>
            </p:custDataLst>
          </p:nvPr>
        </p:nvGrpSpPr>
        <p:grpSpPr>
          <a:xfrm>
            <a:off x="2553841" y="4797152"/>
            <a:ext cx="4034383" cy="504056"/>
            <a:chOff x="2553841" y="2780928"/>
            <a:chExt cx="4034383" cy="504056"/>
          </a:xfrm>
        </p:grpSpPr>
        <p:sp>
          <p:nvSpPr>
            <p:cNvPr id="69" name="Rectangle 68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</p:grpSp>
      <p:grpSp>
        <p:nvGrpSpPr>
          <p:cNvPr id="77" name="Groupe 12"/>
          <p:cNvGrpSpPr/>
          <p:nvPr>
            <p:custDataLst>
              <p:tags r:id="rId11"/>
            </p:custDataLst>
          </p:nvPr>
        </p:nvGrpSpPr>
        <p:grpSpPr>
          <a:xfrm>
            <a:off x="2553701" y="4005064"/>
            <a:ext cx="4034383" cy="504056"/>
            <a:chOff x="2553841" y="2780928"/>
            <a:chExt cx="4034383" cy="504056"/>
          </a:xfrm>
        </p:grpSpPr>
        <p:sp>
          <p:nvSpPr>
            <p:cNvPr id="78" name="Rectangle 77"/>
            <p:cNvSpPr/>
            <p:nvPr/>
          </p:nvSpPr>
          <p:spPr>
            <a:xfrm>
              <a:off x="255384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0</a:t>
              </a:r>
              <a:endParaRPr lang="fr-CA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05817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0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562505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1</a:t>
              </a:r>
              <a:endParaRPr lang="fr-CA" dirty="0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066837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1</a:t>
              </a:r>
              <a:endParaRPr lang="fr-CA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571169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5075501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/>
                <a:t>1</a:t>
              </a:r>
              <a:endParaRPr lang="fr-CA" dirty="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5579833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084168" y="2780928"/>
              <a:ext cx="504056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dirty="0"/>
                <a:t>1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1691680" y="4931876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>
                <a:latin typeface="Consolas" panose="020B0609020204030204" pitchFamily="49" charset="0"/>
              </a:rPr>
              <a:t>x20</a:t>
            </a:r>
            <a:endParaRPr lang="fr-CA" b="1">
              <a:latin typeface="Consolas" panose="020B0609020204030204" pitchFamily="49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83895" y="2564904"/>
            <a:ext cx="105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Masque</a:t>
            </a:r>
            <a:endParaRPr lang="fr-CA" b="1"/>
          </a:p>
        </p:txBody>
      </p:sp>
      <p:sp>
        <p:nvSpPr>
          <p:cNvPr id="89" name="TextBox 88"/>
          <p:cNvSpPr txBox="1"/>
          <p:nvPr/>
        </p:nvSpPr>
        <p:spPr>
          <a:xfrm>
            <a:off x="1696895" y="3717032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not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682008" y="4869160"/>
            <a:ext cx="105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Source</a:t>
            </a:r>
            <a:endParaRPr lang="fr-CA" b="1"/>
          </a:p>
        </p:txBody>
      </p:sp>
      <p:sp>
        <p:nvSpPr>
          <p:cNvPr id="91" name="TextBox 90"/>
          <p:cNvSpPr txBox="1"/>
          <p:nvPr/>
        </p:nvSpPr>
        <p:spPr>
          <a:xfrm>
            <a:off x="1667310" y="2996952"/>
            <a:ext cx="81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lsl 3</a:t>
            </a:r>
            <a:endParaRPr lang="fr-CA">
              <a:latin typeface="Consolas" panose="020B0609020204030204" pitchFamily="49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660232" y="3347700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Masque décalé</a:t>
            </a:r>
            <a:endParaRPr lang="fr-CA" b="1"/>
          </a:p>
        </p:txBody>
      </p:sp>
      <p:sp>
        <p:nvSpPr>
          <p:cNvPr id="93" name="TextBox 92"/>
          <p:cNvSpPr txBox="1"/>
          <p:nvPr/>
        </p:nvSpPr>
        <p:spPr>
          <a:xfrm>
            <a:off x="6660232" y="3934797"/>
            <a:ext cx="2026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/>
              <a:t>Masque décalé et inversé</a:t>
            </a:r>
            <a:endParaRPr lang="fr-CA" b="1"/>
          </a:p>
        </p:txBody>
      </p:sp>
      <p:sp>
        <p:nvSpPr>
          <p:cNvPr id="94" name="TextBox 93"/>
          <p:cNvSpPr txBox="1"/>
          <p:nvPr/>
        </p:nvSpPr>
        <p:spPr>
          <a:xfrm>
            <a:off x="1691680" y="4499828"/>
            <a:ext cx="5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and</a:t>
            </a:r>
            <a:endParaRPr lang="fr-CA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113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Autres instructions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Il existe d’autres instructions pour manipuler les chaînes de bits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21</a:t>
            </a:fld>
            <a:endParaRPr lang="fr-CA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0002117"/>
              </p:ext>
            </p:extLst>
          </p:nvPr>
        </p:nvGraphicFramePr>
        <p:xfrm>
          <a:off x="539552" y="2492896"/>
          <a:ext cx="8424936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9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bfm, ubfm, sbfm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Copie les bits choisis d'un registre à un autre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extr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Extrait une chaîne de bits de 2 registres juxtaposés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sxt{b,h,w}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Étend le signe pour une valeur sur 8,</a:t>
                      </a:r>
                      <a:r>
                        <a:rPr lang="fr-CA" sz="1600" b="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16 ou 32 bits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uxt{b,h,w}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Étend 0 pour</a:t>
                      </a:r>
                      <a:r>
                        <a:rPr lang="fr-CA" sz="1600" b="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une valeur sur 8,</a:t>
                      </a:r>
                      <a:r>
                        <a:rPr lang="fr-CA" sz="1600" b="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16 ou 32 bits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mvn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Inversion binaire avec décalage</a:t>
                      </a:r>
                      <a:r>
                        <a:rPr lang="fr-CA" sz="1600" b="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optionnel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cls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Compte les bits de signe consécutifs à partir du bit 63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62434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clz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Compte les bits à zéro</a:t>
                      </a:r>
                      <a:r>
                        <a:rPr lang="fr-CA" sz="1600" b="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consécutifs à partir du bit 63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58713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rbit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Réécrit</a:t>
                      </a:r>
                      <a:r>
                        <a:rPr lang="fr-CA" sz="1600" b="0" baseline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les bits en ordre inverse dans le registre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025512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rev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Réécrit les octets en ordre inverse dans le registre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907776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rev16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Réécrit les octets en ordre inverse dans chaque demi-mot du registre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784949"/>
                  </a:ext>
                </a:extLst>
              </a:tr>
              <a:tr h="331200"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rev32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sz="1600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Réécrit les octets en ordre inverse dans chaque mot du registre</a:t>
                      </a:r>
                      <a:endParaRPr lang="fr-CA" sz="16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713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9372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C4EB85-9C05-115E-D91E-604A8824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Circuits logiques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1BAF43-0D14-CDFB-B6AB-4257248C5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60C57-7FB1-6A24-6F6E-9664134E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3282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Circuits logiques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Un ordinateur fonctionne à l’électricité</a:t>
            </a:r>
          </a:p>
          <a:p>
            <a:pPr lvl="1"/>
            <a:r>
              <a:rPr lang="fr-CA" dirty="0"/>
              <a:t>1 </a:t>
            </a:r>
            <a:r>
              <a:rPr lang="fr-CA" dirty="0">
                <a:sym typeface="Wingdings" panose="05000000000000000000" pitchFamily="2" charset="2"/>
              </a:rPr>
              <a:t> Il y a du courant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0  Il n’y a pas de courant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Il est possible d’utiliser les opérations booléennes pour former des circuits logiques</a:t>
            </a:r>
          </a:p>
          <a:p>
            <a:endParaRPr lang="fr-CA" dirty="0">
              <a:sym typeface="Wingdings" panose="05000000000000000000" pitchFamily="2" charset="2"/>
            </a:endParaRPr>
          </a:p>
          <a:p>
            <a:r>
              <a:rPr lang="fr-CA" dirty="0">
                <a:sym typeface="Wingdings" panose="05000000000000000000" pitchFamily="2" charset="2"/>
              </a:rPr>
              <a:t>Au chapitre 5, on a vu que la multiplication pouvait être effectuée grâce à des décalages</a:t>
            </a:r>
          </a:p>
          <a:p>
            <a:pPr lvl="1"/>
            <a:r>
              <a:rPr lang="fr-CA" dirty="0">
                <a:sym typeface="Wingdings" panose="05000000000000000000" pitchFamily="2" charset="2"/>
              </a:rPr>
              <a:t>On peut utiliser les opérations booléennes pour faire des additions</a:t>
            </a:r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2651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Additionneur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59546536"/>
              </p:ext>
            </p:extLst>
          </p:nvPr>
        </p:nvGraphicFramePr>
        <p:xfrm>
          <a:off x="467544" y="2723748"/>
          <a:ext cx="147920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24</a:t>
            </a:fld>
            <a:endParaRPr lang="fr-CA"/>
          </a:p>
        </p:txBody>
      </p:sp>
      <p:graphicFrame>
        <p:nvGraphicFramePr>
          <p:cNvPr id="6" name="Espace réservé du contenu 4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722562115"/>
              </p:ext>
            </p:extLst>
          </p:nvPr>
        </p:nvGraphicFramePr>
        <p:xfrm>
          <a:off x="3779911" y="2276872"/>
          <a:ext cx="147920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0110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" name="Connecteur droit avec flèche 7"/>
          <p:cNvCxnSpPr/>
          <p:nvPr>
            <p:custDataLst>
              <p:tags r:id="rId5"/>
            </p:custDataLst>
          </p:nvPr>
        </p:nvCxnSpPr>
        <p:spPr>
          <a:xfrm>
            <a:off x="5292079" y="2708920"/>
            <a:ext cx="72008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au 8"/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692999933"/>
              </p:ext>
            </p:extLst>
          </p:nvPr>
        </p:nvGraphicFramePr>
        <p:xfrm>
          <a:off x="6228185" y="1988840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156176" y="1700808"/>
                <a:ext cx="1728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OU exclusif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(⊕)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6156176" y="1700808"/>
                <a:ext cx="1728192" cy="338554"/>
              </a:xfrm>
              <a:prstGeom prst="rect">
                <a:avLst/>
              </a:prstGeom>
              <a:blipFill rotWithShape="1">
                <a:blip r:embed="rId14"/>
                <a:stretch>
                  <a:fillRect l="-2120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Espace réservé du contenu 4"/>
          <p:cNvGraphicFramePr>
            <a:graphicFrameLocks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823574260"/>
              </p:ext>
            </p:extLst>
          </p:nvPr>
        </p:nvGraphicFramePr>
        <p:xfrm>
          <a:off x="3779912" y="4725144"/>
          <a:ext cx="147920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0001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2" name="Connecteur droit avec flèche 11"/>
          <p:cNvCxnSpPr/>
          <p:nvPr>
            <p:custDataLst>
              <p:tags r:id="rId9"/>
            </p:custDataLst>
          </p:nvPr>
        </p:nvCxnSpPr>
        <p:spPr>
          <a:xfrm>
            <a:off x="5292080" y="5412824"/>
            <a:ext cx="72008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Tableau 12"/>
          <p:cNvGraphicFramePr>
            <a:graphicFrameLocks noGrp="1"/>
          </p:cNvGraphicFramePr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438481624"/>
              </p:ext>
            </p:extLst>
          </p:nvPr>
        </p:nvGraphicFramePr>
        <p:xfrm>
          <a:off x="6228185" y="4671144"/>
          <a:ext cx="15841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228184" y="4383112"/>
                <a:ext cx="1584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sz="1600" dirty="0"/>
                  <a:t>ET logique </a:t>
                </a:r>
                <a14:m>
                  <m:oMath xmlns:m="http://schemas.openxmlformats.org/officeDocument/2006/math">
                    <m:r>
                      <a:rPr lang="en-CA" sz="1600" b="0" i="1" smtClean="0">
                        <a:latin typeface="Cambria Math"/>
                      </a:rPr>
                      <m:t>(∧)</m:t>
                    </m:r>
                  </m:oMath>
                </a14:m>
                <a:endParaRPr lang="fr-CA" sz="1600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6228184" y="4383112"/>
                <a:ext cx="1584176" cy="338554"/>
              </a:xfrm>
              <a:prstGeom prst="rect">
                <a:avLst/>
              </a:prstGeom>
              <a:blipFill rotWithShape="1">
                <a:blip r:embed="rId16"/>
                <a:stretch>
                  <a:fillRect l="-2308" t="-5357" b="-214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930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Additionneur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Pour une addition 1 bit, on a besoin</a:t>
            </a:r>
          </a:p>
          <a:p>
            <a:pPr lvl="1"/>
            <a:r>
              <a:rPr lang="fr-CA" dirty="0"/>
              <a:t>D’un XOR pour la somme</a:t>
            </a:r>
          </a:p>
          <a:p>
            <a:pPr lvl="1"/>
            <a:r>
              <a:rPr lang="fr-CA" dirty="0"/>
              <a:t>D’un AND pour la retenue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Ça ne donne qu’un demi-additionneur!</a:t>
            </a:r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25</a:t>
            </a:fld>
            <a:endParaRPr lang="fr-CA"/>
          </a:p>
        </p:txBody>
      </p:sp>
      <p:grpSp>
        <p:nvGrpSpPr>
          <p:cNvPr id="34" name="Groupe 33"/>
          <p:cNvGrpSpPr/>
          <p:nvPr>
            <p:custDataLst>
              <p:tags r:id="rId4"/>
            </p:custDataLst>
          </p:nvPr>
        </p:nvGrpSpPr>
        <p:grpSpPr>
          <a:xfrm>
            <a:off x="1619672" y="3039223"/>
            <a:ext cx="5496172" cy="2241773"/>
            <a:chOff x="1250529" y="3256409"/>
            <a:chExt cx="5496172" cy="2241773"/>
          </a:xfrm>
        </p:grpSpPr>
        <p:sp>
          <p:nvSpPr>
            <p:cNvPr id="6" name="Organigramme : Délai 5"/>
            <p:cNvSpPr/>
            <p:nvPr/>
          </p:nvSpPr>
          <p:spPr>
            <a:xfrm>
              <a:off x="3707904" y="4634086"/>
              <a:ext cx="936104" cy="864096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1250529" y="3388350"/>
              <a:ext cx="369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A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1250529" y="3717032"/>
              <a:ext cx="369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B</a:t>
              </a:r>
            </a:p>
          </p:txBody>
        </p:sp>
        <p:cxnSp>
          <p:nvCxnSpPr>
            <p:cNvPr id="13" name="Connecteur droit 12"/>
            <p:cNvCxnSpPr>
              <a:stCxn id="10" idx="3"/>
            </p:cNvCxnSpPr>
            <p:nvPr/>
          </p:nvCxnSpPr>
          <p:spPr>
            <a:xfrm>
              <a:off x="1619672" y="3573016"/>
              <a:ext cx="2448272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>
              <a:stCxn id="11" idx="3"/>
            </p:cNvCxnSpPr>
            <p:nvPr/>
          </p:nvCxnSpPr>
          <p:spPr>
            <a:xfrm flipV="1">
              <a:off x="1619672" y="3893314"/>
              <a:ext cx="2448272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" name="Groupe 8"/>
            <p:cNvGrpSpPr/>
            <p:nvPr/>
          </p:nvGrpSpPr>
          <p:grpSpPr>
            <a:xfrm>
              <a:off x="3347864" y="3256409"/>
              <a:ext cx="1224136" cy="936104"/>
              <a:chOff x="3347864" y="3212976"/>
              <a:chExt cx="1224136" cy="936104"/>
            </a:xfrm>
          </p:grpSpPr>
          <p:sp>
            <p:nvSpPr>
              <p:cNvPr id="7" name="Lune 6"/>
              <p:cNvSpPr/>
              <p:nvPr/>
            </p:nvSpPr>
            <p:spPr>
              <a:xfrm flipH="1">
                <a:off x="3779912" y="3212976"/>
                <a:ext cx="792088" cy="936104"/>
              </a:xfrm>
              <a:prstGeom prst="moon">
                <a:avLst>
                  <a:gd name="adj" fmla="val 75252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8" name="Arc 7"/>
              <p:cNvSpPr/>
              <p:nvPr/>
            </p:nvSpPr>
            <p:spPr>
              <a:xfrm>
                <a:off x="3347864" y="3245380"/>
                <a:ext cx="504056" cy="871297"/>
              </a:xfrm>
              <a:prstGeom prst="arc">
                <a:avLst>
                  <a:gd name="adj1" fmla="val 16840604"/>
                  <a:gd name="adj2" fmla="val 466563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cxnSp>
          <p:nvCxnSpPr>
            <p:cNvPr id="21" name="Connecteur en angle 20"/>
            <p:cNvCxnSpPr/>
            <p:nvPr/>
          </p:nvCxnSpPr>
          <p:spPr>
            <a:xfrm rot="16200000" flipH="1">
              <a:off x="2540097" y="3732711"/>
              <a:ext cx="1327502" cy="1008112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eur en angle 21"/>
            <p:cNvCxnSpPr/>
            <p:nvPr/>
          </p:nvCxnSpPr>
          <p:spPr>
            <a:xfrm rot="16200000" flipH="1">
              <a:off x="2468089" y="3989385"/>
              <a:ext cx="1327502" cy="1152128"/>
            </a:xfrm>
            <a:prstGeom prst="bentConnector2">
              <a:avLst/>
            </a:prstGeom>
            <a:ln w="38100">
              <a:solidFill>
                <a:schemeClr val="tx2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cteur droit avec flèche 24"/>
            <p:cNvCxnSpPr>
              <a:stCxn id="7" idx="1"/>
              <a:endCxn id="29" idx="1"/>
            </p:cNvCxnSpPr>
            <p:nvPr/>
          </p:nvCxnSpPr>
          <p:spPr>
            <a:xfrm>
              <a:off x="4572000" y="3724461"/>
              <a:ext cx="86409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/>
            <p:cNvCxnSpPr>
              <a:stCxn id="6" idx="3"/>
              <a:endCxn id="30" idx="1"/>
            </p:cNvCxnSpPr>
            <p:nvPr/>
          </p:nvCxnSpPr>
          <p:spPr>
            <a:xfrm>
              <a:off x="4644008" y="5066134"/>
              <a:ext cx="95056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5436096" y="3539795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Somme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5594573" y="4881468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Report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7419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Additionneur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579296" cy="5069160"/>
          </a:xfrm>
        </p:spPr>
        <p:txBody>
          <a:bodyPr>
            <a:normAutofit/>
          </a:bodyPr>
          <a:lstStyle/>
          <a:p>
            <a:r>
              <a:rPr lang="fr-CA" dirty="0"/>
              <a:t>Pour une addition sur 1 bit, en prenant en considération une potentielle retenue déjà calculée</a:t>
            </a:r>
          </a:p>
          <a:p>
            <a:pPr lvl="1"/>
            <a:r>
              <a:rPr lang="fr-CA" dirty="0"/>
              <a:t>On doit mettre deux demi-additionneurs en série</a:t>
            </a:r>
          </a:p>
          <a:p>
            <a:pPr lvl="1"/>
            <a:r>
              <a:rPr lang="fr-CA" dirty="0"/>
              <a:t>Suivi d’un OU pour le calcul de la retenue finale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26</a:t>
            </a:fld>
            <a:endParaRPr lang="fr-CA"/>
          </a:p>
        </p:txBody>
      </p:sp>
      <p:grpSp>
        <p:nvGrpSpPr>
          <p:cNvPr id="46" name="Groupe 45"/>
          <p:cNvGrpSpPr/>
          <p:nvPr>
            <p:custDataLst>
              <p:tags r:id="rId4"/>
            </p:custDataLst>
          </p:nvPr>
        </p:nvGrpSpPr>
        <p:grpSpPr>
          <a:xfrm>
            <a:off x="1259632" y="3208031"/>
            <a:ext cx="7265583" cy="3464768"/>
            <a:chOff x="1619672" y="3212976"/>
            <a:chExt cx="7265583" cy="3464768"/>
          </a:xfrm>
        </p:grpSpPr>
        <p:sp>
          <p:nvSpPr>
            <p:cNvPr id="10" name="ZoneTexte 9"/>
            <p:cNvSpPr txBox="1"/>
            <p:nvPr/>
          </p:nvSpPr>
          <p:spPr>
            <a:xfrm>
              <a:off x="1619672" y="3344917"/>
              <a:ext cx="369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A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1619672" y="3673599"/>
              <a:ext cx="369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B</a:t>
              </a:r>
            </a:p>
          </p:txBody>
        </p:sp>
        <p:cxnSp>
          <p:nvCxnSpPr>
            <p:cNvPr id="13" name="Connecteur droit 12"/>
            <p:cNvCxnSpPr>
              <a:stCxn id="10" idx="3"/>
            </p:cNvCxnSpPr>
            <p:nvPr/>
          </p:nvCxnSpPr>
          <p:spPr>
            <a:xfrm>
              <a:off x="1988815" y="3529583"/>
              <a:ext cx="21600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>
              <a:stCxn id="11" idx="3"/>
            </p:cNvCxnSpPr>
            <p:nvPr/>
          </p:nvCxnSpPr>
          <p:spPr>
            <a:xfrm flipV="1">
              <a:off x="1988815" y="3849881"/>
              <a:ext cx="2160000" cy="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9" name="Groupe 8"/>
            <p:cNvGrpSpPr/>
            <p:nvPr/>
          </p:nvGrpSpPr>
          <p:grpSpPr>
            <a:xfrm>
              <a:off x="3275856" y="3212976"/>
              <a:ext cx="1224136" cy="936104"/>
              <a:chOff x="3347864" y="3212976"/>
              <a:chExt cx="1224136" cy="936104"/>
            </a:xfrm>
          </p:grpSpPr>
          <p:sp>
            <p:nvSpPr>
              <p:cNvPr id="7" name="Lune 6"/>
              <p:cNvSpPr/>
              <p:nvPr/>
            </p:nvSpPr>
            <p:spPr>
              <a:xfrm flipH="1">
                <a:off x="3779912" y="3212976"/>
                <a:ext cx="792088" cy="936104"/>
              </a:xfrm>
              <a:prstGeom prst="moon">
                <a:avLst>
                  <a:gd name="adj" fmla="val 75252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8" name="Arc 7"/>
              <p:cNvSpPr/>
              <p:nvPr/>
            </p:nvSpPr>
            <p:spPr>
              <a:xfrm>
                <a:off x="3347864" y="3245380"/>
                <a:ext cx="504056" cy="871297"/>
              </a:xfrm>
              <a:prstGeom prst="arc">
                <a:avLst>
                  <a:gd name="adj1" fmla="val 16840604"/>
                  <a:gd name="adj2" fmla="val 466563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cxnSp>
          <p:nvCxnSpPr>
            <p:cNvPr id="25" name="Connecteur droit avec flèche 24"/>
            <p:cNvCxnSpPr>
              <a:endCxn id="29" idx="1"/>
            </p:cNvCxnSpPr>
            <p:nvPr/>
          </p:nvCxnSpPr>
          <p:spPr>
            <a:xfrm>
              <a:off x="6588224" y="3964414"/>
              <a:ext cx="86409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/>
            <p:cNvCxnSpPr>
              <a:stCxn id="39" idx="1"/>
            </p:cNvCxnSpPr>
            <p:nvPr/>
          </p:nvCxnSpPr>
          <p:spPr>
            <a:xfrm>
              <a:off x="7363494" y="5663344"/>
              <a:ext cx="612000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ZoneTexte 28"/>
            <p:cNvSpPr txBox="1"/>
            <p:nvPr/>
          </p:nvSpPr>
          <p:spPr>
            <a:xfrm>
              <a:off x="7452320" y="3779748"/>
              <a:ext cx="11521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Somme</a:t>
              </a: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7949151" y="5478678"/>
              <a:ext cx="9361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Report</a:t>
              </a:r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1619672" y="4283804"/>
              <a:ext cx="3691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R</a:t>
              </a:r>
            </a:p>
          </p:txBody>
        </p:sp>
        <p:cxnSp>
          <p:nvCxnSpPr>
            <p:cNvPr id="14" name="Connecteur en angle 13"/>
            <p:cNvCxnSpPr>
              <a:stCxn id="7" idx="1"/>
            </p:cNvCxnSpPr>
            <p:nvPr/>
          </p:nvCxnSpPr>
          <p:spPr>
            <a:xfrm>
              <a:off x="4499991" y="3681028"/>
              <a:ext cx="1548000" cy="168853"/>
            </a:xfrm>
            <a:prstGeom prst="bentConnector3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en angle 16"/>
            <p:cNvCxnSpPr>
              <a:stCxn id="20" idx="3"/>
            </p:cNvCxnSpPr>
            <p:nvPr/>
          </p:nvCxnSpPr>
          <p:spPr>
            <a:xfrm flipV="1">
              <a:off x="1988815" y="4116678"/>
              <a:ext cx="3974901" cy="351792"/>
            </a:xfrm>
            <a:prstGeom prst="bentConnector3">
              <a:avLst>
                <a:gd name="adj1" fmla="val 82589"/>
              </a:avLst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3" name="Groupe 22"/>
            <p:cNvGrpSpPr/>
            <p:nvPr/>
          </p:nvGrpSpPr>
          <p:grpSpPr>
            <a:xfrm>
              <a:off x="5315644" y="3496362"/>
              <a:ext cx="1224136" cy="936104"/>
              <a:chOff x="3347864" y="3212976"/>
              <a:chExt cx="1224136" cy="936104"/>
            </a:xfrm>
          </p:grpSpPr>
          <p:sp>
            <p:nvSpPr>
              <p:cNvPr id="24" name="Lune 23"/>
              <p:cNvSpPr/>
              <p:nvPr/>
            </p:nvSpPr>
            <p:spPr>
              <a:xfrm flipH="1">
                <a:off x="3779912" y="3212976"/>
                <a:ext cx="792088" cy="936104"/>
              </a:xfrm>
              <a:prstGeom prst="moon">
                <a:avLst>
                  <a:gd name="adj" fmla="val 75252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  <p:sp>
            <p:nvSpPr>
              <p:cNvPr id="27" name="Arc 26"/>
              <p:cNvSpPr/>
              <p:nvPr/>
            </p:nvSpPr>
            <p:spPr>
              <a:xfrm>
                <a:off x="3347864" y="3245380"/>
                <a:ext cx="504056" cy="871297"/>
              </a:xfrm>
              <a:prstGeom prst="arc">
                <a:avLst>
                  <a:gd name="adj1" fmla="val 16840604"/>
                  <a:gd name="adj2" fmla="val 466563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CA"/>
              </a:p>
            </p:txBody>
          </p:sp>
        </p:grpSp>
        <p:cxnSp>
          <p:nvCxnSpPr>
            <p:cNvPr id="33" name="Connecteur en angle 32"/>
            <p:cNvCxnSpPr/>
            <p:nvPr/>
          </p:nvCxnSpPr>
          <p:spPr>
            <a:xfrm rot="16200000" flipH="1">
              <a:off x="4122028" y="4205113"/>
              <a:ext cx="1404000" cy="360040"/>
            </a:xfrm>
            <a:prstGeom prst="bentConnector2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eur en angle 34"/>
            <p:cNvCxnSpPr/>
            <p:nvPr/>
          </p:nvCxnSpPr>
          <p:spPr>
            <a:xfrm rot="16200000" flipH="1">
              <a:off x="4352850" y="4635216"/>
              <a:ext cx="900000" cy="576000"/>
            </a:xfrm>
            <a:prstGeom prst="bentConnector2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rganigramme : Délai 5"/>
            <p:cNvSpPr/>
            <p:nvPr/>
          </p:nvSpPr>
          <p:spPr>
            <a:xfrm>
              <a:off x="5004048" y="4797152"/>
              <a:ext cx="936104" cy="864096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cxnSp>
          <p:nvCxnSpPr>
            <p:cNvPr id="37" name="Connecteur en angle 36"/>
            <p:cNvCxnSpPr/>
            <p:nvPr/>
          </p:nvCxnSpPr>
          <p:spPr>
            <a:xfrm rot="16200000" flipH="1">
              <a:off x="2798815" y="3799871"/>
              <a:ext cx="2592000" cy="2052000"/>
            </a:xfrm>
            <a:prstGeom prst="bentConnector2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eur en angle 37"/>
            <p:cNvCxnSpPr/>
            <p:nvPr/>
          </p:nvCxnSpPr>
          <p:spPr>
            <a:xfrm rot="16200000" flipH="1">
              <a:off x="2675318" y="3969606"/>
              <a:ext cx="2592000" cy="2376000"/>
            </a:xfrm>
            <a:prstGeom prst="bentConnector2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Organigramme : Délai 35"/>
            <p:cNvSpPr/>
            <p:nvPr/>
          </p:nvSpPr>
          <p:spPr>
            <a:xfrm>
              <a:off x="4994262" y="5813648"/>
              <a:ext cx="936104" cy="864096"/>
            </a:xfrm>
            <a:prstGeom prst="flowChartDelay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cxnSp>
          <p:nvCxnSpPr>
            <p:cNvPr id="43" name="Connecteur en angle 42"/>
            <p:cNvCxnSpPr>
              <a:stCxn id="6" idx="3"/>
            </p:cNvCxnSpPr>
            <p:nvPr/>
          </p:nvCxnSpPr>
          <p:spPr>
            <a:xfrm>
              <a:off x="5940152" y="5229200"/>
              <a:ext cx="936104" cy="287764"/>
            </a:xfrm>
            <a:prstGeom prst="bentConnector3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necteur en angle 44"/>
            <p:cNvCxnSpPr>
              <a:stCxn id="36" idx="3"/>
            </p:cNvCxnSpPr>
            <p:nvPr/>
          </p:nvCxnSpPr>
          <p:spPr>
            <a:xfrm flipV="1">
              <a:off x="5930366" y="5813648"/>
              <a:ext cx="945890" cy="432048"/>
            </a:xfrm>
            <a:prstGeom prst="bentConnector3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Lune 38"/>
            <p:cNvSpPr/>
            <p:nvPr/>
          </p:nvSpPr>
          <p:spPr>
            <a:xfrm flipH="1">
              <a:off x="6571406" y="5195292"/>
              <a:ext cx="792088" cy="936104"/>
            </a:xfrm>
            <a:prstGeom prst="moon">
              <a:avLst>
                <a:gd name="adj" fmla="val 7525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1534876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9F342-EF9C-97D8-5223-B8C8AFB0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Unité arithmétique et logique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3B37-C78C-5CF9-6990-C34E1A334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 </a:t>
            </a:r>
            <a:r>
              <a:rPr lang="fr-CA" sz="1300" dirty="0">
                <a:hlinkClick r:id="rId2"/>
              </a:rPr>
              <a:t>https://fr.wikipedia.org/wiki/Unit%C3%A9_arithm%C3%A9tique_et_logique</a:t>
            </a:r>
            <a:endParaRPr lang="fr-CA" sz="1300" dirty="0"/>
          </a:p>
          <a:p>
            <a:pPr marL="0" indent="0">
              <a:buNone/>
            </a:pPr>
            <a:endParaRPr lang="fr-CA" sz="13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EFF49-602F-50A2-82A1-E27EBC84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27</a:t>
            </a:fld>
            <a:endParaRPr lang="fr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84776-D5EE-86DF-4486-B0E0035B2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1600200"/>
            <a:ext cx="5147305" cy="414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87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>
                <a:latin typeface="Arial Black" panose="020B0A04020102020204" pitchFamily="34" charset="0"/>
              </a:rPr>
              <a:t>Additionneur</a:t>
            </a: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95619752"/>
              </p:ext>
            </p:extLst>
          </p:nvPr>
        </p:nvGraphicFramePr>
        <p:xfrm>
          <a:off x="1763688" y="2042696"/>
          <a:ext cx="147920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111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CA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0101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0011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A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1000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28</a:t>
            </a:fld>
            <a:endParaRPr lang="fr-CA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085226414"/>
              </p:ext>
            </p:extLst>
          </p:nvPr>
        </p:nvGraphicFramePr>
        <p:xfrm>
          <a:off x="5652120" y="1412776"/>
          <a:ext cx="23399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  <a:r>
                        <a:rPr lang="fr-CA" sz="1400" baseline="-25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Entrée</a:t>
                      </a:r>
                      <a:endParaRPr lang="fr-CA" sz="1400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  <a:r>
                        <a:rPr lang="fr-CA" sz="1400" baseline="-250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Sortie</a:t>
                      </a:r>
                      <a:endParaRPr lang="fr-CA" sz="1400" baseline="-250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000"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15" name="Connecteur droit avec flèche 14"/>
          <p:cNvCxnSpPr/>
          <p:nvPr>
            <p:custDataLst>
              <p:tags r:id="rId5"/>
            </p:custDataLst>
          </p:nvPr>
        </p:nvCxnSpPr>
        <p:spPr>
          <a:xfrm>
            <a:off x="3727427" y="2784376"/>
            <a:ext cx="144016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>
            <p:custDataLst>
              <p:tags r:id="rId6"/>
            </p:custDataLst>
          </p:nvPr>
        </p:nvSpPr>
        <p:spPr>
          <a:xfrm>
            <a:off x="1753816" y="4149080"/>
            <a:ext cx="201622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 A, B, T</a:t>
            </a:r>
          </a:p>
          <a:p>
            <a:r>
              <a:rPr lang="fr-CA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xor</a:t>
            </a:r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 T, C, S</a:t>
            </a:r>
          </a:p>
          <a:p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and A, B, C1</a:t>
            </a:r>
          </a:p>
          <a:p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and T, C, C2</a:t>
            </a:r>
          </a:p>
          <a:p>
            <a:r>
              <a:rPr lang="fr-CA" sz="1600" dirty="0">
                <a:latin typeface="Consolas" panose="020B0609020204030204" pitchFamily="49" charset="0"/>
                <a:cs typeface="Consolas" panose="020B0609020204030204" pitchFamily="49" charset="0"/>
              </a:rPr>
              <a:t>or  C1, C2, C</a:t>
            </a:r>
          </a:p>
        </p:txBody>
      </p:sp>
      <p:cxnSp>
        <p:nvCxnSpPr>
          <p:cNvPr id="18" name="Connecteur droit avec flèche 17"/>
          <p:cNvCxnSpPr/>
          <p:nvPr>
            <p:custDataLst>
              <p:tags r:id="rId7"/>
            </p:custDataLst>
          </p:nvPr>
        </p:nvCxnSpPr>
        <p:spPr>
          <a:xfrm flipH="1">
            <a:off x="3491880" y="3284984"/>
            <a:ext cx="1800200" cy="93610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0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DD632D-1344-C9DF-6112-B95A257E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Pile et file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C3EBC2-4209-3D8E-7DBD-20845BC77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BD557-F662-9785-0084-4275D4358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824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CA35-6262-7CF3-E078-213679E1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Pile et 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7A39F8-8B61-D414-1ED1-FA93878F1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Pile (stack)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FAD64-9E16-03BF-145A-EFE704975B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/>
              <a:t>Structure de données</a:t>
            </a:r>
          </a:p>
          <a:p>
            <a:pPr lvl="1"/>
            <a:r>
              <a:rPr lang="fr-CA" dirty="0"/>
              <a:t>Dernier arrivé, premier sorti</a:t>
            </a:r>
          </a:p>
          <a:p>
            <a:pPr lvl="1"/>
            <a:r>
              <a:rPr lang="fr-CA" dirty="0"/>
              <a:t>LIFO pour last in, first out</a:t>
            </a:r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710363-74A3-D6E0-B86C-EC26ED7D9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File (queue)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47E631-E7D0-9E45-9CB8-98CB29A32B5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CA" dirty="0"/>
              <a:t>Structure de données</a:t>
            </a:r>
          </a:p>
          <a:p>
            <a:pPr lvl="1"/>
            <a:r>
              <a:rPr lang="fr-CA" dirty="0"/>
              <a:t>Premier arrivé, premier sorti</a:t>
            </a:r>
          </a:p>
          <a:p>
            <a:pPr lvl="1"/>
            <a:r>
              <a:rPr lang="fr-CA" dirty="0"/>
              <a:t>FIFO First input, first 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6956F-441F-3922-6CBB-300BC69D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53439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AC89-7EEF-9976-019D-B68EF2A9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Fonctionnement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B5E7D-B0B8-A70F-FB50-0247D395A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EE6A-BF4D-197C-DC62-3F25E5EFBE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CA" dirty="0"/>
              <a:t>Écriture 1,2,3,4,5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Lecture 5,4,3,2,1</a:t>
            </a:r>
          </a:p>
          <a:p>
            <a:endParaRPr lang="fr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A511F-26D5-19BD-2147-E37D636D5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File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611BB-F0F0-6BB5-CB87-E3CD5B35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31</a:t>
            </a:fld>
            <a:endParaRPr lang="fr-CA"/>
          </a:p>
        </p:txBody>
      </p:sp>
      <p:graphicFrame>
        <p:nvGraphicFramePr>
          <p:cNvPr id="9" name="Content Placeholder 7">
            <a:extLst>
              <a:ext uri="{FF2B5EF4-FFF2-40B4-BE49-F238E27FC236}">
                <a16:creationId xmlns:a16="http://schemas.microsoft.com/office/drawing/2014/main" id="{11104199-038B-6408-53C0-73A97C126C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1112204"/>
              </p:ext>
            </p:extLst>
          </p:nvPr>
        </p:nvGraphicFramePr>
        <p:xfrm>
          <a:off x="2627784" y="3068960"/>
          <a:ext cx="681533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33">
                  <a:extLst>
                    <a:ext uri="{9D8B030D-6E8A-4147-A177-3AD203B41FA5}">
                      <a16:colId xmlns:a16="http://schemas.microsoft.com/office/drawing/2014/main" val="2667708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CA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03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17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67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5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31367"/>
                  </a:ext>
                </a:extLst>
              </a:tr>
            </a:tbl>
          </a:graphicData>
        </a:graphic>
      </p:graphicFrame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033B488-4CAE-4DAB-CD2A-F77ADD567B2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CA" dirty="0"/>
              <a:t>Écriture 1,2,3,4,5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Lecture 1,2,3,4,5</a:t>
            </a:r>
          </a:p>
          <a:p>
            <a:endParaRPr lang="fr-CA" dirty="0"/>
          </a:p>
          <a:p>
            <a:endParaRPr lang="fr-CA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D158D4-7B75-BE6B-4C6B-786DACE2F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931383"/>
              </p:ext>
            </p:extLst>
          </p:nvPr>
        </p:nvGraphicFramePr>
        <p:xfrm>
          <a:off x="6039307" y="3068960"/>
          <a:ext cx="681533" cy="184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533">
                  <a:extLst>
                    <a:ext uri="{9D8B030D-6E8A-4147-A177-3AD203B41FA5}">
                      <a16:colId xmlns:a16="http://schemas.microsoft.com/office/drawing/2014/main" val="29757242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49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23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296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837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020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913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A716AC-FDB1-F99E-1574-5411097B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2B77A5-41A3-9BDB-E043-26F2D80E5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F3B15-E436-495C-8FA7-AB71FB1E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61E83-B44C-48BE-B03F-252907E93546}" type="slidenum">
              <a:rPr lang="fr-CA" smtClean="0"/>
              <a:t>32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28936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té">
  <a:themeElements>
    <a:clrScheme name="Clarté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t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33AC1A0865774DB299E791FDB92DBE" ma:contentTypeVersion="3" ma:contentTypeDescription="Crée un document." ma:contentTypeScope="" ma:versionID="b7d52d8d42f92fff3113c97f3d1b1e06">
  <xsd:schema xmlns:xsd="http://www.w3.org/2001/XMLSchema" xmlns:xs="http://www.w3.org/2001/XMLSchema" xmlns:p="http://schemas.microsoft.com/office/2006/metadata/properties" xmlns:ns2="6b49ab6e-91ce-47c4-92bd-0f7a9d500766" targetNamespace="http://schemas.microsoft.com/office/2006/metadata/properties" ma:root="true" ma:fieldsID="7a8775d0a7673be27e914b86357f5b62" ns2:_="">
    <xsd:import namespace="6b49ab6e-91ce-47c4-92bd-0f7a9d5007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49ab6e-91ce-47c4-92bd-0f7a9d5007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07A96D-1F81-45A3-A38F-54CD69DF9A95}"/>
</file>

<file path=customXml/itemProps2.xml><?xml version="1.0" encoding="utf-8"?>
<ds:datastoreItem xmlns:ds="http://schemas.openxmlformats.org/officeDocument/2006/customXml" ds:itemID="{03E2413B-4E24-42D0-B09A-2FFE98ADEF15}"/>
</file>

<file path=customXml/itemProps3.xml><?xml version="1.0" encoding="utf-8"?>
<ds:datastoreItem xmlns:ds="http://schemas.openxmlformats.org/officeDocument/2006/customXml" ds:itemID="{67295350-6FCE-42A6-8CD2-F606FA415AEB}"/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4476</TotalTime>
  <Words>1606</Words>
  <Application>Microsoft Office PowerPoint</Application>
  <PresentationFormat>On-screen Show (4:3)</PresentationFormat>
  <Paragraphs>695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Arial Black</vt:lpstr>
      <vt:lpstr>Calibri</vt:lpstr>
      <vt:lpstr>Cambria Math</vt:lpstr>
      <vt:lpstr>Consolas</vt:lpstr>
      <vt:lpstr>Wingdings</vt:lpstr>
      <vt:lpstr>Clarté</vt:lpstr>
      <vt:lpstr>Chapitre 8</vt:lpstr>
      <vt:lpstr>Les booléens</vt:lpstr>
      <vt:lpstr>Les booléens</vt:lpstr>
      <vt:lpstr>Les chaînes de bits</vt:lpstr>
      <vt:lpstr>Instructions de base</vt:lpstr>
      <vt:lpstr>Application d'un AND</vt:lpstr>
      <vt:lpstr>Application d'un OR</vt:lpstr>
      <vt:lpstr>Application d'un EOR</vt:lpstr>
      <vt:lpstr>Les décalages</vt:lpstr>
      <vt:lpstr>décalages</vt:lpstr>
      <vt:lpstr>Décalage logique à droite</vt:lpstr>
      <vt:lpstr>Décalages logique à gauche</vt:lpstr>
      <vt:lpstr>Décalage arithmétique à droite</vt:lpstr>
      <vt:lpstr>Décalage arithmétique à gauche</vt:lpstr>
      <vt:lpstr>Décalages circulaire</vt:lpstr>
      <vt:lpstr>MAsques</vt:lpstr>
      <vt:lpstr>Instructions avec masques</vt:lpstr>
      <vt:lpstr>Instructions avec masques</vt:lpstr>
      <vt:lpstr>Opérations avec masques</vt:lpstr>
      <vt:lpstr>Exemple : Bit Clear (and – not)</vt:lpstr>
      <vt:lpstr>Autres instructions</vt:lpstr>
      <vt:lpstr>Circuits logiques</vt:lpstr>
      <vt:lpstr>Circuits logiques</vt:lpstr>
      <vt:lpstr>Additionneur</vt:lpstr>
      <vt:lpstr>Additionneur</vt:lpstr>
      <vt:lpstr>Additionneur</vt:lpstr>
      <vt:lpstr>Unité arithmétique et logique</vt:lpstr>
      <vt:lpstr>Additionneur</vt:lpstr>
      <vt:lpstr>Pile et file</vt:lpstr>
      <vt:lpstr>Pile et file</vt:lpstr>
      <vt:lpstr>Fonctionnement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8</dc:title>
  <dc:creator>Vincent</dc:creator>
  <cp:lastModifiedBy>Rosa Lourdes Garcia Diaz</cp:lastModifiedBy>
  <cp:revision>461</cp:revision>
  <dcterms:created xsi:type="dcterms:W3CDTF">2015-08-04T01:44:20Z</dcterms:created>
  <dcterms:modified xsi:type="dcterms:W3CDTF">2025-11-04T15:54:24Z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0x0101007633AC1A0865774DB299E791FDB92DBE</vt:lpwstr>
  </property>
</Properties>
</file>